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1A0A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0"/>
            <a:ext cx="2194560" cy="6858000"/>
          </a:xfrm>
          <a:prstGeom prst="line">
            <a:avLst/>
          </a:prstGeom>
          <a:noFill/>
          <a:ln w="6350">
            <a:solidFill>
              <a:srgbClr val="00C853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0"/>
            <a:ext cx="2194560" cy="6858000"/>
          </a:xfrm>
          <a:prstGeom prst="line">
            <a:avLst/>
          </a:prstGeom>
          <a:noFill/>
          <a:ln w="6350">
            <a:solidFill>
              <a:srgbClr val="00C853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34640" y="0"/>
            <a:ext cx="2194560" cy="6858000"/>
          </a:xfrm>
          <a:prstGeom prst="line">
            <a:avLst/>
          </a:prstGeom>
          <a:noFill/>
          <a:ln w="6350">
            <a:solidFill>
              <a:srgbClr val="00C853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80560" y="0"/>
            <a:ext cx="2194560" cy="6858000"/>
          </a:xfrm>
          <a:prstGeom prst="line">
            <a:avLst/>
          </a:prstGeom>
          <a:noFill/>
          <a:ln w="6350">
            <a:solidFill>
              <a:srgbClr val="00C853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0"/>
            <a:ext cx="2194560" cy="6858000"/>
          </a:xfrm>
          <a:prstGeom prst="line">
            <a:avLst/>
          </a:prstGeom>
          <a:noFill/>
          <a:ln w="6350">
            <a:solidFill>
              <a:srgbClr val="00C853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0"/>
            <a:ext cx="2194560" cy="6858000"/>
          </a:xfrm>
          <a:prstGeom prst="line">
            <a:avLst/>
          </a:prstGeom>
          <a:noFill/>
          <a:ln w="6350">
            <a:solidFill>
              <a:srgbClr val="00C853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HEALTHIFYME · B2C AI PRODUCTS · CASE STUDY 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0040" y="64008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UpgradeIQ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320040" y="171907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Upgrade Propensity Engine — Show the Right Offer at Peak Intent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0040" y="2331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Avaghade · Product Manager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92240" y="5029200"/>
            <a:ext cx="2423160" cy="1463040"/>
          </a:xfrm>
          <a:prstGeom prst="roundRect">
            <a:avLst>
              <a:gd name="adj" fmla="val 6250"/>
            </a:avLst>
          </a:prstGeom>
          <a:solidFill>
            <a:srgbClr val="00C853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5084064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51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+18pp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492240" y="571500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 lift vs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4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banner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1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011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HealthifyMe Shows "Upgrade to PRO" to Everyone — Including Users Who Have No Reason to Upgrade Yet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2743200" cy="2880360"/>
          </a:xfrm>
          <a:prstGeom prst="roundRect">
            <a:avLst>
              <a:gd name="adj" fmla="val 3333"/>
            </a:avLst>
          </a:prstGeom>
          <a:solidFill>
            <a:srgbClr val="0A281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📢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2194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4320" y="2697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Banner CVR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3017520"/>
            <a:ext cx="2523744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"Upgrade to PRO" banner converts at 16% regardless of user state, goal proximity, or engagement level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600200"/>
            <a:ext cx="2743200" cy="2880360"/>
          </a:xfrm>
          <a:prstGeom prst="roundRect">
            <a:avLst>
              <a:gd name="adj" fmla="val 3333"/>
            </a:avLst>
          </a:prstGeom>
          <a:solidFill>
            <a:srgbClr val="0A281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46120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46120" y="2194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246120" y="2697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Propensity Signals Used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55848" y="3017520"/>
            <a:ext cx="2523744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proximity, streak length, engagement velocity — all available, none used to determine when to show the upgrade prompt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600200"/>
            <a:ext cx="2743200" cy="2880360"/>
          </a:xfrm>
          <a:prstGeom prst="roundRect">
            <a:avLst>
              <a:gd name="adj" fmla="val 3333"/>
            </a:avLst>
          </a:prstGeom>
          <a:solidFill>
            <a:srgbClr val="0A281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💸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217920" y="2194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−34%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217920" y="2697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CVR vs Potential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27648" y="3017520"/>
            <a:ext cx="2523744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at goal proximity &lt;1kg convert at 34% with a contextual offer. Showing them a generic banner wastes the highest-value moment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4663440"/>
            <a:ext cx="8595360" cy="868680"/>
          </a:xfrm>
          <a:prstGeom prst="roundRect">
            <a:avLst>
              <a:gd name="adj" fmla="val 6316"/>
            </a:avLst>
          </a:prstGeom>
          <a:solidFill>
            <a:srgbClr val="101A1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72744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Every free user gets the same upgrade prompt at the same moment. A user 2kg from their goal and on a 7-day streak has 5× the upgrade intent of a day-3 user — and gets the same banner. The opportunity cost is enormous.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011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51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Highest-Intent Upgrade Moment Is When the User Is Closest to Their Goal — Not When They First Open the App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FFF8F8"/>
          </a:solidFill>
          <a:ln w="9525">
            <a:solidFill>
              <a:srgbClr val="FFC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459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Today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06654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Generic banner to all free users at all times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58775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goal proximity signal used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streak / engagement velocity signal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6301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Same value prop regardless of user state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15137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Discount trained users — waits for offers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24528" y="2926080"/>
            <a:ext cx="512064" cy="512064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14" name="Text 12"/>
          <p:cNvSpPr/>
          <p:nvPr/>
        </p:nvSpPr>
        <p:spPr>
          <a:xfrm>
            <a:off x="4224528" y="29260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1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1508760"/>
            <a:ext cx="4297680" cy="3474720"/>
          </a:xfrm>
          <a:prstGeom prst="roundRect">
            <a:avLst>
              <a:gd name="adj" fmla="val 2632"/>
            </a:avLst>
          </a:prstGeom>
          <a:solidFill>
            <a:srgbClr val="F0FFF4"/>
          </a:solidFill>
          <a:ln w="9525">
            <a:solidFill>
              <a:srgbClr val="00C8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6459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UpgradeIQ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09160" y="2066544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Goal proximity score computed per user in real-time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258775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tier (&lt;1kg from goal): show at 34% CVR moment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310896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 tier (3kg+ from goal): suppress — not the right time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3630168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Value prop personalised: "23 days faster at your pace"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4151376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discount required — goal motivation converts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5166360"/>
            <a:ext cx="8595360" cy="594360"/>
          </a:xfrm>
          <a:prstGeom prst="roundRect">
            <a:avLst>
              <a:gd name="adj" fmla="val 9231"/>
            </a:avLst>
          </a:prstGeom>
          <a:solidFill>
            <a:srgbClr val="F0FFF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5212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Suppressing the upgrade prompt for LOW propensity users preserves their future upgrade intent. Showing it too early trains them to dismiss it — permanently lowering their conversion probability.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8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011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Every User Every Session. Show the Offer Only When the Score Says Now.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1280160"/>
            <a:ext cx="2057400" cy="3931920"/>
          </a:xfrm>
          <a:prstGeom prst="roundRect">
            <a:avLst>
              <a:gd name="adj" fmla="val 4444"/>
            </a:avLst>
          </a:prstGeom>
          <a:solidFill>
            <a:srgbClr val="051A0A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41832" y="1389888"/>
            <a:ext cx="621792" cy="621792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8" name="Text 6"/>
          <p:cNvSpPr/>
          <p:nvPr/>
        </p:nvSpPr>
        <p:spPr>
          <a:xfrm>
            <a:off x="941832" y="138988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1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" y="212140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Collection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578608"/>
            <a:ext cx="1874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Per-session: goal proximity (kg remaining), streak length, engagement velocity (logins/wk), feature demand (meal plan views, coach taps), historical upgrade cohort patterns.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21992" y="3017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41448" y="1280160"/>
            <a:ext cx="2057400" cy="3931920"/>
          </a:xfrm>
          <a:prstGeom prst="roundRect">
            <a:avLst>
              <a:gd name="adj" fmla="val 4444"/>
            </a:avLst>
          </a:prstGeom>
          <a:solidFill>
            <a:srgbClr val="051A0A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389888"/>
            <a:ext cx="621792" cy="621792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14" name="Text 12"/>
          <p:cNvSpPr/>
          <p:nvPr/>
        </p:nvSpPr>
        <p:spPr>
          <a:xfrm>
            <a:off x="3154680" y="138988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1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32888" y="212140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Propensity Scoring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32888" y="2578608"/>
            <a:ext cx="1874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outputs HIGH / MED / LOW tier per user per session. HIGH = &lt;1kg from goal + 5+ day streak. MED = 1–3kg. LOW = 3kg+ or low engagement. Score recomputed every login.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34840" y="3017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54296" y="1280160"/>
            <a:ext cx="2057400" cy="3931920"/>
          </a:xfrm>
          <a:prstGeom prst="roundRect">
            <a:avLst>
              <a:gd name="adj" fmla="val 4444"/>
            </a:avLst>
          </a:prstGeom>
          <a:solidFill>
            <a:srgbClr val="051A0A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67528" y="1389888"/>
            <a:ext cx="621792" cy="621792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20" name="Text 18"/>
          <p:cNvSpPr/>
          <p:nvPr/>
        </p:nvSpPr>
        <p:spPr>
          <a:xfrm>
            <a:off x="5367528" y="138988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1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45736" y="212140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Decision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45736" y="2578608"/>
            <a:ext cx="1874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tier: show UpgradeIQ card with personalised value frame ("23 days faster at your pace"). MED: show feature preview. LOW: suppress entirely — no upgrade prompt shown.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47688" y="3017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867144" y="1280160"/>
            <a:ext cx="2057400" cy="3931920"/>
          </a:xfrm>
          <a:prstGeom prst="roundRect">
            <a:avLst>
              <a:gd name="adj" fmla="val 4444"/>
            </a:avLst>
          </a:prstGeom>
          <a:solidFill>
            <a:srgbClr val="051A0A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80376" y="1389888"/>
            <a:ext cx="621792" cy="621792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26" name="Text 24"/>
          <p:cNvSpPr/>
          <p:nvPr/>
        </p:nvSpPr>
        <p:spPr>
          <a:xfrm>
            <a:off x="7580376" y="138988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1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58584" y="212140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Frame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58584" y="2578608"/>
            <a:ext cx="1874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 computed from user's actual data: "PRO users at YOUR streak + pace hit this goal 23 days sooner" is more compelling than any generic claim. No discount required.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5376672"/>
            <a:ext cx="8686800" cy="594360"/>
          </a:xfrm>
          <a:prstGeom prst="roundRect">
            <a:avLst>
              <a:gd name="adj" fmla="val 9231"/>
            </a:avLst>
          </a:prstGeom>
          <a:solidFill>
            <a:srgbClr val="030E05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542239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proof: Propensity-to-Transact ML replacing manual cohorts with real-time per-user scoring → 32% marketing burn reduction while sustaining GMV. Identical architecture applied to subscription upgrade timing.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011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1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Screens — Free User Home to PRO Activation with Confetti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1261872"/>
            <a:ext cx="2084832" cy="4526280"/>
          </a:xfrm>
          <a:prstGeom prst="roundRect">
            <a:avLst>
              <a:gd name="adj" fmla="val 4386"/>
            </a:avLst>
          </a:prstGeom>
          <a:solidFill>
            <a:srgbClr val="F0FFF4"/>
          </a:solidFill>
          <a:ln w="6350">
            <a:solidFill>
              <a:srgbClr val="C8E6C9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83464" y="1325880"/>
            <a:ext cx="1975104" cy="274320"/>
          </a:xfrm>
          <a:prstGeom prst="roundRect">
            <a:avLst>
              <a:gd name="adj" fmla="val 16667"/>
            </a:avLst>
          </a:prstGeom>
          <a:solidFill>
            <a:srgbClr val="00C853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" y="1325880"/>
            <a:ext cx="1975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1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Free User Home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691640"/>
            <a:ext cx="190195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UpgradeIQ card fires when goal proximity score = HIGH. Shows personalised stats: "2.1kg from goal, 7-day streak." Goal progress bar + streak badge visible.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3200400"/>
            <a:ext cx="1901952" cy="914400"/>
          </a:xfrm>
          <a:prstGeom prst="roundRect">
            <a:avLst>
              <a:gd name="adj" fmla="val 6000"/>
            </a:avLst>
          </a:prstGeom>
          <a:solidFill>
            <a:srgbClr val="051A0A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" y="32461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D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2.9/5kg ■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7-day streak 🔥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UpgradeIQ → PRO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[23 days faster]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59736" y="1261872"/>
            <a:ext cx="2084832" cy="4526280"/>
          </a:xfrm>
          <a:prstGeom prst="roundRect">
            <a:avLst>
              <a:gd name="adj" fmla="val 4386"/>
            </a:avLst>
          </a:prstGeom>
          <a:solidFill>
            <a:srgbClr val="F0FFF4"/>
          </a:solidFill>
          <a:ln w="6350">
            <a:solidFill>
              <a:srgbClr val="C8E6C9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1325880"/>
            <a:ext cx="1975104" cy="274320"/>
          </a:xfrm>
          <a:prstGeom prst="roundRect">
            <a:avLst>
              <a:gd name="adj" fmla="val 16667"/>
            </a:avLst>
          </a:prstGeom>
          <a:solidFill>
            <a:srgbClr val="00C853"/>
          </a:solidFill>
          <a:ln/>
        </p:spPr>
      </p:sp>
      <p:sp>
        <p:nvSpPr>
          <p:cNvPr id="14" name="Text 12"/>
          <p:cNvSpPr/>
          <p:nvPr/>
        </p:nvSpPr>
        <p:spPr>
          <a:xfrm>
            <a:off x="2514600" y="1325880"/>
            <a:ext cx="1975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1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Upgrade Detail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51176" y="1691640"/>
            <a:ext cx="190195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value frame: "PRO users at your pace hit it 23 days faster." Social proof: "94 users with your pattern upgraded this week." Feature-by-feature goal unlocking comparison.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51176" y="3200400"/>
            <a:ext cx="1901952" cy="914400"/>
          </a:xfrm>
          <a:prstGeom prst="roundRect">
            <a:avLst>
              <a:gd name="adj" fmla="val 6000"/>
            </a:avLst>
          </a:prstGeom>
          <a:solidFill>
            <a:srgbClr val="051A0A"/>
          </a:solidFill>
          <a:ln/>
        </p:spPr>
      </p:sp>
      <p:sp>
        <p:nvSpPr>
          <p:cNvPr id="17" name="Text 15"/>
          <p:cNvSpPr/>
          <p:nvPr/>
        </p:nvSpPr>
        <p:spPr>
          <a:xfrm>
            <a:off x="2587752" y="32461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D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You: −0.3kg/wk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Free: Aug 28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PRO: Aug 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△ 23 days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90872" y="1261872"/>
            <a:ext cx="2084832" cy="4526280"/>
          </a:xfrm>
          <a:prstGeom prst="roundRect">
            <a:avLst>
              <a:gd name="adj" fmla="val 4386"/>
            </a:avLst>
          </a:prstGeom>
          <a:solidFill>
            <a:srgbClr val="F0FFF4"/>
          </a:solidFill>
          <a:ln w="6350">
            <a:solidFill>
              <a:srgbClr val="C8E6C9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45736" y="1325880"/>
            <a:ext cx="1975104" cy="274320"/>
          </a:xfrm>
          <a:prstGeom prst="roundRect">
            <a:avLst>
              <a:gd name="adj" fmla="val 16667"/>
            </a:avLst>
          </a:prstGeom>
          <a:solidFill>
            <a:srgbClr val="00C853"/>
          </a:solidFill>
          <a:ln/>
        </p:spPr>
      </p:sp>
      <p:sp>
        <p:nvSpPr>
          <p:cNvPr id="20" name="Text 18"/>
          <p:cNvSpPr/>
          <p:nvPr/>
        </p:nvSpPr>
        <p:spPr>
          <a:xfrm>
            <a:off x="4745736" y="1325880"/>
            <a:ext cx="1975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1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Subscription Checkout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82312" y="1691640"/>
            <a:ext cx="190195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plan pre-selected (Best Value). Milestone badge commitment device: "Earn your 5kg Challenge badge on hit." Confetti on PRO activation.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82312" y="3200400"/>
            <a:ext cx="1901952" cy="914400"/>
          </a:xfrm>
          <a:prstGeom prst="roundRect">
            <a:avLst>
              <a:gd name="adj" fmla="val 6000"/>
            </a:avLst>
          </a:prstGeom>
          <a:solidFill>
            <a:srgbClr val="051A0A"/>
          </a:solidFill>
          <a:ln/>
        </p:spPr>
      </p:sp>
      <p:sp>
        <p:nvSpPr>
          <p:cNvPr id="23" name="Text 21"/>
          <p:cNvSpPr/>
          <p:nvPr/>
        </p:nvSpPr>
        <p:spPr>
          <a:xfrm>
            <a:off x="4818888" y="32461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D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Monthly ₹999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Quarterly ₹799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Annual ₹499 ★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[Start PRO Now]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22008" y="1261872"/>
            <a:ext cx="2084832" cy="4526280"/>
          </a:xfrm>
          <a:prstGeom prst="roundRect">
            <a:avLst>
              <a:gd name="adj" fmla="val 4386"/>
            </a:avLst>
          </a:prstGeom>
          <a:solidFill>
            <a:srgbClr val="F0FFF4"/>
          </a:solidFill>
          <a:ln w="6350">
            <a:solidFill>
              <a:srgbClr val="C8E6C9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76872" y="1325880"/>
            <a:ext cx="1975104" cy="274320"/>
          </a:xfrm>
          <a:prstGeom prst="roundRect">
            <a:avLst>
              <a:gd name="adj" fmla="val 16667"/>
            </a:avLst>
          </a:prstGeom>
          <a:solidFill>
            <a:srgbClr val="00C853"/>
          </a:solidFill>
          <a:ln/>
        </p:spPr>
      </p:sp>
      <p:sp>
        <p:nvSpPr>
          <p:cNvPr id="26" name="Text 24"/>
          <p:cNvSpPr/>
          <p:nvPr/>
        </p:nvSpPr>
        <p:spPr>
          <a:xfrm>
            <a:off x="6976872" y="1325880"/>
            <a:ext cx="1975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1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Growth Analytics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013448" y="1691640"/>
            <a:ext cx="190195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Propensity tier CVR breakdown: HIGH 34%, MED 18%, LOW 6%. A/B test: contextual trigger 34% vs generic banner 16% vs discount 21%.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013448" y="3200400"/>
            <a:ext cx="1901952" cy="914400"/>
          </a:xfrm>
          <a:prstGeom prst="roundRect">
            <a:avLst>
              <a:gd name="adj" fmla="val 6000"/>
            </a:avLst>
          </a:prstGeom>
          <a:solidFill>
            <a:srgbClr val="051A0A"/>
          </a:solidFill>
          <a:ln/>
        </p:spPr>
      </p:sp>
      <p:sp>
        <p:nvSpPr>
          <p:cNvPr id="29" name="Text 27"/>
          <p:cNvSpPr/>
          <p:nvPr/>
        </p:nvSpPr>
        <p:spPr>
          <a:xfrm>
            <a:off x="7050024" y="32461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D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 34% ↑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   18% →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    6% ↓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A/B ◆ +18pp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" y="610819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Prototype: healthifyme-upgradeiq-prototype.html · All 4 screens interactive · Confetti on PRO activation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1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011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ROI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 Conversion at Peak Intent — Without a Single Rupee of Discount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2344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Metrics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572768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0A281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048" y="162763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828800" y="162763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 at HIGH tier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19019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proximity &lt;1kg + 5+ day streak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414016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0A281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" y="24688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+18pp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828800" y="24688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vs generic banner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274320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 contextual vs 16% blanket prompt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3255264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0A281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4048" y="331012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5.7×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828800" y="33101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vs LOW tier CVR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28800" y="358444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user, right moment = 5.7× conversion rate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4096512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0A281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84048" y="415137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₹2.4L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828800" y="415137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added (30 days)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828800" y="44256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propensity-triggered upgrades alone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63440" y="12344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ROI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1572768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0A281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73168" y="162763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6217920" y="162763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cost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19019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Goal-framed value prop converts without margin erosion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2414016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0A281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73168" y="24688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−32%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6217920" y="24688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burn (PhonePe proof)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274320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propensity-to-transact architecture at 350M+ MAU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3255264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0A281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73168" y="331012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6217920" y="33101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completion improvement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17920" y="358444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mechanic — PhonePe device activation A/B proof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4096512"/>
            <a:ext cx="4160520" cy="749808"/>
          </a:xfrm>
          <a:prstGeom prst="roundRect">
            <a:avLst>
              <a:gd name="adj" fmla="val 7317"/>
            </a:avLst>
          </a:prstGeom>
          <a:solidFill>
            <a:srgbClr val="0A281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773168" y="415137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6217920" y="415137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users hit goal (vs 62% free)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17920" y="44256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completion drives NPS and renewal, not just acquisition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462272" y="1234440"/>
            <a:ext cx="18288" cy="4892040"/>
          </a:xfrm>
          <a:prstGeom prst="rect">
            <a:avLst/>
          </a:prstGeom>
          <a:solidFill>
            <a:srgbClr val="1A3020"/>
          </a:solidFill>
          <a:ln/>
        </p:spPr>
      </p:sp>
      <p:sp>
        <p:nvSpPr>
          <p:cNvPr id="41" name="Shape 39"/>
          <p:cNvSpPr/>
          <p:nvPr/>
        </p:nvSpPr>
        <p:spPr>
          <a:xfrm>
            <a:off x="274320" y="5943600"/>
            <a:ext cx="8595360" cy="685800"/>
          </a:xfrm>
          <a:prstGeom prst="roundRect">
            <a:avLst>
              <a:gd name="adj" fmla="val 8000"/>
            </a:avLst>
          </a:prstGeom>
          <a:solidFill>
            <a:srgbClr val="030E05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599846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UpgradeIQ recovers the conversion rate that was always available — from users who wanted to upgrade but were never shown the offer at the right moment. No additional traffic. No discounts. Just timing.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5143500"/>
          </a:xfrm>
          <a:prstGeom prst="rect">
            <a:avLst/>
          </a:prstGeom>
          <a:solidFill>
            <a:srgbClr val="051A0A"/>
          </a:solidFill>
          <a:ln/>
        </p:spPr>
      </p:sp>
      <p:sp>
        <p:nvSpPr>
          <p:cNvPr id="3" name="Shape 1"/>
          <p:cNvSpPr/>
          <p:nvPr/>
        </p:nvSpPr>
        <p:spPr>
          <a:xfrm>
            <a:off x="4480560" y="0"/>
            <a:ext cx="4663440" cy="51435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0116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WORK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5720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Built This Architecture at PhonePe — for Payments. Here It Is for Health.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28600" y="1280160"/>
            <a:ext cx="4069080" cy="1005840"/>
          </a:xfrm>
          <a:prstGeom prst="roundRect">
            <a:avLst>
              <a:gd name="adj" fmla="val 6364"/>
            </a:avLst>
          </a:prstGeom>
          <a:solidFill>
            <a:srgbClr val="0A281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335024"/>
            <a:ext cx="37947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deployment of Propensity-to-Transact ML models replacing manual cohorts with real-time user-level scoring → 32% marketing burn reduction while sustaining GMV across all markets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" y="2377440"/>
            <a:ext cx="4069080" cy="1005840"/>
          </a:xfrm>
          <a:prstGeom prst="roundRect">
            <a:avLst>
              <a:gd name="adj" fmla="val 6364"/>
            </a:avLst>
          </a:prstGeom>
          <a:solidFill>
            <a:srgbClr val="0A281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2432304"/>
            <a:ext cx="37947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dynamic cart incentivization engine with context-aware triggers (cart value × user intent × time-of-day signals) → 35% AOV uplift, 60% cart abandonment reduction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3474720"/>
            <a:ext cx="4069080" cy="1005840"/>
          </a:xfrm>
          <a:prstGeom prst="roundRect">
            <a:avLst>
              <a:gd name="adj" fmla="val 6364"/>
            </a:avLst>
          </a:prstGeom>
          <a:solidFill>
            <a:srgbClr val="0A281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3529584"/>
            <a:ext cx="37947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tested milestone waiver vs flat discount — 60% improvement in 90-day device activation vs discount control. Zero net cost mechanic.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4572000"/>
            <a:ext cx="4069080" cy="1005840"/>
          </a:xfrm>
          <a:prstGeom prst="roundRect">
            <a:avLst>
              <a:gd name="adj" fmla="val 6364"/>
            </a:avLst>
          </a:prstGeom>
          <a:solidFill>
            <a:srgbClr val="0A281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4626864"/>
            <a:ext cx="37947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Redesigned offers placement + eligibility surfacing (22% checkout conversion lift) — deep fluency in showing the right offer at the right moment to the right user.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17720" y="1280160"/>
            <a:ext cx="425196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1335024"/>
            <a:ext cx="3977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UpgradeIQ propensity scoring — same real-time per-user ML scoring, subscription upgrade intent instead of purchase propensity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17720" y="2377440"/>
            <a:ext cx="425196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432304"/>
            <a:ext cx="3977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UpgradeIQ trigger logic — same context-aware trigger stack: goal proximity × streak × time-of-day → subscription upgrade moment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17720" y="3474720"/>
            <a:ext cx="425196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3529584"/>
            <a:ext cx="3977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UpgradeIQ milestone badge — same milestone mechanic, goal achievement badge instead of rental waiver. Zero cost, high psychological impact.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17720" y="4572000"/>
            <a:ext cx="425196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4626864"/>
            <a:ext cx="3977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UpgradeIQ personalised value frame — same principle: show the right value prop at the right moment, not a generic banner.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5715000"/>
            <a:ext cx="8686800" cy="640080"/>
          </a:xfrm>
          <a:prstGeom prst="roundRect">
            <a:avLst>
              <a:gd name="adj" fmla="val 8571"/>
            </a:avLst>
          </a:prstGeom>
          <a:solidFill>
            <a:srgbClr val="00C853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57607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51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UpgradeIQ is the Propensity-to-Transact model I shipped at PhonePe — repointed from purchase intent to subscription upgrade intent. The architecture is identical. The proof exists.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1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011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 — Baseline Model to Full Propensity-Triggered Upgrade Engine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228600" y="1261872"/>
            <a:ext cx="2816352" cy="3749040"/>
          </a:xfrm>
          <a:prstGeom prst="roundRect">
            <a:avLst>
              <a:gd name="adj" fmla="val 3247"/>
            </a:avLst>
          </a:prstGeom>
          <a:solidFill>
            <a:srgbClr val="0A281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01752" y="1353312"/>
            <a:ext cx="2670048" cy="329184"/>
          </a:xfrm>
          <a:prstGeom prst="roundRect">
            <a:avLst>
              <a:gd name="adj" fmla="val 13889"/>
            </a:avLst>
          </a:prstGeom>
          <a:solidFill>
            <a:srgbClr val="00C853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1353312"/>
            <a:ext cx="2670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1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8328" y="1764792"/>
            <a:ext cx="2596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Month 1–2: Signal Audit &amp; Baseline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2331720"/>
            <a:ext cx="259689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existing user signals: goal proximity, streak data, session frequency, feature interactions. Build propensity scoring baseline from historical upgrade cohort. Validate signal → conversion correlation before building ML.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27832" y="1261872"/>
            <a:ext cx="2816352" cy="3749040"/>
          </a:xfrm>
          <a:prstGeom prst="roundRect">
            <a:avLst>
              <a:gd name="adj" fmla="val 3247"/>
            </a:avLst>
          </a:prstGeom>
          <a:solidFill>
            <a:srgbClr val="0A281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00984" y="1353312"/>
            <a:ext cx="2670048" cy="329184"/>
          </a:xfrm>
          <a:prstGeom prst="roundRect">
            <a:avLst>
              <a:gd name="adj" fmla="val 13889"/>
            </a:avLst>
          </a:prstGeom>
          <a:solidFill>
            <a:srgbClr val="FFB300"/>
          </a:solidFill>
          <a:ln/>
        </p:spPr>
      </p:sp>
      <p:sp>
        <p:nvSpPr>
          <p:cNvPr id="13" name="Text 11"/>
          <p:cNvSpPr/>
          <p:nvPr/>
        </p:nvSpPr>
        <p:spPr>
          <a:xfrm>
            <a:off x="3300984" y="1353312"/>
            <a:ext cx="2670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1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1764792"/>
            <a:ext cx="2596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Month 3–4: A/B Test Core Mechanic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2331720"/>
            <a:ext cx="259689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UpgradeIQ card for HIGH tier (50% test, 50% control gets generic banner). Measure CVR delta by propensity tier. Tune model thresholds. Build personalised value frame copy variants (pace-based vs social proof vs feature unlock).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27064" y="1261872"/>
            <a:ext cx="2816352" cy="3749040"/>
          </a:xfrm>
          <a:prstGeom prst="roundRect">
            <a:avLst>
              <a:gd name="adj" fmla="val 3247"/>
            </a:avLst>
          </a:prstGeom>
          <a:solidFill>
            <a:srgbClr val="0A2810"/>
          </a:solidFill>
          <a:ln/>
          <a:effectLst>
            <a:outerShdw sx="100000" sy="100000" kx="0" ky="0" algn="bl" rotWithShape="0" blurRad="508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0216" y="1353312"/>
            <a:ext cx="2670048" cy="329184"/>
          </a:xfrm>
          <a:prstGeom prst="roundRect">
            <a:avLst>
              <a:gd name="adj" fmla="val 13889"/>
            </a:avLst>
          </a:prstGeom>
          <a:solidFill>
            <a:srgbClr val="FF6D00"/>
          </a:solidFill>
          <a:ln/>
        </p:spPr>
      </p:sp>
      <p:sp>
        <p:nvSpPr>
          <p:cNvPr id="18" name="Text 16"/>
          <p:cNvSpPr/>
          <p:nvPr/>
        </p:nvSpPr>
        <p:spPr>
          <a:xfrm>
            <a:off x="6300216" y="1353312"/>
            <a:ext cx="2670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1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36792" y="1764792"/>
            <a:ext cx="2596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Month 5–6: Full Tier System Live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36792" y="2331720"/>
            <a:ext cx="259689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full HIGH / MED / LOW suppression logic. Integrate milestone badge into checkout. Build ops analytics dashboard (CVR by tier, A/B tracker). Launch annual plan default selection with personalised goal date computation.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5193792"/>
            <a:ext cx="8686800" cy="1234440"/>
          </a:xfrm>
          <a:prstGeom prst="roundRect">
            <a:avLst>
              <a:gd name="adj" fmla="val 5926"/>
            </a:avLst>
          </a:prstGeom>
          <a:solidFill>
            <a:srgbClr val="030E05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526694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Need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5541264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session data: goal progress history, streak logs, feature interaction events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ML infra to serve per-user propensity score at session load (latency &lt;100ms)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 analytics: A/B framework to measure CVR by propensity tier and upgrade moment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0" y="6565392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Avaghade  |  avaghadeajay009@gmail.com  |  +91 9561558439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2026-06-01T16:50:27Z</dcterms:created>
  <dcterms:modified xsi:type="dcterms:W3CDTF">2026-06-01T16:50:27Z</dcterms:modified>
</cp:coreProperties>
</file>