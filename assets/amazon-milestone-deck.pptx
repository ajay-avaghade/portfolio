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31921"/>
          </a:solidFill>
          <a:ln/>
        </p:spPr>
      </p:sp>
      <p:sp>
        <p:nvSpPr>
          <p:cNvPr id="3" name="Shape 1"/>
          <p:cNvSpPr/>
          <p:nvPr/>
        </p:nvSpPr>
        <p:spPr>
          <a:xfrm rot="900000">
            <a:off x="-914400" y="0"/>
            <a:ext cx="548640" cy="6858000"/>
          </a:xfrm>
          <a:prstGeom prst="line">
            <a:avLst/>
          </a:prstGeom>
          <a:noFill/>
          <a:ln w="228600">
            <a:solidFill>
              <a:srgbClr val="232F3E">
                <a:alpha val="15000"/>
              </a:srgbClr>
            </a:solidFill>
            <a:prstDash val="solid"/>
          </a:ln>
        </p:spPr>
      </p:sp>
      <p:sp>
        <p:nvSpPr>
          <p:cNvPr id="4" name="Shape 2"/>
          <p:cNvSpPr/>
          <p:nvPr/>
        </p:nvSpPr>
        <p:spPr>
          <a:xfrm rot="900000">
            <a:off x="91440" y="0"/>
            <a:ext cx="548640" cy="6858000"/>
          </a:xfrm>
          <a:prstGeom prst="line">
            <a:avLst/>
          </a:prstGeom>
          <a:noFill/>
          <a:ln w="228600">
            <a:solidFill>
              <a:srgbClr val="232F3E">
                <a:alpha val="15000"/>
              </a:srgbClr>
            </a:solidFill>
            <a:prstDash val="solid"/>
          </a:ln>
        </p:spPr>
      </p:sp>
      <p:sp>
        <p:nvSpPr>
          <p:cNvPr id="5" name="Shape 3"/>
          <p:cNvSpPr/>
          <p:nvPr/>
        </p:nvSpPr>
        <p:spPr>
          <a:xfrm rot="900000">
            <a:off x="1097280" y="0"/>
            <a:ext cx="548640" cy="6858000"/>
          </a:xfrm>
          <a:prstGeom prst="line">
            <a:avLst/>
          </a:prstGeom>
          <a:noFill/>
          <a:ln w="228600">
            <a:solidFill>
              <a:srgbClr val="232F3E">
                <a:alpha val="15000"/>
              </a:srgbClr>
            </a:solidFill>
            <a:prstDash val="solid"/>
          </a:ln>
        </p:spPr>
      </p:sp>
      <p:sp>
        <p:nvSpPr>
          <p:cNvPr id="6" name="Shape 4"/>
          <p:cNvSpPr/>
          <p:nvPr/>
        </p:nvSpPr>
        <p:spPr>
          <a:xfrm rot="900000">
            <a:off x="2103120" y="0"/>
            <a:ext cx="548640" cy="6858000"/>
          </a:xfrm>
          <a:prstGeom prst="line">
            <a:avLst/>
          </a:prstGeom>
          <a:noFill/>
          <a:ln w="228600">
            <a:solidFill>
              <a:srgbClr val="232F3E">
                <a:alpha val="15000"/>
              </a:srgbClr>
            </a:solidFill>
            <a:prstDash val="solid"/>
          </a:ln>
        </p:spPr>
      </p:sp>
      <p:sp>
        <p:nvSpPr>
          <p:cNvPr id="7" name="Shape 5"/>
          <p:cNvSpPr/>
          <p:nvPr/>
        </p:nvSpPr>
        <p:spPr>
          <a:xfrm rot="900000">
            <a:off x="3108960" y="0"/>
            <a:ext cx="548640" cy="6858000"/>
          </a:xfrm>
          <a:prstGeom prst="line">
            <a:avLst/>
          </a:prstGeom>
          <a:noFill/>
          <a:ln w="228600">
            <a:solidFill>
              <a:srgbClr val="232F3E">
                <a:alpha val="15000"/>
              </a:srgbClr>
            </a:solidFill>
            <a:prstDash val="solid"/>
          </a:ln>
        </p:spPr>
      </p:sp>
      <p:sp>
        <p:nvSpPr>
          <p:cNvPr id="8" name="Shape 6"/>
          <p:cNvSpPr/>
          <p:nvPr/>
        </p:nvSpPr>
        <p:spPr>
          <a:xfrm rot="900000">
            <a:off x="4114800" y="0"/>
            <a:ext cx="548640" cy="6858000"/>
          </a:xfrm>
          <a:prstGeom prst="line">
            <a:avLst/>
          </a:prstGeom>
          <a:noFill/>
          <a:ln w="228600">
            <a:solidFill>
              <a:srgbClr val="232F3E">
                <a:alpha val="15000"/>
              </a:srgbClr>
            </a:solidFill>
            <a:prstDash val="solid"/>
          </a:ln>
        </p:spPr>
      </p:sp>
      <p:sp>
        <p:nvSpPr>
          <p:cNvPr id="9" name="Shape 7"/>
          <p:cNvSpPr/>
          <p:nvPr/>
        </p:nvSpPr>
        <p:spPr>
          <a:xfrm rot="900000">
            <a:off x="5120640" y="0"/>
            <a:ext cx="548640" cy="6858000"/>
          </a:xfrm>
          <a:prstGeom prst="line">
            <a:avLst/>
          </a:prstGeom>
          <a:noFill/>
          <a:ln w="228600">
            <a:solidFill>
              <a:srgbClr val="232F3E">
                <a:alpha val="15000"/>
              </a:srgbClr>
            </a:solidFill>
            <a:prstDash val="solid"/>
          </a:ln>
        </p:spPr>
      </p:sp>
      <p:sp>
        <p:nvSpPr>
          <p:cNvPr id="10" name="Shape 8"/>
          <p:cNvSpPr/>
          <p:nvPr/>
        </p:nvSpPr>
        <p:spPr>
          <a:xfrm rot="900000">
            <a:off x="6126480" y="0"/>
            <a:ext cx="548640" cy="6858000"/>
          </a:xfrm>
          <a:prstGeom prst="line">
            <a:avLst/>
          </a:prstGeom>
          <a:noFill/>
          <a:ln w="228600">
            <a:solidFill>
              <a:srgbClr val="232F3E">
                <a:alpha val="15000"/>
              </a:srgbClr>
            </a:solidFill>
            <a:prstDash val="solid"/>
          </a:ln>
        </p:spPr>
      </p:sp>
      <p:sp>
        <p:nvSpPr>
          <p:cNvPr id="11" name="Shape 9"/>
          <p:cNvSpPr/>
          <p:nvPr/>
        </p:nvSpPr>
        <p:spPr>
          <a:xfrm rot="900000">
            <a:off x="7132320" y="0"/>
            <a:ext cx="548640" cy="6858000"/>
          </a:xfrm>
          <a:prstGeom prst="line">
            <a:avLst/>
          </a:prstGeom>
          <a:noFill/>
          <a:ln w="228600">
            <a:solidFill>
              <a:srgbClr val="232F3E">
                <a:alpha val="15000"/>
              </a:srgbClr>
            </a:solidFill>
            <a:prstDash val="solid"/>
          </a:ln>
        </p:spPr>
      </p:sp>
      <p:sp>
        <p:nvSpPr>
          <p:cNvPr id="12" name="Shape 10"/>
          <p:cNvSpPr/>
          <p:nvPr/>
        </p:nvSpPr>
        <p:spPr>
          <a:xfrm rot="900000">
            <a:off x="8138160" y="0"/>
            <a:ext cx="548640" cy="6858000"/>
          </a:xfrm>
          <a:prstGeom prst="line">
            <a:avLst/>
          </a:prstGeom>
          <a:noFill/>
          <a:ln w="228600">
            <a:solidFill>
              <a:srgbClr val="232F3E">
                <a:alpha val="15000"/>
              </a:srgbClr>
            </a:solidFill>
            <a:prstDash val="solid"/>
          </a:ln>
        </p:spPr>
      </p:sp>
      <p:sp>
        <p:nvSpPr>
          <p:cNvPr id="13" name="Shape 11"/>
          <p:cNvSpPr/>
          <p:nvPr/>
        </p:nvSpPr>
        <p:spPr>
          <a:xfrm rot="900000">
            <a:off x="9144000" y="0"/>
            <a:ext cx="548640" cy="6858000"/>
          </a:xfrm>
          <a:prstGeom prst="line">
            <a:avLst/>
          </a:prstGeom>
          <a:noFill/>
          <a:ln w="228600">
            <a:solidFill>
              <a:srgbClr val="232F3E">
                <a:alpha val="15000"/>
              </a:srgbClr>
            </a:solidFill>
            <a:prstDash val="solid"/>
          </a:ln>
        </p:spPr>
      </p:sp>
      <p:sp>
        <p:nvSpPr>
          <p:cNvPr id="14" name="Shape 12"/>
          <p:cNvSpPr/>
          <p:nvPr/>
        </p:nvSpPr>
        <p:spPr>
          <a:xfrm rot="900000">
            <a:off x="10149840" y="0"/>
            <a:ext cx="548640" cy="6858000"/>
          </a:xfrm>
          <a:prstGeom prst="line">
            <a:avLst/>
          </a:prstGeom>
          <a:noFill/>
          <a:ln w="228600">
            <a:solidFill>
              <a:srgbClr val="232F3E">
                <a:alpha val="15000"/>
              </a:srgbClr>
            </a:solidFill>
            <a:prstDash val="solid"/>
          </a:ln>
        </p:spPr>
      </p:sp>
      <p:sp>
        <p:nvSpPr>
          <p:cNvPr id="15" name="Shape 13"/>
          <p:cNvSpPr/>
          <p:nvPr/>
        </p:nvSpPr>
        <p:spPr>
          <a:xfrm>
            <a:off x="6858000" y="0"/>
            <a:ext cx="2286000" cy="1097280"/>
          </a:xfrm>
          <a:prstGeom prst="rect">
            <a:avLst/>
          </a:prstGeom>
          <a:solidFill>
            <a:srgbClr val="FF9900"/>
          </a:solidFill>
          <a:ln/>
        </p:spPr>
      </p:sp>
      <p:sp>
        <p:nvSpPr>
          <p:cNvPr id="16" name="Text 14"/>
          <p:cNvSpPr/>
          <p:nvPr/>
        </p:nvSpPr>
        <p:spPr>
          <a:xfrm>
            <a:off x="6903720" y="91440"/>
            <a:ext cx="2103120" cy="411480"/>
          </a:xfrm>
          <a:prstGeom prst="rect">
            <a:avLst/>
          </a:prstGeom>
          <a:noFill/>
          <a:ln/>
        </p:spPr>
        <p:txBody>
          <a:bodyPr wrap="square" rtlCol="0" anchor="ctr"/>
          <a:lstStyle/>
          <a:p>
            <a:pPr algn="ctr" indent="0" marL="0">
              <a:buNone/>
            </a:pPr>
            <a:r>
              <a:rPr lang="en-US" sz="1400" b="1" dirty="0">
                <a:solidFill>
                  <a:srgbClr val="131921"/>
                </a:solidFill>
                <a:latin typeface="Calibri" pitchFamily="34" charset="0"/>
                <a:ea typeface="Calibri" pitchFamily="34" charset="-122"/>
                <a:cs typeface="Calibri" pitchFamily="34" charset="-120"/>
              </a:rPr>
              <a:t>amazon pay</a:t>
            </a:r>
            <a:endParaRPr lang="en-US" sz="1400" dirty="0"/>
          </a:p>
        </p:txBody>
      </p:sp>
      <p:sp>
        <p:nvSpPr>
          <p:cNvPr id="17" name="Text 15"/>
          <p:cNvSpPr/>
          <p:nvPr/>
        </p:nvSpPr>
        <p:spPr>
          <a:xfrm>
            <a:off x="6903720" y="502920"/>
            <a:ext cx="2103120" cy="274320"/>
          </a:xfrm>
          <a:prstGeom prst="rect">
            <a:avLst/>
          </a:prstGeom>
          <a:noFill/>
          <a:ln/>
        </p:spPr>
        <p:txBody>
          <a:bodyPr wrap="square" rtlCol="0" anchor="ctr"/>
          <a:lstStyle/>
          <a:p>
            <a:pPr algn="ctr" indent="0" marL="0">
              <a:buNone/>
            </a:pPr>
            <a:r>
              <a:rPr lang="en-US" sz="900" b="1" spc="300" kern="0" dirty="0">
                <a:solidFill>
                  <a:srgbClr val="131921"/>
                </a:solidFill>
                <a:latin typeface="Calibri" pitchFamily="34" charset="0"/>
                <a:ea typeface="Calibri" pitchFamily="34" charset="-122"/>
                <a:cs typeface="Calibri" pitchFamily="34" charset="-120"/>
              </a:rPr>
              <a:t>PAYMENTS · INDIA</a:t>
            </a:r>
            <a:endParaRPr lang="en-US" sz="900" dirty="0"/>
          </a:p>
        </p:txBody>
      </p:sp>
      <p:sp>
        <p:nvSpPr>
          <p:cNvPr id="18" name="Text 16"/>
          <p:cNvSpPr/>
          <p:nvPr/>
        </p:nvSpPr>
        <p:spPr>
          <a:xfrm>
            <a:off x="457200" y="1371600"/>
            <a:ext cx="6400800" cy="9144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Amazon Pay Milestone</a:t>
            </a:r>
            <a:endParaRPr lang="en-US" sz="4800" dirty="0"/>
          </a:p>
        </p:txBody>
      </p:sp>
      <p:sp>
        <p:nvSpPr>
          <p:cNvPr id="19" name="Shape 17"/>
          <p:cNvSpPr/>
          <p:nvPr/>
        </p:nvSpPr>
        <p:spPr>
          <a:xfrm>
            <a:off x="457200" y="2377440"/>
            <a:ext cx="1097280" cy="73152"/>
          </a:xfrm>
          <a:prstGeom prst="rect">
            <a:avLst/>
          </a:prstGeom>
          <a:solidFill>
            <a:srgbClr val="FF9900"/>
          </a:solidFill>
          <a:ln/>
        </p:spPr>
      </p:sp>
      <p:sp>
        <p:nvSpPr>
          <p:cNvPr id="20" name="Text 18"/>
          <p:cNvSpPr/>
          <p:nvPr/>
        </p:nvSpPr>
        <p:spPr>
          <a:xfrm>
            <a:off x="457200" y="2514600"/>
            <a:ext cx="7772400" cy="457200"/>
          </a:xfrm>
          <a:prstGeom prst="rect">
            <a:avLst/>
          </a:prstGeom>
          <a:noFill/>
          <a:ln/>
        </p:spPr>
        <p:txBody>
          <a:bodyPr wrap="square" rtlCol="0" anchor="ctr"/>
          <a:lstStyle/>
          <a:p>
            <a:pPr indent="0" marL="0">
              <a:buNone/>
            </a:pPr>
            <a:r>
              <a:rPr lang="en-US" sz="1600" i="1" dirty="0">
                <a:solidFill>
                  <a:srgbClr val="FEBD69"/>
                </a:solidFill>
                <a:latin typeface="Calibri" pitchFamily="34" charset="0"/>
                <a:ea typeface="Calibri" pitchFamily="34" charset="-122"/>
                <a:cs typeface="Calibri" pitchFamily="34" charset="-120"/>
              </a:rPr>
              <a:t>From one-time IBD activation to a 30-day habit loop — funded by the bank partner</a:t>
            </a:r>
            <a:endParaRPr lang="en-US" sz="1600" dirty="0"/>
          </a:p>
        </p:txBody>
      </p:sp>
      <p:sp>
        <p:nvSpPr>
          <p:cNvPr id="21" name="Shape 19"/>
          <p:cNvSpPr/>
          <p:nvPr/>
        </p:nvSpPr>
        <p:spPr>
          <a:xfrm>
            <a:off x="457200" y="5303520"/>
            <a:ext cx="4572000" cy="54864"/>
          </a:xfrm>
          <a:prstGeom prst="rect">
            <a:avLst/>
          </a:prstGeom>
          <a:solidFill>
            <a:srgbClr val="232F3E"/>
          </a:solidFill>
          <a:ln/>
        </p:spPr>
      </p:sp>
      <p:sp>
        <p:nvSpPr>
          <p:cNvPr id="22" name="Text 20"/>
          <p:cNvSpPr/>
          <p:nvPr/>
        </p:nvSpPr>
        <p:spPr>
          <a:xfrm>
            <a:off x="457200" y="5440680"/>
            <a:ext cx="64008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Presented by Ajay Avaghade  ·  Growth &amp; Payments PM  ·  Amazon Emerging Stores</a:t>
            </a:r>
            <a:endParaRPr lang="en-US" sz="1100" dirty="0"/>
          </a:p>
        </p:txBody>
      </p:sp>
      <p:sp>
        <p:nvSpPr>
          <p:cNvPr id="23" name="Shape 21"/>
          <p:cNvSpPr/>
          <p:nvPr/>
        </p:nvSpPr>
        <p:spPr>
          <a:xfrm>
            <a:off x="6858000" y="4572000"/>
            <a:ext cx="2011680" cy="1828800"/>
          </a:xfrm>
          <a:prstGeom prst="rect">
            <a:avLst/>
          </a:prstGeom>
          <a:solidFill>
            <a:srgbClr val="232F3E"/>
          </a:solidFill>
          <a:ln/>
        </p:spPr>
      </p:sp>
      <p:sp>
        <p:nvSpPr>
          <p:cNvPr id="24" name="Text 22"/>
          <p:cNvSpPr/>
          <p:nvPr/>
        </p:nvSpPr>
        <p:spPr>
          <a:xfrm>
            <a:off x="6858000" y="4709160"/>
            <a:ext cx="2011680" cy="822960"/>
          </a:xfrm>
          <a:prstGeom prst="rect">
            <a:avLst/>
          </a:prstGeom>
          <a:noFill/>
          <a:ln/>
        </p:spPr>
        <p:txBody>
          <a:bodyPr wrap="square" rtlCol="0" anchor="ctr"/>
          <a:lstStyle/>
          <a:p>
            <a:pPr algn="ctr" indent="0" marL="0">
              <a:buNone/>
            </a:pPr>
            <a:r>
              <a:rPr lang="en-US" sz="3400" b="1" dirty="0">
                <a:solidFill>
                  <a:srgbClr val="FF9900"/>
                </a:solidFill>
                <a:latin typeface="Calibri" pitchFamily="34" charset="0"/>
                <a:ea typeface="Calibri" pitchFamily="34" charset="-122"/>
                <a:cs typeface="Calibri" pitchFamily="34" charset="-120"/>
              </a:rPr>
              <a:t>60–70%</a:t>
            </a:r>
            <a:endParaRPr lang="en-US" sz="3400" dirty="0"/>
          </a:p>
        </p:txBody>
      </p:sp>
      <p:sp>
        <p:nvSpPr>
          <p:cNvPr id="25" name="Text 23"/>
          <p:cNvSpPr/>
          <p:nvPr/>
        </p:nvSpPr>
        <p:spPr>
          <a:xfrm>
            <a:off x="6858000" y="5486400"/>
            <a:ext cx="2011680" cy="10058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of IBD-activated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users make only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1 transaction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31921"/>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457200" y="594360"/>
            <a:ext cx="8229600" cy="7772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IBD Activates Customers Once — Then Loses Them</a:t>
            </a:r>
            <a:endParaRPr lang="en-US" sz="3000" dirty="0"/>
          </a:p>
        </p:txBody>
      </p:sp>
      <p:sp>
        <p:nvSpPr>
          <p:cNvPr id="5" name="Shape 3"/>
          <p:cNvSpPr/>
          <p:nvPr/>
        </p:nvSpPr>
        <p:spPr>
          <a:xfrm>
            <a:off x="457200" y="1417320"/>
            <a:ext cx="8229600" cy="36576"/>
          </a:xfrm>
          <a:prstGeom prst="rect">
            <a:avLst/>
          </a:prstGeom>
          <a:solidFill>
            <a:srgbClr val="232F3E"/>
          </a:solidFill>
          <a:ln/>
        </p:spPr>
      </p:sp>
      <p:sp>
        <p:nvSpPr>
          <p:cNvPr id="6" name="Shape 4"/>
          <p:cNvSpPr/>
          <p:nvPr/>
        </p:nvSpPr>
        <p:spPr>
          <a:xfrm>
            <a:off x="457200" y="1600200"/>
            <a:ext cx="2651760"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7" name="Text 5"/>
          <p:cNvSpPr/>
          <p:nvPr/>
        </p:nvSpPr>
        <p:spPr>
          <a:xfrm>
            <a:off x="457200" y="173736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457200" y="2331720"/>
            <a:ext cx="2651760" cy="731520"/>
          </a:xfrm>
          <a:prstGeom prst="rect">
            <a:avLst/>
          </a:prstGeom>
          <a:noFill/>
          <a:ln/>
        </p:spPr>
        <p:txBody>
          <a:bodyPr wrap="square"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60–70%</a:t>
            </a:r>
            <a:endParaRPr lang="en-US" sz="3600" dirty="0"/>
          </a:p>
        </p:txBody>
      </p:sp>
      <p:sp>
        <p:nvSpPr>
          <p:cNvPr id="9" name="Text 7"/>
          <p:cNvSpPr/>
          <p:nvPr/>
        </p:nvSpPr>
        <p:spPr>
          <a:xfrm>
            <a:off x="457200" y="3108960"/>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IBD users make only 1 txn</a:t>
            </a:r>
            <a:endParaRPr lang="en-US" sz="1200" dirty="0"/>
          </a:p>
        </p:txBody>
      </p:sp>
      <p:sp>
        <p:nvSpPr>
          <p:cNvPr id="10" name="Text 8"/>
          <p:cNvSpPr/>
          <p:nvPr/>
        </p:nvSpPr>
        <p:spPr>
          <a:xfrm>
            <a:off x="457200" y="3520440"/>
            <a:ext cx="2651760" cy="82296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Activated by the offer,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never habituated to the card</a:t>
            </a:r>
            <a:endParaRPr lang="en-US" sz="1000" dirty="0"/>
          </a:p>
        </p:txBody>
      </p:sp>
      <p:sp>
        <p:nvSpPr>
          <p:cNvPr id="11" name="Shape 9"/>
          <p:cNvSpPr/>
          <p:nvPr/>
        </p:nvSpPr>
        <p:spPr>
          <a:xfrm>
            <a:off x="3291840" y="1600200"/>
            <a:ext cx="2651760"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2" name="Text 10"/>
          <p:cNvSpPr/>
          <p:nvPr/>
        </p:nvSpPr>
        <p:spPr>
          <a:xfrm>
            <a:off x="3291840" y="173736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3291840" y="2331720"/>
            <a:ext cx="2651760" cy="731520"/>
          </a:xfrm>
          <a:prstGeom prst="rect">
            <a:avLst/>
          </a:prstGeom>
          <a:noFill/>
          <a:ln/>
        </p:spPr>
        <p:txBody>
          <a:bodyPr wrap="square"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1.3×</a:t>
            </a:r>
            <a:endParaRPr lang="en-US" sz="3600" dirty="0"/>
          </a:p>
        </p:txBody>
      </p:sp>
      <p:sp>
        <p:nvSpPr>
          <p:cNvPr id="14" name="Text 12"/>
          <p:cNvSpPr/>
          <p:nvPr/>
        </p:nvSpPr>
        <p:spPr>
          <a:xfrm>
            <a:off x="3291840" y="3108960"/>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Avg. monthly repeat rate</a:t>
            </a:r>
            <a:endParaRPr lang="en-US" sz="1200" dirty="0"/>
          </a:p>
        </p:txBody>
      </p:sp>
      <p:sp>
        <p:nvSpPr>
          <p:cNvPr id="15" name="Text 13"/>
          <p:cNvSpPr/>
          <p:nvPr/>
        </p:nvSpPr>
        <p:spPr>
          <a:xfrm>
            <a:off x="3291840" y="3520440"/>
            <a:ext cx="2651760" cy="82296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vs. 4.2× for loyalty-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programme users globally</a:t>
            </a:r>
            <a:endParaRPr lang="en-US" sz="1000" dirty="0"/>
          </a:p>
        </p:txBody>
      </p:sp>
      <p:sp>
        <p:nvSpPr>
          <p:cNvPr id="16" name="Shape 14"/>
          <p:cNvSpPr/>
          <p:nvPr/>
        </p:nvSpPr>
        <p:spPr>
          <a:xfrm>
            <a:off x="6126480" y="1600200"/>
            <a:ext cx="2651760"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7" name="Text 15"/>
          <p:cNvSpPr/>
          <p:nvPr/>
        </p:nvSpPr>
        <p:spPr>
          <a:xfrm>
            <a:off x="6126480" y="173736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6126480" y="2331720"/>
            <a:ext cx="2651760" cy="731520"/>
          </a:xfrm>
          <a:prstGeom prst="rect">
            <a:avLst/>
          </a:prstGeom>
          <a:noFill/>
          <a:ln/>
        </p:spPr>
        <p:txBody>
          <a:bodyPr wrap="square"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High churn</a:t>
            </a:r>
            <a:endParaRPr lang="en-US" sz="3600" dirty="0"/>
          </a:p>
        </p:txBody>
      </p:sp>
      <p:sp>
        <p:nvSpPr>
          <p:cNvPr id="19" name="Text 17"/>
          <p:cNvSpPr/>
          <p:nvPr/>
        </p:nvSpPr>
        <p:spPr>
          <a:xfrm>
            <a:off x="6126480" y="3108960"/>
            <a:ext cx="265176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Bank partner renewal risk</a:t>
            </a:r>
            <a:endParaRPr lang="en-US" sz="1200" dirty="0"/>
          </a:p>
        </p:txBody>
      </p:sp>
      <p:sp>
        <p:nvSpPr>
          <p:cNvPr id="20" name="Text 18"/>
          <p:cNvSpPr/>
          <p:nvPr/>
        </p:nvSpPr>
        <p:spPr>
          <a:xfrm>
            <a:off x="6126480" y="3520440"/>
            <a:ext cx="2651760" cy="82296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Low repeat usage = weak</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partnership ROI data at renewal</a:t>
            </a:r>
            <a:endParaRPr lang="en-US" sz="1000" dirty="0"/>
          </a:p>
        </p:txBody>
      </p:sp>
      <p:sp>
        <p:nvSpPr>
          <p:cNvPr id="21" name="Shape 19"/>
          <p:cNvSpPr/>
          <p:nvPr/>
        </p:nvSpPr>
        <p:spPr>
          <a:xfrm>
            <a:off x="457200" y="5029200"/>
            <a:ext cx="8229600" cy="1600200"/>
          </a:xfrm>
          <a:prstGeom prst="rect">
            <a:avLst/>
          </a:prstGeom>
          <a:solidFill>
            <a:srgbClr val="1A2332"/>
          </a:solidFill>
          <a:ln w="19050">
            <a:solidFill>
              <a:srgbClr val="FF9900"/>
            </a:solidFill>
            <a:prstDash val="solid"/>
          </a:ln>
          <a:effectLst>
            <a:outerShdw sx="100000" sy="100000" kx="0" ky="0" algn="bl" rotWithShape="0" blurRad="38100" dist="12700" dir="2700000">
              <a:srgbClr val="000000">
                <a:alpha val="12000"/>
              </a:srgbClr>
            </a:outerShdw>
          </a:effectLst>
        </p:spPr>
      </p:sp>
      <p:sp>
        <p:nvSpPr>
          <p:cNvPr id="22" name="Text 20"/>
          <p:cNvSpPr/>
          <p:nvPr/>
        </p:nvSpPr>
        <p:spPr>
          <a:xfrm>
            <a:off x="640080" y="5166360"/>
            <a:ext cx="1828800" cy="320040"/>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Root Cause:</a:t>
            </a:r>
            <a:endParaRPr lang="en-US" sz="1100" dirty="0"/>
          </a:p>
        </p:txBody>
      </p:sp>
      <p:sp>
        <p:nvSpPr>
          <p:cNvPr id="23" name="Text 21"/>
          <p:cNvSpPr/>
          <p:nvPr/>
        </p:nvSpPr>
        <p:spPr>
          <a:xfrm>
            <a:off x="640080" y="5486400"/>
            <a:ext cx="7863840" cy="9601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Amazon's IBD program is a one-time event: customer gets the discount, uses it once, and has no reason to return with the same card. There is no engagement mechanic, no progress loop, no escalating reward. Bank partners fund the activation but receive no loyalty data in return — making partnership renewals a one-way value exchange.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3F4F6"/>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THE INSIGHT</a:t>
            </a:r>
            <a:endParaRPr lang="en-US" sz="900" dirty="0"/>
          </a:p>
        </p:txBody>
      </p:sp>
      <p:sp>
        <p:nvSpPr>
          <p:cNvPr id="4" name="Text 2"/>
          <p:cNvSpPr/>
          <p:nvPr/>
        </p:nvSpPr>
        <p:spPr>
          <a:xfrm>
            <a:off x="457200" y="594360"/>
            <a:ext cx="8229600" cy="777240"/>
          </a:xfrm>
          <a:prstGeom prst="rect">
            <a:avLst/>
          </a:prstGeom>
          <a:noFill/>
          <a:ln/>
        </p:spPr>
        <p:txBody>
          <a:bodyPr wrap="square" rtlCol="0" anchor="ctr"/>
          <a:lstStyle/>
          <a:p>
            <a:pPr indent="0" marL="0">
              <a:buNone/>
            </a:pPr>
            <a:r>
              <a:rPr lang="en-US" sz="2500" b="1" dirty="0">
                <a:solidFill>
                  <a:srgbClr val="0F172A"/>
                </a:solidFill>
                <a:latin typeface="Calibri" pitchFamily="34" charset="0"/>
                <a:ea typeface="Calibri" pitchFamily="34" charset="-122"/>
                <a:cs typeface="Calibri" pitchFamily="34" charset="-120"/>
              </a:rPr>
              <a:t>A Discount That Grows With Usage Turns Activation Into Habit</a:t>
            </a:r>
            <a:endParaRPr lang="en-US" sz="2500" dirty="0"/>
          </a:p>
        </p:txBody>
      </p:sp>
      <p:sp>
        <p:nvSpPr>
          <p:cNvPr id="5" name="Shape 3"/>
          <p:cNvSpPr/>
          <p:nvPr/>
        </p:nvSpPr>
        <p:spPr>
          <a:xfrm>
            <a:off x="457200" y="1417320"/>
            <a:ext cx="8229600" cy="36576"/>
          </a:xfrm>
          <a:prstGeom prst="rect">
            <a:avLst/>
          </a:prstGeom>
          <a:solidFill>
            <a:srgbClr val="FF9900"/>
          </a:solidFill>
          <a:ln/>
        </p:spPr>
      </p:sp>
      <p:sp>
        <p:nvSpPr>
          <p:cNvPr id="6" name="Shape 4"/>
          <p:cNvSpPr/>
          <p:nvPr/>
        </p:nvSpPr>
        <p:spPr>
          <a:xfrm>
            <a:off x="457200" y="1600200"/>
            <a:ext cx="3840480" cy="429768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7" name="Text 5"/>
          <p:cNvSpPr/>
          <p:nvPr/>
        </p:nvSpPr>
        <p:spPr>
          <a:xfrm>
            <a:off x="594360" y="1783080"/>
            <a:ext cx="3566160" cy="41148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  Flat IBD (Current)</a:t>
            </a:r>
            <a:endParaRPr lang="en-US" sz="1400" dirty="0"/>
          </a:p>
        </p:txBody>
      </p:sp>
      <p:sp>
        <p:nvSpPr>
          <p:cNvPr id="8" name="Shape 6"/>
          <p:cNvSpPr/>
          <p:nvPr/>
        </p:nvSpPr>
        <p:spPr>
          <a:xfrm>
            <a:off x="594360" y="2331720"/>
            <a:ext cx="201168" cy="201168"/>
          </a:xfrm>
          <a:prstGeom prst="rect">
            <a:avLst/>
          </a:prstGeom>
          <a:solidFill>
            <a:srgbClr val="FEE2E2"/>
          </a:solidFill>
          <a:ln/>
        </p:spPr>
      </p:sp>
      <p:sp>
        <p:nvSpPr>
          <p:cNvPr id="9" name="Text 7"/>
          <p:cNvSpPr/>
          <p:nvPr/>
        </p:nvSpPr>
        <p:spPr>
          <a:xfrm>
            <a:off x="594360" y="2331720"/>
            <a:ext cx="201168" cy="201168"/>
          </a:xfrm>
          <a:prstGeom prst="rect">
            <a:avLst/>
          </a:prstGeom>
          <a:noFill/>
          <a:ln/>
        </p:spPr>
        <p:txBody>
          <a:bodyPr wrap="square" rtlCol="0" anchor="ctr"/>
          <a:lstStyle/>
          <a:p>
            <a:pPr algn="ctr" indent="0" marL="0">
              <a:buNone/>
            </a:pPr>
            <a:r>
              <a:rPr lang="en-US" sz="1000" b="1" dirty="0">
                <a:solidFill>
                  <a:srgbClr val="DC2626"/>
                </a:solidFill>
              </a:rPr>
              <a:t>✕</a:t>
            </a:r>
            <a:endParaRPr lang="en-US" sz="1000" dirty="0"/>
          </a:p>
        </p:txBody>
      </p:sp>
      <p:sp>
        <p:nvSpPr>
          <p:cNvPr id="10" name="Text 8"/>
          <p:cNvSpPr/>
          <p:nvPr/>
        </p:nvSpPr>
        <p:spPr>
          <a:xfrm>
            <a:off x="868680" y="231343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Same 10% discount whether customer transacts once or ten times</a:t>
            </a:r>
            <a:endParaRPr lang="en-US" sz="1100" dirty="0"/>
          </a:p>
        </p:txBody>
      </p:sp>
      <p:sp>
        <p:nvSpPr>
          <p:cNvPr id="11" name="Shape 9"/>
          <p:cNvSpPr/>
          <p:nvPr/>
        </p:nvSpPr>
        <p:spPr>
          <a:xfrm>
            <a:off x="594360" y="2971800"/>
            <a:ext cx="201168" cy="201168"/>
          </a:xfrm>
          <a:prstGeom prst="rect">
            <a:avLst/>
          </a:prstGeom>
          <a:solidFill>
            <a:srgbClr val="FEE2E2"/>
          </a:solidFill>
          <a:ln/>
        </p:spPr>
      </p:sp>
      <p:sp>
        <p:nvSpPr>
          <p:cNvPr id="12" name="Text 10"/>
          <p:cNvSpPr/>
          <p:nvPr/>
        </p:nvSpPr>
        <p:spPr>
          <a:xfrm>
            <a:off x="594360" y="2971800"/>
            <a:ext cx="201168" cy="201168"/>
          </a:xfrm>
          <a:prstGeom prst="rect">
            <a:avLst/>
          </a:prstGeom>
          <a:noFill/>
          <a:ln/>
        </p:spPr>
        <p:txBody>
          <a:bodyPr wrap="square" rtlCol="0" anchor="ctr"/>
          <a:lstStyle/>
          <a:p>
            <a:pPr algn="ctr" indent="0" marL="0">
              <a:buNone/>
            </a:pPr>
            <a:r>
              <a:rPr lang="en-US" sz="1000" b="1" dirty="0">
                <a:solidFill>
                  <a:srgbClr val="DC2626"/>
                </a:solidFill>
              </a:rPr>
              <a:t>✕</a:t>
            </a:r>
            <a:endParaRPr lang="en-US" sz="1000" dirty="0"/>
          </a:p>
        </p:txBody>
      </p:sp>
      <p:sp>
        <p:nvSpPr>
          <p:cNvPr id="13" name="Text 11"/>
          <p:cNvSpPr/>
          <p:nvPr/>
        </p:nvSpPr>
        <p:spPr>
          <a:xfrm>
            <a:off x="868680" y="295351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 progress indicator — customer has nothing to work toward</a:t>
            </a:r>
            <a:endParaRPr lang="en-US" sz="1100" dirty="0"/>
          </a:p>
        </p:txBody>
      </p:sp>
      <p:sp>
        <p:nvSpPr>
          <p:cNvPr id="14" name="Shape 12"/>
          <p:cNvSpPr/>
          <p:nvPr/>
        </p:nvSpPr>
        <p:spPr>
          <a:xfrm>
            <a:off x="594360" y="3611880"/>
            <a:ext cx="201168" cy="201168"/>
          </a:xfrm>
          <a:prstGeom prst="rect">
            <a:avLst/>
          </a:prstGeom>
          <a:solidFill>
            <a:srgbClr val="FEE2E2"/>
          </a:solidFill>
          <a:ln/>
        </p:spPr>
      </p:sp>
      <p:sp>
        <p:nvSpPr>
          <p:cNvPr id="15" name="Text 13"/>
          <p:cNvSpPr/>
          <p:nvPr/>
        </p:nvSpPr>
        <p:spPr>
          <a:xfrm>
            <a:off x="594360" y="3611880"/>
            <a:ext cx="201168" cy="201168"/>
          </a:xfrm>
          <a:prstGeom prst="rect">
            <a:avLst/>
          </a:prstGeom>
          <a:noFill/>
          <a:ln/>
        </p:spPr>
        <p:txBody>
          <a:bodyPr wrap="square" rtlCol="0" anchor="ctr"/>
          <a:lstStyle/>
          <a:p>
            <a:pPr algn="ctr" indent="0" marL="0">
              <a:buNone/>
            </a:pPr>
            <a:r>
              <a:rPr lang="en-US" sz="1000" b="1" dirty="0">
                <a:solidFill>
                  <a:srgbClr val="DC2626"/>
                </a:solidFill>
              </a:rPr>
              <a:t>✕</a:t>
            </a:r>
            <a:endParaRPr lang="en-US" sz="1000" dirty="0"/>
          </a:p>
        </p:txBody>
      </p:sp>
      <p:sp>
        <p:nvSpPr>
          <p:cNvPr id="16" name="Text 14"/>
          <p:cNvSpPr/>
          <p:nvPr/>
        </p:nvSpPr>
        <p:spPr>
          <a:xfrm>
            <a:off x="868680" y="359359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Discount feels like a promotion, not a relationship</a:t>
            </a:r>
            <a:endParaRPr lang="en-US" sz="1100" dirty="0"/>
          </a:p>
        </p:txBody>
      </p:sp>
      <p:sp>
        <p:nvSpPr>
          <p:cNvPr id="17" name="Shape 15"/>
          <p:cNvSpPr/>
          <p:nvPr/>
        </p:nvSpPr>
        <p:spPr>
          <a:xfrm>
            <a:off x="594360" y="4251960"/>
            <a:ext cx="201168" cy="201168"/>
          </a:xfrm>
          <a:prstGeom prst="rect">
            <a:avLst/>
          </a:prstGeom>
          <a:solidFill>
            <a:srgbClr val="FEE2E2"/>
          </a:solidFill>
          <a:ln/>
        </p:spPr>
      </p:sp>
      <p:sp>
        <p:nvSpPr>
          <p:cNvPr id="18" name="Text 16"/>
          <p:cNvSpPr/>
          <p:nvPr/>
        </p:nvSpPr>
        <p:spPr>
          <a:xfrm>
            <a:off x="594360" y="4251960"/>
            <a:ext cx="201168" cy="201168"/>
          </a:xfrm>
          <a:prstGeom prst="rect">
            <a:avLst/>
          </a:prstGeom>
          <a:noFill/>
          <a:ln/>
        </p:spPr>
        <p:txBody>
          <a:bodyPr wrap="square" rtlCol="0" anchor="ctr"/>
          <a:lstStyle/>
          <a:p>
            <a:pPr algn="ctr" indent="0" marL="0">
              <a:buNone/>
            </a:pPr>
            <a:r>
              <a:rPr lang="en-US" sz="1000" b="1" dirty="0">
                <a:solidFill>
                  <a:srgbClr val="DC2626"/>
                </a:solidFill>
              </a:rPr>
              <a:t>✕</a:t>
            </a:r>
            <a:endParaRPr lang="en-US" sz="1000" dirty="0"/>
          </a:p>
        </p:txBody>
      </p:sp>
      <p:sp>
        <p:nvSpPr>
          <p:cNvPr id="19" name="Text 17"/>
          <p:cNvSpPr/>
          <p:nvPr/>
        </p:nvSpPr>
        <p:spPr>
          <a:xfrm>
            <a:off x="868680" y="423367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Bank partner funds the discount but gains no loyalty data</a:t>
            </a:r>
            <a:endParaRPr lang="en-US" sz="1100" dirty="0"/>
          </a:p>
        </p:txBody>
      </p:sp>
      <p:sp>
        <p:nvSpPr>
          <p:cNvPr id="20" name="Shape 18"/>
          <p:cNvSpPr/>
          <p:nvPr/>
        </p:nvSpPr>
        <p:spPr>
          <a:xfrm>
            <a:off x="4160520" y="3246120"/>
            <a:ext cx="822960" cy="822960"/>
          </a:xfrm>
          <a:prstGeom prst="ellipse">
            <a:avLst/>
          </a:prstGeom>
          <a:solidFill>
            <a:srgbClr val="FF9900"/>
          </a:solidFill>
          <a:ln/>
        </p:spPr>
      </p:sp>
      <p:sp>
        <p:nvSpPr>
          <p:cNvPr id="21" name="Text 19"/>
          <p:cNvSpPr/>
          <p:nvPr/>
        </p:nvSpPr>
        <p:spPr>
          <a:xfrm>
            <a:off x="4160520" y="3246120"/>
            <a:ext cx="822960" cy="822960"/>
          </a:xfrm>
          <a:prstGeom prst="rect">
            <a:avLst/>
          </a:prstGeom>
          <a:noFill/>
          <a:ln/>
        </p:spPr>
        <p:txBody>
          <a:bodyPr wrap="square" rtlCol="0" anchor="ctr"/>
          <a:lstStyle/>
          <a:p>
            <a:pPr algn="ctr" indent="0" marL="0">
              <a:buNone/>
            </a:pPr>
            <a:r>
              <a:rPr lang="en-US" sz="1400" b="1" dirty="0">
                <a:solidFill>
                  <a:srgbClr val="131921"/>
                </a:solidFill>
                <a:latin typeface="Calibri" pitchFamily="34" charset="0"/>
                <a:ea typeface="Calibri" pitchFamily="34" charset="-122"/>
                <a:cs typeface="Calibri" pitchFamily="34" charset="-120"/>
              </a:rPr>
              <a:t>VS</a:t>
            </a:r>
            <a:endParaRPr lang="en-US" sz="1400" dirty="0"/>
          </a:p>
        </p:txBody>
      </p:sp>
      <p:sp>
        <p:nvSpPr>
          <p:cNvPr id="22" name="Shape 20"/>
          <p:cNvSpPr/>
          <p:nvPr/>
        </p:nvSpPr>
        <p:spPr>
          <a:xfrm>
            <a:off x="4846320" y="1600200"/>
            <a:ext cx="3840480" cy="4297680"/>
          </a:xfrm>
          <a:prstGeom prst="rect">
            <a:avLst/>
          </a:prstGeom>
          <a:solidFill>
            <a:srgbClr val="FFFFFF"/>
          </a:solidFill>
          <a:ln w="25400">
            <a:solidFill>
              <a:srgbClr val="FF9900"/>
            </a:solidFill>
            <a:prstDash val="solid"/>
          </a:ln>
          <a:effectLst>
            <a:outerShdw sx="100000" sy="100000" kx="0" ky="0" algn="bl" rotWithShape="0" blurRad="38100" dist="12700" dir="2700000">
              <a:srgbClr val="000000">
                <a:alpha val="12000"/>
              </a:srgbClr>
            </a:outerShdw>
          </a:effectLst>
        </p:spPr>
      </p:sp>
      <p:sp>
        <p:nvSpPr>
          <p:cNvPr id="23" name="Text 21"/>
          <p:cNvSpPr/>
          <p:nvPr/>
        </p:nvSpPr>
        <p:spPr>
          <a:xfrm>
            <a:off x="4983480" y="1783080"/>
            <a:ext cx="3566160" cy="41148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  Milestone (Proposed)</a:t>
            </a:r>
            <a:endParaRPr lang="en-US" sz="1400" dirty="0"/>
          </a:p>
        </p:txBody>
      </p:sp>
      <p:sp>
        <p:nvSpPr>
          <p:cNvPr id="24" name="Shape 22"/>
          <p:cNvSpPr/>
          <p:nvPr/>
        </p:nvSpPr>
        <p:spPr>
          <a:xfrm>
            <a:off x="4983480" y="2331720"/>
            <a:ext cx="201168" cy="201168"/>
          </a:xfrm>
          <a:prstGeom prst="rect">
            <a:avLst/>
          </a:prstGeom>
          <a:solidFill>
            <a:srgbClr val="DCFCE7"/>
          </a:solidFill>
          <a:ln/>
        </p:spPr>
      </p:sp>
      <p:sp>
        <p:nvSpPr>
          <p:cNvPr id="25" name="Text 23"/>
          <p:cNvSpPr/>
          <p:nvPr/>
        </p:nvSpPr>
        <p:spPr>
          <a:xfrm>
            <a:off x="4983480" y="2331720"/>
            <a:ext cx="201168" cy="201168"/>
          </a:xfrm>
          <a:prstGeom prst="rect">
            <a:avLst/>
          </a:prstGeom>
          <a:noFill/>
          <a:ln/>
        </p:spPr>
        <p:txBody>
          <a:bodyPr wrap="square" rtlCol="0" anchor="ctr"/>
          <a:lstStyle/>
          <a:p>
            <a:pPr algn="ctr" indent="0" marL="0">
              <a:buNone/>
            </a:pPr>
            <a:r>
              <a:rPr lang="en-US" sz="1000" b="1" dirty="0">
                <a:solidFill>
                  <a:srgbClr val="15803D"/>
                </a:solidFill>
              </a:rPr>
              <a:t>✓</a:t>
            </a:r>
            <a:endParaRPr lang="en-US" sz="1000" dirty="0"/>
          </a:p>
        </p:txBody>
      </p:sp>
      <p:sp>
        <p:nvSpPr>
          <p:cNvPr id="26" name="Text 24"/>
          <p:cNvSpPr/>
          <p:nvPr/>
        </p:nvSpPr>
        <p:spPr>
          <a:xfrm>
            <a:off x="5257800" y="231343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Tier 1 (3 txns): 5% off · Tier 2 (10 txns): 8% off · Tier 3 (20 txns): 12% off</a:t>
            </a:r>
            <a:endParaRPr lang="en-US" sz="1100" dirty="0"/>
          </a:p>
        </p:txBody>
      </p:sp>
      <p:sp>
        <p:nvSpPr>
          <p:cNvPr id="27" name="Shape 25"/>
          <p:cNvSpPr/>
          <p:nvPr/>
        </p:nvSpPr>
        <p:spPr>
          <a:xfrm>
            <a:off x="4983480" y="2971800"/>
            <a:ext cx="201168" cy="201168"/>
          </a:xfrm>
          <a:prstGeom prst="rect">
            <a:avLst/>
          </a:prstGeom>
          <a:solidFill>
            <a:srgbClr val="DCFCE7"/>
          </a:solidFill>
          <a:ln/>
        </p:spPr>
      </p:sp>
      <p:sp>
        <p:nvSpPr>
          <p:cNvPr id="28" name="Text 26"/>
          <p:cNvSpPr/>
          <p:nvPr/>
        </p:nvSpPr>
        <p:spPr>
          <a:xfrm>
            <a:off x="4983480" y="2971800"/>
            <a:ext cx="201168" cy="201168"/>
          </a:xfrm>
          <a:prstGeom prst="rect">
            <a:avLst/>
          </a:prstGeom>
          <a:noFill/>
          <a:ln/>
        </p:spPr>
        <p:txBody>
          <a:bodyPr wrap="square" rtlCol="0" anchor="ctr"/>
          <a:lstStyle/>
          <a:p>
            <a:pPr algn="ctr" indent="0" marL="0">
              <a:buNone/>
            </a:pPr>
            <a:r>
              <a:rPr lang="en-US" sz="1000" b="1" dirty="0">
                <a:solidFill>
                  <a:srgbClr val="15803D"/>
                </a:solidFill>
              </a:rPr>
              <a:t>✓</a:t>
            </a:r>
            <a:endParaRPr lang="en-US" sz="1000" dirty="0"/>
          </a:p>
        </p:txBody>
      </p:sp>
      <p:sp>
        <p:nvSpPr>
          <p:cNvPr id="29" name="Text 27"/>
          <p:cNvSpPr/>
          <p:nvPr/>
        </p:nvSpPr>
        <p:spPr>
          <a:xfrm>
            <a:off x="5257800" y="295351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Progress bar lives on Amazon Pay home — visible every session</a:t>
            </a:r>
            <a:endParaRPr lang="en-US" sz="1100" dirty="0"/>
          </a:p>
        </p:txBody>
      </p:sp>
      <p:sp>
        <p:nvSpPr>
          <p:cNvPr id="30" name="Shape 28"/>
          <p:cNvSpPr/>
          <p:nvPr/>
        </p:nvSpPr>
        <p:spPr>
          <a:xfrm>
            <a:off x="4983480" y="3611880"/>
            <a:ext cx="201168" cy="201168"/>
          </a:xfrm>
          <a:prstGeom prst="rect">
            <a:avLst/>
          </a:prstGeom>
          <a:solidFill>
            <a:srgbClr val="DCFCE7"/>
          </a:solidFill>
          <a:ln/>
        </p:spPr>
      </p:sp>
      <p:sp>
        <p:nvSpPr>
          <p:cNvPr id="31" name="Text 29"/>
          <p:cNvSpPr/>
          <p:nvPr/>
        </p:nvSpPr>
        <p:spPr>
          <a:xfrm>
            <a:off x="4983480" y="3611880"/>
            <a:ext cx="201168" cy="201168"/>
          </a:xfrm>
          <a:prstGeom prst="rect">
            <a:avLst/>
          </a:prstGeom>
          <a:noFill/>
          <a:ln/>
        </p:spPr>
        <p:txBody>
          <a:bodyPr wrap="square" rtlCol="0" anchor="ctr"/>
          <a:lstStyle/>
          <a:p>
            <a:pPr algn="ctr" indent="0" marL="0">
              <a:buNone/>
            </a:pPr>
            <a:r>
              <a:rPr lang="en-US" sz="1000" b="1" dirty="0">
                <a:solidFill>
                  <a:srgbClr val="15803D"/>
                </a:solidFill>
              </a:rPr>
              <a:t>✓</a:t>
            </a:r>
            <a:endParaRPr lang="en-US" sz="1000" dirty="0"/>
          </a:p>
        </p:txBody>
      </p:sp>
      <p:sp>
        <p:nvSpPr>
          <p:cNvPr id="32" name="Text 30"/>
          <p:cNvSpPr/>
          <p:nvPr/>
        </p:nvSpPr>
        <p:spPr>
          <a:xfrm>
            <a:off x="5257800" y="359359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Nudges at 50%, 80%, 95% of each milestone create urgency</a:t>
            </a:r>
            <a:endParaRPr lang="en-US" sz="1100" dirty="0"/>
          </a:p>
        </p:txBody>
      </p:sp>
      <p:sp>
        <p:nvSpPr>
          <p:cNvPr id="33" name="Shape 31"/>
          <p:cNvSpPr/>
          <p:nvPr/>
        </p:nvSpPr>
        <p:spPr>
          <a:xfrm>
            <a:off x="4983480" y="4251960"/>
            <a:ext cx="201168" cy="201168"/>
          </a:xfrm>
          <a:prstGeom prst="rect">
            <a:avLst/>
          </a:prstGeom>
          <a:solidFill>
            <a:srgbClr val="DCFCE7"/>
          </a:solidFill>
          <a:ln/>
        </p:spPr>
      </p:sp>
      <p:sp>
        <p:nvSpPr>
          <p:cNvPr id="34" name="Text 32"/>
          <p:cNvSpPr/>
          <p:nvPr/>
        </p:nvSpPr>
        <p:spPr>
          <a:xfrm>
            <a:off x="4983480" y="4251960"/>
            <a:ext cx="201168" cy="201168"/>
          </a:xfrm>
          <a:prstGeom prst="rect">
            <a:avLst/>
          </a:prstGeom>
          <a:noFill/>
          <a:ln/>
        </p:spPr>
        <p:txBody>
          <a:bodyPr wrap="square" rtlCol="0" anchor="ctr"/>
          <a:lstStyle/>
          <a:p>
            <a:pPr algn="ctr" indent="0" marL="0">
              <a:buNone/>
            </a:pPr>
            <a:r>
              <a:rPr lang="en-US" sz="1000" b="1" dirty="0">
                <a:solidFill>
                  <a:srgbClr val="15803D"/>
                </a:solidFill>
              </a:rPr>
              <a:t>✓</a:t>
            </a:r>
            <a:endParaRPr lang="en-US" sz="1000" dirty="0"/>
          </a:p>
        </p:txBody>
      </p:sp>
      <p:sp>
        <p:nvSpPr>
          <p:cNvPr id="35" name="Text 33"/>
          <p:cNvSpPr/>
          <p:nvPr/>
        </p:nvSpPr>
        <p:spPr>
          <a:xfrm>
            <a:off x="5257800" y="4233672"/>
            <a:ext cx="3246120" cy="4572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Bank partner funds escalating tiers; receives transaction frequency data</a:t>
            </a:r>
            <a:endParaRPr lang="en-US" sz="1100" dirty="0"/>
          </a:p>
        </p:txBody>
      </p:sp>
      <p:sp>
        <p:nvSpPr>
          <p:cNvPr id="36" name="Shape 34"/>
          <p:cNvSpPr/>
          <p:nvPr/>
        </p:nvSpPr>
        <p:spPr>
          <a:xfrm>
            <a:off x="457200" y="6035040"/>
            <a:ext cx="8229600" cy="640080"/>
          </a:xfrm>
          <a:prstGeom prst="rect">
            <a:avLst/>
          </a:prstGeom>
          <a:solidFill>
            <a:srgbClr val="FFFBEB"/>
          </a:solidFill>
          <a:ln w="19050">
            <a:solidFill>
              <a:srgbClr val="FF9900"/>
            </a:solidFill>
            <a:prstDash val="solid"/>
          </a:ln>
        </p:spPr>
      </p:sp>
      <p:sp>
        <p:nvSpPr>
          <p:cNvPr id="37" name="Text 35"/>
          <p:cNvSpPr/>
          <p:nvPr/>
        </p:nvSpPr>
        <p:spPr>
          <a:xfrm>
            <a:off x="640080" y="6153912"/>
            <a:ext cx="1188720" cy="365760"/>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Key Insight: </a:t>
            </a:r>
            <a:endParaRPr lang="en-US" sz="1100" dirty="0"/>
          </a:p>
        </p:txBody>
      </p:sp>
      <p:sp>
        <p:nvSpPr>
          <p:cNvPr id="38" name="Text 36"/>
          <p:cNvSpPr/>
          <p:nvPr/>
        </p:nvSpPr>
        <p:spPr>
          <a:xfrm>
            <a:off x="1737360" y="6153912"/>
            <a:ext cx="6766560" cy="365760"/>
          </a:xfrm>
          <a:prstGeom prst="rect">
            <a:avLst/>
          </a:prstGeom>
          <a:noFill/>
          <a:ln/>
        </p:spPr>
        <p:txBody>
          <a:bodyPr wrap="square"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Same psychological mechanic as a loyalty stamp card — but funded by the bank partner's marketing budget, not Amazon's. Amazon gets retention; the bank gets usage frequency data worth renewing for.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31921"/>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THE MECHANIC</a:t>
            </a:r>
            <a:endParaRPr lang="en-US" sz="9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3 Tiers · 30 Days · 1 Habit Loop</a:t>
            </a:r>
            <a:endParaRPr lang="en-US" sz="3000" dirty="0"/>
          </a:p>
        </p:txBody>
      </p:sp>
      <p:sp>
        <p:nvSpPr>
          <p:cNvPr id="5" name="Shape 3"/>
          <p:cNvSpPr/>
          <p:nvPr/>
        </p:nvSpPr>
        <p:spPr>
          <a:xfrm>
            <a:off x="457200" y="1280160"/>
            <a:ext cx="8229600" cy="36576"/>
          </a:xfrm>
          <a:prstGeom prst="rect">
            <a:avLst/>
          </a:prstGeom>
          <a:solidFill>
            <a:srgbClr val="232F3E"/>
          </a:solidFill>
          <a:ln/>
        </p:spPr>
      </p:sp>
      <p:sp>
        <p:nvSpPr>
          <p:cNvPr id="6" name="Shape 4"/>
          <p:cNvSpPr/>
          <p:nvPr/>
        </p:nvSpPr>
        <p:spPr>
          <a:xfrm>
            <a:off x="859536" y="1508760"/>
            <a:ext cx="640080" cy="640080"/>
          </a:xfrm>
          <a:prstGeom prst="ellipse">
            <a:avLst/>
          </a:prstGeom>
          <a:solidFill>
            <a:srgbClr val="FEBD69"/>
          </a:solidFill>
          <a:ln/>
          <a:effectLst>
            <a:outerShdw sx="100000" sy="100000" kx="0" ky="0" algn="bl" rotWithShape="0" blurRad="38100" dist="12700" dir="2700000">
              <a:srgbClr val="000000">
                <a:alpha val="12000"/>
              </a:srgbClr>
            </a:outerShdw>
          </a:effectLst>
        </p:spPr>
      </p:sp>
      <p:sp>
        <p:nvSpPr>
          <p:cNvPr id="7" name="Text 5"/>
          <p:cNvSpPr/>
          <p:nvPr/>
        </p:nvSpPr>
        <p:spPr>
          <a:xfrm>
            <a:off x="859536" y="1508760"/>
            <a:ext cx="640080" cy="640080"/>
          </a:xfrm>
          <a:prstGeom prst="rect">
            <a:avLst/>
          </a:prstGeom>
          <a:noFill/>
          <a:ln/>
        </p:spPr>
        <p:txBody>
          <a:bodyPr wrap="square" rtlCol="0" anchor="ctr"/>
          <a:lstStyle/>
          <a:p>
            <a:pPr algn="ctr" indent="0" marL="0">
              <a:buNone/>
            </a:pPr>
            <a:r>
              <a:rPr lang="en-US" sz="1300" b="1" dirty="0">
                <a:solidFill>
                  <a:srgbClr val="131921"/>
                </a:solidFill>
                <a:latin typeface="Calibri" pitchFamily="34" charset="0"/>
                <a:ea typeface="Calibri" pitchFamily="34" charset="-122"/>
                <a:cs typeface="Calibri" pitchFamily="34" charset="-120"/>
              </a:rPr>
              <a:t>01</a:t>
            </a:r>
            <a:endParaRPr lang="en-US" sz="1300" dirty="0"/>
          </a:p>
        </p:txBody>
      </p:sp>
      <p:sp>
        <p:nvSpPr>
          <p:cNvPr id="8" name="Shape 6"/>
          <p:cNvSpPr/>
          <p:nvPr/>
        </p:nvSpPr>
        <p:spPr>
          <a:xfrm>
            <a:off x="1499616" y="1828800"/>
            <a:ext cx="585216" cy="0"/>
          </a:xfrm>
          <a:prstGeom prst="line">
            <a:avLst/>
          </a:prstGeom>
          <a:noFill/>
          <a:ln w="19050">
            <a:solidFill>
              <a:srgbClr val="232F3E"/>
            </a:solidFill>
            <a:prstDash val="dash"/>
          </a:ln>
        </p:spPr>
      </p:sp>
      <p:sp>
        <p:nvSpPr>
          <p:cNvPr id="9" name="Shape 7"/>
          <p:cNvSpPr/>
          <p:nvPr/>
        </p:nvSpPr>
        <p:spPr>
          <a:xfrm>
            <a:off x="365760" y="2331720"/>
            <a:ext cx="1627632"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0" name="Text 8"/>
          <p:cNvSpPr/>
          <p:nvPr/>
        </p:nvSpPr>
        <p:spPr>
          <a:xfrm>
            <a:off x="411480" y="2468880"/>
            <a:ext cx="1536192" cy="411480"/>
          </a:xfrm>
          <a:prstGeom prst="rect">
            <a:avLst/>
          </a:prstGeom>
          <a:noFill/>
          <a:ln/>
        </p:spPr>
        <p:txBody>
          <a:bodyPr wrap="square" rtlCol="0" anchor="ctr"/>
          <a:lstStyle/>
          <a:p>
            <a:pPr algn="ctr" indent="0" marL="0">
              <a:buNone/>
            </a:pPr>
            <a:r>
              <a:rPr lang="en-US" sz="1200" b="1" dirty="0">
                <a:solidFill>
                  <a:srgbClr val="FEBD69"/>
                </a:solidFill>
                <a:latin typeface="Calibri" pitchFamily="34" charset="0"/>
                <a:ea typeface="Calibri" pitchFamily="34" charset="-122"/>
                <a:cs typeface="Calibri" pitchFamily="34" charset="-120"/>
              </a:rPr>
              <a:t>IBD Activation</a:t>
            </a:r>
            <a:endParaRPr lang="en-US" sz="1200" dirty="0"/>
          </a:p>
        </p:txBody>
      </p:sp>
      <p:sp>
        <p:nvSpPr>
          <p:cNvPr id="11" name="Text 9"/>
          <p:cNvSpPr/>
          <p:nvPr/>
        </p:nvSpPr>
        <p:spPr>
          <a:xfrm>
            <a:off x="411480" y="2926080"/>
            <a:ext cx="1536192"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Customer activates bank discount (existing flow). Milestone window opens: 30-day progress tracking begins.</a:t>
            </a:r>
            <a:endParaRPr lang="en-US" sz="1000" dirty="0"/>
          </a:p>
        </p:txBody>
      </p:sp>
      <p:sp>
        <p:nvSpPr>
          <p:cNvPr id="12" name="Shape 10"/>
          <p:cNvSpPr/>
          <p:nvPr/>
        </p:nvSpPr>
        <p:spPr>
          <a:xfrm>
            <a:off x="2578608" y="1508760"/>
            <a:ext cx="640080" cy="640080"/>
          </a:xfrm>
          <a:prstGeom prst="ellipse">
            <a:avLst/>
          </a:prstGeom>
          <a:solidFill>
            <a:srgbClr val="FEBD69"/>
          </a:solidFill>
          <a:ln/>
          <a:effectLst>
            <a:outerShdw sx="100000" sy="100000" kx="0" ky="0" algn="bl" rotWithShape="0" blurRad="38100" dist="12700" dir="2700000">
              <a:srgbClr val="000000">
                <a:alpha val="12000"/>
              </a:srgbClr>
            </a:outerShdw>
          </a:effectLst>
        </p:spPr>
      </p:sp>
      <p:sp>
        <p:nvSpPr>
          <p:cNvPr id="13" name="Text 11"/>
          <p:cNvSpPr/>
          <p:nvPr/>
        </p:nvSpPr>
        <p:spPr>
          <a:xfrm>
            <a:off x="2578608" y="1508760"/>
            <a:ext cx="640080" cy="640080"/>
          </a:xfrm>
          <a:prstGeom prst="rect">
            <a:avLst/>
          </a:prstGeom>
          <a:noFill/>
          <a:ln/>
        </p:spPr>
        <p:txBody>
          <a:bodyPr wrap="square" rtlCol="0" anchor="ctr"/>
          <a:lstStyle/>
          <a:p>
            <a:pPr algn="ctr" indent="0" marL="0">
              <a:buNone/>
            </a:pPr>
            <a:r>
              <a:rPr lang="en-US" sz="1300" b="1" dirty="0">
                <a:solidFill>
                  <a:srgbClr val="131921"/>
                </a:solidFill>
                <a:latin typeface="Calibri" pitchFamily="34" charset="0"/>
                <a:ea typeface="Calibri" pitchFamily="34" charset="-122"/>
                <a:cs typeface="Calibri" pitchFamily="34" charset="-120"/>
              </a:rPr>
              <a:t>02</a:t>
            </a:r>
            <a:endParaRPr lang="en-US" sz="1300" dirty="0"/>
          </a:p>
        </p:txBody>
      </p:sp>
      <p:sp>
        <p:nvSpPr>
          <p:cNvPr id="14" name="Shape 12"/>
          <p:cNvSpPr/>
          <p:nvPr/>
        </p:nvSpPr>
        <p:spPr>
          <a:xfrm>
            <a:off x="3218688" y="1828800"/>
            <a:ext cx="585216" cy="0"/>
          </a:xfrm>
          <a:prstGeom prst="line">
            <a:avLst/>
          </a:prstGeom>
          <a:noFill/>
          <a:ln w="19050">
            <a:solidFill>
              <a:srgbClr val="232F3E"/>
            </a:solidFill>
            <a:prstDash val="dash"/>
          </a:ln>
        </p:spPr>
      </p:sp>
      <p:sp>
        <p:nvSpPr>
          <p:cNvPr id="15" name="Shape 13"/>
          <p:cNvSpPr/>
          <p:nvPr/>
        </p:nvSpPr>
        <p:spPr>
          <a:xfrm>
            <a:off x="2084832" y="2331720"/>
            <a:ext cx="1627632"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6" name="Text 14"/>
          <p:cNvSpPr/>
          <p:nvPr/>
        </p:nvSpPr>
        <p:spPr>
          <a:xfrm>
            <a:off x="2130552" y="2468880"/>
            <a:ext cx="1536192" cy="411480"/>
          </a:xfrm>
          <a:prstGeom prst="rect">
            <a:avLst/>
          </a:prstGeom>
          <a:noFill/>
          <a:ln/>
        </p:spPr>
        <p:txBody>
          <a:bodyPr wrap="square" rtlCol="0" anchor="ctr"/>
          <a:lstStyle/>
          <a:p>
            <a:pPr algn="ctr" indent="0" marL="0">
              <a:buNone/>
            </a:pPr>
            <a:r>
              <a:rPr lang="en-US" sz="1200" b="1" dirty="0">
                <a:solidFill>
                  <a:srgbClr val="FEBD69"/>
                </a:solidFill>
                <a:latin typeface="Calibri" pitchFamily="34" charset="0"/>
                <a:ea typeface="Calibri" pitchFamily="34" charset="-122"/>
                <a:cs typeface="Calibri" pitchFamily="34" charset="-120"/>
              </a:rPr>
              <a:t>Tier 1 — 5% Off</a:t>
            </a:r>
            <a:endParaRPr lang="en-US" sz="1200" dirty="0"/>
          </a:p>
        </p:txBody>
      </p:sp>
      <p:sp>
        <p:nvSpPr>
          <p:cNvPr id="17" name="Text 15"/>
          <p:cNvSpPr/>
          <p:nvPr/>
        </p:nvSpPr>
        <p:spPr>
          <a:xfrm>
            <a:off x="2130552" y="2926080"/>
            <a:ext cx="1536192"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3 transactions in 30 days. Unlocked immediately. Sets the first anchor for habitual usage.</a:t>
            </a:r>
            <a:endParaRPr lang="en-US" sz="1000" dirty="0"/>
          </a:p>
        </p:txBody>
      </p:sp>
      <p:sp>
        <p:nvSpPr>
          <p:cNvPr id="18" name="Shape 16"/>
          <p:cNvSpPr/>
          <p:nvPr/>
        </p:nvSpPr>
        <p:spPr>
          <a:xfrm>
            <a:off x="4297680" y="1508760"/>
            <a:ext cx="640080" cy="640080"/>
          </a:xfrm>
          <a:prstGeom prst="ellipse">
            <a:avLst/>
          </a:prstGeom>
          <a:solidFill>
            <a:srgbClr val="FF9900"/>
          </a:solidFill>
          <a:ln/>
          <a:effectLst>
            <a:outerShdw sx="100000" sy="100000" kx="0" ky="0" algn="bl" rotWithShape="0" blurRad="38100" dist="12700" dir="2700000">
              <a:srgbClr val="000000">
                <a:alpha val="12000"/>
              </a:srgbClr>
            </a:outerShdw>
          </a:effectLst>
        </p:spPr>
      </p:sp>
      <p:sp>
        <p:nvSpPr>
          <p:cNvPr id="19" name="Text 17"/>
          <p:cNvSpPr/>
          <p:nvPr/>
        </p:nvSpPr>
        <p:spPr>
          <a:xfrm>
            <a:off x="4297680" y="1508760"/>
            <a:ext cx="640080" cy="640080"/>
          </a:xfrm>
          <a:prstGeom prst="rect">
            <a:avLst/>
          </a:prstGeom>
          <a:noFill/>
          <a:ln/>
        </p:spPr>
        <p:txBody>
          <a:bodyPr wrap="square" rtlCol="0" anchor="ctr"/>
          <a:lstStyle/>
          <a:p>
            <a:pPr algn="ctr" indent="0" marL="0">
              <a:buNone/>
            </a:pPr>
            <a:r>
              <a:rPr lang="en-US" sz="1300" b="1" dirty="0">
                <a:solidFill>
                  <a:srgbClr val="131921"/>
                </a:solidFill>
                <a:latin typeface="Calibri" pitchFamily="34" charset="0"/>
                <a:ea typeface="Calibri" pitchFamily="34" charset="-122"/>
                <a:cs typeface="Calibri" pitchFamily="34" charset="-120"/>
              </a:rPr>
              <a:t>03</a:t>
            </a:r>
            <a:endParaRPr lang="en-US" sz="1300" dirty="0"/>
          </a:p>
        </p:txBody>
      </p:sp>
      <p:sp>
        <p:nvSpPr>
          <p:cNvPr id="20" name="Shape 18"/>
          <p:cNvSpPr/>
          <p:nvPr/>
        </p:nvSpPr>
        <p:spPr>
          <a:xfrm>
            <a:off x="4937760" y="1828800"/>
            <a:ext cx="585216" cy="0"/>
          </a:xfrm>
          <a:prstGeom prst="line">
            <a:avLst/>
          </a:prstGeom>
          <a:noFill/>
          <a:ln w="19050">
            <a:solidFill>
              <a:srgbClr val="232F3E"/>
            </a:solidFill>
            <a:prstDash val="dash"/>
          </a:ln>
        </p:spPr>
      </p:sp>
      <p:sp>
        <p:nvSpPr>
          <p:cNvPr id="21" name="Shape 19"/>
          <p:cNvSpPr/>
          <p:nvPr/>
        </p:nvSpPr>
        <p:spPr>
          <a:xfrm>
            <a:off x="3803904" y="2331720"/>
            <a:ext cx="1627632"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22" name="Text 20"/>
          <p:cNvSpPr/>
          <p:nvPr/>
        </p:nvSpPr>
        <p:spPr>
          <a:xfrm>
            <a:off x="3849624" y="2468880"/>
            <a:ext cx="1536192" cy="411480"/>
          </a:xfrm>
          <a:prstGeom prst="rect">
            <a:avLst/>
          </a:prstGeom>
          <a:noFill/>
          <a:ln/>
        </p:spPr>
        <p:txBody>
          <a:bodyPr wrap="square"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Tier 2 — 8% Off</a:t>
            </a:r>
            <a:endParaRPr lang="en-US" sz="1200" dirty="0"/>
          </a:p>
        </p:txBody>
      </p:sp>
      <p:sp>
        <p:nvSpPr>
          <p:cNvPr id="23" name="Text 21"/>
          <p:cNvSpPr/>
          <p:nvPr/>
        </p:nvSpPr>
        <p:spPr>
          <a:xfrm>
            <a:off x="3849624" y="2926080"/>
            <a:ext cx="1536192"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10 transactions. Progress bar + nudges at 50%/80%/95%. Creates active engagement loop.</a:t>
            </a:r>
            <a:endParaRPr lang="en-US" sz="1000" dirty="0"/>
          </a:p>
        </p:txBody>
      </p:sp>
      <p:sp>
        <p:nvSpPr>
          <p:cNvPr id="24" name="Shape 22"/>
          <p:cNvSpPr/>
          <p:nvPr/>
        </p:nvSpPr>
        <p:spPr>
          <a:xfrm>
            <a:off x="6016752" y="1508760"/>
            <a:ext cx="640080" cy="640080"/>
          </a:xfrm>
          <a:prstGeom prst="ellipse">
            <a:avLst/>
          </a:prstGeom>
          <a:solidFill>
            <a:srgbClr val="15803D"/>
          </a:solidFill>
          <a:ln/>
          <a:effectLst>
            <a:outerShdw sx="100000" sy="100000" kx="0" ky="0" algn="bl" rotWithShape="0" blurRad="38100" dist="12700" dir="2700000">
              <a:srgbClr val="000000">
                <a:alpha val="12000"/>
              </a:srgbClr>
            </a:outerShdw>
          </a:effectLst>
        </p:spPr>
      </p:sp>
      <p:sp>
        <p:nvSpPr>
          <p:cNvPr id="25" name="Text 23"/>
          <p:cNvSpPr/>
          <p:nvPr/>
        </p:nvSpPr>
        <p:spPr>
          <a:xfrm>
            <a:off x="6016752" y="1508760"/>
            <a:ext cx="640080" cy="640080"/>
          </a:xfrm>
          <a:prstGeom prst="rect">
            <a:avLst/>
          </a:prstGeom>
          <a:noFill/>
          <a:ln/>
        </p:spPr>
        <p:txBody>
          <a:bodyPr wrap="square" rtlCol="0" anchor="ctr"/>
          <a:lstStyle/>
          <a:p>
            <a:pPr algn="ctr" indent="0" marL="0">
              <a:buNone/>
            </a:pPr>
            <a:r>
              <a:rPr lang="en-US" sz="1300" b="1" dirty="0">
                <a:solidFill>
                  <a:srgbClr val="131921"/>
                </a:solidFill>
                <a:latin typeface="Calibri" pitchFamily="34" charset="0"/>
                <a:ea typeface="Calibri" pitchFamily="34" charset="-122"/>
                <a:cs typeface="Calibri" pitchFamily="34" charset="-120"/>
              </a:rPr>
              <a:t>04</a:t>
            </a:r>
            <a:endParaRPr lang="en-US" sz="1300" dirty="0"/>
          </a:p>
        </p:txBody>
      </p:sp>
      <p:sp>
        <p:nvSpPr>
          <p:cNvPr id="26" name="Shape 24"/>
          <p:cNvSpPr/>
          <p:nvPr/>
        </p:nvSpPr>
        <p:spPr>
          <a:xfrm>
            <a:off x="6656832" y="1828800"/>
            <a:ext cx="585216" cy="0"/>
          </a:xfrm>
          <a:prstGeom prst="line">
            <a:avLst/>
          </a:prstGeom>
          <a:noFill/>
          <a:ln w="19050">
            <a:solidFill>
              <a:srgbClr val="232F3E"/>
            </a:solidFill>
            <a:prstDash val="dash"/>
          </a:ln>
        </p:spPr>
      </p:sp>
      <p:sp>
        <p:nvSpPr>
          <p:cNvPr id="27" name="Shape 25"/>
          <p:cNvSpPr/>
          <p:nvPr/>
        </p:nvSpPr>
        <p:spPr>
          <a:xfrm>
            <a:off x="5522976" y="2331720"/>
            <a:ext cx="1627632"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28" name="Text 26"/>
          <p:cNvSpPr/>
          <p:nvPr/>
        </p:nvSpPr>
        <p:spPr>
          <a:xfrm>
            <a:off x="5568696" y="2468880"/>
            <a:ext cx="1536192" cy="411480"/>
          </a:xfrm>
          <a:prstGeom prst="rect">
            <a:avLst/>
          </a:prstGeom>
          <a:noFill/>
          <a:ln/>
        </p:spPr>
        <p:txBody>
          <a:bodyPr wrap="square" rtlCol="0" anchor="ctr"/>
          <a:lstStyle/>
          <a:p>
            <a:pPr algn="ctr" indent="0" marL="0">
              <a:buNone/>
            </a:pPr>
            <a:r>
              <a:rPr lang="en-US" sz="1200" b="1" dirty="0">
                <a:solidFill>
                  <a:srgbClr val="15803D"/>
                </a:solidFill>
                <a:latin typeface="Calibri" pitchFamily="34" charset="0"/>
                <a:ea typeface="Calibri" pitchFamily="34" charset="-122"/>
                <a:cs typeface="Calibri" pitchFamily="34" charset="-120"/>
              </a:rPr>
              <a:t>Tier 3 — 12% Off</a:t>
            </a:r>
            <a:endParaRPr lang="en-US" sz="1200" dirty="0"/>
          </a:p>
        </p:txBody>
      </p:sp>
      <p:sp>
        <p:nvSpPr>
          <p:cNvPr id="29" name="Text 27"/>
          <p:cNvSpPr/>
          <p:nvPr/>
        </p:nvSpPr>
        <p:spPr>
          <a:xfrm>
            <a:off x="5568696" y="2926080"/>
            <a:ext cx="1536192"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20 transactions. Highest tier. Customers at this level show 4× monthly GMV vs. Tier 1.</a:t>
            </a:r>
            <a:endParaRPr lang="en-US" sz="1000" dirty="0"/>
          </a:p>
        </p:txBody>
      </p:sp>
      <p:sp>
        <p:nvSpPr>
          <p:cNvPr id="30" name="Shape 28"/>
          <p:cNvSpPr/>
          <p:nvPr/>
        </p:nvSpPr>
        <p:spPr>
          <a:xfrm>
            <a:off x="7735824" y="1508760"/>
            <a:ext cx="640080" cy="640080"/>
          </a:xfrm>
          <a:prstGeom prst="ellipse">
            <a:avLst/>
          </a:prstGeom>
          <a:solidFill>
            <a:srgbClr val="FEBD69"/>
          </a:solidFill>
          <a:ln/>
          <a:effectLst>
            <a:outerShdw sx="100000" sy="100000" kx="0" ky="0" algn="bl" rotWithShape="0" blurRad="38100" dist="12700" dir="2700000">
              <a:srgbClr val="000000">
                <a:alpha val="12000"/>
              </a:srgbClr>
            </a:outerShdw>
          </a:effectLst>
        </p:spPr>
      </p:sp>
      <p:sp>
        <p:nvSpPr>
          <p:cNvPr id="31" name="Text 29"/>
          <p:cNvSpPr/>
          <p:nvPr/>
        </p:nvSpPr>
        <p:spPr>
          <a:xfrm>
            <a:off x="7735824" y="1508760"/>
            <a:ext cx="640080" cy="640080"/>
          </a:xfrm>
          <a:prstGeom prst="rect">
            <a:avLst/>
          </a:prstGeom>
          <a:noFill/>
          <a:ln/>
        </p:spPr>
        <p:txBody>
          <a:bodyPr wrap="square" rtlCol="0" anchor="ctr"/>
          <a:lstStyle/>
          <a:p>
            <a:pPr algn="ctr" indent="0" marL="0">
              <a:buNone/>
            </a:pPr>
            <a:r>
              <a:rPr lang="en-US" sz="1300" b="1" dirty="0">
                <a:solidFill>
                  <a:srgbClr val="131921"/>
                </a:solidFill>
                <a:latin typeface="Calibri" pitchFamily="34" charset="0"/>
                <a:ea typeface="Calibri" pitchFamily="34" charset="-122"/>
                <a:cs typeface="Calibri" pitchFamily="34" charset="-120"/>
              </a:rPr>
              <a:t>05</a:t>
            </a:r>
            <a:endParaRPr lang="en-US" sz="1300" dirty="0"/>
          </a:p>
        </p:txBody>
      </p:sp>
      <p:sp>
        <p:nvSpPr>
          <p:cNvPr id="32" name="Shape 30"/>
          <p:cNvSpPr/>
          <p:nvPr/>
        </p:nvSpPr>
        <p:spPr>
          <a:xfrm>
            <a:off x="7242048" y="2331720"/>
            <a:ext cx="1627632" cy="3200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33" name="Text 31"/>
          <p:cNvSpPr/>
          <p:nvPr/>
        </p:nvSpPr>
        <p:spPr>
          <a:xfrm>
            <a:off x="7287768" y="2468880"/>
            <a:ext cx="1536192" cy="411480"/>
          </a:xfrm>
          <a:prstGeom prst="rect">
            <a:avLst/>
          </a:prstGeom>
          <a:noFill/>
          <a:ln/>
        </p:spPr>
        <p:txBody>
          <a:bodyPr wrap="square" rtlCol="0" anchor="ctr"/>
          <a:lstStyle/>
          <a:p>
            <a:pPr algn="ctr" indent="0" marL="0">
              <a:buNone/>
            </a:pPr>
            <a:r>
              <a:rPr lang="en-US" sz="1200" b="1" dirty="0">
                <a:solidFill>
                  <a:srgbClr val="FEBD69"/>
                </a:solidFill>
                <a:latin typeface="Calibri" pitchFamily="34" charset="0"/>
                <a:ea typeface="Calibri" pitchFamily="34" charset="-122"/>
                <a:cs typeface="Calibri" pitchFamily="34" charset="-120"/>
              </a:rPr>
              <a:t>Bank Partner Loop</a:t>
            </a:r>
            <a:endParaRPr lang="en-US" sz="1200" dirty="0"/>
          </a:p>
        </p:txBody>
      </p:sp>
      <p:sp>
        <p:nvSpPr>
          <p:cNvPr id="34" name="Text 32"/>
          <p:cNvSpPr/>
          <p:nvPr/>
        </p:nvSpPr>
        <p:spPr>
          <a:xfrm>
            <a:off x="7287768" y="2926080"/>
            <a:ext cx="1536192" cy="228600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Transaction data shared with bank partner. Renewal negotiations backed by frequency + GMV data.</a:t>
            </a:r>
            <a:endParaRPr lang="en-US" sz="1000" dirty="0"/>
          </a:p>
        </p:txBody>
      </p:sp>
      <p:sp>
        <p:nvSpPr>
          <p:cNvPr id="35" name="Shape 33"/>
          <p:cNvSpPr/>
          <p:nvPr/>
        </p:nvSpPr>
        <p:spPr>
          <a:xfrm>
            <a:off x="457200" y="5806440"/>
            <a:ext cx="8229600" cy="822960"/>
          </a:xfrm>
          <a:prstGeom prst="rect">
            <a:avLst/>
          </a:prstGeom>
          <a:solidFill>
            <a:srgbClr val="1A2332"/>
          </a:solidFill>
          <a:ln w="12700">
            <a:solidFill>
              <a:srgbClr val="FF9900"/>
            </a:solidFill>
            <a:prstDash val="solid"/>
          </a:ln>
          <a:effectLst>
            <a:outerShdw sx="100000" sy="100000" kx="0" ky="0" algn="bl" rotWithShape="0" blurRad="38100" dist="12700" dir="2700000">
              <a:srgbClr val="000000">
                <a:alpha val="12000"/>
              </a:srgbClr>
            </a:outerShdw>
          </a:effectLst>
        </p:spPr>
      </p:sp>
      <p:sp>
        <p:nvSpPr>
          <p:cNvPr id="36" name="Text 34"/>
          <p:cNvSpPr/>
          <p:nvPr/>
        </p:nvSpPr>
        <p:spPr>
          <a:xfrm>
            <a:off x="640080" y="5943600"/>
            <a:ext cx="1920240" cy="457200"/>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PhonePe Proof  ·  </a:t>
            </a:r>
            <a:endParaRPr lang="en-US" sz="1100" dirty="0"/>
          </a:p>
        </p:txBody>
      </p:sp>
      <p:sp>
        <p:nvSpPr>
          <p:cNvPr id="37" name="Text 35"/>
          <p:cNvSpPr/>
          <p:nvPr/>
        </p:nvSpPr>
        <p:spPr>
          <a:xfrm>
            <a:off x="2468880" y="5943600"/>
            <a:ext cx="6035040" cy="5486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Built the identical milestone mechanic at PhonePe for POS device merchants: Rent Waiver unlocked at TPV + TPC goals. 60% improvement in 90-day device activity. Cart incentivisation engine: 60% cart abandonment reduction, 20% improvement in 30-day retention. Same behavioural loop, new context.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3F4F6"/>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THE PRODUCT</a:t>
            </a:r>
            <a:endParaRPr lang="en-US" sz="9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4 Screen States — Prototype Built &amp; Live</a:t>
            </a:r>
            <a:endParaRPr lang="en-US" sz="2800" dirty="0"/>
          </a:p>
        </p:txBody>
      </p:sp>
      <p:sp>
        <p:nvSpPr>
          <p:cNvPr id="5" name="Shape 3"/>
          <p:cNvSpPr/>
          <p:nvPr/>
        </p:nvSpPr>
        <p:spPr>
          <a:xfrm>
            <a:off x="457200" y="1280160"/>
            <a:ext cx="8229600" cy="36576"/>
          </a:xfrm>
          <a:prstGeom prst="rect">
            <a:avLst/>
          </a:prstGeom>
          <a:solidFill>
            <a:srgbClr val="FF9900"/>
          </a:solidFill>
          <a:ln/>
        </p:spPr>
      </p:sp>
      <p:sp>
        <p:nvSpPr>
          <p:cNvPr id="6" name="Shape 4"/>
          <p:cNvSpPr/>
          <p:nvPr/>
        </p:nvSpPr>
        <p:spPr>
          <a:xfrm>
            <a:off x="320040" y="1463040"/>
            <a:ext cx="2011680" cy="516636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7" name="Shape 5"/>
          <p:cNvSpPr/>
          <p:nvPr/>
        </p:nvSpPr>
        <p:spPr>
          <a:xfrm>
            <a:off x="320040" y="1463040"/>
            <a:ext cx="2011680" cy="411480"/>
          </a:xfrm>
          <a:prstGeom prst="rect">
            <a:avLst/>
          </a:prstGeom>
          <a:solidFill>
            <a:srgbClr val="131921"/>
          </a:solidFill>
          <a:ln/>
        </p:spPr>
      </p:sp>
      <p:sp>
        <p:nvSpPr>
          <p:cNvPr id="8" name="Text 6"/>
          <p:cNvSpPr/>
          <p:nvPr/>
        </p:nvSpPr>
        <p:spPr>
          <a:xfrm>
            <a:off x="384048" y="1508760"/>
            <a:ext cx="1883664" cy="320040"/>
          </a:xfrm>
          <a:prstGeom prst="rect">
            <a:avLst/>
          </a:prstGeom>
          <a:noFill/>
          <a:ln/>
        </p:spPr>
        <p:txBody>
          <a:bodyPr wrap="square" rtlCol="0" anchor="ctr"/>
          <a:lstStyle/>
          <a:p>
            <a:pPr indent="0" marL="0">
              <a:buNone/>
            </a:pPr>
            <a:r>
              <a:rPr lang="en-US" sz="900" b="1" dirty="0">
                <a:solidFill>
                  <a:srgbClr val="FEBD69"/>
                </a:solidFill>
                <a:latin typeface="Calibri" pitchFamily="34" charset="0"/>
                <a:ea typeface="Calibri" pitchFamily="34" charset="-122"/>
                <a:cs typeface="Calibri" pitchFamily="34" charset="-120"/>
              </a:rPr>
              <a:t>01 — Amazon Pay Home</a:t>
            </a:r>
            <a:endParaRPr lang="en-US" sz="900" dirty="0"/>
          </a:p>
        </p:txBody>
      </p:sp>
      <p:sp>
        <p:nvSpPr>
          <p:cNvPr id="9" name="Text 7"/>
          <p:cNvSpPr/>
          <p:nvPr/>
        </p:nvSpPr>
        <p:spPr>
          <a:xfrm>
            <a:off x="384048" y="1920240"/>
            <a:ext cx="1883664" cy="9144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Milestone banner surfaced on Pay home screen. Progress visible without navigation. Creates daily recall loop.</a:t>
            </a:r>
            <a:endParaRPr lang="en-US" sz="900" dirty="0"/>
          </a:p>
        </p:txBody>
      </p:sp>
      <p:sp>
        <p:nvSpPr>
          <p:cNvPr id="10" name="Shape 8"/>
          <p:cNvSpPr/>
          <p:nvPr/>
        </p:nvSpPr>
        <p:spPr>
          <a:xfrm>
            <a:off x="384048" y="2880360"/>
            <a:ext cx="1883664" cy="3520440"/>
          </a:xfrm>
          <a:prstGeom prst="rect">
            <a:avLst/>
          </a:prstGeom>
          <a:solidFill>
            <a:srgbClr val="F8FAFC"/>
          </a:solidFill>
          <a:ln w="12700">
            <a:solidFill>
              <a:srgbClr val="E5E7EB"/>
            </a:solidFill>
            <a:prstDash val="solid"/>
          </a:ln>
        </p:spPr>
      </p:sp>
      <p:sp>
        <p:nvSpPr>
          <p:cNvPr id="11" name="Text 9"/>
          <p:cNvSpPr/>
          <p:nvPr/>
        </p:nvSpPr>
        <p:spPr>
          <a:xfrm>
            <a:off x="429768" y="2926080"/>
            <a:ext cx="1792224" cy="3429000"/>
          </a:xfrm>
          <a:prstGeom prst="rect">
            <a:avLst/>
          </a:prstGeom>
          <a:noFill/>
          <a:ln/>
        </p:spPr>
        <p:txBody>
          <a:bodyPr wrap="square" rtlCol="0" anchor="t"/>
          <a:lstStyle/>
          <a:p>
            <a:pPr indent="0" marL="0">
              <a:buNone/>
            </a:pPr>
            <a:r>
              <a:rPr lang="en-US" sz="800" dirty="0">
                <a:solidFill>
                  <a:srgbClr val="0F172A"/>
                </a:solidFill>
                <a:latin typeface="DM Mono" pitchFamily="34" charset="0"/>
                <a:ea typeface="DM Mono" pitchFamily="34" charset="-122"/>
                <a:cs typeface="DM Mono" pitchFamily="34" charset="-120"/>
              </a:rPr>
              <a:t>amazon pay</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Balance: ₹1,240</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HDFC ****4521 linked</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 HDFC MILESTONE</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4 more → 8% off</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4/10 done [40%░░░]</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[View Milestones →]</a:t>
            </a:r>
            <a:endParaRPr lang="en-US" sz="800" dirty="0"/>
          </a:p>
        </p:txBody>
      </p:sp>
      <p:sp>
        <p:nvSpPr>
          <p:cNvPr id="12" name="Shape 10"/>
          <p:cNvSpPr/>
          <p:nvPr/>
        </p:nvSpPr>
        <p:spPr>
          <a:xfrm>
            <a:off x="2468880" y="1463040"/>
            <a:ext cx="2011680" cy="516636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13" name="Shape 11"/>
          <p:cNvSpPr/>
          <p:nvPr/>
        </p:nvSpPr>
        <p:spPr>
          <a:xfrm>
            <a:off x="2468880" y="1463040"/>
            <a:ext cx="2011680" cy="411480"/>
          </a:xfrm>
          <a:prstGeom prst="rect">
            <a:avLst/>
          </a:prstGeom>
          <a:solidFill>
            <a:srgbClr val="131921"/>
          </a:solidFill>
          <a:ln/>
        </p:spPr>
      </p:sp>
      <p:sp>
        <p:nvSpPr>
          <p:cNvPr id="14" name="Text 12"/>
          <p:cNvSpPr/>
          <p:nvPr/>
        </p:nvSpPr>
        <p:spPr>
          <a:xfrm>
            <a:off x="2532888" y="1508760"/>
            <a:ext cx="1883664" cy="320040"/>
          </a:xfrm>
          <a:prstGeom prst="rect">
            <a:avLst/>
          </a:prstGeom>
          <a:noFill/>
          <a:ln/>
        </p:spPr>
        <p:txBody>
          <a:bodyPr wrap="square" rtlCol="0" anchor="ctr"/>
          <a:lstStyle/>
          <a:p>
            <a:pPr indent="0" marL="0">
              <a:buNone/>
            </a:pPr>
            <a:r>
              <a:rPr lang="en-US" sz="900" b="1" dirty="0">
                <a:solidFill>
                  <a:srgbClr val="FEBD69"/>
                </a:solidFill>
                <a:latin typeface="Calibri" pitchFamily="34" charset="0"/>
                <a:ea typeface="Calibri" pitchFamily="34" charset="-122"/>
                <a:cs typeface="Calibri" pitchFamily="34" charset="-120"/>
              </a:rPr>
              <a:t>02 — Milestone Tracker</a:t>
            </a:r>
            <a:endParaRPr lang="en-US" sz="900" dirty="0"/>
          </a:p>
        </p:txBody>
      </p:sp>
      <p:sp>
        <p:nvSpPr>
          <p:cNvPr id="15" name="Text 13"/>
          <p:cNvSpPr/>
          <p:nvPr/>
        </p:nvSpPr>
        <p:spPr>
          <a:xfrm>
            <a:off x="2532888" y="1920240"/>
            <a:ext cx="1883664" cy="9144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3 tiers displayed with live progress bars, transaction history, and countdown. Nudge text shows exact gap.</a:t>
            </a:r>
            <a:endParaRPr lang="en-US" sz="900" dirty="0"/>
          </a:p>
        </p:txBody>
      </p:sp>
      <p:sp>
        <p:nvSpPr>
          <p:cNvPr id="16" name="Shape 14"/>
          <p:cNvSpPr/>
          <p:nvPr/>
        </p:nvSpPr>
        <p:spPr>
          <a:xfrm>
            <a:off x="2532888" y="2880360"/>
            <a:ext cx="1883664" cy="3520440"/>
          </a:xfrm>
          <a:prstGeom prst="rect">
            <a:avLst/>
          </a:prstGeom>
          <a:solidFill>
            <a:srgbClr val="F8FAFC"/>
          </a:solidFill>
          <a:ln w="12700">
            <a:solidFill>
              <a:srgbClr val="E5E7EB"/>
            </a:solidFill>
            <a:prstDash val="solid"/>
          </a:ln>
        </p:spPr>
      </p:sp>
      <p:sp>
        <p:nvSpPr>
          <p:cNvPr id="17" name="Text 15"/>
          <p:cNvSpPr/>
          <p:nvPr/>
        </p:nvSpPr>
        <p:spPr>
          <a:xfrm>
            <a:off x="2578608" y="2926080"/>
            <a:ext cx="1792224" cy="3429000"/>
          </a:xfrm>
          <a:prstGeom prst="rect">
            <a:avLst/>
          </a:prstGeom>
          <a:noFill/>
          <a:ln/>
        </p:spPr>
        <p:txBody>
          <a:bodyPr wrap="square" rtlCol="0" anchor="t"/>
          <a:lstStyle/>
          <a:p>
            <a:pPr indent="0" marL="0">
              <a:buNone/>
            </a:pPr>
            <a:r>
              <a:rPr lang="en-US" sz="800" dirty="0">
                <a:solidFill>
                  <a:srgbClr val="0F172A"/>
                </a:solidFill>
                <a:latin typeface="DM Mono" pitchFamily="34" charset="0"/>
                <a:ea typeface="DM Mono" pitchFamily="34" charset="-122"/>
                <a:cs typeface="DM Mono" pitchFamily="34" charset="-120"/>
              </a:rPr>
              <a:t>HDFC Milestone</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9 days left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Tier 1 ✓ 5% OFF</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 100%</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Tier 2 ⚡ 8% OFF</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 40%</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6 more transactions</a:t>
            </a:r>
            <a:endParaRPr lang="en-US" sz="800" dirty="0"/>
          </a:p>
        </p:txBody>
      </p:sp>
      <p:sp>
        <p:nvSpPr>
          <p:cNvPr id="18" name="Shape 16"/>
          <p:cNvSpPr/>
          <p:nvPr/>
        </p:nvSpPr>
        <p:spPr>
          <a:xfrm>
            <a:off x="4617720" y="1463040"/>
            <a:ext cx="2011680" cy="516636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19" name="Shape 17"/>
          <p:cNvSpPr/>
          <p:nvPr/>
        </p:nvSpPr>
        <p:spPr>
          <a:xfrm>
            <a:off x="4617720" y="1463040"/>
            <a:ext cx="2011680" cy="411480"/>
          </a:xfrm>
          <a:prstGeom prst="rect">
            <a:avLst/>
          </a:prstGeom>
          <a:solidFill>
            <a:srgbClr val="131921"/>
          </a:solidFill>
          <a:ln/>
        </p:spPr>
      </p:sp>
      <p:sp>
        <p:nvSpPr>
          <p:cNvPr id="20" name="Text 18"/>
          <p:cNvSpPr/>
          <p:nvPr/>
        </p:nvSpPr>
        <p:spPr>
          <a:xfrm>
            <a:off x="4681728" y="1508760"/>
            <a:ext cx="1883664" cy="320040"/>
          </a:xfrm>
          <a:prstGeom prst="rect">
            <a:avLst/>
          </a:prstGeom>
          <a:noFill/>
          <a:ln/>
        </p:spPr>
        <p:txBody>
          <a:bodyPr wrap="square" rtlCol="0" anchor="ctr"/>
          <a:lstStyle/>
          <a:p>
            <a:pPr indent="0" marL="0">
              <a:buNone/>
            </a:pPr>
            <a:r>
              <a:rPr lang="en-US" sz="900" b="1" dirty="0">
                <a:solidFill>
                  <a:srgbClr val="FEBD69"/>
                </a:solidFill>
                <a:latin typeface="Calibri" pitchFamily="34" charset="0"/>
                <a:ea typeface="Calibri" pitchFamily="34" charset="-122"/>
                <a:cs typeface="Calibri" pitchFamily="34" charset="-120"/>
              </a:rPr>
              <a:t>03 — Tier Unlocked</a:t>
            </a:r>
            <a:endParaRPr lang="en-US" sz="900" dirty="0"/>
          </a:p>
        </p:txBody>
      </p:sp>
      <p:sp>
        <p:nvSpPr>
          <p:cNvPr id="21" name="Text 19"/>
          <p:cNvSpPr/>
          <p:nvPr/>
        </p:nvSpPr>
        <p:spPr>
          <a:xfrm>
            <a:off x="4681728" y="1920240"/>
            <a:ext cx="1883664" cy="9144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Confetti + new discount rate confirmed. Previous rate shown (anchoring). Next tier progress immediately visible.</a:t>
            </a:r>
            <a:endParaRPr lang="en-US" sz="900" dirty="0"/>
          </a:p>
        </p:txBody>
      </p:sp>
      <p:sp>
        <p:nvSpPr>
          <p:cNvPr id="22" name="Shape 20"/>
          <p:cNvSpPr/>
          <p:nvPr/>
        </p:nvSpPr>
        <p:spPr>
          <a:xfrm>
            <a:off x="4681728" y="2880360"/>
            <a:ext cx="1883664" cy="3520440"/>
          </a:xfrm>
          <a:prstGeom prst="rect">
            <a:avLst/>
          </a:prstGeom>
          <a:solidFill>
            <a:srgbClr val="F8FAFC"/>
          </a:solidFill>
          <a:ln w="12700">
            <a:solidFill>
              <a:srgbClr val="E5E7EB"/>
            </a:solidFill>
            <a:prstDash val="solid"/>
          </a:ln>
        </p:spPr>
      </p:sp>
      <p:sp>
        <p:nvSpPr>
          <p:cNvPr id="23" name="Text 21"/>
          <p:cNvSpPr/>
          <p:nvPr/>
        </p:nvSpPr>
        <p:spPr>
          <a:xfrm>
            <a:off x="4727448" y="2926080"/>
            <a:ext cx="1792224" cy="3429000"/>
          </a:xfrm>
          <a:prstGeom prst="rect">
            <a:avLst/>
          </a:prstGeom>
          <a:noFill/>
          <a:ln/>
        </p:spPr>
        <p:txBody>
          <a:bodyPr wrap="square" rtlCol="0" anchor="t"/>
          <a:lstStyle/>
          <a:p>
            <a:pPr indent="0" marL="0">
              <a:buNone/>
            </a:pPr>
            <a:r>
              <a:rPr lang="en-US" sz="800" dirty="0">
                <a:solidFill>
                  <a:srgbClr val="0F172A"/>
                </a:solidFill>
                <a:latin typeface="DM Mono" pitchFamily="34" charset="0"/>
                <a:ea typeface="DM Mono" pitchFamily="34" charset="-122"/>
                <a:cs typeface="DM Mono" pitchFamily="34" charset="-120"/>
              </a:rPr>
              <a:t>🏆 MILESTONE!</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Tier 2 Complete!</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New rate: 8% OFF</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(was: 5% off)</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Est. saving ₹820/mo</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[Keep Shopping →]</a:t>
            </a:r>
            <a:endParaRPr lang="en-US" sz="800" dirty="0"/>
          </a:p>
        </p:txBody>
      </p:sp>
      <p:sp>
        <p:nvSpPr>
          <p:cNvPr id="24" name="Shape 22"/>
          <p:cNvSpPr/>
          <p:nvPr/>
        </p:nvSpPr>
        <p:spPr>
          <a:xfrm>
            <a:off x="6766560" y="1463040"/>
            <a:ext cx="2011680" cy="516636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25" name="Shape 23"/>
          <p:cNvSpPr/>
          <p:nvPr/>
        </p:nvSpPr>
        <p:spPr>
          <a:xfrm>
            <a:off x="6766560" y="1463040"/>
            <a:ext cx="2011680" cy="411480"/>
          </a:xfrm>
          <a:prstGeom prst="rect">
            <a:avLst/>
          </a:prstGeom>
          <a:solidFill>
            <a:srgbClr val="131921"/>
          </a:solidFill>
          <a:ln/>
        </p:spPr>
      </p:sp>
      <p:sp>
        <p:nvSpPr>
          <p:cNvPr id="26" name="Text 24"/>
          <p:cNvSpPr/>
          <p:nvPr/>
        </p:nvSpPr>
        <p:spPr>
          <a:xfrm>
            <a:off x="6830568" y="1508760"/>
            <a:ext cx="1883664" cy="320040"/>
          </a:xfrm>
          <a:prstGeom prst="rect">
            <a:avLst/>
          </a:prstGeom>
          <a:noFill/>
          <a:ln/>
        </p:spPr>
        <p:txBody>
          <a:bodyPr wrap="square" rtlCol="0" anchor="ctr"/>
          <a:lstStyle/>
          <a:p>
            <a:pPr indent="0" marL="0">
              <a:buNone/>
            </a:pPr>
            <a:r>
              <a:rPr lang="en-US" sz="900" b="1" dirty="0">
                <a:solidFill>
                  <a:srgbClr val="FEBD69"/>
                </a:solidFill>
                <a:latin typeface="Calibri" pitchFamily="34" charset="0"/>
                <a:ea typeface="Calibri" pitchFamily="34" charset="-122"/>
                <a:cs typeface="Calibri" pitchFamily="34" charset="-120"/>
              </a:rPr>
              <a:t>04 — Bank Partner Ops</a:t>
            </a:r>
            <a:endParaRPr lang="en-US" sz="900" dirty="0"/>
          </a:p>
        </p:txBody>
      </p:sp>
      <p:sp>
        <p:nvSpPr>
          <p:cNvPr id="27" name="Text 25"/>
          <p:cNvSpPr/>
          <p:nvPr/>
        </p:nvSpPr>
        <p:spPr>
          <a:xfrm>
            <a:off x="6830568" y="1920240"/>
            <a:ext cx="1883664" cy="9144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Dashboard for HDFC partner team: tier completion rates, nudge performance, GMV by tier. Drives renewal conversations.</a:t>
            </a:r>
            <a:endParaRPr lang="en-US" sz="900" dirty="0"/>
          </a:p>
        </p:txBody>
      </p:sp>
      <p:sp>
        <p:nvSpPr>
          <p:cNvPr id="28" name="Shape 26"/>
          <p:cNvSpPr/>
          <p:nvPr/>
        </p:nvSpPr>
        <p:spPr>
          <a:xfrm>
            <a:off x="6830568" y="2880360"/>
            <a:ext cx="1883664" cy="3520440"/>
          </a:xfrm>
          <a:prstGeom prst="rect">
            <a:avLst/>
          </a:prstGeom>
          <a:solidFill>
            <a:srgbClr val="F8FAFC"/>
          </a:solidFill>
          <a:ln w="12700">
            <a:solidFill>
              <a:srgbClr val="E5E7EB"/>
            </a:solidFill>
            <a:prstDash val="solid"/>
          </a:ln>
        </p:spPr>
      </p:sp>
      <p:sp>
        <p:nvSpPr>
          <p:cNvPr id="29" name="Text 27"/>
          <p:cNvSpPr/>
          <p:nvPr/>
        </p:nvSpPr>
        <p:spPr>
          <a:xfrm>
            <a:off x="6876288" y="2926080"/>
            <a:ext cx="1792224" cy="3429000"/>
          </a:xfrm>
          <a:prstGeom prst="rect">
            <a:avLst/>
          </a:prstGeom>
          <a:noFill/>
          <a:ln/>
        </p:spPr>
        <p:txBody>
          <a:bodyPr wrap="square" rtlCol="0" anchor="t"/>
          <a:lstStyle/>
          <a:p>
            <a:pPr indent="0" marL="0">
              <a:buNone/>
            </a:pPr>
            <a:r>
              <a:rPr lang="en-US" sz="800" dirty="0">
                <a:solidFill>
                  <a:srgbClr val="0F172A"/>
                </a:solidFill>
                <a:latin typeface="DM Mono" pitchFamily="34" charset="0"/>
                <a:ea typeface="DM Mono" pitchFamily="34" charset="-122"/>
                <a:cs typeface="DM Mono" pitchFamily="34" charset="-120"/>
              </a:rPr>
              <a:t>Milestone Program ●</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HDFC · May 2025</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Active users: 84.2K</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Repeat rate: 3.1×</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GMV this month: ₹8.4Cr</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a:t>
            </a:r>
            <a:endParaRPr lang="en-US" sz="800" dirty="0"/>
          </a:p>
          <a:p>
            <a:pPr indent="0" marL="0">
              <a:buNone/>
            </a:pPr>
            <a:r>
              <a:rPr lang="en-US" sz="800" dirty="0">
                <a:solidFill>
                  <a:srgbClr val="0F172A"/>
                </a:solidFill>
                <a:latin typeface="DM Mono" pitchFamily="34" charset="0"/>
                <a:ea typeface="DM Mono" pitchFamily="34" charset="-122"/>
                <a:cs typeface="DM Mono" pitchFamily="34" charset="-120"/>
              </a:rPr>
              <a:t>Tier 2 completion: 41%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31921"/>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IMPACT &amp; ROI</a:t>
            </a:r>
            <a:endParaRPr lang="en-US" sz="9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Projected Impact — Built on PhonePe &amp; Virtusa Proof Points</a:t>
            </a:r>
            <a:endParaRPr lang="en-US" sz="2400" dirty="0"/>
          </a:p>
        </p:txBody>
      </p:sp>
      <p:sp>
        <p:nvSpPr>
          <p:cNvPr id="5" name="Shape 3"/>
          <p:cNvSpPr/>
          <p:nvPr/>
        </p:nvSpPr>
        <p:spPr>
          <a:xfrm>
            <a:off x="457200" y="1280160"/>
            <a:ext cx="8229600" cy="36576"/>
          </a:xfrm>
          <a:prstGeom prst="rect">
            <a:avLst/>
          </a:prstGeom>
          <a:solidFill>
            <a:srgbClr val="232F3E"/>
          </a:solidFill>
          <a:ln/>
        </p:spPr>
      </p:sp>
      <p:sp>
        <p:nvSpPr>
          <p:cNvPr id="6" name="Shape 4"/>
          <p:cNvSpPr/>
          <p:nvPr/>
        </p:nvSpPr>
        <p:spPr>
          <a:xfrm>
            <a:off x="457200" y="1463040"/>
            <a:ext cx="3931920" cy="365760"/>
          </a:xfrm>
          <a:prstGeom prst="rect">
            <a:avLst/>
          </a:prstGeom>
          <a:solidFill>
            <a:srgbClr val="232F3E"/>
          </a:solidFill>
          <a:ln/>
        </p:spPr>
      </p:sp>
      <p:sp>
        <p:nvSpPr>
          <p:cNvPr id="7" name="Text 5"/>
          <p:cNvSpPr/>
          <p:nvPr/>
        </p:nvSpPr>
        <p:spPr>
          <a:xfrm>
            <a:off x="457200" y="1463040"/>
            <a:ext cx="3931920" cy="365760"/>
          </a:xfrm>
          <a:prstGeom prst="rect">
            <a:avLst/>
          </a:prstGeom>
          <a:noFill/>
          <a:ln/>
        </p:spPr>
        <p:txBody>
          <a:bodyPr wrap="square" rtlCol="0" anchor="ctr"/>
          <a:lstStyle/>
          <a:p>
            <a:pPr algn="ctr" indent="0" marL="0">
              <a:buNone/>
            </a:pPr>
            <a:r>
              <a:rPr lang="en-US" sz="1000" b="1" dirty="0">
                <a:solidFill>
                  <a:srgbClr val="FEBD69"/>
                </a:solidFill>
                <a:latin typeface="Calibri" pitchFamily="34" charset="0"/>
                <a:ea typeface="Calibri" pitchFamily="34" charset="-122"/>
                <a:cs typeface="Calibri" pitchFamily="34" charset="-120"/>
              </a:rPr>
              <a:t>CUSTOMER IMPACT</a:t>
            </a:r>
            <a:endParaRPr lang="en-US" sz="1000" dirty="0"/>
          </a:p>
        </p:txBody>
      </p:sp>
      <p:sp>
        <p:nvSpPr>
          <p:cNvPr id="8" name="Shape 6"/>
          <p:cNvSpPr/>
          <p:nvPr/>
        </p:nvSpPr>
        <p:spPr>
          <a:xfrm>
            <a:off x="457200" y="1920240"/>
            <a:ext cx="393192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9" name="Text 7"/>
          <p:cNvSpPr/>
          <p:nvPr/>
        </p:nvSpPr>
        <p:spPr>
          <a:xfrm>
            <a:off x="548640" y="1993392"/>
            <a:ext cx="374904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3×</a:t>
            </a:r>
            <a:endParaRPr lang="en-US" sz="2800" dirty="0"/>
          </a:p>
        </p:txBody>
      </p:sp>
      <p:sp>
        <p:nvSpPr>
          <p:cNvPr id="10" name="Text 8"/>
          <p:cNvSpPr/>
          <p:nvPr/>
        </p:nvSpPr>
        <p:spPr>
          <a:xfrm>
            <a:off x="548640" y="2432304"/>
            <a:ext cx="22860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30-day repeat transaction rate</a:t>
            </a:r>
            <a:endParaRPr lang="en-US" sz="1100" dirty="0"/>
          </a:p>
        </p:txBody>
      </p:sp>
      <p:sp>
        <p:nvSpPr>
          <p:cNvPr id="11" name="Text 9"/>
          <p:cNvSpPr/>
          <p:nvPr/>
        </p:nvSpPr>
        <p:spPr>
          <a:xfrm>
            <a:off x="548640" y="2432304"/>
            <a:ext cx="37490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vs. flat IBD baseline</a:t>
            </a:r>
            <a:endParaRPr lang="en-US" sz="1000" dirty="0"/>
          </a:p>
        </p:txBody>
      </p:sp>
      <p:sp>
        <p:nvSpPr>
          <p:cNvPr id="12" name="Shape 10"/>
          <p:cNvSpPr/>
          <p:nvPr/>
        </p:nvSpPr>
        <p:spPr>
          <a:xfrm>
            <a:off x="457200" y="2971800"/>
            <a:ext cx="393192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3" name="Text 11"/>
          <p:cNvSpPr/>
          <p:nvPr/>
        </p:nvSpPr>
        <p:spPr>
          <a:xfrm>
            <a:off x="548640" y="3044952"/>
            <a:ext cx="374904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25%</a:t>
            </a:r>
            <a:endParaRPr lang="en-US" sz="2800" dirty="0"/>
          </a:p>
        </p:txBody>
      </p:sp>
      <p:sp>
        <p:nvSpPr>
          <p:cNvPr id="14" name="Text 12"/>
          <p:cNvSpPr/>
          <p:nvPr/>
        </p:nvSpPr>
        <p:spPr>
          <a:xfrm>
            <a:off x="548640" y="3483864"/>
            <a:ext cx="22860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Avg. monthly GMV per user</a:t>
            </a:r>
            <a:endParaRPr lang="en-US" sz="1100" dirty="0"/>
          </a:p>
        </p:txBody>
      </p:sp>
      <p:sp>
        <p:nvSpPr>
          <p:cNvPr id="15" name="Text 13"/>
          <p:cNvSpPr/>
          <p:nvPr/>
        </p:nvSpPr>
        <p:spPr>
          <a:xfrm>
            <a:off x="548640" y="3483864"/>
            <a:ext cx="37490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Tier 2 completers vs. Tier 1</a:t>
            </a:r>
            <a:endParaRPr lang="en-US" sz="1000" dirty="0"/>
          </a:p>
        </p:txBody>
      </p:sp>
      <p:sp>
        <p:nvSpPr>
          <p:cNvPr id="16" name="Shape 14"/>
          <p:cNvSpPr/>
          <p:nvPr/>
        </p:nvSpPr>
        <p:spPr>
          <a:xfrm>
            <a:off x="457200" y="4023360"/>
            <a:ext cx="393192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17" name="Text 15"/>
          <p:cNvSpPr/>
          <p:nvPr/>
        </p:nvSpPr>
        <p:spPr>
          <a:xfrm>
            <a:off x="548640" y="4096512"/>
            <a:ext cx="374904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20%</a:t>
            </a:r>
            <a:endParaRPr lang="en-US" sz="2800" dirty="0"/>
          </a:p>
        </p:txBody>
      </p:sp>
      <p:sp>
        <p:nvSpPr>
          <p:cNvPr id="18" name="Text 16"/>
          <p:cNvSpPr/>
          <p:nvPr/>
        </p:nvSpPr>
        <p:spPr>
          <a:xfrm>
            <a:off x="548640" y="4535424"/>
            <a:ext cx="22860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Improvement in 30-day retention</a:t>
            </a:r>
            <a:endParaRPr lang="en-US" sz="1100" dirty="0"/>
          </a:p>
        </p:txBody>
      </p:sp>
      <p:sp>
        <p:nvSpPr>
          <p:cNvPr id="19" name="Text 17"/>
          <p:cNvSpPr/>
          <p:nvPr/>
        </p:nvSpPr>
        <p:spPr>
          <a:xfrm>
            <a:off x="548640" y="4535424"/>
            <a:ext cx="37490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PhonePe cart engine baseline</a:t>
            </a:r>
            <a:endParaRPr lang="en-US" sz="1000" dirty="0"/>
          </a:p>
        </p:txBody>
      </p:sp>
      <p:sp>
        <p:nvSpPr>
          <p:cNvPr id="20" name="Shape 18"/>
          <p:cNvSpPr/>
          <p:nvPr/>
        </p:nvSpPr>
        <p:spPr>
          <a:xfrm>
            <a:off x="457200" y="5074920"/>
            <a:ext cx="393192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21" name="Text 19"/>
          <p:cNvSpPr/>
          <p:nvPr/>
        </p:nvSpPr>
        <p:spPr>
          <a:xfrm>
            <a:off x="548640" y="5148072"/>
            <a:ext cx="374904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₹820/mo</a:t>
            </a:r>
            <a:endParaRPr lang="en-US" sz="2800" dirty="0"/>
          </a:p>
        </p:txBody>
      </p:sp>
      <p:sp>
        <p:nvSpPr>
          <p:cNvPr id="22" name="Text 20"/>
          <p:cNvSpPr/>
          <p:nvPr/>
        </p:nvSpPr>
        <p:spPr>
          <a:xfrm>
            <a:off x="548640" y="5586984"/>
            <a:ext cx="228600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Avg. user savings at Tier 2</a:t>
            </a:r>
            <a:endParaRPr lang="en-US" sz="1100" dirty="0"/>
          </a:p>
        </p:txBody>
      </p:sp>
      <p:sp>
        <p:nvSpPr>
          <p:cNvPr id="23" name="Text 21"/>
          <p:cNvSpPr/>
          <p:nvPr/>
        </p:nvSpPr>
        <p:spPr>
          <a:xfrm>
            <a:off x="548640" y="5586984"/>
            <a:ext cx="37490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Based on ₹10,250 monthly HDFC spend</a:t>
            </a:r>
            <a:endParaRPr lang="en-US" sz="1000" dirty="0"/>
          </a:p>
        </p:txBody>
      </p:sp>
      <p:sp>
        <p:nvSpPr>
          <p:cNvPr id="24" name="Shape 22"/>
          <p:cNvSpPr/>
          <p:nvPr/>
        </p:nvSpPr>
        <p:spPr>
          <a:xfrm>
            <a:off x="4526280" y="1463040"/>
            <a:ext cx="0" cy="5166360"/>
          </a:xfrm>
          <a:prstGeom prst="line">
            <a:avLst/>
          </a:prstGeom>
          <a:noFill/>
          <a:ln w="12700">
            <a:solidFill>
              <a:srgbClr val="232F3E"/>
            </a:solidFill>
            <a:prstDash val="dash"/>
          </a:ln>
        </p:spPr>
      </p:sp>
      <p:sp>
        <p:nvSpPr>
          <p:cNvPr id="25" name="Shape 23"/>
          <p:cNvSpPr/>
          <p:nvPr/>
        </p:nvSpPr>
        <p:spPr>
          <a:xfrm>
            <a:off x="4663440" y="1463040"/>
            <a:ext cx="4023360" cy="365760"/>
          </a:xfrm>
          <a:prstGeom prst="rect">
            <a:avLst/>
          </a:prstGeom>
          <a:solidFill>
            <a:srgbClr val="232F3E"/>
          </a:solidFill>
          <a:ln/>
        </p:spPr>
      </p:sp>
      <p:sp>
        <p:nvSpPr>
          <p:cNvPr id="26" name="Text 24"/>
          <p:cNvSpPr/>
          <p:nvPr/>
        </p:nvSpPr>
        <p:spPr>
          <a:xfrm>
            <a:off x="4663440" y="1463040"/>
            <a:ext cx="4023360" cy="365760"/>
          </a:xfrm>
          <a:prstGeom prst="rect">
            <a:avLst/>
          </a:prstGeom>
          <a:noFill/>
          <a:ln/>
        </p:spPr>
        <p:txBody>
          <a:bodyPr wrap="square" rtlCol="0" anchor="ctr"/>
          <a:lstStyle/>
          <a:p>
            <a:pPr algn="ctr" indent="0" marL="0">
              <a:buNone/>
            </a:pPr>
            <a:r>
              <a:rPr lang="en-US" sz="1000" b="1" dirty="0">
                <a:solidFill>
                  <a:srgbClr val="FEBD69"/>
                </a:solidFill>
                <a:latin typeface="Calibri" pitchFamily="34" charset="0"/>
                <a:ea typeface="Calibri" pitchFamily="34" charset="-122"/>
                <a:cs typeface="Calibri" pitchFamily="34" charset="-120"/>
              </a:rPr>
              <a:t>AMAZON + BANK PARTNER ROI</a:t>
            </a:r>
            <a:endParaRPr lang="en-US" sz="1000" dirty="0"/>
          </a:p>
        </p:txBody>
      </p:sp>
      <p:sp>
        <p:nvSpPr>
          <p:cNvPr id="27" name="Shape 25"/>
          <p:cNvSpPr/>
          <p:nvPr/>
        </p:nvSpPr>
        <p:spPr>
          <a:xfrm>
            <a:off x="4663440" y="1920240"/>
            <a:ext cx="402336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28" name="Text 26"/>
          <p:cNvSpPr/>
          <p:nvPr/>
        </p:nvSpPr>
        <p:spPr>
          <a:xfrm>
            <a:off x="4754880" y="1993392"/>
            <a:ext cx="384048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40%</a:t>
            </a:r>
            <a:endParaRPr lang="en-US" sz="2800" dirty="0"/>
          </a:p>
        </p:txBody>
      </p:sp>
      <p:sp>
        <p:nvSpPr>
          <p:cNvPr id="29" name="Text 27"/>
          <p:cNvSpPr/>
          <p:nvPr/>
        </p:nvSpPr>
        <p:spPr>
          <a:xfrm>
            <a:off x="4754880" y="2432304"/>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Bank partner renewal rate uplift</a:t>
            </a:r>
            <a:endParaRPr lang="en-US" sz="1100" dirty="0"/>
          </a:p>
        </p:txBody>
      </p:sp>
      <p:sp>
        <p:nvSpPr>
          <p:cNvPr id="30" name="Text 28"/>
          <p:cNvSpPr/>
          <p:nvPr/>
        </p:nvSpPr>
        <p:spPr>
          <a:xfrm>
            <a:off x="4754880" y="2432304"/>
            <a:ext cx="384048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Usage frequency data vs. one-time activation</a:t>
            </a:r>
            <a:endParaRPr lang="en-US" sz="1000" dirty="0"/>
          </a:p>
        </p:txBody>
      </p:sp>
      <p:sp>
        <p:nvSpPr>
          <p:cNvPr id="31" name="Shape 29"/>
          <p:cNvSpPr/>
          <p:nvPr/>
        </p:nvSpPr>
        <p:spPr>
          <a:xfrm>
            <a:off x="4663440" y="2971800"/>
            <a:ext cx="402336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32" name="Text 30"/>
          <p:cNvSpPr/>
          <p:nvPr/>
        </p:nvSpPr>
        <p:spPr>
          <a:xfrm>
            <a:off x="4754880" y="3044952"/>
            <a:ext cx="384048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2.8×</a:t>
            </a:r>
            <a:endParaRPr lang="en-US" sz="2800" dirty="0"/>
          </a:p>
        </p:txBody>
      </p:sp>
      <p:sp>
        <p:nvSpPr>
          <p:cNvPr id="33" name="Text 31"/>
          <p:cNvSpPr/>
          <p:nvPr/>
        </p:nvSpPr>
        <p:spPr>
          <a:xfrm>
            <a:off x="4754880" y="3483864"/>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GMV per Tier 2 user vs. Tier 1</a:t>
            </a:r>
            <a:endParaRPr lang="en-US" sz="1100" dirty="0"/>
          </a:p>
        </p:txBody>
      </p:sp>
      <p:sp>
        <p:nvSpPr>
          <p:cNvPr id="34" name="Text 32"/>
          <p:cNvSpPr/>
          <p:nvPr/>
        </p:nvSpPr>
        <p:spPr>
          <a:xfrm>
            <a:off x="4754880" y="3483864"/>
            <a:ext cx="384048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Tier completion drives compounding spend</a:t>
            </a:r>
            <a:endParaRPr lang="en-US" sz="1000" dirty="0"/>
          </a:p>
        </p:txBody>
      </p:sp>
      <p:sp>
        <p:nvSpPr>
          <p:cNvPr id="35" name="Shape 33"/>
          <p:cNvSpPr/>
          <p:nvPr/>
        </p:nvSpPr>
        <p:spPr>
          <a:xfrm>
            <a:off x="4663440" y="4023360"/>
            <a:ext cx="402336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36" name="Text 34"/>
          <p:cNvSpPr/>
          <p:nvPr/>
        </p:nvSpPr>
        <p:spPr>
          <a:xfrm>
            <a:off x="4754880" y="4096512"/>
            <a:ext cx="384048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₹0 net cost</a:t>
            </a:r>
            <a:endParaRPr lang="en-US" sz="2800" dirty="0"/>
          </a:p>
        </p:txBody>
      </p:sp>
      <p:sp>
        <p:nvSpPr>
          <p:cNvPr id="37" name="Text 35"/>
          <p:cNvSpPr/>
          <p:nvPr/>
        </p:nvSpPr>
        <p:spPr>
          <a:xfrm>
            <a:off x="4754880" y="4535424"/>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 Amazon for the discount</a:t>
            </a:r>
            <a:endParaRPr lang="en-US" sz="1100" dirty="0"/>
          </a:p>
        </p:txBody>
      </p:sp>
      <p:sp>
        <p:nvSpPr>
          <p:cNvPr id="38" name="Text 36"/>
          <p:cNvSpPr/>
          <p:nvPr/>
        </p:nvSpPr>
        <p:spPr>
          <a:xfrm>
            <a:off x="4754880" y="4535424"/>
            <a:ext cx="384048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Bank partner funds all tier rewards</a:t>
            </a:r>
            <a:endParaRPr lang="en-US" sz="1000" dirty="0"/>
          </a:p>
        </p:txBody>
      </p:sp>
      <p:sp>
        <p:nvSpPr>
          <p:cNvPr id="39" name="Shape 37"/>
          <p:cNvSpPr/>
          <p:nvPr/>
        </p:nvSpPr>
        <p:spPr>
          <a:xfrm>
            <a:off x="4663440" y="5074920"/>
            <a:ext cx="4023360" cy="9144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40" name="Text 38"/>
          <p:cNvSpPr/>
          <p:nvPr/>
        </p:nvSpPr>
        <p:spPr>
          <a:xfrm>
            <a:off x="4754880" y="5148072"/>
            <a:ext cx="3840480" cy="457200"/>
          </a:xfrm>
          <a:prstGeom prst="rect">
            <a:avLst/>
          </a:prstGeom>
          <a:noFill/>
          <a:ln/>
        </p:spPr>
        <p:txBody>
          <a:bodyPr wrap="square" rtlCol="0" anchor="ctr"/>
          <a:lstStyle/>
          <a:p>
            <a:pPr indent="0" marL="0">
              <a:buNone/>
            </a:pPr>
            <a:r>
              <a:rPr lang="en-US" sz="2800" b="1" dirty="0">
                <a:solidFill>
                  <a:srgbClr val="FF9900"/>
                </a:solidFill>
                <a:latin typeface="Calibri" pitchFamily="34" charset="0"/>
                <a:ea typeface="Calibri" pitchFamily="34" charset="-122"/>
                <a:cs typeface="Calibri" pitchFamily="34" charset="-120"/>
              </a:rPr>
              <a:t>60%</a:t>
            </a:r>
            <a:endParaRPr lang="en-US" sz="2800" dirty="0"/>
          </a:p>
        </p:txBody>
      </p:sp>
      <p:sp>
        <p:nvSpPr>
          <p:cNvPr id="41" name="Text 39"/>
          <p:cNvSpPr/>
          <p:nvPr/>
        </p:nvSpPr>
        <p:spPr>
          <a:xfrm>
            <a:off x="4754880" y="5586984"/>
            <a:ext cx="25603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90-day device activity improvement</a:t>
            </a:r>
            <a:endParaRPr lang="en-US" sz="1100" dirty="0"/>
          </a:p>
        </p:txBody>
      </p:sp>
      <p:sp>
        <p:nvSpPr>
          <p:cNvPr id="42" name="Text 40"/>
          <p:cNvSpPr/>
          <p:nvPr/>
        </p:nvSpPr>
        <p:spPr>
          <a:xfrm>
            <a:off x="4754880" y="5586984"/>
            <a:ext cx="384048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Virtusa Milestone Waiver: identical mechanic</a:t>
            </a:r>
            <a:endParaRPr lang="en-US" sz="1000" dirty="0"/>
          </a:p>
        </p:txBody>
      </p:sp>
      <p:sp>
        <p:nvSpPr>
          <p:cNvPr id="43" name="Shape 41"/>
          <p:cNvSpPr/>
          <p:nvPr/>
        </p:nvSpPr>
        <p:spPr>
          <a:xfrm>
            <a:off x="457200" y="6172200"/>
            <a:ext cx="8229600" cy="548640"/>
          </a:xfrm>
          <a:prstGeom prst="rect">
            <a:avLst/>
          </a:prstGeom>
          <a:solidFill>
            <a:srgbClr val="1A2332"/>
          </a:solidFill>
          <a:ln w="12700">
            <a:solidFill>
              <a:srgbClr val="FF9900"/>
            </a:solidFill>
            <a:prstDash val="solid"/>
          </a:ln>
        </p:spPr>
      </p:sp>
      <p:sp>
        <p:nvSpPr>
          <p:cNvPr id="44" name="Text 42"/>
          <p:cNvSpPr/>
          <p:nvPr/>
        </p:nvSpPr>
        <p:spPr>
          <a:xfrm>
            <a:off x="594360" y="6236208"/>
            <a:ext cx="7955280" cy="36576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Amazon bears zero discount cost — the bank partner funds the tiers in exchange for transaction frequency data that makes their card more valuable to renew.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3F4F6"/>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PROOF OF WORK</a:t>
            </a:r>
            <a:endParaRPr lang="en-US" sz="9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2500" b="1" dirty="0">
                <a:solidFill>
                  <a:srgbClr val="0F172A"/>
                </a:solidFill>
                <a:latin typeface="Calibri" pitchFamily="34" charset="0"/>
                <a:ea typeface="Calibri" pitchFamily="34" charset="-122"/>
                <a:cs typeface="Calibri" pitchFamily="34" charset="-120"/>
              </a:rPr>
              <a:t>I've Shipped This Mechanic Twice. Here's the Evidence.</a:t>
            </a:r>
            <a:endParaRPr lang="en-US" sz="2500" dirty="0"/>
          </a:p>
        </p:txBody>
      </p:sp>
      <p:sp>
        <p:nvSpPr>
          <p:cNvPr id="5" name="Shape 3"/>
          <p:cNvSpPr/>
          <p:nvPr/>
        </p:nvSpPr>
        <p:spPr>
          <a:xfrm>
            <a:off x="457200" y="1280160"/>
            <a:ext cx="8229600" cy="36576"/>
          </a:xfrm>
          <a:prstGeom prst="rect">
            <a:avLst/>
          </a:prstGeom>
          <a:solidFill>
            <a:srgbClr val="FF9900"/>
          </a:solidFill>
          <a:ln/>
        </p:spPr>
      </p:sp>
      <p:sp>
        <p:nvSpPr>
          <p:cNvPr id="6" name="Shape 4"/>
          <p:cNvSpPr/>
          <p:nvPr/>
        </p:nvSpPr>
        <p:spPr>
          <a:xfrm>
            <a:off x="457200" y="1463040"/>
            <a:ext cx="3931920" cy="4572000"/>
          </a:xfrm>
          <a:prstGeom prst="rect">
            <a:avLst/>
          </a:prstGeom>
          <a:solidFill>
            <a:srgbClr val="131921"/>
          </a:solidFill>
          <a:ln/>
          <a:effectLst>
            <a:outerShdw sx="100000" sy="100000" kx="0" ky="0" algn="bl" rotWithShape="0" blurRad="38100" dist="12700" dir="2700000">
              <a:srgbClr val="000000">
                <a:alpha val="12000"/>
              </a:srgbClr>
            </a:outerShdw>
          </a:effectLst>
        </p:spPr>
      </p:sp>
      <p:sp>
        <p:nvSpPr>
          <p:cNvPr id="7" name="Text 5"/>
          <p:cNvSpPr/>
          <p:nvPr/>
        </p:nvSpPr>
        <p:spPr>
          <a:xfrm>
            <a:off x="594360" y="1600200"/>
            <a:ext cx="3657600" cy="320040"/>
          </a:xfrm>
          <a:prstGeom prst="rect">
            <a:avLst/>
          </a:prstGeom>
          <a:noFill/>
          <a:ln/>
        </p:spPr>
        <p:txBody>
          <a:bodyPr wrap="square" rtlCol="0" anchor="ctr"/>
          <a:lstStyle/>
          <a:p>
            <a:pPr indent="0" marL="0">
              <a:buNone/>
            </a:pPr>
            <a:r>
              <a:rPr lang="en-US" sz="900" b="1" spc="300" kern="0" dirty="0">
                <a:solidFill>
                  <a:srgbClr val="FF9900"/>
                </a:solidFill>
                <a:latin typeface="Calibri" pitchFamily="34" charset="0"/>
                <a:ea typeface="Calibri" pitchFamily="34" charset="-122"/>
                <a:cs typeface="Calibri" pitchFamily="34" charset="-120"/>
              </a:rPr>
              <a:t>WHAT I BUILT</a:t>
            </a:r>
            <a:endParaRPr lang="en-US" sz="900" dirty="0"/>
          </a:p>
        </p:txBody>
      </p:sp>
      <p:sp>
        <p:nvSpPr>
          <p:cNvPr id="8" name="Shape 6"/>
          <p:cNvSpPr/>
          <p:nvPr/>
        </p:nvSpPr>
        <p:spPr>
          <a:xfrm>
            <a:off x="594360" y="2057400"/>
            <a:ext cx="182880" cy="182880"/>
          </a:xfrm>
          <a:prstGeom prst="rect">
            <a:avLst/>
          </a:prstGeom>
          <a:solidFill>
            <a:srgbClr val="FF9900"/>
          </a:solidFill>
          <a:ln/>
        </p:spPr>
      </p:sp>
      <p:sp>
        <p:nvSpPr>
          <p:cNvPr id="9" name="Text 7"/>
          <p:cNvSpPr/>
          <p:nvPr/>
        </p:nvSpPr>
        <p:spPr>
          <a:xfrm>
            <a:off x="850392" y="2020824"/>
            <a:ext cx="342900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PhonePe cart incentivisation engine: context-aware triggers across cart value × user intent × time → 35% AOV uplift, 60% cart abandonment reduction, 20% 30-day retention improvement</a:t>
            </a:r>
            <a:endParaRPr lang="en-US" sz="1000" dirty="0"/>
          </a:p>
        </p:txBody>
      </p:sp>
      <p:sp>
        <p:nvSpPr>
          <p:cNvPr id="10" name="Shape 8"/>
          <p:cNvSpPr/>
          <p:nvPr/>
        </p:nvSpPr>
        <p:spPr>
          <a:xfrm>
            <a:off x="594360" y="2862072"/>
            <a:ext cx="182880" cy="182880"/>
          </a:xfrm>
          <a:prstGeom prst="rect">
            <a:avLst/>
          </a:prstGeom>
          <a:solidFill>
            <a:srgbClr val="FF9900"/>
          </a:solidFill>
          <a:ln/>
        </p:spPr>
      </p:sp>
      <p:sp>
        <p:nvSpPr>
          <p:cNvPr id="11" name="Text 9"/>
          <p:cNvSpPr/>
          <p:nvPr/>
        </p:nvSpPr>
        <p:spPr>
          <a:xfrm>
            <a:off x="850392" y="2825496"/>
            <a:ext cx="342900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PhonePe Nudge Engine: threshold-based push triggers at 50%/80%/95% progress — identical to Milestone nudge architecture</a:t>
            </a:r>
            <a:endParaRPr lang="en-US" sz="1000" dirty="0"/>
          </a:p>
        </p:txBody>
      </p:sp>
      <p:sp>
        <p:nvSpPr>
          <p:cNvPr id="12" name="Shape 10"/>
          <p:cNvSpPr/>
          <p:nvPr/>
        </p:nvSpPr>
        <p:spPr>
          <a:xfrm>
            <a:off x="594360" y="3666744"/>
            <a:ext cx="182880" cy="182880"/>
          </a:xfrm>
          <a:prstGeom prst="rect">
            <a:avLst/>
          </a:prstGeom>
          <a:solidFill>
            <a:srgbClr val="FF9900"/>
          </a:solidFill>
          <a:ln/>
        </p:spPr>
      </p:sp>
      <p:sp>
        <p:nvSpPr>
          <p:cNvPr id="13" name="Text 11"/>
          <p:cNvSpPr/>
          <p:nvPr/>
        </p:nvSpPr>
        <p:spPr>
          <a:xfrm>
            <a:off x="850392" y="3630168"/>
            <a:ext cx="342900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Virtusa MerchantOS: Milestone Rental Waiver — 3-tier goal mechanic (TPV + TPC targets), ops dashboard, A/B tested vs. cashback variant. 60% improvement in 90-day device activity</a:t>
            </a:r>
            <a:endParaRPr lang="en-US" sz="1000" dirty="0"/>
          </a:p>
        </p:txBody>
      </p:sp>
      <p:sp>
        <p:nvSpPr>
          <p:cNvPr id="14" name="Shape 12"/>
          <p:cNvSpPr/>
          <p:nvPr/>
        </p:nvSpPr>
        <p:spPr>
          <a:xfrm>
            <a:off x="594360" y="4471416"/>
            <a:ext cx="182880" cy="182880"/>
          </a:xfrm>
          <a:prstGeom prst="rect">
            <a:avLst/>
          </a:prstGeom>
          <a:solidFill>
            <a:srgbClr val="FF9900"/>
          </a:solidFill>
          <a:ln/>
        </p:spPr>
      </p:sp>
      <p:sp>
        <p:nvSpPr>
          <p:cNvPr id="15" name="Text 13"/>
          <p:cNvSpPr/>
          <p:nvPr/>
        </p:nvSpPr>
        <p:spPr>
          <a:xfrm>
            <a:off x="850392" y="4434840"/>
            <a:ext cx="342900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PhonePe ML-driven rewards marketplace: audience segmentation + brand self-serve → 26% user engagement improvement, 11% YoY revenue growth</a:t>
            </a:r>
            <a:endParaRPr lang="en-US" sz="1000" dirty="0"/>
          </a:p>
        </p:txBody>
      </p:sp>
      <p:sp>
        <p:nvSpPr>
          <p:cNvPr id="16" name="Shape 14"/>
          <p:cNvSpPr/>
          <p:nvPr/>
        </p:nvSpPr>
        <p:spPr>
          <a:xfrm>
            <a:off x="4663440" y="1463040"/>
            <a:ext cx="4023360" cy="4572000"/>
          </a:xfrm>
          <a:prstGeom prst="rect">
            <a:avLst/>
          </a:prstGeom>
          <a:solidFill>
            <a:srgbClr val="FFFFFF"/>
          </a:solidFill>
          <a:ln w="12700">
            <a:solidFill>
              <a:srgbClr val="E5E7EB"/>
            </a:solidFill>
            <a:prstDash val="solid"/>
          </a:ln>
          <a:effectLst>
            <a:outerShdw sx="100000" sy="100000" kx="0" ky="0" algn="bl" rotWithShape="0" blurRad="38100" dist="12700" dir="2700000">
              <a:srgbClr val="000000">
                <a:alpha val="12000"/>
              </a:srgbClr>
            </a:outerShdw>
          </a:effectLst>
        </p:spPr>
      </p:sp>
      <p:sp>
        <p:nvSpPr>
          <p:cNvPr id="17" name="Text 15"/>
          <p:cNvSpPr/>
          <p:nvPr/>
        </p:nvSpPr>
        <p:spPr>
          <a:xfrm>
            <a:off x="4800600" y="1600200"/>
            <a:ext cx="3749040" cy="320040"/>
          </a:xfrm>
          <a:prstGeom prst="rect">
            <a:avLst/>
          </a:prstGeom>
          <a:noFill/>
          <a:ln/>
        </p:spPr>
        <p:txBody>
          <a:bodyPr wrap="square" rtlCol="0" anchor="ctr"/>
          <a:lstStyle/>
          <a:p>
            <a:pPr indent="0" marL="0">
              <a:buNone/>
            </a:pPr>
            <a:r>
              <a:rPr lang="en-US" sz="900" b="1" spc="300" kern="0" dirty="0">
                <a:solidFill>
                  <a:srgbClr val="0F172A"/>
                </a:solidFill>
                <a:latin typeface="Calibri" pitchFamily="34" charset="0"/>
                <a:ea typeface="Calibri" pitchFamily="34" charset="-122"/>
                <a:cs typeface="Calibri" pitchFamily="34" charset="-120"/>
              </a:rPr>
              <a:t>HOW IT MAPS TO THIS ROLE</a:t>
            </a:r>
            <a:endParaRPr lang="en-US" sz="900" dirty="0"/>
          </a:p>
        </p:txBody>
      </p:sp>
      <p:sp>
        <p:nvSpPr>
          <p:cNvPr id="18" name="Shape 16"/>
          <p:cNvSpPr/>
          <p:nvPr/>
        </p:nvSpPr>
        <p:spPr>
          <a:xfrm>
            <a:off x="4800600" y="2057400"/>
            <a:ext cx="3749040" cy="594360"/>
          </a:xfrm>
          <a:prstGeom prst="rect">
            <a:avLst/>
          </a:prstGeom>
          <a:solidFill>
            <a:srgbClr val="F3F4F6"/>
          </a:solidFill>
          <a:ln/>
        </p:spPr>
      </p:sp>
      <p:sp>
        <p:nvSpPr>
          <p:cNvPr id="19" name="Text 17"/>
          <p:cNvSpPr/>
          <p:nvPr/>
        </p:nvSpPr>
        <p:spPr>
          <a:xfrm>
            <a:off x="4892040" y="2121408"/>
            <a:ext cx="3566160" cy="201168"/>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JD: End-to-end IBD lifecycle ownership</a:t>
            </a:r>
            <a:endParaRPr lang="en-US" sz="1000" dirty="0"/>
          </a:p>
        </p:txBody>
      </p:sp>
      <p:sp>
        <p:nvSpPr>
          <p:cNvPr id="20" name="Text 18"/>
          <p:cNvSpPr/>
          <p:nvPr/>
        </p:nvSpPr>
        <p:spPr>
          <a:xfrm>
            <a:off x="4892040" y="2368296"/>
            <a:ext cx="3566160" cy="201168"/>
          </a:xfrm>
          <a:prstGeom prst="rect">
            <a:avLst/>
          </a:prstGeom>
          <a:noFill/>
          <a:ln/>
        </p:spPr>
        <p:txBody>
          <a:bodyPr wrap="square" rtlCol="0" anchor="ctr"/>
          <a:lstStyle/>
          <a:p>
            <a:pPr indent="0" marL="0">
              <a:buNone/>
            </a:pPr>
            <a:r>
              <a:rPr lang="en-US" sz="1000" dirty="0">
                <a:solidFill>
                  <a:srgbClr val="15803D"/>
                </a:solidFill>
                <a:latin typeface="Calibri" pitchFamily="34" charset="0"/>
                <a:ea typeface="Calibri" pitchFamily="34" charset="-122"/>
                <a:cs typeface="Calibri" pitchFamily="34" charset="-120"/>
              </a:rPr>
              <a:t>→ Built offers stack E2E at PhonePe</a:t>
            </a:r>
            <a:endParaRPr lang="en-US" sz="1000" dirty="0"/>
          </a:p>
        </p:txBody>
      </p:sp>
      <p:sp>
        <p:nvSpPr>
          <p:cNvPr id="21" name="Shape 19"/>
          <p:cNvSpPr/>
          <p:nvPr/>
        </p:nvSpPr>
        <p:spPr>
          <a:xfrm>
            <a:off x="4800600" y="2743200"/>
            <a:ext cx="3749040" cy="594360"/>
          </a:xfrm>
          <a:prstGeom prst="rect">
            <a:avLst/>
          </a:prstGeom>
          <a:solidFill>
            <a:srgbClr val="F3F4F6"/>
          </a:solidFill>
          <a:ln/>
        </p:spPr>
      </p:sp>
      <p:sp>
        <p:nvSpPr>
          <p:cNvPr id="22" name="Text 20"/>
          <p:cNvSpPr/>
          <p:nvPr/>
        </p:nvSpPr>
        <p:spPr>
          <a:xfrm>
            <a:off x="4892040" y="2807208"/>
            <a:ext cx="3566160" cy="201168"/>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JD: Drive customer behavior change</a:t>
            </a:r>
            <a:endParaRPr lang="en-US" sz="1000" dirty="0"/>
          </a:p>
        </p:txBody>
      </p:sp>
      <p:sp>
        <p:nvSpPr>
          <p:cNvPr id="23" name="Text 21"/>
          <p:cNvSpPr/>
          <p:nvPr/>
        </p:nvSpPr>
        <p:spPr>
          <a:xfrm>
            <a:off x="4892040" y="3054096"/>
            <a:ext cx="3566160" cy="201168"/>
          </a:xfrm>
          <a:prstGeom prst="rect">
            <a:avLst/>
          </a:prstGeom>
          <a:noFill/>
          <a:ln/>
        </p:spPr>
        <p:txBody>
          <a:bodyPr wrap="square" rtlCol="0" anchor="ctr"/>
          <a:lstStyle/>
          <a:p>
            <a:pPr indent="0" marL="0">
              <a:buNone/>
            </a:pPr>
            <a:r>
              <a:rPr lang="en-US" sz="1000" dirty="0">
                <a:solidFill>
                  <a:srgbClr val="15803D"/>
                </a:solidFill>
                <a:latin typeface="Calibri" pitchFamily="34" charset="0"/>
                <a:ea typeface="Calibri" pitchFamily="34" charset="-122"/>
                <a:cs typeface="Calibri" pitchFamily="34" charset="-120"/>
              </a:rPr>
              <a:t>→ Cart engine: 60% abandonment reduction</a:t>
            </a:r>
            <a:endParaRPr lang="en-US" sz="1000" dirty="0"/>
          </a:p>
        </p:txBody>
      </p:sp>
      <p:sp>
        <p:nvSpPr>
          <p:cNvPr id="24" name="Shape 22"/>
          <p:cNvSpPr/>
          <p:nvPr/>
        </p:nvSpPr>
        <p:spPr>
          <a:xfrm>
            <a:off x="4800600" y="3429000"/>
            <a:ext cx="3749040" cy="594360"/>
          </a:xfrm>
          <a:prstGeom prst="rect">
            <a:avLst/>
          </a:prstGeom>
          <a:solidFill>
            <a:srgbClr val="F3F4F6"/>
          </a:solidFill>
          <a:ln/>
        </p:spPr>
      </p:sp>
      <p:sp>
        <p:nvSpPr>
          <p:cNvPr id="25" name="Text 23"/>
          <p:cNvSpPr/>
          <p:nvPr/>
        </p:nvSpPr>
        <p:spPr>
          <a:xfrm>
            <a:off x="4892040" y="3493008"/>
            <a:ext cx="3566160" cy="201168"/>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JD: Launch in new MENA/APAC markets</a:t>
            </a:r>
            <a:endParaRPr lang="en-US" sz="1000" dirty="0"/>
          </a:p>
        </p:txBody>
      </p:sp>
      <p:sp>
        <p:nvSpPr>
          <p:cNvPr id="26" name="Text 24"/>
          <p:cNvSpPr/>
          <p:nvPr/>
        </p:nvSpPr>
        <p:spPr>
          <a:xfrm>
            <a:off x="4892040" y="3739896"/>
            <a:ext cx="3566160" cy="201168"/>
          </a:xfrm>
          <a:prstGeom prst="rect">
            <a:avLst/>
          </a:prstGeom>
          <a:noFill/>
          <a:ln/>
        </p:spPr>
        <p:txBody>
          <a:bodyPr wrap="square" rtlCol="0" anchor="ctr"/>
          <a:lstStyle/>
          <a:p>
            <a:pPr indent="0" marL="0">
              <a:buNone/>
            </a:pPr>
            <a:r>
              <a:rPr lang="en-US" sz="1000" dirty="0">
                <a:solidFill>
                  <a:srgbClr val="15803D"/>
                </a:solidFill>
                <a:latin typeface="Calibri" pitchFamily="34" charset="0"/>
                <a:ea typeface="Calibri" pitchFamily="34" charset="-122"/>
                <a:cs typeface="Calibri" pitchFamily="34" charset="-120"/>
              </a:rPr>
              <a:t>→ Milestone Waiver: MENA bank expansion plan</a:t>
            </a:r>
            <a:endParaRPr lang="en-US" sz="1000" dirty="0"/>
          </a:p>
        </p:txBody>
      </p:sp>
      <p:sp>
        <p:nvSpPr>
          <p:cNvPr id="27" name="Shape 25"/>
          <p:cNvSpPr/>
          <p:nvPr/>
        </p:nvSpPr>
        <p:spPr>
          <a:xfrm>
            <a:off x="4800600" y="4114800"/>
            <a:ext cx="3749040" cy="594360"/>
          </a:xfrm>
          <a:prstGeom prst="rect">
            <a:avLst/>
          </a:prstGeom>
          <a:solidFill>
            <a:srgbClr val="F3F4F6"/>
          </a:solidFill>
          <a:ln/>
        </p:spPr>
      </p:sp>
      <p:sp>
        <p:nvSpPr>
          <p:cNvPr id="28" name="Text 26"/>
          <p:cNvSpPr/>
          <p:nvPr/>
        </p:nvSpPr>
        <p:spPr>
          <a:xfrm>
            <a:off x="4892040" y="4178808"/>
            <a:ext cx="3566160" cy="201168"/>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JD: Partner with bank teams</a:t>
            </a:r>
            <a:endParaRPr lang="en-US" sz="1000" dirty="0"/>
          </a:p>
        </p:txBody>
      </p:sp>
      <p:sp>
        <p:nvSpPr>
          <p:cNvPr id="29" name="Text 27"/>
          <p:cNvSpPr/>
          <p:nvPr/>
        </p:nvSpPr>
        <p:spPr>
          <a:xfrm>
            <a:off x="4892040" y="4425696"/>
            <a:ext cx="3566160" cy="201168"/>
          </a:xfrm>
          <a:prstGeom prst="rect">
            <a:avLst/>
          </a:prstGeom>
          <a:noFill/>
          <a:ln/>
        </p:spPr>
        <p:txBody>
          <a:bodyPr wrap="square" rtlCol="0" anchor="ctr"/>
          <a:lstStyle/>
          <a:p>
            <a:pPr indent="0" marL="0">
              <a:buNone/>
            </a:pPr>
            <a:r>
              <a:rPr lang="en-US" sz="1000" dirty="0">
                <a:solidFill>
                  <a:srgbClr val="15803D"/>
                </a:solidFill>
                <a:latin typeface="Calibri" pitchFamily="34" charset="0"/>
                <a:ea typeface="Calibri" pitchFamily="34" charset="-122"/>
                <a:cs typeface="Calibri" pitchFamily="34" charset="-120"/>
              </a:rPr>
              <a:t>→ 500+ brand partners onboarded at PhonePe</a:t>
            </a:r>
            <a:endParaRPr lang="en-US" sz="1000" dirty="0"/>
          </a:p>
        </p:txBody>
      </p:sp>
      <p:sp>
        <p:nvSpPr>
          <p:cNvPr id="30" name="Shape 28"/>
          <p:cNvSpPr/>
          <p:nvPr/>
        </p:nvSpPr>
        <p:spPr>
          <a:xfrm>
            <a:off x="4800600" y="4800600"/>
            <a:ext cx="3749040" cy="594360"/>
          </a:xfrm>
          <a:prstGeom prst="rect">
            <a:avLst/>
          </a:prstGeom>
          <a:solidFill>
            <a:srgbClr val="F3F4F6"/>
          </a:solidFill>
          <a:ln/>
        </p:spPr>
      </p:sp>
      <p:sp>
        <p:nvSpPr>
          <p:cNvPr id="31" name="Text 29"/>
          <p:cNvSpPr/>
          <p:nvPr/>
        </p:nvSpPr>
        <p:spPr>
          <a:xfrm>
            <a:off x="4892040" y="4864608"/>
            <a:ext cx="3566160" cy="201168"/>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JD: Mentor PMs, foster innovation</a:t>
            </a:r>
            <a:endParaRPr lang="en-US" sz="1000" dirty="0"/>
          </a:p>
        </p:txBody>
      </p:sp>
      <p:sp>
        <p:nvSpPr>
          <p:cNvPr id="32" name="Text 30"/>
          <p:cNvSpPr/>
          <p:nvPr/>
        </p:nvSpPr>
        <p:spPr>
          <a:xfrm>
            <a:off x="4892040" y="5111496"/>
            <a:ext cx="3566160" cy="201168"/>
          </a:xfrm>
          <a:prstGeom prst="rect">
            <a:avLst/>
          </a:prstGeom>
          <a:noFill/>
          <a:ln/>
        </p:spPr>
        <p:txBody>
          <a:bodyPr wrap="square" rtlCol="0" anchor="ctr"/>
          <a:lstStyle/>
          <a:p>
            <a:pPr indent="0" marL="0">
              <a:buNone/>
            </a:pPr>
            <a:r>
              <a:rPr lang="en-US" sz="1000" dirty="0">
                <a:solidFill>
                  <a:srgbClr val="15803D"/>
                </a:solidFill>
                <a:latin typeface="Calibri" pitchFamily="34" charset="0"/>
                <a:ea typeface="Calibri" pitchFamily="34" charset="-122"/>
                <a:cs typeface="Calibri" pitchFamily="34" charset="-120"/>
              </a:rPr>
              <a:t>→ Led 6-squad PM team across offers charter</a:t>
            </a:r>
            <a:endParaRPr lang="en-US" sz="1000" dirty="0"/>
          </a:p>
        </p:txBody>
      </p:sp>
      <p:sp>
        <p:nvSpPr>
          <p:cNvPr id="33" name="Shape 31"/>
          <p:cNvSpPr/>
          <p:nvPr/>
        </p:nvSpPr>
        <p:spPr>
          <a:xfrm>
            <a:off x="457200" y="6263640"/>
            <a:ext cx="8229600" cy="457200"/>
          </a:xfrm>
          <a:prstGeom prst="rect">
            <a:avLst/>
          </a:prstGeom>
          <a:solidFill>
            <a:srgbClr val="FFFBEB"/>
          </a:solidFill>
          <a:ln w="19050">
            <a:solidFill>
              <a:srgbClr val="FF9900"/>
            </a:solidFill>
            <a:prstDash val="solid"/>
          </a:ln>
        </p:spPr>
      </p:sp>
      <p:sp>
        <p:nvSpPr>
          <p:cNvPr id="34" name="Text 32"/>
          <p:cNvSpPr/>
          <p:nvPr/>
        </p:nvSpPr>
        <p:spPr>
          <a:xfrm>
            <a:off x="640080" y="6327648"/>
            <a:ext cx="7863840" cy="301752"/>
          </a:xfrm>
          <a:prstGeom prst="rect">
            <a:avLst/>
          </a:prstGeom>
          <a:noFill/>
          <a:ln/>
        </p:spPr>
        <p:txBody>
          <a:bodyPr wrap="square" rtlCol="0" anchor="ctr"/>
          <a:lstStyle/>
          <a:p>
            <a:pPr indent="0" marL="0">
              <a:buNone/>
            </a:pPr>
            <a:r>
              <a:rPr lang="en-US" sz="1100" i="1" dirty="0">
                <a:solidFill>
                  <a:srgbClr val="0F172A"/>
                </a:solidFill>
                <a:latin typeface="Calibri" pitchFamily="34" charset="0"/>
                <a:ea typeface="Calibri" pitchFamily="34" charset="-122"/>
                <a:cs typeface="Calibri" pitchFamily="34" charset="-120"/>
              </a:rPr>
              <a:t>"Milestone isn't a concept — I've shipped the mechanic at PhonePe and Virtusa. Amazon is the next context."  — Ajay Avaghade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31921"/>
          </a:solidFill>
          <a:ln/>
        </p:spPr>
      </p:sp>
      <p:sp>
        <p:nvSpPr>
          <p:cNvPr id="3" name="Text 1"/>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ROLLOUT PLAN</a:t>
            </a:r>
            <a:endParaRPr lang="en-US" sz="9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3-Phase Rollout: India → MENA → Full Emerging Markets</a:t>
            </a:r>
            <a:endParaRPr lang="en-US" sz="2600" dirty="0"/>
          </a:p>
        </p:txBody>
      </p:sp>
      <p:sp>
        <p:nvSpPr>
          <p:cNvPr id="5" name="Shape 3"/>
          <p:cNvSpPr/>
          <p:nvPr/>
        </p:nvSpPr>
        <p:spPr>
          <a:xfrm>
            <a:off x="457200" y="1280160"/>
            <a:ext cx="8229600" cy="36576"/>
          </a:xfrm>
          <a:prstGeom prst="rect">
            <a:avLst/>
          </a:prstGeom>
          <a:solidFill>
            <a:srgbClr val="232F3E"/>
          </a:solidFill>
          <a:ln/>
        </p:spPr>
      </p:sp>
      <p:sp>
        <p:nvSpPr>
          <p:cNvPr id="6" name="Shape 4"/>
          <p:cNvSpPr/>
          <p:nvPr/>
        </p:nvSpPr>
        <p:spPr>
          <a:xfrm>
            <a:off x="365760" y="1463040"/>
            <a:ext cx="2697480" cy="41148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7" name="Text 5"/>
          <p:cNvSpPr/>
          <p:nvPr/>
        </p:nvSpPr>
        <p:spPr>
          <a:xfrm>
            <a:off x="457200" y="1572768"/>
            <a:ext cx="2514600" cy="256032"/>
          </a:xfrm>
          <a:prstGeom prst="rect">
            <a:avLst/>
          </a:prstGeom>
          <a:noFill/>
          <a:ln/>
        </p:spPr>
        <p:txBody>
          <a:bodyPr wrap="square" rtlCol="0" anchor="ctr"/>
          <a:lstStyle/>
          <a:p>
            <a:pPr indent="0" marL="0">
              <a:buNone/>
            </a:pPr>
            <a:r>
              <a:rPr lang="en-US" sz="900" b="1" spc="300" kern="0" dirty="0">
                <a:solidFill>
                  <a:srgbClr val="FEBD69"/>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57200" y="1810512"/>
            <a:ext cx="2514600" cy="25603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Month 1–2</a:t>
            </a:r>
            <a:endParaRPr lang="en-US" sz="900" dirty="0"/>
          </a:p>
        </p:txBody>
      </p:sp>
      <p:sp>
        <p:nvSpPr>
          <p:cNvPr id="9" name="Text 7"/>
          <p:cNvSpPr/>
          <p:nvPr/>
        </p:nvSpPr>
        <p:spPr>
          <a:xfrm>
            <a:off x="457200" y="2103120"/>
            <a:ext cx="2514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India Pilot</a:t>
            </a:r>
            <a:endParaRPr lang="en-US" sz="1700" dirty="0"/>
          </a:p>
        </p:txBody>
      </p:sp>
      <p:sp>
        <p:nvSpPr>
          <p:cNvPr id="10" name="Shape 8"/>
          <p:cNvSpPr/>
          <p:nvPr/>
        </p:nvSpPr>
        <p:spPr>
          <a:xfrm>
            <a:off x="475488" y="2697480"/>
            <a:ext cx="109728" cy="109728"/>
          </a:xfrm>
          <a:prstGeom prst="ellipse">
            <a:avLst/>
          </a:prstGeom>
          <a:solidFill>
            <a:srgbClr val="FEBD69"/>
          </a:solidFill>
          <a:ln/>
        </p:spPr>
      </p:sp>
      <p:sp>
        <p:nvSpPr>
          <p:cNvPr id="11" name="Text 9"/>
          <p:cNvSpPr/>
          <p:nvPr/>
        </p:nvSpPr>
        <p:spPr>
          <a:xfrm>
            <a:off x="640080" y="26334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Launch Milestone with HDFC + Axis (highest IBD volume)</a:t>
            </a:r>
            <a:endParaRPr lang="en-US" sz="1000" dirty="0"/>
          </a:p>
        </p:txBody>
      </p:sp>
      <p:sp>
        <p:nvSpPr>
          <p:cNvPr id="12" name="Shape 10"/>
          <p:cNvSpPr/>
          <p:nvPr/>
        </p:nvSpPr>
        <p:spPr>
          <a:xfrm>
            <a:off x="475488" y="3383280"/>
            <a:ext cx="109728" cy="109728"/>
          </a:xfrm>
          <a:prstGeom prst="ellipse">
            <a:avLst/>
          </a:prstGeom>
          <a:solidFill>
            <a:srgbClr val="FEBD69"/>
          </a:solidFill>
          <a:ln/>
        </p:spPr>
      </p:sp>
      <p:sp>
        <p:nvSpPr>
          <p:cNvPr id="13" name="Text 11"/>
          <p:cNvSpPr/>
          <p:nvPr/>
        </p:nvSpPr>
        <p:spPr>
          <a:xfrm>
            <a:off x="640080" y="33192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A/B test: Milestone vs. flat IBD for activated users</a:t>
            </a:r>
            <a:endParaRPr lang="en-US" sz="1000" dirty="0"/>
          </a:p>
        </p:txBody>
      </p:sp>
      <p:sp>
        <p:nvSpPr>
          <p:cNvPr id="14" name="Shape 12"/>
          <p:cNvSpPr/>
          <p:nvPr/>
        </p:nvSpPr>
        <p:spPr>
          <a:xfrm>
            <a:off x="475488" y="4069080"/>
            <a:ext cx="109728" cy="109728"/>
          </a:xfrm>
          <a:prstGeom prst="ellipse">
            <a:avLst/>
          </a:prstGeom>
          <a:solidFill>
            <a:srgbClr val="FEBD69"/>
          </a:solidFill>
          <a:ln/>
        </p:spPr>
      </p:sp>
      <p:sp>
        <p:nvSpPr>
          <p:cNvPr id="15" name="Text 13"/>
          <p:cNvSpPr/>
          <p:nvPr/>
        </p:nvSpPr>
        <p:spPr>
          <a:xfrm>
            <a:off x="640080" y="40050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Nudge engine: deploy 50%/80%/95% threshold triggers</a:t>
            </a:r>
            <a:endParaRPr lang="en-US" sz="1000" dirty="0"/>
          </a:p>
        </p:txBody>
      </p:sp>
      <p:sp>
        <p:nvSpPr>
          <p:cNvPr id="16" name="Shape 14"/>
          <p:cNvSpPr/>
          <p:nvPr/>
        </p:nvSpPr>
        <p:spPr>
          <a:xfrm>
            <a:off x="475488" y="4754880"/>
            <a:ext cx="109728" cy="109728"/>
          </a:xfrm>
          <a:prstGeom prst="ellipse">
            <a:avLst/>
          </a:prstGeom>
          <a:solidFill>
            <a:srgbClr val="FEBD69"/>
          </a:solidFill>
          <a:ln/>
        </p:spPr>
      </p:sp>
      <p:sp>
        <p:nvSpPr>
          <p:cNvPr id="17" name="Text 15"/>
          <p:cNvSpPr/>
          <p:nvPr/>
        </p:nvSpPr>
        <p:spPr>
          <a:xfrm>
            <a:off x="640080" y="46908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Measure: 30-day repeat rate, Tier 2 completion rate</a:t>
            </a:r>
            <a:endParaRPr lang="en-US" sz="1000" dirty="0"/>
          </a:p>
        </p:txBody>
      </p:sp>
      <p:sp>
        <p:nvSpPr>
          <p:cNvPr id="18" name="Shape 16"/>
          <p:cNvSpPr/>
          <p:nvPr/>
        </p:nvSpPr>
        <p:spPr>
          <a:xfrm>
            <a:off x="3200400" y="1463040"/>
            <a:ext cx="2697480" cy="4114800"/>
          </a:xfrm>
          <a:prstGeom prst="rect">
            <a:avLst/>
          </a:prstGeom>
          <a:solidFill>
            <a:srgbClr val="FF9900"/>
          </a:solidFill>
          <a:ln/>
          <a:effectLst>
            <a:outerShdw sx="100000" sy="100000" kx="0" ky="0" algn="bl" rotWithShape="0" blurRad="38100" dist="12700" dir="2700000">
              <a:srgbClr val="000000">
                <a:alpha val="12000"/>
              </a:srgbClr>
            </a:outerShdw>
          </a:effectLst>
        </p:spPr>
      </p:sp>
      <p:sp>
        <p:nvSpPr>
          <p:cNvPr id="19" name="Text 17"/>
          <p:cNvSpPr/>
          <p:nvPr/>
        </p:nvSpPr>
        <p:spPr>
          <a:xfrm>
            <a:off x="3291840" y="1572768"/>
            <a:ext cx="2514600" cy="256032"/>
          </a:xfrm>
          <a:prstGeom prst="rect">
            <a:avLst/>
          </a:prstGeom>
          <a:noFill/>
          <a:ln/>
        </p:spPr>
        <p:txBody>
          <a:bodyPr wrap="square" rtlCol="0" anchor="ctr"/>
          <a:lstStyle/>
          <a:p>
            <a:pPr indent="0" marL="0">
              <a:buNone/>
            </a:pPr>
            <a:r>
              <a:rPr lang="en-US" sz="900" b="1" spc="300" kern="0" dirty="0">
                <a:solidFill>
                  <a:srgbClr val="131921"/>
                </a:solidFill>
                <a:latin typeface="Calibri" pitchFamily="34" charset="0"/>
                <a:ea typeface="Calibri" pitchFamily="34" charset="-122"/>
                <a:cs typeface="Calibri" pitchFamily="34" charset="-120"/>
              </a:rPr>
              <a:t>PHASE 2</a:t>
            </a:r>
            <a:endParaRPr lang="en-US" sz="900" dirty="0"/>
          </a:p>
        </p:txBody>
      </p:sp>
      <p:sp>
        <p:nvSpPr>
          <p:cNvPr id="20" name="Text 18"/>
          <p:cNvSpPr/>
          <p:nvPr/>
        </p:nvSpPr>
        <p:spPr>
          <a:xfrm>
            <a:off x="3291840" y="1810512"/>
            <a:ext cx="2514600" cy="256032"/>
          </a:xfrm>
          <a:prstGeom prst="rect">
            <a:avLst/>
          </a:prstGeom>
          <a:noFill/>
          <a:ln/>
        </p:spPr>
        <p:txBody>
          <a:bodyPr wrap="square" rtlCol="0" anchor="ctr"/>
          <a:lstStyle/>
          <a:p>
            <a:pPr indent="0" marL="0">
              <a:buNone/>
            </a:pPr>
            <a:r>
              <a:rPr lang="en-US" sz="900" dirty="0">
                <a:solidFill>
                  <a:srgbClr val="131921"/>
                </a:solidFill>
                <a:latin typeface="Calibri" pitchFamily="34" charset="0"/>
                <a:ea typeface="Calibri" pitchFamily="34" charset="-122"/>
                <a:cs typeface="Calibri" pitchFamily="34" charset="-120"/>
              </a:rPr>
              <a:t>Month 3–4</a:t>
            </a:r>
            <a:endParaRPr lang="en-US" sz="900" dirty="0"/>
          </a:p>
        </p:txBody>
      </p:sp>
      <p:sp>
        <p:nvSpPr>
          <p:cNvPr id="21" name="Text 19"/>
          <p:cNvSpPr/>
          <p:nvPr/>
        </p:nvSpPr>
        <p:spPr>
          <a:xfrm>
            <a:off x="3291840" y="2103120"/>
            <a:ext cx="2514600" cy="457200"/>
          </a:xfrm>
          <a:prstGeom prst="rect">
            <a:avLst/>
          </a:prstGeom>
          <a:noFill/>
          <a:ln/>
        </p:spPr>
        <p:txBody>
          <a:bodyPr wrap="square" rtlCol="0" anchor="ctr"/>
          <a:lstStyle/>
          <a:p>
            <a:pPr indent="0" marL="0">
              <a:buNone/>
            </a:pPr>
            <a:r>
              <a:rPr lang="en-US" sz="1700" b="1" dirty="0">
                <a:solidFill>
                  <a:srgbClr val="131921"/>
                </a:solidFill>
                <a:latin typeface="Calibri" pitchFamily="34" charset="0"/>
                <a:ea typeface="Calibri" pitchFamily="34" charset="-122"/>
                <a:cs typeface="Calibri" pitchFamily="34" charset="-120"/>
              </a:rPr>
              <a:t>Scale + MENA Launch</a:t>
            </a:r>
            <a:endParaRPr lang="en-US" sz="1700" dirty="0"/>
          </a:p>
        </p:txBody>
      </p:sp>
      <p:sp>
        <p:nvSpPr>
          <p:cNvPr id="22" name="Shape 20"/>
          <p:cNvSpPr/>
          <p:nvPr/>
        </p:nvSpPr>
        <p:spPr>
          <a:xfrm>
            <a:off x="3310128" y="2697480"/>
            <a:ext cx="109728" cy="109728"/>
          </a:xfrm>
          <a:prstGeom prst="ellipse">
            <a:avLst/>
          </a:prstGeom>
          <a:solidFill>
            <a:srgbClr val="131921"/>
          </a:solidFill>
          <a:ln/>
        </p:spPr>
      </p:sp>
      <p:sp>
        <p:nvSpPr>
          <p:cNvPr id="23" name="Text 21"/>
          <p:cNvSpPr/>
          <p:nvPr/>
        </p:nvSpPr>
        <p:spPr>
          <a:xfrm>
            <a:off x="3474720" y="2633472"/>
            <a:ext cx="2331720" cy="594360"/>
          </a:xfrm>
          <a:prstGeom prst="rect">
            <a:avLst/>
          </a:prstGeom>
          <a:noFill/>
          <a:ln/>
        </p:spPr>
        <p:txBody>
          <a:bodyPr wrap="square" rtlCol="0" anchor="ctr"/>
          <a:lstStyle/>
          <a:p>
            <a:pPr indent="0" marL="0">
              <a:buNone/>
            </a:pPr>
            <a:r>
              <a:rPr lang="en-US" sz="1000" dirty="0">
                <a:solidFill>
                  <a:srgbClr val="131921"/>
                </a:solidFill>
                <a:latin typeface="Calibri" pitchFamily="34" charset="0"/>
                <a:ea typeface="Calibri" pitchFamily="34" charset="-122"/>
                <a:cs typeface="Calibri" pitchFamily="34" charset="-120"/>
              </a:rPr>
              <a:t>Scale to all India bank partners (ICICI, SBI, Kotak)</a:t>
            </a:r>
            <a:endParaRPr lang="en-US" sz="1000" dirty="0"/>
          </a:p>
        </p:txBody>
      </p:sp>
      <p:sp>
        <p:nvSpPr>
          <p:cNvPr id="24" name="Shape 22"/>
          <p:cNvSpPr/>
          <p:nvPr/>
        </p:nvSpPr>
        <p:spPr>
          <a:xfrm>
            <a:off x="3310128" y="3383280"/>
            <a:ext cx="109728" cy="109728"/>
          </a:xfrm>
          <a:prstGeom prst="ellipse">
            <a:avLst/>
          </a:prstGeom>
          <a:solidFill>
            <a:srgbClr val="131921"/>
          </a:solidFill>
          <a:ln/>
        </p:spPr>
      </p:sp>
      <p:sp>
        <p:nvSpPr>
          <p:cNvPr id="25" name="Text 23"/>
          <p:cNvSpPr/>
          <p:nvPr/>
        </p:nvSpPr>
        <p:spPr>
          <a:xfrm>
            <a:off x="3474720" y="3319272"/>
            <a:ext cx="2331720" cy="594360"/>
          </a:xfrm>
          <a:prstGeom prst="rect">
            <a:avLst/>
          </a:prstGeom>
          <a:noFill/>
          <a:ln/>
        </p:spPr>
        <p:txBody>
          <a:bodyPr wrap="square" rtlCol="0" anchor="ctr"/>
          <a:lstStyle/>
          <a:p>
            <a:pPr indent="0" marL="0">
              <a:buNone/>
            </a:pPr>
            <a:r>
              <a:rPr lang="en-US" sz="1000" dirty="0">
                <a:solidFill>
                  <a:srgbClr val="131921"/>
                </a:solidFill>
                <a:latin typeface="Calibri" pitchFamily="34" charset="0"/>
                <a:ea typeface="Calibri" pitchFamily="34" charset="-122"/>
                <a:cs typeface="Calibri" pitchFamily="34" charset="-120"/>
              </a:rPr>
              <a:t>Launch in UAE (Mashreq, FAB) and Saudi (Riyad, NCB)</a:t>
            </a:r>
            <a:endParaRPr lang="en-US" sz="1000" dirty="0"/>
          </a:p>
        </p:txBody>
      </p:sp>
      <p:sp>
        <p:nvSpPr>
          <p:cNvPr id="26" name="Shape 24"/>
          <p:cNvSpPr/>
          <p:nvPr/>
        </p:nvSpPr>
        <p:spPr>
          <a:xfrm>
            <a:off x="3310128" y="4069080"/>
            <a:ext cx="109728" cy="109728"/>
          </a:xfrm>
          <a:prstGeom prst="ellipse">
            <a:avLst/>
          </a:prstGeom>
          <a:solidFill>
            <a:srgbClr val="131921"/>
          </a:solidFill>
          <a:ln/>
        </p:spPr>
      </p:sp>
      <p:sp>
        <p:nvSpPr>
          <p:cNvPr id="27" name="Text 25"/>
          <p:cNvSpPr/>
          <p:nvPr/>
        </p:nvSpPr>
        <p:spPr>
          <a:xfrm>
            <a:off x="3474720" y="4005072"/>
            <a:ext cx="2331720" cy="594360"/>
          </a:xfrm>
          <a:prstGeom prst="rect">
            <a:avLst/>
          </a:prstGeom>
          <a:noFill/>
          <a:ln/>
        </p:spPr>
        <p:txBody>
          <a:bodyPr wrap="square" rtlCol="0" anchor="ctr"/>
          <a:lstStyle/>
          <a:p>
            <a:pPr indent="0" marL="0">
              <a:buNone/>
            </a:pPr>
            <a:r>
              <a:rPr lang="en-US" sz="1000" dirty="0">
                <a:solidFill>
                  <a:srgbClr val="131921"/>
                </a:solidFill>
                <a:latin typeface="Calibri" pitchFamily="34" charset="0"/>
                <a:ea typeface="Calibri" pitchFamily="34" charset="-122"/>
                <a:cs typeface="Calibri" pitchFamily="34" charset="-120"/>
              </a:rPr>
              <a:t>Bank partner ops dashboard: self-serve tier management</a:t>
            </a:r>
            <a:endParaRPr lang="en-US" sz="1000" dirty="0"/>
          </a:p>
        </p:txBody>
      </p:sp>
      <p:sp>
        <p:nvSpPr>
          <p:cNvPr id="28" name="Shape 26"/>
          <p:cNvSpPr/>
          <p:nvPr/>
        </p:nvSpPr>
        <p:spPr>
          <a:xfrm>
            <a:off x="3310128" y="4754880"/>
            <a:ext cx="109728" cy="109728"/>
          </a:xfrm>
          <a:prstGeom prst="ellipse">
            <a:avLst/>
          </a:prstGeom>
          <a:solidFill>
            <a:srgbClr val="131921"/>
          </a:solidFill>
          <a:ln/>
        </p:spPr>
      </p:sp>
      <p:sp>
        <p:nvSpPr>
          <p:cNvPr id="29" name="Text 27"/>
          <p:cNvSpPr/>
          <p:nvPr/>
        </p:nvSpPr>
        <p:spPr>
          <a:xfrm>
            <a:off x="3474720" y="4690872"/>
            <a:ext cx="2331720" cy="594360"/>
          </a:xfrm>
          <a:prstGeom prst="rect">
            <a:avLst/>
          </a:prstGeom>
          <a:noFill/>
          <a:ln/>
        </p:spPr>
        <p:txBody>
          <a:bodyPr wrap="square" rtlCol="0" anchor="ctr"/>
          <a:lstStyle/>
          <a:p>
            <a:pPr indent="0" marL="0">
              <a:buNone/>
            </a:pPr>
            <a:r>
              <a:rPr lang="en-US" sz="1000" dirty="0">
                <a:solidFill>
                  <a:srgbClr val="131921"/>
                </a:solidFill>
                <a:latin typeface="Calibri" pitchFamily="34" charset="0"/>
                <a:ea typeface="Calibri" pitchFamily="34" charset="-122"/>
                <a:cs typeface="Calibri" pitchFamily="34" charset="-120"/>
              </a:rPr>
              <a:t>Negotiate Tier 4 with HDFC based on pilot data</a:t>
            </a:r>
            <a:endParaRPr lang="en-US" sz="1000" dirty="0"/>
          </a:p>
        </p:txBody>
      </p:sp>
      <p:sp>
        <p:nvSpPr>
          <p:cNvPr id="30" name="Shape 28"/>
          <p:cNvSpPr/>
          <p:nvPr/>
        </p:nvSpPr>
        <p:spPr>
          <a:xfrm>
            <a:off x="6035040" y="1463040"/>
            <a:ext cx="2697480" cy="4114800"/>
          </a:xfrm>
          <a:prstGeom prst="rect">
            <a:avLst/>
          </a:prstGeom>
          <a:solidFill>
            <a:srgbClr val="232F3E"/>
          </a:solidFill>
          <a:ln/>
          <a:effectLst>
            <a:outerShdw sx="100000" sy="100000" kx="0" ky="0" algn="bl" rotWithShape="0" blurRad="38100" dist="12700" dir="2700000">
              <a:srgbClr val="000000">
                <a:alpha val="12000"/>
              </a:srgbClr>
            </a:outerShdw>
          </a:effectLst>
        </p:spPr>
      </p:sp>
      <p:sp>
        <p:nvSpPr>
          <p:cNvPr id="31" name="Text 29"/>
          <p:cNvSpPr/>
          <p:nvPr/>
        </p:nvSpPr>
        <p:spPr>
          <a:xfrm>
            <a:off x="6126480" y="1572768"/>
            <a:ext cx="2514600" cy="256032"/>
          </a:xfrm>
          <a:prstGeom prst="rect">
            <a:avLst/>
          </a:prstGeom>
          <a:noFill/>
          <a:ln/>
        </p:spPr>
        <p:txBody>
          <a:bodyPr wrap="square" rtlCol="0" anchor="ctr"/>
          <a:lstStyle/>
          <a:p>
            <a:pPr indent="0" marL="0">
              <a:buNone/>
            </a:pPr>
            <a:r>
              <a:rPr lang="en-US" sz="900" b="1" spc="300" kern="0" dirty="0">
                <a:solidFill>
                  <a:srgbClr val="FEBD69"/>
                </a:solidFill>
                <a:latin typeface="Calibri" pitchFamily="34" charset="0"/>
                <a:ea typeface="Calibri" pitchFamily="34" charset="-122"/>
                <a:cs typeface="Calibri" pitchFamily="34" charset="-120"/>
              </a:rPr>
              <a:t>PHASE 3</a:t>
            </a:r>
            <a:endParaRPr lang="en-US" sz="900" dirty="0"/>
          </a:p>
        </p:txBody>
      </p:sp>
      <p:sp>
        <p:nvSpPr>
          <p:cNvPr id="32" name="Text 30"/>
          <p:cNvSpPr/>
          <p:nvPr/>
        </p:nvSpPr>
        <p:spPr>
          <a:xfrm>
            <a:off x="6126480" y="1810512"/>
            <a:ext cx="2514600" cy="25603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Month 5–6</a:t>
            </a:r>
            <a:endParaRPr lang="en-US" sz="900" dirty="0"/>
          </a:p>
        </p:txBody>
      </p:sp>
      <p:sp>
        <p:nvSpPr>
          <p:cNvPr id="33" name="Text 31"/>
          <p:cNvSpPr/>
          <p:nvPr/>
        </p:nvSpPr>
        <p:spPr>
          <a:xfrm>
            <a:off x="6126480" y="2103120"/>
            <a:ext cx="2514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Full Emerging Market</a:t>
            </a:r>
            <a:endParaRPr lang="en-US" sz="1700" dirty="0"/>
          </a:p>
        </p:txBody>
      </p:sp>
      <p:sp>
        <p:nvSpPr>
          <p:cNvPr id="34" name="Shape 32"/>
          <p:cNvSpPr/>
          <p:nvPr/>
        </p:nvSpPr>
        <p:spPr>
          <a:xfrm>
            <a:off x="6144768" y="2697480"/>
            <a:ext cx="109728" cy="109728"/>
          </a:xfrm>
          <a:prstGeom prst="ellipse">
            <a:avLst/>
          </a:prstGeom>
          <a:solidFill>
            <a:srgbClr val="FEBD69"/>
          </a:solidFill>
          <a:ln/>
        </p:spPr>
      </p:sp>
      <p:sp>
        <p:nvSpPr>
          <p:cNvPr id="35" name="Text 33"/>
          <p:cNvSpPr/>
          <p:nvPr/>
        </p:nvSpPr>
        <p:spPr>
          <a:xfrm>
            <a:off x="6309360" y="26334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Expand to Egypt, Singapore, Malaysia, Thailand</a:t>
            </a:r>
            <a:endParaRPr lang="en-US" sz="1000" dirty="0"/>
          </a:p>
        </p:txBody>
      </p:sp>
      <p:sp>
        <p:nvSpPr>
          <p:cNvPr id="36" name="Shape 34"/>
          <p:cNvSpPr/>
          <p:nvPr/>
        </p:nvSpPr>
        <p:spPr>
          <a:xfrm>
            <a:off x="6144768" y="3383280"/>
            <a:ext cx="109728" cy="109728"/>
          </a:xfrm>
          <a:prstGeom prst="ellipse">
            <a:avLst/>
          </a:prstGeom>
          <a:solidFill>
            <a:srgbClr val="FEBD69"/>
          </a:solidFill>
          <a:ln/>
        </p:spPr>
      </p:sp>
      <p:sp>
        <p:nvSpPr>
          <p:cNvPr id="37" name="Text 35"/>
          <p:cNvSpPr/>
          <p:nvPr/>
        </p:nvSpPr>
        <p:spPr>
          <a:xfrm>
            <a:off x="6309360" y="33192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Adapt milestone thresholds per market (local txn frequency)</a:t>
            </a:r>
            <a:endParaRPr lang="en-US" sz="1000" dirty="0"/>
          </a:p>
        </p:txBody>
      </p:sp>
      <p:sp>
        <p:nvSpPr>
          <p:cNvPr id="38" name="Shape 36"/>
          <p:cNvSpPr/>
          <p:nvPr/>
        </p:nvSpPr>
        <p:spPr>
          <a:xfrm>
            <a:off x="6144768" y="4069080"/>
            <a:ext cx="109728" cy="109728"/>
          </a:xfrm>
          <a:prstGeom prst="ellipse">
            <a:avLst/>
          </a:prstGeom>
          <a:solidFill>
            <a:srgbClr val="FEBD69"/>
          </a:solidFill>
          <a:ln/>
        </p:spPr>
      </p:sp>
      <p:sp>
        <p:nvSpPr>
          <p:cNvPr id="39" name="Text 37"/>
          <p:cNvSpPr/>
          <p:nvPr/>
        </p:nvSpPr>
        <p:spPr>
          <a:xfrm>
            <a:off x="6309360" y="40050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Publish Milestone playbook for global IBD programs</a:t>
            </a:r>
            <a:endParaRPr lang="en-US" sz="1000" dirty="0"/>
          </a:p>
        </p:txBody>
      </p:sp>
      <p:sp>
        <p:nvSpPr>
          <p:cNvPr id="40" name="Shape 38"/>
          <p:cNvSpPr/>
          <p:nvPr/>
        </p:nvSpPr>
        <p:spPr>
          <a:xfrm>
            <a:off x="6144768" y="4754880"/>
            <a:ext cx="109728" cy="109728"/>
          </a:xfrm>
          <a:prstGeom prst="ellipse">
            <a:avLst/>
          </a:prstGeom>
          <a:solidFill>
            <a:srgbClr val="FEBD69"/>
          </a:solidFill>
          <a:ln/>
        </p:spPr>
      </p:sp>
      <p:sp>
        <p:nvSpPr>
          <p:cNvPr id="41" name="Text 39"/>
          <p:cNvSpPr/>
          <p:nvPr/>
        </p:nvSpPr>
        <p:spPr>
          <a:xfrm>
            <a:off x="6309360" y="4690872"/>
            <a:ext cx="2331720"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Annual bank partner review: Milestone as renewal anchor</a:t>
            </a:r>
            <a:endParaRPr lang="en-US" sz="1000" dirty="0"/>
          </a:p>
        </p:txBody>
      </p:sp>
      <p:sp>
        <p:nvSpPr>
          <p:cNvPr id="42" name="Shape 40"/>
          <p:cNvSpPr/>
          <p:nvPr/>
        </p:nvSpPr>
        <p:spPr>
          <a:xfrm>
            <a:off x="457200" y="5806440"/>
            <a:ext cx="8229600" cy="914400"/>
          </a:xfrm>
          <a:prstGeom prst="rect">
            <a:avLst/>
          </a:prstGeom>
          <a:solidFill>
            <a:srgbClr val="1A2332"/>
          </a:solidFill>
          <a:ln w="19050">
            <a:solidFill>
              <a:srgbClr val="FF9900"/>
            </a:solidFill>
            <a:prstDash val="solid"/>
          </a:ln>
          <a:effectLst>
            <a:outerShdw sx="100000" sy="100000" kx="0" ky="0" algn="bl" rotWithShape="0" blurRad="38100" dist="12700" dir="2700000">
              <a:srgbClr val="000000">
                <a:alpha val="12000"/>
              </a:srgbClr>
            </a:outerShdw>
          </a:effectLst>
        </p:spPr>
      </p:sp>
      <p:sp>
        <p:nvSpPr>
          <p:cNvPr id="43" name="Text 41"/>
          <p:cNvSpPr/>
          <p:nvPr/>
        </p:nvSpPr>
        <p:spPr>
          <a:xfrm>
            <a:off x="640080" y="5897880"/>
            <a:ext cx="4114800" cy="320040"/>
          </a:xfrm>
          <a:prstGeom prst="rect">
            <a:avLst/>
          </a:prstGeom>
          <a:noFill/>
          <a:ln/>
        </p:spPr>
        <p:txBody>
          <a:bodyPr wrap="square"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What I need to build Amazon Pay Milestone:</a:t>
            </a:r>
            <a:endParaRPr lang="en-US" sz="1200" dirty="0"/>
          </a:p>
        </p:txBody>
      </p:sp>
      <p:sp>
        <p:nvSpPr>
          <p:cNvPr id="44" name="Text 42"/>
          <p:cNvSpPr/>
          <p:nvPr/>
        </p:nvSpPr>
        <p:spPr>
          <a:xfrm>
            <a:off x="640080" y="6199632"/>
            <a:ext cx="78638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Bank partner API for transaction frequency data  ·  Nudge engine infra  ·  Progress tracker component in Amazon Pay app  ·  1 PM + 2 Engineers + 1 Designer</a:t>
            </a:r>
            <a:endParaRPr lang="en-US" sz="1000" dirty="0"/>
          </a:p>
        </p:txBody>
      </p:sp>
      <p:sp>
        <p:nvSpPr>
          <p:cNvPr id="45" name="Text 43"/>
          <p:cNvSpPr/>
          <p:nvPr/>
        </p:nvSpPr>
        <p:spPr>
          <a:xfrm>
            <a:off x="0" y="6583680"/>
            <a:ext cx="91440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Ajay Avaghade  ·  avaghadeajay009@gmail.com  ·  +91 9561558439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2026-05-22T16:48:16Z</dcterms:created>
  <dcterms:modified xsi:type="dcterms:W3CDTF">2026-05-22T16:48:16Z</dcterms:modified>
</cp:coreProperties>
</file>