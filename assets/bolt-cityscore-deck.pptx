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100000">
            <a:off x="-457200" y="0"/>
            <a:ext cx="3657600" cy="0"/>
          </a:xfrm>
          <a:prstGeom prst="line">
            <a:avLst/>
          </a:prstGeom>
          <a:noFill/>
          <a:ln w="228600">
            <a:solidFill>
              <a:srgbClr val="16281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100000">
            <a:off x="182880" y="0"/>
            <a:ext cx="3657600" cy="0"/>
          </a:xfrm>
          <a:prstGeom prst="line">
            <a:avLst/>
          </a:prstGeom>
          <a:noFill/>
          <a:ln w="228600">
            <a:solidFill>
              <a:srgbClr val="16281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100000">
            <a:off x="822960" y="0"/>
            <a:ext cx="3657600" cy="0"/>
          </a:xfrm>
          <a:prstGeom prst="line">
            <a:avLst/>
          </a:prstGeom>
          <a:noFill/>
          <a:ln w="228600">
            <a:solidFill>
              <a:srgbClr val="16281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100000">
            <a:off x="1463040" y="0"/>
            <a:ext cx="3657600" cy="0"/>
          </a:xfrm>
          <a:prstGeom prst="line">
            <a:avLst/>
          </a:prstGeom>
          <a:noFill/>
          <a:ln w="228600">
            <a:solidFill>
              <a:srgbClr val="16281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100000">
            <a:off x="2103120" y="0"/>
            <a:ext cx="3657600" cy="0"/>
          </a:xfrm>
          <a:prstGeom prst="line">
            <a:avLst/>
          </a:prstGeom>
          <a:noFill/>
          <a:ln w="228600">
            <a:solidFill>
              <a:srgbClr val="16281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2100000">
            <a:off x="2743200" y="0"/>
            <a:ext cx="3657600" cy="0"/>
          </a:xfrm>
          <a:prstGeom prst="line">
            <a:avLst/>
          </a:prstGeom>
          <a:noFill/>
          <a:ln w="228600">
            <a:solidFill>
              <a:srgbClr val="16281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2100000">
            <a:off x="3383280" y="0"/>
            <a:ext cx="3657600" cy="0"/>
          </a:xfrm>
          <a:prstGeom prst="line">
            <a:avLst/>
          </a:prstGeom>
          <a:noFill/>
          <a:ln w="228600">
            <a:solidFill>
              <a:srgbClr val="16281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2100000">
            <a:off x="4023360" y="0"/>
            <a:ext cx="3657600" cy="0"/>
          </a:xfrm>
          <a:prstGeom prst="line">
            <a:avLst/>
          </a:prstGeom>
          <a:noFill/>
          <a:ln w="228600">
            <a:solidFill>
              <a:srgbClr val="16281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2100000">
            <a:off x="4663440" y="0"/>
            <a:ext cx="3657600" cy="0"/>
          </a:xfrm>
          <a:prstGeom prst="line">
            <a:avLst/>
          </a:prstGeom>
          <a:noFill/>
          <a:ln w="228600">
            <a:solidFill>
              <a:srgbClr val="16281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2100000">
            <a:off x="5303520" y="0"/>
            <a:ext cx="3657600" cy="0"/>
          </a:xfrm>
          <a:prstGeom prst="line">
            <a:avLst/>
          </a:prstGeom>
          <a:noFill/>
          <a:ln w="228600">
            <a:solidFill>
              <a:srgbClr val="16281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2100000">
            <a:off x="5943600" y="0"/>
            <a:ext cx="3657600" cy="0"/>
          </a:xfrm>
          <a:prstGeom prst="line">
            <a:avLst/>
          </a:prstGeom>
          <a:noFill/>
          <a:ln w="228600">
            <a:solidFill>
              <a:srgbClr val="16281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2100000">
            <a:off x="6583680" y="0"/>
            <a:ext cx="3657600" cy="0"/>
          </a:xfrm>
          <a:prstGeom prst="line">
            <a:avLst/>
          </a:prstGeom>
          <a:noFill/>
          <a:ln w="228600">
            <a:solidFill>
              <a:srgbClr val="16281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2100000">
            <a:off x="7223760" y="0"/>
            <a:ext cx="3657600" cy="0"/>
          </a:xfrm>
          <a:prstGeom prst="line">
            <a:avLst/>
          </a:prstGeom>
          <a:noFill/>
          <a:ln w="228600">
            <a:solidFill>
              <a:srgbClr val="16281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2100000">
            <a:off x="7863840" y="0"/>
            <a:ext cx="3657600" cy="0"/>
          </a:xfrm>
          <a:prstGeom prst="line">
            <a:avLst/>
          </a:prstGeom>
          <a:noFill/>
          <a:ln w="228600">
            <a:solidFill>
              <a:srgbClr val="16281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2100000">
            <a:off x="8503920" y="0"/>
            <a:ext cx="3657600" cy="0"/>
          </a:xfrm>
          <a:prstGeom prst="line">
            <a:avLst/>
          </a:prstGeom>
          <a:noFill/>
          <a:ln w="228600">
            <a:solidFill>
              <a:srgbClr val="16281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2100000">
            <a:off x="9144000" y="0"/>
            <a:ext cx="3657600" cy="0"/>
          </a:xfrm>
          <a:prstGeom prst="line">
            <a:avLst/>
          </a:prstGeom>
          <a:noFill/>
          <a:ln w="228600">
            <a:solidFill>
              <a:srgbClr val="16281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2100000">
            <a:off x="9784080" y="0"/>
            <a:ext cx="3657600" cy="0"/>
          </a:xfrm>
          <a:prstGeom prst="line">
            <a:avLst/>
          </a:prstGeom>
          <a:noFill/>
          <a:ln w="228600">
            <a:solidFill>
              <a:srgbClr val="16281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2100000">
            <a:off x="10424160" y="0"/>
            <a:ext cx="3657600" cy="0"/>
          </a:xfrm>
          <a:prstGeom prst="line">
            <a:avLst/>
          </a:prstGeom>
          <a:noFill/>
          <a:ln w="228600">
            <a:solidFill>
              <a:srgbClr val="16281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4D186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25603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68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BOLT · COMPLIANCE INTELLIGENCE · Case Study 03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20040" y="1005840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CityScore</a:t>
            </a:r>
            <a:endParaRPr lang="en-US" sz="7200" dirty="0"/>
          </a:p>
        </p:txBody>
      </p:sp>
      <p:sp>
        <p:nvSpPr>
          <p:cNvPr id="23" name="Shape 21"/>
          <p:cNvSpPr/>
          <p:nvPr/>
        </p:nvSpPr>
        <p:spPr>
          <a:xfrm>
            <a:off x="320040" y="2103120"/>
            <a:ext cx="2560320" cy="54864"/>
          </a:xfrm>
          <a:prstGeom prst="rect">
            <a:avLst/>
          </a:prstGeom>
          <a:solidFill>
            <a:srgbClr val="34D186"/>
          </a:solidFill>
          <a:ln/>
        </p:spPr>
      </p:sp>
      <p:sp>
        <p:nvSpPr>
          <p:cNvPr id="24" name="Text 22"/>
          <p:cNvSpPr/>
          <p:nvPr/>
        </p:nvSpPr>
        <p:spPr>
          <a:xfrm>
            <a:off x="320040" y="22860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Compliance Intelligence for Ops &amp; Tenders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20040" y="28529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Ajay Avaghade · Product Manager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17920" y="5303520"/>
            <a:ext cx="2743200" cy="1325880"/>
          </a:xfrm>
          <a:prstGeom prst="rect">
            <a:avLst/>
          </a:prstGeom>
          <a:solidFill>
            <a:srgbClr val="162815"/>
          </a:solidFill>
          <a:ln w="19050">
            <a:solidFill>
              <a:srgbClr val="34D186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217920" y="53492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+35%</a:t>
            </a:r>
            <a:endParaRPr lang="en-US" sz="3800" dirty="0"/>
          </a:p>
        </p:txBody>
      </p:sp>
      <p:sp>
        <p:nvSpPr>
          <p:cNvPr id="28" name="Text 26"/>
          <p:cNvSpPr/>
          <p:nvPr/>
        </p:nvSpPr>
        <p:spPr>
          <a:xfrm>
            <a:off x="6217920" y="583387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tender win rate (est.)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17920" y="606247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8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live compliance evidence vs verbal claims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4D186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5603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4D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503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Data Lives in Silos. Bolt Cannot Demonstrate Performance to City Authorities.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828800"/>
            <a:ext cx="2743200" cy="2514600"/>
          </a:xfrm>
          <a:prstGeom prst="rect">
            <a:avLst/>
          </a:prstGeom>
          <a:solidFill>
            <a:srgbClr val="162815"/>
          </a:solidFill>
          <a:ln w="12700">
            <a:solidFill>
              <a:srgbClr val="34D186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9202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359152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57200" y="299923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compliance view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364992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cities, 14 Notion docs. No cross-city score, no single source of truth.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1828800"/>
            <a:ext cx="2743200" cy="2514600"/>
          </a:xfrm>
          <a:prstGeom prst="rect">
            <a:avLst/>
          </a:prstGeom>
          <a:solidFill>
            <a:srgbClr val="162815"/>
          </a:solidFill>
          <a:ln w="12700">
            <a:solidFill>
              <a:srgbClr val="34D186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83280" y="19202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⏱️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383280" y="2359152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4h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3383280" y="299923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time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83280" y="3364992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Violations discovered via user complaints -- hours after they start compounding.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72200" y="1828800"/>
            <a:ext cx="2743200" cy="2514600"/>
          </a:xfrm>
          <a:prstGeom prst="rect">
            <a:avLst/>
          </a:prstGeom>
          <a:solidFill>
            <a:srgbClr val="162815"/>
          </a:solidFill>
          <a:ln w="12700">
            <a:solidFill>
              <a:srgbClr val="34D186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09360" y="19202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🤝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309360" y="2359152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6309360" y="299923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Tender evidence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09360" y="3364992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Bolt relies on verbal claims in city tenders. Competitors with data will win.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4572000"/>
            <a:ext cx="8503920" cy="1051560"/>
          </a:xfrm>
          <a:prstGeom prst="rect">
            <a:avLst/>
          </a:prstGeom>
          <a:solidFill>
            <a:srgbClr val="1F2E22"/>
          </a:solidFill>
          <a:ln w="12700">
            <a:solidFill>
              <a:srgbClr val="34D18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4572000"/>
            <a:ext cx="45720" cy="1051560"/>
          </a:xfrm>
          <a:prstGeom prst="rect">
            <a:avLst/>
          </a:prstGeom>
          <a:solidFill>
            <a:srgbClr val="34D186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4636008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Compliance events are logged per city but never aggregated. CityScore creates the intelligence layer on top -- one composite score, real-time anomaly detection, and machine-generated tender exports that cannot be manually edited.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4D186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5603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4D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Visibility is a Competitive Advantage — Not Just an Ops Tool.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1371600"/>
            <a:ext cx="8503920" cy="5120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CityScore consolidates 14+ city compliance data streams into one composite score per dimension. The PhonePe ops intelligence layer did the same for 6 siloed workflows, compressing TAT from 2 days to 4 hours and cutting escalation tickets by 68%. Same architecture, compliance domain.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tender angle is the key insight: when a city authority asks "show us your compliance record," CityScore generates a machine-produced, tamper-proof PDF with 6 months of data in one click. No competitor can match this today.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28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5603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MECHANIC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Engine x Anomaly Detector x Rider Segments x Tender Export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1371600"/>
            <a:ext cx="8503920" cy="5120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Composite Score Engine: 5 weighted dimensions per city (speed 30%, parking 30%, age 20%, restricted 15%, helmet 5%). Refreshes hourly. Market leaderboard.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3-sigma Anomaly Classifier: rolling 7-day baseline per city x dimension. &gt;10% drop in 4h fires Critical alert with auto-classified root cause. 12-minute detection vs 4h lag.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Rider Segment View: new riders (Day 1-7) have 3x violation rate. Cohort compliance view surfaces the right intervention target.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Tender PDF Export: 1-click machine-generated report. Tamper-proof. City authorities trust source integrity.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4D186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5603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4D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Screen States — Overview to Tender Report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1371600"/>
            <a:ext cx="8503920" cy="5120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1 - City Overview: 4 KPI tiles, city score ring cards (Warsaw 91, Bucharest 88, Nairobi 75, Lagos 61), active anomaly alert.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2 - Violation Heatmap: 4x6 grid (violation type x day), Lagos Island cluster highlighted, top patterns ranked, recommended actions.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3 - Rider Segments: compliance by age group and new rider cohort (Day 1-7 at 42% violation rate highlighted).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4 - Tender Report: live document preview with machine-generated summary, export PDF CTA.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Prototype: bolt-cityscore-prototype.html — all 4 screens interactive.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5603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ROI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PhonePe Unified Intelligence — Applied to Compliance Ops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1371600"/>
            <a:ext cx="8503920" cy="5120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Rider/Ops Impact: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+35% est. tender win rate with live compliance evidence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- 12 min anomaly detection (down from 4h lag)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-60% compliance investigation time per incident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- 84/100 avg score across LaunchKit-configured cities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ROI: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- 0 euro marginal cost per compliance report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- 3x city ops team leverage vs per-city Notion docs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+22% est. contract renewal rate with data transparency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Compliance moat: no competitor has equivalent data layer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4D186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5603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4D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WORK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Architecture I Built at PhonePe — Applied to Compliance Data.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1371600"/>
            <a:ext cx="8503920" cy="5120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PhonePe Parallel: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Unified Ops Intelligence Layer (6 siloed workflows -&gt; 1 console, -68% tickets, TAT 2d-&gt;4h) = CityScore unified city compliance console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A/B testing + shared measurement framework (350M MAU) = CityScore city leaderboard + cross-city benchmarking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Propensity ML deployment (real-time per-user scoring) = CityScore 3-sigma anomaly classifier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Offers eligibility redesign (complex rules -&gt; frictionless UX, +22% conversion) = CityScore recommended fix layer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 case study I built for the application. It is the architecture I have shipped, applied to compliance data.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5603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PLAN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Phases — Internal Ops Tool to City Authority Platform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1371600"/>
            <a:ext cx="8503920" cy="5120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(Month 1-2): Internal ops tool for 5 pilot cities. Build score engine, anomaly classifier, violation heatmap. Baseline compliance time savings.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(Month 3-4): Tender mode. Build PDF export. Pilot Warsaw city authority dashboard access. A/B test tender win rate with vs without CityScore evidence.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(Month 5-6): All cities + authority access. BD team uses CityScore in city pitches. LaunchKit config flows into CityScore automatically.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need: Compliance event logs for 5 pilot cities x 1 data engineer (classifier + aggregation) x Warsaw city authority relationship for pilot.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Ajay Avaghade | avaghadeajay009@gmail.com | +91 9561558439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2026-05-29T14:24:46Z</dcterms:created>
  <dcterms:modified xsi:type="dcterms:W3CDTF">2026-05-29T14:24:46Z</dcterms:modified>
</cp:coreProperties>
</file>