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-914400" y="0"/>
            <a:ext cx="548640" cy="6858000"/>
          </a:xfrm>
          <a:prstGeom prst="line">
            <a:avLst/>
          </a:prstGeom>
          <a:noFill/>
          <a:ln w="228600">
            <a:solidFill>
              <a:srgbClr val="232F3E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91440" y="0"/>
            <a:ext cx="548640" cy="6858000"/>
          </a:xfrm>
          <a:prstGeom prst="line">
            <a:avLst/>
          </a:prstGeom>
          <a:noFill/>
          <a:ln w="228600">
            <a:solidFill>
              <a:srgbClr val="232F3E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1097280" y="0"/>
            <a:ext cx="548640" cy="6858000"/>
          </a:xfrm>
          <a:prstGeom prst="line">
            <a:avLst/>
          </a:prstGeom>
          <a:noFill/>
          <a:ln w="228600">
            <a:solidFill>
              <a:srgbClr val="232F3E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900000">
            <a:off x="2103120" y="0"/>
            <a:ext cx="548640" cy="6858000"/>
          </a:xfrm>
          <a:prstGeom prst="line">
            <a:avLst/>
          </a:prstGeom>
          <a:noFill/>
          <a:ln w="228600">
            <a:solidFill>
              <a:srgbClr val="232F3E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900000">
            <a:off x="3108960" y="0"/>
            <a:ext cx="548640" cy="6858000"/>
          </a:xfrm>
          <a:prstGeom prst="line">
            <a:avLst/>
          </a:prstGeom>
          <a:noFill/>
          <a:ln w="228600">
            <a:solidFill>
              <a:srgbClr val="232F3E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900000">
            <a:off x="4114800" y="0"/>
            <a:ext cx="548640" cy="6858000"/>
          </a:xfrm>
          <a:prstGeom prst="line">
            <a:avLst/>
          </a:prstGeom>
          <a:noFill/>
          <a:ln w="228600">
            <a:solidFill>
              <a:srgbClr val="232F3E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900000">
            <a:off x="5120640" y="0"/>
            <a:ext cx="548640" cy="6858000"/>
          </a:xfrm>
          <a:prstGeom prst="line">
            <a:avLst/>
          </a:prstGeom>
          <a:noFill/>
          <a:ln w="228600">
            <a:solidFill>
              <a:srgbClr val="232F3E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900000">
            <a:off x="6126480" y="0"/>
            <a:ext cx="548640" cy="6858000"/>
          </a:xfrm>
          <a:prstGeom prst="line">
            <a:avLst/>
          </a:prstGeom>
          <a:noFill/>
          <a:ln w="228600">
            <a:solidFill>
              <a:srgbClr val="232F3E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900000">
            <a:off x="7132320" y="0"/>
            <a:ext cx="548640" cy="6858000"/>
          </a:xfrm>
          <a:prstGeom prst="line">
            <a:avLst/>
          </a:prstGeom>
          <a:noFill/>
          <a:ln w="228600">
            <a:solidFill>
              <a:srgbClr val="232F3E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900000">
            <a:off x="8138160" y="0"/>
            <a:ext cx="548640" cy="6858000"/>
          </a:xfrm>
          <a:prstGeom prst="line">
            <a:avLst/>
          </a:prstGeom>
          <a:noFill/>
          <a:ln w="228600">
            <a:solidFill>
              <a:srgbClr val="232F3E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900000">
            <a:off x="9144000" y="0"/>
            <a:ext cx="548640" cy="6858000"/>
          </a:xfrm>
          <a:prstGeom prst="line">
            <a:avLst/>
          </a:prstGeom>
          <a:noFill/>
          <a:ln w="228600">
            <a:solidFill>
              <a:srgbClr val="232F3E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900000">
            <a:off x="10149840" y="0"/>
            <a:ext cx="548640" cy="6858000"/>
          </a:xfrm>
          <a:prstGeom prst="line">
            <a:avLst/>
          </a:prstGeom>
          <a:noFill/>
          <a:ln w="228600">
            <a:solidFill>
              <a:srgbClr val="232F3E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914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502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· INDIA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13716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SmartOffer Engine</a:t>
            </a:r>
            <a:endParaRPr lang="en-US" sz="52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109728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06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bank discount surfacing powered by payment propensity ML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4572000" cy="548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440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Growth &amp; Payments PM  ·  Amazon Emerging Stores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4572000"/>
            <a:ext cx="2011680" cy="18288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4709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858000" y="5486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IBD budget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leakage today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IBD Budget Is a Blunt Instrument — Not a Scalpel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2651760" cy="310896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 budget is leakage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to customers who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have bought anyway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651760" cy="310896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423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banner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customer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611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buyer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fence-sitter see identical offer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2651760" cy="310896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2423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1.8× lower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2648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vs. targeted spend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3611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IBD vs. propensity-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discount programs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029200"/>
            <a:ext cx="8229600" cy="1508760"/>
          </a:xfrm>
          <a:prstGeom prst="rect">
            <a:avLst/>
          </a:prstGeom>
          <a:solidFill>
            <a:srgbClr val="1A2332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5166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48640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surfaces the same IBD banner to all checkout users — no differentiation by intent, card eligibility, or price sensitivity. High-intent buyers (who convert without a nudge) claim the discount; undecided buyers (who need the nudge most) get no priority. The result: maximum budget spend, sub-optimal incremental GMV.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Fewer People the Discount Actually Increases ROI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3840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Flat IBD (Current)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86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2677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shown to ALL checkout users regardless of intent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944368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944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 vault eligibility check — offer shown even to unlinked cards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602736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602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5844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buyer claims discount: +₹0 incremental GMV, –₹500 cost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261104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611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424281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exhausted on customers who needed no nudge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3200400"/>
            <a:ext cx="822960" cy="8229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416052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600200"/>
            <a:ext cx="384048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SmartOffer (Proposed)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2286000"/>
            <a:ext cx="201168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286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22677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score computed at checkout entry — undecided users flagged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2944368"/>
            <a:ext cx="201168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944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vault eligibility checked in real-time before surfacing banner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3602736"/>
            <a:ext cx="201168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6027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358444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Undecided buyer gets targeted nudge: +₹4,500 GMV, –₹500 cost = 9× ROI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4261104"/>
            <a:ext cx="201168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42611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424281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focused where it creates incremental conversion lift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989320"/>
            <a:ext cx="8229600" cy="685800"/>
          </a:xfrm>
          <a:prstGeom prst="rect">
            <a:avLst/>
          </a:prstGeom>
          <a:solidFill>
            <a:srgbClr val="FFFBEB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" y="61081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737360" y="610819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discount only pays for itself when it creates incremental conversion. By suppressing it for high-intent buyers, every rupee of IBD budget generates measurably more GMV.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Precision Surfacing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1508760"/>
            <a:ext cx="640080" cy="64008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99616" y="1828800"/>
            <a:ext cx="585216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65760" y="2331720"/>
            <a:ext cx="1627632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46888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Entry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15361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checkout. SmartOffer engine triggers in &lt;50ms.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78608" y="1508760"/>
            <a:ext cx="640080" cy="64008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78608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18688" y="1828800"/>
            <a:ext cx="585216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084832" y="2331720"/>
            <a:ext cx="1627632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30552" y="246888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Vault Check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30552" y="2926080"/>
            <a:ext cx="15361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eligibility check: is a qualifying bank card linked to this account?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1508760"/>
            <a:ext cx="640080" cy="64008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1828800"/>
            <a:ext cx="585216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803904" y="2331720"/>
            <a:ext cx="1627632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9624" y="246888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Propensity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9624" y="2926080"/>
            <a:ext cx="15361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scores P(convert | no discount). High-intent users suppressed; undecided users flagged.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16752" y="1508760"/>
            <a:ext cx="640080" cy="64008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16752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56832" y="1828800"/>
            <a:ext cx="585216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522976" y="2331720"/>
            <a:ext cx="1627632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68696" y="246888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Surface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68696" y="2926080"/>
            <a:ext cx="15361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 banner rendered only for undecided + eligible users. Personalised: bank name, exact savings, order-specific.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35824" y="1508760"/>
            <a:ext cx="640080" cy="64008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35824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242048" y="2331720"/>
            <a:ext cx="1627632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87768" y="246888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&amp; Attribution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87768" y="2926080"/>
            <a:ext cx="15361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captured; discount applied. Cohort performance fed back to model for weekly retraining.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806440"/>
            <a:ext cx="8229600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5943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  ·  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68880" y="59436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same mechanic shipped at PhonePe: Propensity-to-Transact ML replaced manual cohort targeting across 350M MAU → 32% reduction in marketing burn, sustained GMV. SmartOffer applies identical logic to Amazon's IBD budget.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 States — Prototype Built &amp; Live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463040"/>
            <a:ext cx="201168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2011680" cy="41148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50876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Smart Checkout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9202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 banner surfaces for eligible undecided user only. High-intent buyer sees clean checkout — no banner, no discount leakage.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2880360"/>
            <a:ext cx="1883664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926080"/>
            <a:ext cx="1792224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amazon checkout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🎧 Sony WH-1000XM5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₹24,990 → ₹22,491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✦ PERSONALISED OFFER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HDFC · Save ₹2,499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[Apply &amp; Pay ₹22,491]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201168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463040"/>
            <a:ext cx="2011680" cy="41148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14" name="Text 12"/>
          <p:cNvSpPr/>
          <p:nvPr/>
        </p:nvSpPr>
        <p:spPr>
          <a:xfrm>
            <a:off x="2532888" y="150876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Eligibility Detail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32888" y="19202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vault check + exact savings shown. Eligibility criteria transparent. Builds trust before asking for payment method switch.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32888" y="2880360"/>
            <a:ext cx="1883664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2926080"/>
            <a:ext cx="1792224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← Back to checkout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HDFC REGALIA CARD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**** **** **** 4521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₹2,499 Savings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✓ Card linked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✓ Offer valid today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[Use HDFC Card]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463040"/>
            <a:ext cx="201168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463040"/>
            <a:ext cx="2011680" cy="41148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150876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Discount Applied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1728" y="19202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confirmed with receipt. Offer reset date surfaced to set expectation for next purchase. Cross-sell nudge anchors next visit.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2880360"/>
            <a:ext cx="1883664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2926080"/>
            <a:ext cx="1792224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Order Placed! ✓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💰 ₹2,499 Saved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HDFC Discount –₹2,499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Amount paid ₹22,491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🎯 Offer resets June 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[Track Order]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66560" y="1463040"/>
            <a:ext cx="201168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463040"/>
            <a:ext cx="2011680" cy="41148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26" name="Text 24"/>
          <p:cNvSpPr/>
          <p:nvPr/>
        </p:nvSpPr>
        <p:spPr>
          <a:xfrm>
            <a:off x="6830568" y="1508760"/>
            <a:ext cx="1883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Ops Dashboard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30568" y="192024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partner campaign manager: propensity cohort split, budget efficiency vs. flat targeting, per-bank conversion rates. Closes the loop.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30568" y="2880360"/>
            <a:ext cx="1883664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2926080"/>
            <a:ext cx="1792224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SmartOffer Engine ●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Targeted: 12.4K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Conversions: 3,847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Budget saved: ₹18.2L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IBD ROI: 3.2×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HDFC conv: 31.2% ↑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Built on PhonePe Proof 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IMPACT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9933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lift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323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undecided cohort (vs. flat IBD)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044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Relevance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8640" y="34838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trust 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483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offer = higher perceived 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0965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4535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CTR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5354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SmartOffer vs. flat targeting baseline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5148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₹2,499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8640" y="55869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savings per order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586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customer receives correct offer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1463040"/>
            <a:ext cx="0" cy="5166360"/>
          </a:xfrm>
          <a:prstGeom prst="line">
            <a:avLst/>
          </a:prstGeom>
          <a:noFill/>
          <a:ln w="12700">
            <a:solidFill>
              <a:srgbClr val="232F3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IBD ROI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920240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993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754880" y="2432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 budget leakage reduction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2432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suppressed for high-intent users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971800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3044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3.2×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754880" y="3483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IBD ROI improvement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483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per discount rupee spent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4023360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40965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₹18.2L/day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754880" y="45354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saved (est.)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45354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Redirected to new user acquisition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5074920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51480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754880" y="5586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burn reduction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55869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baseline: exact same model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6172200"/>
            <a:ext cx="8229600" cy="548640"/>
          </a:xfrm>
          <a:prstGeom prst="rect">
            <a:avLst/>
          </a:prstGeom>
          <a:solidFill>
            <a:srgbClr val="1A2332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623620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SmartOffer only redirects the discount budget — it doesn't increase spend. Every rupee saved on high-intent suppression funds incremental growth elsewhere.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Shipped This. Here's the Evidence.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4572000"/>
          </a:xfrm>
          <a:prstGeom prst="rect">
            <a:avLst/>
          </a:prstGeom>
          <a:solidFill>
            <a:srgbClr val="131921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" y="199339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payment eligibility surfacing across 350M MAU — same UX problem as SmartOffer checkout placement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688336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265176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Propensity-to-Transact ML models replacing ₹1,000+ Cr/yr manual cohort targeting → 32% marketing burn reduction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346704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" y="331012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the full offer redemption stack: eligibility check, banner surfacing, checkout integration, and attribution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005072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" y="396849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tested targeting strategies across 8+ payment cohorts — developed the undecided vs. high-intent segmentation framework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663440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" y="462686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checkout conversion lift — directly comparable to SmartOffer projected 18-22% undecided cohort improvement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40233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THIS ROLE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029968"/>
            <a:ext cx="374904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0848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JD: End-to-end IBD lifecycle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3042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Owned offers stack E2E at PhonePe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688336"/>
            <a:ext cx="374904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743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JD: Data-driven customer behavior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9626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Built ML propensity models at scale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346704"/>
            <a:ext cx="374904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4015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JD: Launch in new markets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6210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Rolled out 0→1 offers in Pincode (Q-commerce)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4005072"/>
            <a:ext cx="374904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40599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JD: Partner with engineering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42793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Owned PRD-to-delivery across 6+ squads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4663440"/>
            <a:ext cx="374904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47183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JD: Present to senior leadership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49377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Pitched propensity model ROI to CxO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solidFill>
            <a:srgbClr val="FFFBEB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27648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"SmartOffer isn't a concept — it's what I shipped at PhonePe, now applied to Amazon's IBD problem."  — Ajay Avaghade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Deployment Across India → MENA → APAC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63040"/>
            <a:ext cx="2697480" cy="41148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727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Pilot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" y="269748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334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SmartOffer to 50K checkout sessions/day in India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338328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192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 SmartOffer suppression vs. flat IBD baseline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406908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050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propensity model: card vault check + intent signals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475488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908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leakage reduction, undecided cohort conversion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463040"/>
            <a:ext cx="2697480" cy="4114800"/>
          </a:xfrm>
          <a:prstGeom prst="rect">
            <a:avLst/>
          </a:prstGeom>
          <a:solidFill>
            <a:srgbClr val="FF99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15727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8105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2103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Retrain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310128" y="2697480"/>
            <a:ext cx="109728" cy="109728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6334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full India traffic (~2M checkout sessions/day)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0128" y="3383280"/>
            <a:ext cx="109728" cy="109728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3192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model retraining loop with conversion feedback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4069080"/>
            <a:ext cx="109728" cy="109728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40050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HDFC, Axis, ICICI, Kotak to SmartOffer campaign manager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0128" y="4754880"/>
            <a:ext cx="109728" cy="109728"/>
          </a:xfrm>
          <a:prstGeom prst="ellipse">
            <a:avLst/>
          </a:prstGeom>
          <a:solidFill>
            <a:srgbClr val="131921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46908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ops dashboard for bank partner self-serve reporting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1463040"/>
            <a:ext cx="2697480" cy="41148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15727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18105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21031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MENA/APAC Expansion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144768" y="269748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6334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model for MENA card networks (Mashreq, FAB, Riyad)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44768" y="338328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3192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SmartOffer in UAE, Saudi Arabia, Egypt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44768" y="406908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40050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APAC: SG, MY with local bank partnership APIs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44768" y="475488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46908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IBD ROI playbook for global rollout template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806440"/>
            <a:ext cx="8229600" cy="914400"/>
          </a:xfrm>
          <a:prstGeom prst="rect">
            <a:avLst/>
          </a:prstGeom>
          <a:solidFill>
            <a:srgbClr val="1A2332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0080" y="5897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build SmartOffer: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61996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checkout event logs  ·  ML infra for propensity scoring  ·  Bank partner API integration  ·  1 PM + 2 Engineers for Phase 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0" y="65836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2026-05-22T16:48:16Z</dcterms:created>
  <dcterms:modified xsi:type="dcterms:W3CDTF">2026-05-22T16:48:16Z</dcterms:modified>
</cp:coreProperties>
</file>