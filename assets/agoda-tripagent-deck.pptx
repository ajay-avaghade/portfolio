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100000">
            <a:off x="6766560" y="0"/>
            <a:ext cx="9144" cy="6858000"/>
          </a:xfrm>
          <a:prstGeom prst="line">
            <a:avLst/>
          </a:prstGeom>
          <a:noFill/>
          <a:ln w="10160">
            <a:solidFill>
              <a:srgbClr val="FF6B35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100000">
            <a:off x="6967728" y="0"/>
            <a:ext cx="9144" cy="6858000"/>
          </a:xfrm>
          <a:prstGeom prst="line">
            <a:avLst/>
          </a:prstGeom>
          <a:noFill/>
          <a:ln w="10160">
            <a:solidFill>
              <a:srgbClr val="FF6B35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100000">
            <a:off x="7168896" y="0"/>
            <a:ext cx="9144" cy="6858000"/>
          </a:xfrm>
          <a:prstGeom prst="line">
            <a:avLst/>
          </a:prstGeom>
          <a:noFill/>
          <a:ln w="10160">
            <a:solidFill>
              <a:srgbClr val="FF6B35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100000">
            <a:off x="7370064" y="0"/>
            <a:ext cx="9144" cy="6858000"/>
          </a:xfrm>
          <a:prstGeom prst="line">
            <a:avLst/>
          </a:prstGeom>
          <a:noFill/>
          <a:ln w="10160">
            <a:solidFill>
              <a:srgbClr val="FF6B35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100000">
            <a:off x="7571232" y="0"/>
            <a:ext cx="9144" cy="6858000"/>
          </a:xfrm>
          <a:prstGeom prst="line">
            <a:avLst/>
          </a:prstGeom>
          <a:noFill/>
          <a:ln w="10160">
            <a:solidFill>
              <a:srgbClr val="FF6B35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100000">
            <a:off x="7772400" y="0"/>
            <a:ext cx="9144" cy="6858000"/>
          </a:xfrm>
          <a:prstGeom prst="line">
            <a:avLst/>
          </a:prstGeom>
          <a:noFill/>
          <a:ln w="10160">
            <a:solidFill>
              <a:srgbClr val="FF6B35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100000">
            <a:off x="7973568" y="0"/>
            <a:ext cx="9144" cy="6858000"/>
          </a:xfrm>
          <a:prstGeom prst="line">
            <a:avLst/>
          </a:prstGeom>
          <a:noFill/>
          <a:ln w="10160">
            <a:solidFill>
              <a:srgbClr val="FF6B35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100000">
            <a:off x="8174736" y="0"/>
            <a:ext cx="9144" cy="6858000"/>
          </a:xfrm>
          <a:prstGeom prst="line">
            <a:avLst/>
          </a:prstGeom>
          <a:noFill/>
          <a:ln w="10160">
            <a:solidFill>
              <a:srgbClr val="FF6B35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320040"/>
            <a:ext cx="1463040" cy="274320"/>
          </a:xfrm>
          <a:prstGeom prst="rect">
            <a:avLst/>
          </a:prstGeom>
          <a:solidFill>
            <a:srgbClr val="1A3458"/>
          </a:solidFill>
          <a:ln w="12700">
            <a:solidFill>
              <a:srgbClr val="1A34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200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0" kern="0" dirty="0">
                <a:solidFill>
                  <a:srgbClr val="FF6B35"/>
                </a:solidFill>
              </a:rPr>
              <a:t>AGODA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11480" y="1325880"/>
            <a:ext cx="45720" cy="1463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28016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Agoda TripAgent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594360" y="2084832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agent that plans flights, hotels, cabs &amp; activities end-to-end in one conversation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4360" y="268833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Presented by Ajay Avaghade  ·  Growth &amp; Monetization PM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0" y="5120640"/>
            <a:ext cx="2286000" cy="1463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52578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3.4×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583680" y="583387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higher booking value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</a:rPr>
              <a:t>vs hotel-only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644652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Agoda  ·  AI Travel Planning &amp; New Revenue Expansion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FB800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 a 3-Day Trip Takes 6 Hours Across 7 Different Platforms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06040" cy="2926080"/>
          </a:xfrm>
          <a:prstGeom prst="rect">
            <a:avLst/>
          </a:prstGeom>
          <a:solidFill>
            <a:srgbClr val="1A3458"/>
          </a:solidFill>
          <a:ln w="12700">
            <a:solidFill>
              <a:srgbClr val="1A345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554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⏱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202996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6h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21208" y="263347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Average time spent planning a 3-night trip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1208" y="32004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</a:rPr>
              <a:t>Skyscanner, Google Maps, Agoda, Uber, Viator, TripAdvisor, WhatsApp group chat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06040" cy="2926080"/>
          </a:xfrm>
          <a:prstGeom prst="rect">
            <a:avLst/>
          </a:prstGeom>
          <a:solidFill>
            <a:srgbClr val="1A3458"/>
          </a:solidFill>
          <a:ln w="12700">
            <a:solidFill>
              <a:srgbClr val="1A345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1554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💸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46120" y="202996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355848" y="263347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Agoda revenue from flights, cabs &amp; activities today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55848" y="32004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</a:rPr>
              <a:t>Agoda owns only the hotel layer — missing 70%+ of the total trip economy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06040" cy="2926080"/>
          </a:xfrm>
          <a:prstGeom prst="rect">
            <a:avLst/>
          </a:prstGeom>
          <a:solidFill>
            <a:srgbClr val="1A3458"/>
          </a:solidFill>
          <a:ln w="12700">
            <a:solidFill>
              <a:srgbClr val="1A345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80760" y="1554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🚖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080760" y="202996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190488" y="263347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Ground transport options inside Agoda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90488" y="32004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</a:rPr>
              <a:t>Airport transfers and inter-city cabs are a completely unclaimed revenue vertical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4572000"/>
            <a:ext cx="8321040" cy="868680"/>
          </a:xfrm>
          <a:prstGeom prst="rect">
            <a:avLst/>
          </a:prstGeom>
          <a:solidFill>
            <a:srgbClr val="1A1A00"/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645152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</a:rPr>
              <a:t>Root cause: Agoda is a hotel booking app in a world where travelers want a trip planner. TripAgent closes the gap — and in doing so, unlocks ground transport as a net-new revenue stream.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F6B35"/>
                </a:solidFill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Travelers Want a Planner, Not a Search Bar. The Agent Is the Product.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298448"/>
            <a:ext cx="3657600" cy="3429000"/>
          </a:xfrm>
          <a:prstGeom prst="rect">
            <a:avLst/>
          </a:prstGeom>
          <a:solidFill>
            <a:srgbClr val="EAE8E0"/>
          </a:solidFill>
          <a:ln w="12700">
            <a:solidFill>
              <a:srgbClr val="D8D0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4475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Without TripAgent (Today)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874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0000"/>
                </a:solidFill>
              </a:rPr>
              <a:t>✕  Open Skyscanner → find flights (30 min)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29514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0000"/>
                </a:solidFill>
              </a:rPr>
              <a:t>✕  Open Agoda → search hotels (45 min)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271576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0000"/>
                </a:solidFill>
              </a:rPr>
              <a:t>✕  Open Uber/Grab for airport transfer → may not pre-book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31363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0000"/>
                </a:solidFill>
              </a:rPr>
              <a:t>✕  Open Viator for activities → separate checkout (60 min)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355701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0000"/>
                </a:solidFill>
              </a:rPr>
              <a:t>✕  WhatsApp group to coordinate → more friction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3977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</a:rPr>
              <a:t>→  Total: 4–6 hours, 5–7 apps, 3–5 separate payment flows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33088" y="2743200"/>
            <a:ext cx="548640" cy="54864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33088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1298448"/>
            <a:ext cx="3977640" cy="3429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4447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00"/>
                </a:solidFill>
              </a:rPr>
              <a:t>With TripAgent (Proposed)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5A2"/>
                </a:solidFill>
              </a:rPr>
              <a:t>✓  "Plan Chiang Mai, 3 days, $500, I like hiking"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229514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5A2"/>
                </a:solidFill>
              </a:rPr>
              <a:t>✓  Agent returns: cheapest flights + hotel + cabs + activities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27157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5A2"/>
                </a:solidFill>
              </a:rPr>
              <a:t>✓  Full day-by-day itinerary with pre-scheduled cab transfers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31363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5A2"/>
                </a:solidFill>
              </a:rPr>
              <a:t>✓  One checkout — entire bundle paid in a single flow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355701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5A2"/>
                </a:solidFill>
              </a:rPr>
              <a:t>✓  Cab pick-up times auto-synced with flight arrival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3977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800"/>
                </a:solidFill>
              </a:rPr>
              <a:t>→  Total: under 2 hours, 1 app, 1 payment — $77 saved vs ad-hoc booking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4919472"/>
            <a:ext cx="8321040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965192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B800"/>
                </a:solidFill>
              </a:rPr>
              <a:t>Key insight: Ground transport is not a feature — it is a new revenue vertical. Every cab Agoda pre-books through TripAgent is GMV that currently goes to Grab, Bolt, or local operators.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FB800"/>
                </a:solidFill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"Plan Chiang Mai, 3 Days, $500, I Like Hiking" — Done in 47 Seconds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04672" y="1463040"/>
            <a:ext cx="0" cy="4114800"/>
          </a:xfrm>
          <a:prstGeom prst="line">
            <a:avLst/>
          </a:prstGeom>
          <a:noFill/>
          <a:ln w="12700">
            <a:solidFill>
              <a:srgbClr val="FF6B35">
                <a:alpha val="50000"/>
              </a:srgbClr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48640" y="1307592"/>
            <a:ext cx="502920" cy="502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07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88720" y="126187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Natural Language Intent Capture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536192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</a:rPr>
              <a:t>User types (or speaks) destination, dates, budget, and preferences. Agent asks 2 clarifying questions (solo vs group, travel style). Takes under 30 seconds.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88720" y="2103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Builds Full Itinerary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2377440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</a:rPr>
              <a:t>Agent queries Agoda flight API (cheapest options), hotel API (persona-matched), ground transport API (cab pre-bookings), and activities database. Returns complete day-by-day plan with costs.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990088"/>
            <a:ext cx="502920" cy="502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900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</a:rPr>
              <a:t>03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88720" y="29443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 Reviews and Adjusts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3218688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</a:rPr>
              <a:t>Full itinerary displayed: flight card, hotel card, cab cards (airport + inter-day), activity cards. User can swap any component — "different hotel" or "skip activity 2" — agent re-prices instantly.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831336"/>
            <a:ext cx="502920" cy="502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8313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</a:rPr>
              <a:t>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88720" y="378561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One-Tap Bundle Checkout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4059936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</a:rPr>
              <a:t>Single payment flow covers all components. AgodaCoins awarded at 2x rate on full-bundle bookings. Cab transfer times auto-synced with flight arrival — no manual coordination.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4672584"/>
            <a:ext cx="502920" cy="502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6725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</a:rPr>
              <a:t>05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88720" y="462686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Post-Trip Intelligence Loop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88720" y="4901184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BBBBB"/>
                </a:solidFill>
              </a:rPr>
              <a:t>Agent learns from the trip: what was actually visited vs planned, satisfaction scores, budget vs spend. Next itinerary is more personalised. High-frequency travelers develop a "travel DNA" profile.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5650992"/>
            <a:ext cx="8321040" cy="502920"/>
          </a:xfrm>
          <a:prstGeom prst="rect">
            <a:avLst/>
          </a:prstGeom>
          <a:solidFill>
            <a:srgbClr val="1A3458"/>
          </a:solidFill>
          <a:ln w="12700">
            <a:solidFill>
              <a:srgbClr val="1A345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5705856"/>
            <a:ext cx="7955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B800"/>
                </a:solidFill>
              </a:rPr>
              <a:t>PhonePe proof: Self-serve merchant onboarding platform cut TAT from 2 days to 30 minutes — same principle: eliminate friction at every step of a multi-step flow. TripAgent does this for trip planning.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F6B35"/>
                </a:solidFill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Screens — Chat to Bundle Confirmed in Under 2 Minutes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1993392" cy="41605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70432"/>
            <a:ext cx="1993392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280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5488" y="15544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Agent Chat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" y="2084832"/>
            <a:ext cx="1755648" cy="1874520"/>
          </a:xfrm>
          <a:prstGeom prst="rect">
            <a:avLst/>
          </a:prstGeom>
          <a:solidFill>
            <a:srgbClr val="1A3458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48840"/>
            <a:ext cx="17007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┌─────────────┐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🤖 TripAgent│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Chiang Mai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3d · $500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🎒 Solo 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Building..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└─────────────┘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4041648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Natural language input. Intent clarification chips (solo/group, budget/luxury). Typing indicator while agent builds plan. Full context preserved across sessions.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42032" y="1170432"/>
            <a:ext cx="1993392" cy="41605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42032" y="1170432"/>
            <a:ext cx="1993392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1280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51760" y="15544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Full Itinerary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51760" y="2084832"/>
            <a:ext cx="1755648" cy="1874520"/>
          </a:xfrm>
          <a:prstGeom prst="rect">
            <a:avLst/>
          </a:prstGeom>
          <a:solidFill>
            <a:srgbClr val="1A3458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79192" y="2148840"/>
            <a:ext cx="17007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┌─────────────┐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✈ $164 flt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🏨 $87 htl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🚖 $52 cab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🗺 $120 act│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Total: $423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└─────────────┘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633472" y="4041648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Day-by-day plan: flight card + hotel card + cab cards + activity cards. Total cost shown vs budget. Swap any component. All pre-scheduled — no manual coordination.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18304" y="1170432"/>
            <a:ext cx="1993392" cy="41605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18304" y="1170432"/>
            <a:ext cx="1993392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1280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28032" y="15544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Bundle Confirmed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28032" y="2084832"/>
            <a:ext cx="1755648" cy="1874520"/>
          </a:xfrm>
          <a:prstGeom prst="rect">
            <a:avLst/>
          </a:prstGeom>
          <a:solidFill>
            <a:srgbClr val="1A3458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55464" y="2148840"/>
            <a:ext cx="17007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┌─────────────┐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✓ BOOKED!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$164 + $87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+ $52 + $120│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= $423 total│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2x Coins!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└─────────────┘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809744" y="4041648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Single checkout for all components. Breakdown by category. 2x AgodaCoins on bundles. Cab pick-ups pre-scheduled. All confirmation emails in one.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94576" y="1170432"/>
            <a:ext cx="1993392" cy="41605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94576" y="1170432"/>
            <a:ext cx="1993392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04304" y="1280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04304" y="155448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Ops Dashboard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004304" y="2084832"/>
            <a:ext cx="1755648" cy="1874520"/>
          </a:xfrm>
          <a:prstGeom prst="rect">
            <a:avLst/>
          </a:prstGeom>
          <a:solidFill>
            <a:srgbClr val="1A3458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31736" y="2148840"/>
            <a:ext cx="17007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┌─────────────┐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│Bundle: 3.4×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│Cab GMV:$52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│Plan time: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-45%   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│Reuse: 68%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AA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└─────────────┘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986016" y="4041648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Avg bundle value (3.4x vs hotel-only). Planning time reduction (-45%). Cab GMV ($52 avg/booking, 12% of total). Agent re-use rate (68%). Top intent destinations.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11480" y="550468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Interactive prototype: agoda-tripagent-prototype.html  ·  All 4 screen states live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FB800"/>
                </a:solidFill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3.4x Booking Value + A Net-New Revenue Vertical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4023360" cy="274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887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</a:rPr>
              <a:t>TRAVELER IMPACT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600200"/>
            <a:ext cx="4023360" cy="804672"/>
          </a:xfrm>
          <a:prstGeom prst="rect">
            <a:avLst/>
          </a:prstGeom>
          <a:solidFill>
            <a:srgbClr val="1A3458"/>
          </a:solidFill>
          <a:ln w="12700">
            <a:solidFill>
              <a:srgbClr val="1A345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655064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−45%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00200" y="1655064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Trip planning time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00200" y="19842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6 hours reduced to under 2 hours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2514600"/>
            <a:ext cx="4023360" cy="804672"/>
          </a:xfrm>
          <a:prstGeom prst="rect">
            <a:avLst/>
          </a:prstGeom>
          <a:solidFill>
            <a:srgbClr val="1A3458"/>
          </a:solidFill>
          <a:ln w="12700">
            <a:solidFill>
              <a:srgbClr val="1A345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569464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3.4×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600200" y="2569464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Avg bundle value vs hotel-only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00200" y="28986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$423 bundle vs $112 solo hotel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3429000"/>
            <a:ext cx="4023360" cy="804672"/>
          </a:xfrm>
          <a:prstGeom prst="rect">
            <a:avLst/>
          </a:prstGeom>
          <a:solidFill>
            <a:srgbClr val="1A3458"/>
          </a:solidFill>
          <a:ln w="12700">
            <a:solidFill>
              <a:srgbClr val="1A345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483864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600200" y="3483864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 re-use rate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00200" y="3813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Users return to plan their next trip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4343400"/>
            <a:ext cx="4023360" cy="804672"/>
          </a:xfrm>
          <a:prstGeom prst="rect">
            <a:avLst/>
          </a:prstGeom>
          <a:solidFill>
            <a:srgbClr val="1A3458"/>
          </a:solidFill>
          <a:ln w="12700">
            <a:solidFill>
              <a:srgbClr val="1A345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4398264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$77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600200" y="4398264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Saved vs ad-hoc booking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00200" y="47274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Pre-scheduled cabs avoid surge pricing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09160" y="1188720"/>
            <a:ext cx="4023360" cy="274320"/>
          </a:xfrm>
          <a:prstGeom prst="rect">
            <a:avLst/>
          </a:prstGeom>
          <a:solidFill>
            <a:srgbClr val="1A3458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11887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B800"/>
                </a:solidFill>
              </a:rPr>
              <a:t>AGODA BUSINESS ROI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09160" y="1600200"/>
            <a:ext cx="4023360" cy="804672"/>
          </a:xfrm>
          <a:prstGeom prst="rect">
            <a:avLst/>
          </a:prstGeom>
          <a:solidFill>
            <a:srgbClr val="1A3458"/>
          </a:solidFill>
          <a:ln w="12700">
            <a:solidFill>
              <a:srgbClr val="1A345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1655064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4B5F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$52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989320" y="1655064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Avg cab GMV per bundle booking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89320" y="198424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New vertical — 18% commission = $9.36/booking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2514600"/>
            <a:ext cx="4023360" cy="804672"/>
          </a:xfrm>
          <a:prstGeom prst="rect">
            <a:avLst/>
          </a:prstGeom>
          <a:solidFill>
            <a:srgbClr val="1A3458"/>
          </a:solidFill>
          <a:ln w="12700">
            <a:solidFill>
              <a:srgbClr val="1A345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46320" y="2569464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4B5F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+12%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5989320" y="2569464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Total GMV uplift from cab commissions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89320" y="289864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Scales with bundle volume, zero incremental cost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9160" y="3429000"/>
            <a:ext cx="4023360" cy="804672"/>
          </a:xfrm>
          <a:prstGeom prst="rect">
            <a:avLst/>
          </a:prstGeom>
          <a:solidFill>
            <a:srgbClr val="1A3458"/>
          </a:solidFill>
          <a:ln w="12700">
            <a:solidFill>
              <a:srgbClr val="1A345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46320" y="3483864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4B5F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4.3×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5989320" y="3483864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GMV per TripAgent session vs search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89320" y="381304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Flights + hotel + cabs vs hotel alone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4343400"/>
            <a:ext cx="4023360" cy="804672"/>
          </a:xfrm>
          <a:prstGeom prst="rect">
            <a:avLst/>
          </a:prstGeom>
          <a:solidFill>
            <a:srgbClr val="1A3458"/>
          </a:solidFill>
          <a:ln w="12700">
            <a:solidFill>
              <a:srgbClr val="1A345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46320" y="4398264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4B5F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2× coins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5989320" y="4398264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Bundle loyalty driver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89320" y="472744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Users return to spend coins — higher repeat rate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11480" y="5440680"/>
            <a:ext cx="8321040" cy="5029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" y="548640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TripAgent makes cab integration the killer feature — once users trust Agoda to pre-book their airport transfer, they stop using Grab for every travel need.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F6B35"/>
                </a:solidFill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Built the Infrastructure. Here Is the Parallel.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4023360" cy="42976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618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00"/>
                </a:solidFill>
              </a:rPr>
              <a:t>What I Built at PhonePe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664208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→  Zero-to-one self-serve merchant onboarding platform — cut onboarding TAT from 2 days to 30 minutes; eliminated every friction step that caused merchants to abandon mid-flow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2377440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→  Multi-tenant referral engine — 5,000+ B2B merchants, 5Mn+ users/month, 23% lower CAC vs prior manual process; built entire platform 0→1 with cross-functional team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3090672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→  Dynamic incentivisation engine at Pincode — real-time context-aware triggers across cart value, user intent, time signals; 60% cart abandonment reduction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3803904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→  ML propensity models at 350M MAU scale — every architectural decision on latency, real-time data, and fallback had to work at national UPI volume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115568"/>
            <a:ext cx="4023360" cy="4297680"/>
          </a:xfrm>
          <a:prstGeom prst="rect">
            <a:avLst/>
          </a:prstGeom>
          <a:solidFill>
            <a:srgbClr val="EDE8E0"/>
          </a:solidFill>
          <a:ln w="12700">
            <a:solidFill>
              <a:srgbClr val="D8D0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2618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How It Maps to TripAgent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664208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✓  Merchant onboarding TAT reduction  →  Trip planning time reduction (same "remove friction from multi-step flow" design principle)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92040" y="2377440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✓  Multi-tenant referral engine (0→1 platform)  →  TripAgent is also 0→1 infrastructure for Agoda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92040" y="3090672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✓  Context-aware incentivisation  →  Agent personalizes bundle based on user intent signals in real time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92040" y="3803904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✓  350M MAU API architecture  →  TripAgent queries multiple APIs (flights, hotels, cabs) with sub-second response requirements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92040" y="4517136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✓  23% CAC reduction  →  TripAgent drives direct bookings — less reliance on paid acquisition for high-value users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5577840"/>
            <a:ext cx="8321040" cy="5486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562356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B800"/>
                </a:solidFill>
              </a:rPr>
              <a:t>"I turned a 2-day manual merchant onboarding into a 30-minute self-serve flow. TripAgent is the same problem: a 6-hour planning ordeal turned into a 2-minute conversation."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FB800"/>
                </a:solidFill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Phased Launch — 6-Month Plan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170432"/>
            <a:ext cx="2633472" cy="3246120"/>
          </a:xfrm>
          <a:prstGeom prst="rect">
            <a:avLst/>
          </a:prstGeom>
          <a:solidFill>
            <a:srgbClr val="1A3458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170432"/>
            <a:ext cx="2633472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9496" y="129844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6B35"/>
                </a:solidFill>
              </a:rPr>
              <a:t>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9496" y="15727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Month 1–2: Pilot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9496" y="1993392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Launch TripAgent for top 3 origin-destination pairs (BKK, BLR, SIN outbound). Enable flights + hotels only. A/B test vs search control. Measure bundle value, planning time, and rebooking rate.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64408" y="1170432"/>
            <a:ext cx="2633472" cy="3246120"/>
          </a:xfrm>
          <a:prstGeom prst="rect">
            <a:avLst/>
          </a:prstGeom>
          <a:solidFill>
            <a:srgbClr val="1A3458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4408" y="1170432"/>
            <a:ext cx="2633472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92424" y="129844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6B35"/>
                </a:solidFill>
              </a:rPr>
              <a:t>Phase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92424" y="15727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Month 3–4: Cab Integration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92424" y="1993392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Partner with top cab operators in Bangkok, Bali, Chiang Mai (Grab, Bolt, local). Add cab layer to TripAgent bundle. Instrument cab GMV separately. Target $52 avg cab value per booking.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17336" y="1170432"/>
            <a:ext cx="2633472" cy="3246120"/>
          </a:xfrm>
          <a:prstGeom prst="rect">
            <a:avLst/>
          </a:prstGeom>
          <a:solidFill>
            <a:srgbClr val="1A3458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17336" y="1170432"/>
            <a:ext cx="2633472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5352" y="129844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6B35"/>
                </a:solidFill>
              </a:rPr>
              <a:t>Phase 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45352" y="15727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Month 5–6: Full Expansion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45352" y="1993392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</a:rPr>
              <a:t>Expand to all Agoda markets. Add activities layer (Viator API or Agoda Experiences). Launch "Travel DNA" profile — agent learns user preferences across trips. Target 3.4x avg bundle value baseline.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4590288"/>
            <a:ext cx="8321040" cy="8412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6634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What I Need to Build This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4937760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EEEE"/>
                </a:solidFill>
              </a:rPr>
              <a:t>Flights API integration (Agoda or Skyscanner partner)  ·  Cab operator API partnerships (Grab, Bolt)  ·  AI agent LLM layer (GPT-4o or equivalent)  ·  2 backend engineers  ·  A/B test vs search control group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0" y="6309360"/>
            <a:ext cx="9144000" cy="548640"/>
          </a:xfrm>
          <a:prstGeom prst="rect">
            <a:avLst/>
          </a:prstGeom>
          <a:solidFill>
            <a:srgbClr val="1A3458"/>
          </a:solidFill>
          <a:ln w="12700">
            <a:solidFill>
              <a:srgbClr val="1A34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635508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</a:rPr>
              <a:t>Ajay Avaghade  ·  avaghadeajay009@gmail.com  ·  +91 9561558439  ·  linkedin.com/in/ajay-avaghade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2026-05-22T18:49:04Z</dcterms:created>
  <dcterms:modified xsi:type="dcterms:W3CDTF">2026-05-22T18:49:04Z</dcterms:modified>
</cp:coreProperties>
</file>