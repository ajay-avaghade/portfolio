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</p:sldIdLst>
  <p:notesMasterIdLst>
    <p:notesMasterId r:id="rId10"/>
  </p:notesMasterIdLst>
  <p:sldSz cx="9144000" cy="6858000"/>
  <p:notesSz cx="68580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notesMaster" Target="notesMasters/notesMaster1.xml"/><Relationship Id="rId11" Type="http://schemas.openxmlformats.org/officeDocument/2006/relationships/presProps" Target="presProps.xml"/><Relationship Id="rId12" Type="http://schemas.openxmlformats.org/officeDocument/2006/relationships/viewProps" Target="viewProps.xml"/><Relationship Id="rId13" Type="http://schemas.openxmlformats.org/officeDocument/2006/relationships/theme" Target="theme/theme1.xml"/><Relationship Id="rId14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D1F1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274320" y="365760"/>
            <a:ext cx="8595360" cy="274320"/>
          </a:xfrm>
          <a:prstGeom prst="rect">
            <a:avLst/>
          </a:prstGeom>
          <a:solidFill>
            <a:srgbClr val="0D1F14"/>
          </a:solidFill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8B92A5"/>
                </a:solidFill>
              </a:rPr>
              <a:t>REVOLUT · COMPETITIVE INTELLIGENCE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457200" y="1097280"/>
            <a:ext cx="822960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</a:rPr>
              <a:t>VerticalIQ</a:t>
            </a:r>
            <a:endParaRPr lang="en-US" sz="5200" dirty="0"/>
          </a:p>
        </p:txBody>
      </p:sp>
      <p:sp>
        <p:nvSpPr>
          <p:cNvPr id="4" name="Text 2"/>
          <p:cNvSpPr/>
          <p:nvPr/>
        </p:nvSpPr>
        <p:spPr>
          <a:xfrm>
            <a:off x="457200" y="2560320"/>
            <a:ext cx="82296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dirty="0">
                <a:solidFill>
                  <a:srgbClr val="00C853"/>
                </a:solidFill>
              </a:rPr>
              <a:t>Real-Time Competitive Intelligence for Fintech Vertical Launches</a:t>
            </a:r>
            <a:endParaRPr lang="en-US" sz="2000" dirty="0"/>
          </a:p>
        </p:txBody>
      </p:sp>
      <p:sp>
        <p:nvSpPr>
          <p:cNvPr id="5" name="Text 3"/>
          <p:cNvSpPr/>
          <p:nvPr/>
        </p:nvSpPr>
        <p:spPr>
          <a:xfrm>
            <a:off x="457200" y="347472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8B92A5"/>
                </a:solidFill>
              </a:rPr>
              <a:t>Ajay Avaghade · Product Manager</a:t>
            </a:r>
            <a:endParaRPr lang="en-US" sz="1200" dirty="0"/>
          </a:p>
        </p:txBody>
      </p:sp>
      <p:sp>
        <p:nvSpPr>
          <p:cNvPr id="6" name="Shape 4"/>
          <p:cNvSpPr/>
          <p:nvPr/>
        </p:nvSpPr>
        <p:spPr>
          <a:xfrm>
            <a:off x="6858000" y="4754880"/>
            <a:ext cx="1828800" cy="91440"/>
          </a:xfrm>
          <a:prstGeom prst="rect">
            <a:avLst/>
          </a:prstGeom>
          <a:solidFill>
            <a:srgbClr val="00C853"/>
          </a:solidFill>
          <a:ln/>
        </p:spPr>
      </p:sp>
      <p:sp>
        <p:nvSpPr>
          <p:cNvPr id="7" name="Text 5"/>
          <p:cNvSpPr/>
          <p:nvPr/>
        </p:nvSpPr>
        <p:spPr>
          <a:xfrm>
            <a:off x="7498080" y="4937760"/>
            <a:ext cx="16459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800" b="1" dirty="0">
                <a:solidFill>
                  <a:srgbClr val="00C853"/>
                </a:solidFill>
              </a:rPr>
              <a:t>85% faster GTM briefs</a:t>
            </a:r>
            <a:endParaRPr lang="en-US" sz="18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0D1F1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274320" y="274320"/>
            <a:ext cx="859536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8B92A5"/>
                </a:solidFill>
              </a:rPr>
              <a:t>THE PROBLEM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457200" y="731520"/>
            <a:ext cx="822960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</a:rPr>
              <a:t>Revolut Launches 1 Vertical Per Quarter — 4–6 Month Lag to GTM Insights Kills Windows vs Wise &amp; N26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457200" y="2103120"/>
            <a:ext cx="25603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200" b="1" dirty="0">
                <a:solidFill>
                  <a:srgbClr val="00C853"/>
                </a:solidFill>
              </a:rPr>
              <a:t>4–6 mo</a:t>
            </a:r>
            <a:endParaRPr lang="en-US" sz="3200" dirty="0"/>
          </a:p>
        </p:txBody>
      </p:sp>
      <p:sp>
        <p:nvSpPr>
          <p:cNvPr id="5" name="Text 3"/>
          <p:cNvSpPr/>
          <p:nvPr/>
        </p:nvSpPr>
        <p:spPr>
          <a:xfrm>
            <a:off x="457200" y="2743200"/>
            <a:ext cx="25603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</a:rPr>
              <a:t>GTM lag time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457200" y="3200400"/>
            <a:ext cx="25603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B92A5"/>
                </a:solidFill>
              </a:rPr>
              <a:t>from MVP to market insights</a:t>
            </a:r>
            <a:endParaRPr lang="en-US" sz="1000" dirty="0"/>
          </a:p>
        </p:txBody>
      </p:sp>
      <p:sp>
        <p:nvSpPr>
          <p:cNvPr id="7" name="Text 5"/>
          <p:cNvSpPr/>
          <p:nvPr/>
        </p:nvSpPr>
        <p:spPr>
          <a:xfrm>
            <a:off x="3291840" y="2103120"/>
            <a:ext cx="25603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200" b="1" dirty="0">
                <a:solidFill>
                  <a:srgbClr val="00C853"/>
                </a:solidFill>
              </a:rPr>
              <a:t>70%</a:t>
            </a:r>
            <a:endParaRPr lang="en-US" sz="3200" dirty="0"/>
          </a:p>
        </p:txBody>
      </p:sp>
      <p:sp>
        <p:nvSpPr>
          <p:cNvPr id="8" name="Text 6"/>
          <p:cNvSpPr/>
          <p:nvPr/>
        </p:nvSpPr>
        <p:spPr>
          <a:xfrm>
            <a:off x="3291840" y="2743200"/>
            <a:ext cx="25603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</a:rPr>
              <a:t>adoption variance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3291840" y="3200400"/>
            <a:ext cx="25603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B92A5"/>
                </a:solidFill>
              </a:rPr>
              <a:t>Poland 42% vs Czech 22% (same product)</a:t>
            </a:r>
            <a:endParaRPr lang="en-US" sz="1000" dirty="0"/>
          </a:p>
        </p:txBody>
      </p:sp>
      <p:sp>
        <p:nvSpPr>
          <p:cNvPr id="10" name="Text 8"/>
          <p:cNvSpPr/>
          <p:nvPr/>
        </p:nvSpPr>
        <p:spPr>
          <a:xfrm>
            <a:off x="6126480" y="2103120"/>
            <a:ext cx="25603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200" b="1" dirty="0">
                <a:solidFill>
                  <a:srgbClr val="00C853"/>
                </a:solidFill>
              </a:rPr>
              <a:t>0</a:t>
            </a:r>
            <a:endParaRPr lang="en-US" sz="3200" dirty="0"/>
          </a:p>
        </p:txBody>
      </p:sp>
      <p:sp>
        <p:nvSpPr>
          <p:cNvPr id="11" name="Text 9"/>
          <p:cNvSpPr/>
          <p:nvPr/>
        </p:nvSpPr>
        <p:spPr>
          <a:xfrm>
            <a:off x="6126480" y="2743200"/>
            <a:ext cx="25603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</a:rPr>
              <a:t>competitive intel system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6126480" y="3200400"/>
            <a:ext cx="25603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B92A5"/>
                </a:solidFill>
              </a:rPr>
              <a:t>today — all manual research</a:t>
            </a:r>
            <a:endParaRPr lang="en-US" sz="1000" dirty="0"/>
          </a:p>
        </p:txBody>
      </p:sp>
      <p:sp>
        <p:nvSpPr>
          <p:cNvPr id="13" name="Shape 11"/>
          <p:cNvSpPr/>
          <p:nvPr/>
        </p:nvSpPr>
        <p:spPr>
          <a:xfrm>
            <a:off x="457200" y="4754880"/>
            <a:ext cx="8229600" cy="1645920"/>
          </a:xfrm>
          <a:prstGeom prst="rect">
            <a:avLst/>
          </a:prstGeom>
          <a:solidFill>
            <a:srgbClr val="0F2A1A"/>
          </a:solidFill>
          <a:ln w="12700">
            <a:solidFill>
              <a:srgbClr val="0668E1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640080" y="4937760"/>
            <a:ext cx="7863840" cy="1280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FFFFFF"/>
                </a:solidFill>
              </a:rPr>
              <a:t>Root cause: Competitors move faster because they have dedicated teams tracking market signals in real-time. Revolut scrapes intel manually (weeks) after vertical launch. Each vertical siloed — no shared intelligence system.</a:t>
            </a:r>
            <a:endParaRPr lang="en-US" sz="11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0F4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274320" y="274320"/>
            <a:ext cx="859536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8B92A5"/>
                </a:solidFill>
              </a:rPr>
              <a:t>THE INSIGHT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457200" y="731520"/>
            <a:ext cx="82296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0D1F14"/>
                </a:solidFill>
              </a:rPr>
              <a:t>Competitive Intelligence Is a System, Not a Person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457200" y="1828800"/>
            <a:ext cx="3840480" cy="3474720"/>
          </a:xfrm>
          <a:prstGeom prst="rect">
            <a:avLst/>
          </a:prstGeom>
          <a:solidFill>
            <a:srgbClr val="FFFFFF"/>
          </a:solidFill>
          <a:ln w="12700">
            <a:solidFill>
              <a:srgbClr val="8B92A5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640080" y="2011680"/>
            <a:ext cx="34747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6B35"/>
                </a:solidFill>
              </a:rPr>
              <a:t>❌ Status Quo (Manual)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822960" y="2560320"/>
            <a:ext cx="32918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0D1F14"/>
                </a:solidFill>
              </a:rPr>
              <a:t>Someone reads Wise blog weekly</a:t>
            </a:r>
            <a:endParaRPr lang="en-US" sz="1000" dirty="0"/>
          </a:p>
        </p:txBody>
      </p:sp>
      <p:sp>
        <p:nvSpPr>
          <p:cNvPr id="7" name="Text 5"/>
          <p:cNvSpPr/>
          <p:nvPr/>
        </p:nvSpPr>
        <p:spPr>
          <a:xfrm>
            <a:off x="822960" y="3017520"/>
            <a:ext cx="32918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0D1F14"/>
                </a:solidFill>
              </a:rPr>
              <a:t>Category manager emails Slack</a:t>
            </a:r>
            <a:endParaRPr lang="en-US" sz="1000" dirty="0"/>
          </a:p>
        </p:txBody>
      </p:sp>
      <p:sp>
        <p:nvSpPr>
          <p:cNvPr id="8" name="Text 6"/>
          <p:cNvSpPr/>
          <p:nvPr/>
        </p:nvSpPr>
        <p:spPr>
          <a:xfrm>
            <a:off x="822960" y="3474720"/>
            <a:ext cx="32918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0D1F14"/>
                </a:solidFill>
              </a:rPr>
              <a:t>GTM team starts research (2–3 weeks)</a:t>
            </a:r>
            <a:endParaRPr lang="en-US" sz="1000" dirty="0"/>
          </a:p>
        </p:txBody>
      </p:sp>
      <p:sp>
        <p:nvSpPr>
          <p:cNvPr id="9" name="Text 7"/>
          <p:cNvSpPr/>
          <p:nvPr/>
        </p:nvSpPr>
        <p:spPr>
          <a:xfrm>
            <a:off x="822960" y="3931920"/>
            <a:ext cx="32918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0D1F14"/>
                </a:solidFill>
              </a:rPr>
              <a:t>Insights surface after product launch</a:t>
            </a:r>
            <a:endParaRPr lang="en-US" sz="1000" dirty="0"/>
          </a:p>
        </p:txBody>
      </p:sp>
      <p:sp>
        <p:nvSpPr>
          <p:cNvPr id="10" name="Text 8"/>
          <p:cNvSpPr/>
          <p:nvPr/>
        </p:nvSpPr>
        <p:spPr>
          <a:xfrm>
            <a:off x="822960" y="4389120"/>
            <a:ext cx="32918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0D1F14"/>
                </a:solidFill>
              </a:rPr>
              <a:t>No feedback loop to next vertical</a:t>
            </a:r>
            <a:endParaRPr lang="en-US" sz="1000" dirty="0"/>
          </a:p>
        </p:txBody>
      </p:sp>
      <p:sp>
        <p:nvSpPr>
          <p:cNvPr id="11" name="Shape 9"/>
          <p:cNvSpPr/>
          <p:nvPr/>
        </p:nvSpPr>
        <p:spPr>
          <a:xfrm>
            <a:off x="4846320" y="1828800"/>
            <a:ext cx="3840480" cy="3474720"/>
          </a:xfrm>
          <a:prstGeom prst="rect">
            <a:avLst/>
          </a:prstGeom>
          <a:solidFill>
            <a:srgbClr val="0F2A1A"/>
          </a:solidFill>
          <a:ln w="12700">
            <a:solidFill>
              <a:srgbClr val="00C853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5029200" y="2011680"/>
            <a:ext cx="34747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0C853"/>
                </a:solidFill>
              </a:rPr>
              <a:t>✅ VerticalIQ (System)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5212080" y="2560320"/>
            <a:ext cx="32918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FFFFFF"/>
                </a:solidFill>
              </a:rPr>
              <a:t>Daily scrape of 5 competitors</a:t>
            </a:r>
            <a:endParaRPr lang="en-US" sz="1000" dirty="0"/>
          </a:p>
        </p:txBody>
      </p:sp>
      <p:sp>
        <p:nvSpPr>
          <p:cNvPr id="14" name="Text 12"/>
          <p:cNvSpPr/>
          <p:nvPr/>
        </p:nvSpPr>
        <p:spPr>
          <a:xfrm>
            <a:off x="5212080" y="3017520"/>
            <a:ext cx="32918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FFFFFF"/>
                </a:solidFill>
              </a:rPr>
              <a:t>Vertical + market aggregation</a:t>
            </a:r>
            <a:endParaRPr lang="en-US" sz="1000" dirty="0"/>
          </a:p>
        </p:txBody>
      </p:sp>
      <p:sp>
        <p:nvSpPr>
          <p:cNvPr id="15" name="Text 13"/>
          <p:cNvSpPr/>
          <p:nvPr/>
        </p:nvSpPr>
        <p:spPr>
          <a:xfrm>
            <a:off x="5212080" y="3474720"/>
            <a:ext cx="32918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FFFFFF"/>
                </a:solidFill>
              </a:rPr>
              <a:t>GTM playbook auto-generated</a:t>
            </a:r>
            <a:endParaRPr lang="en-US" sz="1000" dirty="0"/>
          </a:p>
        </p:txBody>
      </p:sp>
      <p:sp>
        <p:nvSpPr>
          <p:cNvPr id="16" name="Text 14"/>
          <p:cNvSpPr/>
          <p:nvPr/>
        </p:nvSpPr>
        <p:spPr>
          <a:xfrm>
            <a:off x="5212080" y="3931920"/>
            <a:ext cx="32918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FFFFFF"/>
                </a:solidFill>
              </a:rPr>
              <a:t>Insights available day 1 (pre-launch)</a:t>
            </a:r>
            <a:endParaRPr lang="en-US" sz="1000" dirty="0"/>
          </a:p>
        </p:txBody>
      </p:sp>
      <p:sp>
        <p:nvSpPr>
          <p:cNvPr id="17" name="Text 15"/>
          <p:cNvSpPr/>
          <p:nvPr/>
        </p:nvSpPr>
        <p:spPr>
          <a:xfrm>
            <a:off x="5212080" y="4389120"/>
            <a:ext cx="32918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FFFFFF"/>
                </a:solidFill>
              </a:rPr>
              <a:t>Feedback loop feeds next vertical</a:t>
            </a:r>
            <a:endParaRPr lang="en-US" sz="1000" dirty="0"/>
          </a:p>
        </p:txBody>
      </p:sp>
      <p:sp>
        <p:nvSpPr>
          <p:cNvPr id="18" name="Shape 16"/>
          <p:cNvSpPr/>
          <p:nvPr/>
        </p:nvSpPr>
        <p:spPr>
          <a:xfrm>
            <a:off x="4206240" y="3200400"/>
            <a:ext cx="731520" cy="731520"/>
          </a:xfrm>
          <a:prstGeom prst="ellipse">
            <a:avLst/>
          </a:prstGeom>
          <a:solidFill>
            <a:srgbClr val="0D1F14"/>
          </a:solidFill>
          <a:ln w="25400">
            <a:solidFill>
              <a:srgbClr val="00C853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4206240" y="3246120"/>
            <a:ext cx="7315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0C853"/>
                </a:solidFill>
              </a:rPr>
              <a:t>VS</a:t>
            </a:r>
            <a:endParaRPr lang="en-US" sz="14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D1F1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274320" y="274320"/>
            <a:ext cx="859536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8B92A5"/>
                </a:solidFill>
              </a:rPr>
              <a:t>THE MECHANIC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457200" y="73152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</a:rPr>
              <a:t>5-Step Daily Intelligence Loop</a:t>
            </a:r>
            <a:endParaRPr lang="en-US" sz="2400" dirty="0"/>
          </a:p>
        </p:txBody>
      </p:sp>
      <p:sp>
        <p:nvSpPr>
          <p:cNvPr id="4" name="Shape 2"/>
          <p:cNvSpPr/>
          <p:nvPr/>
        </p:nvSpPr>
        <p:spPr>
          <a:xfrm>
            <a:off x="457200" y="1463040"/>
            <a:ext cx="365760" cy="365760"/>
          </a:xfrm>
          <a:prstGeom prst="ellipse">
            <a:avLst/>
          </a:prstGeom>
          <a:solidFill>
            <a:srgbClr val="00C853"/>
          </a:solidFill>
          <a:ln/>
        </p:spPr>
      </p:sp>
      <p:sp>
        <p:nvSpPr>
          <p:cNvPr id="5" name="Text 3"/>
          <p:cNvSpPr/>
          <p:nvPr/>
        </p:nvSpPr>
        <p:spPr>
          <a:xfrm>
            <a:off x="457200" y="1463040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D1F14"/>
                </a:solidFill>
              </a:rPr>
              <a:t>1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1005840" y="1463040"/>
            <a:ext cx="201168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Daily Scrape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1005840" y="1691640"/>
            <a:ext cx="20116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B92A5"/>
                </a:solidFill>
              </a:rPr>
              <a:t>Automated crawl: Wise, N26, Chime, etc.</a:t>
            </a:r>
            <a:endParaRPr lang="en-US" sz="900" dirty="0"/>
          </a:p>
        </p:txBody>
      </p:sp>
      <p:sp>
        <p:nvSpPr>
          <p:cNvPr id="8" name="Shape 6"/>
          <p:cNvSpPr/>
          <p:nvPr/>
        </p:nvSpPr>
        <p:spPr>
          <a:xfrm>
            <a:off x="640080" y="1874520"/>
            <a:ext cx="0" cy="274320"/>
          </a:xfrm>
          <a:prstGeom prst="line">
            <a:avLst/>
          </a:prstGeom>
          <a:noFill/>
          <a:ln w="25400">
            <a:solidFill>
              <a:srgbClr val="00C853"/>
            </a:solidFill>
            <a:prstDash val="dash"/>
          </a:ln>
        </p:spPr>
      </p:sp>
      <p:sp>
        <p:nvSpPr>
          <p:cNvPr id="9" name="Shape 7"/>
          <p:cNvSpPr/>
          <p:nvPr/>
        </p:nvSpPr>
        <p:spPr>
          <a:xfrm>
            <a:off x="457200" y="2286000"/>
            <a:ext cx="365760" cy="365760"/>
          </a:xfrm>
          <a:prstGeom prst="ellipse">
            <a:avLst/>
          </a:prstGeom>
          <a:solidFill>
            <a:srgbClr val="00C853"/>
          </a:solidFill>
          <a:ln/>
        </p:spPr>
      </p:sp>
      <p:sp>
        <p:nvSpPr>
          <p:cNvPr id="10" name="Text 8"/>
          <p:cNvSpPr/>
          <p:nvPr/>
        </p:nvSpPr>
        <p:spPr>
          <a:xfrm>
            <a:off x="457200" y="2286000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D1F14"/>
                </a:solidFill>
              </a:rPr>
              <a:t>2</a:t>
            </a:r>
            <a:endParaRPr lang="en-US" sz="1600" dirty="0"/>
          </a:p>
        </p:txBody>
      </p:sp>
      <p:sp>
        <p:nvSpPr>
          <p:cNvPr id="11" name="Text 9"/>
          <p:cNvSpPr/>
          <p:nvPr/>
        </p:nvSpPr>
        <p:spPr>
          <a:xfrm>
            <a:off x="1005840" y="2286000"/>
            <a:ext cx="201168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Aggregation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1005840" y="2514600"/>
            <a:ext cx="20116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B92A5"/>
                </a:solidFill>
              </a:rPr>
              <a:t>Vertical + Market grouping</a:t>
            </a:r>
            <a:endParaRPr lang="en-US" sz="900" dirty="0"/>
          </a:p>
        </p:txBody>
      </p:sp>
      <p:sp>
        <p:nvSpPr>
          <p:cNvPr id="13" name="Shape 11"/>
          <p:cNvSpPr/>
          <p:nvPr/>
        </p:nvSpPr>
        <p:spPr>
          <a:xfrm>
            <a:off x="640080" y="2697480"/>
            <a:ext cx="0" cy="274320"/>
          </a:xfrm>
          <a:prstGeom prst="line">
            <a:avLst/>
          </a:prstGeom>
          <a:noFill/>
          <a:ln w="25400">
            <a:solidFill>
              <a:srgbClr val="00C853"/>
            </a:solidFill>
            <a:prstDash val="dash"/>
          </a:ln>
        </p:spPr>
      </p:sp>
      <p:sp>
        <p:nvSpPr>
          <p:cNvPr id="14" name="Shape 12"/>
          <p:cNvSpPr/>
          <p:nvPr/>
        </p:nvSpPr>
        <p:spPr>
          <a:xfrm>
            <a:off x="457200" y="3108960"/>
            <a:ext cx="365760" cy="365760"/>
          </a:xfrm>
          <a:prstGeom prst="ellipse">
            <a:avLst/>
          </a:prstGeom>
          <a:solidFill>
            <a:srgbClr val="00C853"/>
          </a:solidFill>
          <a:ln/>
        </p:spPr>
      </p:sp>
      <p:sp>
        <p:nvSpPr>
          <p:cNvPr id="15" name="Text 13"/>
          <p:cNvSpPr/>
          <p:nvPr/>
        </p:nvSpPr>
        <p:spPr>
          <a:xfrm>
            <a:off x="457200" y="3108960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D1F14"/>
                </a:solidFill>
              </a:rPr>
              <a:t>3</a:t>
            </a:r>
            <a:endParaRPr lang="en-US" sz="1600" dirty="0"/>
          </a:p>
        </p:txBody>
      </p:sp>
      <p:sp>
        <p:nvSpPr>
          <p:cNvPr id="16" name="Text 14"/>
          <p:cNvSpPr/>
          <p:nvPr/>
        </p:nvSpPr>
        <p:spPr>
          <a:xfrm>
            <a:off x="1005840" y="3108960"/>
            <a:ext cx="201168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Playbook Gen</a:t>
            </a:r>
            <a:endParaRPr lang="en-US" sz="1100" dirty="0"/>
          </a:p>
        </p:txBody>
      </p:sp>
      <p:sp>
        <p:nvSpPr>
          <p:cNvPr id="17" name="Text 15"/>
          <p:cNvSpPr/>
          <p:nvPr/>
        </p:nvSpPr>
        <p:spPr>
          <a:xfrm>
            <a:off x="1005840" y="3337560"/>
            <a:ext cx="20116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B92A5"/>
                </a:solidFill>
              </a:rPr>
              <a:t>Template-driven GTM synthesis</a:t>
            </a:r>
            <a:endParaRPr lang="en-US" sz="900" dirty="0"/>
          </a:p>
        </p:txBody>
      </p:sp>
      <p:sp>
        <p:nvSpPr>
          <p:cNvPr id="18" name="Shape 16"/>
          <p:cNvSpPr/>
          <p:nvPr/>
        </p:nvSpPr>
        <p:spPr>
          <a:xfrm>
            <a:off x="640080" y="3520440"/>
            <a:ext cx="0" cy="274320"/>
          </a:xfrm>
          <a:prstGeom prst="line">
            <a:avLst/>
          </a:prstGeom>
          <a:noFill/>
          <a:ln w="25400">
            <a:solidFill>
              <a:srgbClr val="00C853"/>
            </a:solidFill>
            <a:prstDash val="dash"/>
          </a:ln>
        </p:spPr>
      </p:sp>
      <p:sp>
        <p:nvSpPr>
          <p:cNvPr id="19" name="Shape 17"/>
          <p:cNvSpPr/>
          <p:nvPr/>
        </p:nvSpPr>
        <p:spPr>
          <a:xfrm>
            <a:off x="457200" y="3931920"/>
            <a:ext cx="365760" cy="365760"/>
          </a:xfrm>
          <a:prstGeom prst="ellipse">
            <a:avLst/>
          </a:prstGeom>
          <a:solidFill>
            <a:srgbClr val="00C853"/>
          </a:solidFill>
          <a:ln/>
        </p:spPr>
      </p:sp>
      <p:sp>
        <p:nvSpPr>
          <p:cNvPr id="20" name="Text 18"/>
          <p:cNvSpPr/>
          <p:nvPr/>
        </p:nvSpPr>
        <p:spPr>
          <a:xfrm>
            <a:off x="457200" y="3931920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D1F14"/>
                </a:solidFill>
              </a:rPr>
              <a:t>4</a:t>
            </a:r>
            <a:endParaRPr lang="en-US" sz="1600" dirty="0"/>
          </a:p>
        </p:txBody>
      </p:sp>
      <p:sp>
        <p:nvSpPr>
          <p:cNvPr id="21" name="Text 19"/>
          <p:cNvSpPr/>
          <p:nvPr/>
        </p:nvSpPr>
        <p:spPr>
          <a:xfrm>
            <a:off x="1005840" y="3931920"/>
            <a:ext cx="201168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Ops Tweak</a:t>
            </a:r>
            <a:endParaRPr lang="en-US" sz="1100" dirty="0"/>
          </a:p>
        </p:txBody>
      </p:sp>
      <p:sp>
        <p:nvSpPr>
          <p:cNvPr id="22" name="Text 20"/>
          <p:cNvSpPr/>
          <p:nvPr/>
        </p:nvSpPr>
        <p:spPr>
          <a:xfrm>
            <a:off x="1005840" y="4160520"/>
            <a:ext cx="20116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B92A5"/>
                </a:solidFill>
              </a:rPr>
              <a:t>Customization by ops team</a:t>
            </a:r>
            <a:endParaRPr lang="en-US" sz="900" dirty="0"/>
          </a:p>
        </p:txBody>
      </p:sp>
      <p:sp>
        <p:nvSpPr>
          <p:cNvPr id="23" name="Shape 21"/>
          <p:cNvSpPr/>
          <p:nvPr/>
        </p:nvSpPr>
        <p:spPr>
          <a:xfrm>
            <a:off x="640080" y="4343400"/>
            <a:ext cx="0" cy="274320"/>
          </a:xfrm>
          <a:prstGeom prst="line">
            <a:avLst/>
          </a:prstGeom>
          <a:noFill/>
          <a:ln w="25400">
            <a:solidFill>
              <a:srgbClr val="00C853"/>
            </a:solidFill>
            <a:prstDash val="dash"/>
          </a:ln>
        </p:spPr>
      </p:sp>
      <p:sp>
        <p:nvSpPr>
          <p:cNvPr id="24" name="Shape 22"/>
          <p:cNvSpPr/>
          <p:nvPr/>
        </p:nvSpPr>
        <p:spPr>
          <a:xfrm>
            <a:off x="457200" y="4754880"/>
            <a:ext cx="365760" cy="365760"/>
          </a:xfrm>
          <a:prstGeom prst="ellipse">
            <a:avLst/>
          </a:prstGeom>
          <a:solidFill>
            <a:srgbClr val="00C853"/>
          </a:solidFill>
          <a:ln/>
        </p:spPr>
      </p:sp>
      <p:sp>
        <p:nvSpPr>
          <p:cNvPr id="25" name="Text 23"/>
          <p:cNvSpPr/>
          <p:nvPr/>
        </p:nvSpPr>
        <p:spPr>
          <a:xfrm>
            <a:off x="457200" y="4754880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D1F14"/>
                </a:solidFill>
              </a:rPr>
              <a:t>5</a:t>
            </a:r>
            <a:endParaRPr lang="en-US" sz="1600" dirty="0"/>
          </a:p>
        </p:txBody>
      </p:sp>
      <p:sp>
        <p:nvSpPr>
          <p:cNvPr id="26" name="Text 24"/>
          <p:cNvSpPr/>
          <p:nvPr/>
        </p:nvSpPr>
        <p:spPr>
          <a:xfrm>
            <a:off x="1005840" y="4754880"/>
            <a:ext cx="201168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Feedback</a:t>
            </a:r>
            <a:endParaRPr lang="en-US" sz="1100" dirty="0"/>
          </a:p>
        </p:txBody>
      </p:sp>
      <p:sp>
        <p:nvSpPr>
          <p:cNvPr id="27" name="Text 25"/>
          <p:cNvSpPr/>
          <p:nvPr/>
        </p:nvSpPr>
        <p:spPr>
          <a:xfrm>
            <a:off x="1005840" y="4983480"/>
            <a:ext cx="20116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B92A5"/>
                </a:solidFill>
              </a:rPr>
              <a:t>Post-launch KPIs → model learns</a:t>
            </a:r>
            <a:endParaRPr lang="en-US" sz="900" dirty="0"/>
          </a:p>
        </p:txBody>
      </p:sp>
      <p:sp>
        <p:nvSpPr>
          <p:cNvPr id="28" name="Shape 26"/>
          <p:cNvSpPr/>
          <p:nvPr/>
        </p:nvSpPr>
        <p:spPr>
          <a:xfrm>
            <a:off x="3474720" y="1463040"/>
            <a:ext cx="5212080" cy="3931920"/>
          </a:xfrm>
          <a:prstGeom prst="rect">
            <a:avLst/>
          </a:prstGeom>
          <a:solidFill>
            <a:srgbClr val="0F2A1A"/>
          </a:solidFill>
          <a:ln w="12700">
            <a:solidFill>
              <a:srgbClr val="0668E1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3657600" y="1645920"/>
            <a:ext cx="48463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668E1"/>
                </a:solidFill>
              </a:rPr>
              <a:t>Proof: PhonePe Rewards Marketplace (500+ brand partners, 11% YoY growth)</a:t>
            </a:r>
            <a:endParaRPr lang="en-US" sz="1000" dirty="0"/>
          </a:p>
        </p:txBody>
      </p:sp>
      <p:sp>
        <p:nvSpPr>
          <p:cNvPr id="30" name="Text 28"/>
          <p:cNvSpPr/>
          <p:nvPr/>
        </p:nvSpPr>
        <p:spPr>
          <a:xfrm>
            <a:off x="3840480" y="2194560"/>
            <a:ext cx="466344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FFFFFF"/>
                </a:solidFill>
              </a:rPr>
              <a:t>Built 500+ brand partner marketplace with real-time brand intel</a:t>
            </a:r>
            <a:endParaRPr lang="en-US" sz="900" dirty="0"/>
          </a:p>
        </p:txBody>
      </p:sp>
      <p:sp>
        <p:nvSpPr>
          <p:cNvPr id="31" name="Text 29"/>
          <p:cNvSpPr/>
          <p:nvPr/>
        </p:nvSpPr>
        <p:spPr>
          <a:xfrm>
            <a:off x="3840480" y="2834640"/>
            <a:ext cx="466344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FFFFFF"/>
                </a:solidFill>
              </a:rPr>
              <a:t>Tracked competitive margins, pricing, market gaps manually</a:t>
            </a:r>
            <a:endParaRPr lang="en-US" sz="900" dirty="0"/>
          </a:p>
        </p:txBody>
      </p:sp>
      <p:sp>
        <p:nvSpPr>
          <p:cNvPr id="32" name="Text 30"/>
          <p:cNvSpPr/>
          <p:nvPr/>
        </p:nvSpPr>
        <p:spPr>
          <a:xfrm>
            <a:off x="3840480" y="3474720"/>
            <a:ext cx="466344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FFFFFF"/>
                </a:solidFill>
              </a:rPr>
              <a:t>Discovered: WhatsApp Pay undercutting on rewards rates → response playbook</a:t>
            </a:r>
            <a:endParaRPr lang="en-US" sz="900" dirty="0"/>
          </a:p>
        </p:txBody>
      </p:sp>
      <p:sp>
        <p:nvSpPr>
          <p:cNvPr id="33" name="Text 31"/>
          <p:cNvSpPr/>
          <p:nvPr/>
        </p:nvSpPr>
        <p:spPr>
          <a:xfrm>
            <a:off x="3840480" y="4114800"/>
            <a:ext cx="466344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FFFFFF"/>
                </a:solidFill>
              </a:rPr>
              <a:t>Without systematic intel, we would have missed this window</a:t>
            </a:r>
            <a:endParaRPr lang="en-US" sz="9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0F4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274320" y="274320"/>
            <a:ext cx="859536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8B92A5"/>
                </a:solidFill>
              </a:rPr>
              <a:t>THE PRODUCT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457200" y="73152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0D1F14"/>
                </a:solidFill>
              </a:rPr>
              <a:t>4 Screens — Competitive Intelligence End-to-End</a:t>
            </a:r>
            <a:endParaRPr lang="en-US" sz="2400" dirty="0"/>
          </a:p>
        </p:txBody>
      </p:sp>
      <p:sp>
        <p:nvSpPr>
          <p:cNvPr id="4" name="Shape 2"/>
          <p:cNvSpPr/>
          <p:nvPr/>
        </p:nvSpPr>
        <p:spPr>
          <a:xfrm>
            <a:off x="457200" y="1463040"/>
            <a:ext cx="8229600" cy="1097280"/>
          </a:xfrm>
          <a:prstGeom prst="rect">
            <a:avLst/>
          </a:prstGeom>
          <a:solidFill>
            <a:srgbClr val="FFFFFF"/>
          </a:solidFill>
          <a:ln w="12700">
            <a:solidFill>
              <a:srgbClr val="8B92A5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640080" y="160020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D1F14"/>
                </a:solidFill>
              </a:rPr>
              <a:t>01 — Dashboard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640080" y="1920240"/>
            <a:ext cx="78638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0D1F14"/>
                </a:solidFill>
              </a:rPr>
              <a:t>Calendar of competitor moves. Monthly market snapshots by vertical + market.</a:t>
            </a:r>
            <a:endParaRPr lang="en-US" sz="900" dirty="0"/>
          </a:p>
        </p:txBody>
      </p:sp>
      <p:sp>
        <p:nvSpPr>
          <p:cNvPr id="7" name="Shape 5"/>
          <p:cNvSpPr/>
          <p:nvPr/>
        </p:nvSpPr>
        <p:spPr>
          <a:xfrm>
            <a:off x="457200" y="2697480"/>
            <a:ext cx="8229600" cy="1097280"/>
          </a:xfrm>
          <a:prstGeom prst="rect">
            <a:avLst/>
          </a:prstGeom>
          <a:solidFill>
            <a:srgbClr val="FFFFFF"/>
          </a:solidFill>
          <a:ln w="12700">
            <a:solidFill>
              <a:srgbClr val="8B92A5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640080" y="283464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D1F14"/>
                </a:solidFill>
              </a:rPr>
              <a:t>02 — Deep Dive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640080" y="3154680"/>
            <a:ext cx="78638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0D1F14"/>
                </a:solidFill>
              </a:rPr>
              <a:t>Vertical + market comparison grid. Wise vs N26 vs Revolut (features, pricing, NPS).</a:t>
            </a:r>
            <a:endParaRPr lang="en-US" sz="900" dirty="0"/>
          </a:p>
        </p:txBody>
      </p:sp>
      <p:sp>
        <p:nvSpPr>
          <p:cNvPr id="10" name="Shape 8"/>
          <p:cNvSpPr/>
          <p:nvPr/>
        </p:nvSpPr>
        <p:spPr>
          <a:xfrm>
            <a:off x="457200" y="3931920"/>
            <a:ext cx="8229600" cy="1097280"/>
          </a:xfrm>
          <a:prstGeom prst="rect">
            <a:avLst/>
          </a:prstGeom>
          <a:solidFill>
            <a:srgbClr val="FFFFFF"/>
          </a:solidFill>
          <a:ln w="12700">
            <a:solidFill>
              <a:srgbClr val="8B92A5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640080" y="406908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D1F14"/>
                </a:solidFill>
              </a:rPr>
              <a:t>03 — GTM Playbook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640080" y="4389120"/>
            <a:ext cx="78638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0D1F14"/>
                </a:solidFill>
              </a:rPr>
              <a:t>Auto-generated brief: positioning, target segment, rollout plan, risk flags.</a:t>
            </a:r>
            <a:endParaRPr lang="en-US" sz="900" dirty="0"/>
          </a:p>
        </p:txBody>
      </p:sp>
      <p:sp>
        <p:nvSpPr>
          <p:cNvPr id="13" name="Shape 11"/>
          <p:cNvSpPr/>
          <p:nvPr/>
        </p:nvSpPr>
        <p:spPr>
          <a:xfrm>
            <a:off x="457200" y="5166360"/>
            <a:ext cx="8229600" cy="1097280"/>
          </a:xfrm>
          <a:prstGeom prst="rect">
            <a:avLst/>
          </a:prstGeom>
          <a:solidFill>
            <a:srgbClr val="FFFFFF"/>
          </a:solidFill>
          <a:ln w="12700">
            <a:solidFill>
              <a:srgbClr val="8B92A5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640080" y="53035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D1F14"/>
                </a:solidFill>
              </a:rPr>
              <a:t>04 — Tracker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640080" y="5623560"/>
            <a:ext cx="78638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0D1F14"/>
                </a:solidFill>
              </a:rPr>
              <a:t>Post-launch KPIs vs forecast. Live adoption curve. A/B test copy variants.</a:t>
            </a:r>
            <a:endParaRPr lang="en-US" sz="9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0D1F1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274320" y="274320"/>
            <a:ext cx="859536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8B92A5"/>
                </a:solidFill>
              </a:rPr>
              <a:t>IMPACT &amp; ROI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457200" y="73152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</a:rPr>
              <a:t>Business Outcomes — Built on PhonePe Proof Points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457200" y="1463040"/>
            <a:ext cx="3657600" cy="1645920"/>
          </a:xfrm>
          <a:prstGeom prst="rect">
            <a:avLst/>
          </a:prstGeom>
          <a:solidFill>
            <a:srgbClr val="0F2A1A"/>
          </a:solidFill>
          <a:ln w="12700">
            <a:solidFill>
              <a:srgbClr val="00C853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640080" y="1600200"/>
            <a:ext cx="32918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400" dirty="0">
                <a:solidFill>
                  <a:srgbClr val="000000"/>
                </a:solidFill>
              </a:rPr>
              <a:t>⏱️</a:t>
            </a:r>
            <a:endParaRPr lang="en-US" sz="2400" dirty="0"/>
          </a:p>
        </p:txBody>
      </p:sp>
      <p:sp>
        <p:nvSpPr>
          <p:cNvPr id="6" name="Text 4"/>
          <p:cNvSpPr/>
          <p:nvPr/>
        </p:nvSpPr>
        <p:spPr>
          <a:xfrm>
            <a:off x="640080" y="1965960"/>
            <a:ext cx="32918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000" b="1" dirty="0">
                <a:solidFill>
                  <a:srgbClr val="00C853"/>
                </a:solidFill>
              </a:rPr>
              <a:t>3d</a:t>
            </a:r>
            <a:endParaRPr lang="en-US" sz="2000" dirty="0"/>
          </a:p>
        </p:txBody>
      </p:sp>
      <p:sp>
        <p:nvSpPr>
          <p:cNvPr id="7" name="Text 5"/>
          <p:cNvSpPr/>
          <p:nvPr/>
        </p:nvSpPr>
        <p:spPr>
          <a:xfrm>
            <a:off x="640080" y="2377440"/>
            <a:ext cx="32918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FFFFFF"/>
                </a:solidFill>
              </a:rPr>
              <a:t>GTM Brief Time</a:t>
            </a:r>
            <a:endParaRPr lang="en-US" sz="1000" dirty="0"/>
          </a:p>
        </p:txBody>
      </p:sp>
      <p:sp>
        <p:nvSpPr>
          <p:cNvPr id="8" name="Text 6"/>
          <p:cNvSpPr/>
          <p:nvPr/>
        </p:nvSpPr>
        <p:spPr>
          <a:xfrm>
            <a:off x="640080" y="2697480"/>
            <a:ext cx="32918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800" dirty="0">
                <a:solidFill>
                  <a:srgbClr val="8B92A5"/>
                </a:solidFill>
              </a:rPr>
              <a:t>(vs 2–3 weeks manual)</a:t>
            </a:r>
            <a:endParaRPr lang="en-US" sz="800" dirty="0"/>
          </a:p>
        </p:txBody>
      </p:sp>
      <p:sp>
        <p:nvSpPr>
          <p:cNvPr id="9" name="Shape 7"/>
          <p:cNvSpPr/>
          <p:nvPr/>
        </p:nvSpPr>
        <p:spPr>
          <a:xfrm>
            <a:off x="4572000" y="1463040"/>
            <a:ext cx="3657600" cy="1645920"/>
          </a:xfrm>
          <a:prstGeom prst="rect">
            <a:avLst/>
          </a:prstGeom>
          <a:solidFill>
            <a:srgbClr val="0F2A1A"/>
          </a:solidFill>
          <a:ln w="12700">
            <a:solidFill>
              <a:srgbClr val="00C853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4754880" y="1600200"/>
            <a:ext cx="32918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400" dirty="0">
                <a:solidFill>
                  <a:srgbClr val="000000"/>
                </a:solidFill>
              </a:rPr>
              <a:t>🚀</a:t>
            </a:r>
            <a:endParaRPr lang="en-US" sz="2400" dirty="0"/>
          </a:p>
        </p:txBody>
      </p:sp>
      <p:sp>
        <p:nvSpPr>
          <p:cNvPr id="11" name="Text 9"/>
          <p:cNvSpPr/>
          <p:nvPr/>
        </p:nvSpPr>
        <p:spPr>
          <a:xfrm>
            <a:off x="4754880" y="1965960"/>
            <a:ext cx="32918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000" b="1" dirty="0">
                <a:solidFill>
                  <a:srgbClr val="00C853"/>
                </a:solidFill>
              </a:rPr>
              <a:t>8–12 wk</a:t>
            </a:r>
            <a:endParaRPr lang="en-US" sz="2000" dirty="0"/>
          </a:p>
        </p:txBody>
      </p:sp>
      <p:sp>
        <p:nvSpPr>
          <p:cNvPr id="12" name="Text 10"/>
          <p:cNvSpPr/>
          <p:nvPr/>
        </p:nvSpPr>
        <p:spPr>
          <a:xfrm>
            <a:off x="4754880" y="2377440"/>
            <a:ext cx="32918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FFFFFF"/>
                </a:solidFill>
              </a:rPr>
              <a:t>Market Entry Velocity</a:t>
            </a:r>
            <a:endParaRPr lang="en-US" sz="1000" dirty="0"/>
          </a:p>
        </p:txBody>
      </p:sp>
      <p:sp>
        <p:nvSpPr>
          <p:cNvPr id="13" name="Text 11"/>
          <p:cNvSpPr/>
          <p:nvPr/>
        </p:nvSpPr>
        <p:spPr>
          <a:xfrm>
            <a:off x="4754880" y="2697480"/>
            <a:ext cx="32918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800" dirty="0">
                <a:solidFill>
                  <a:srgbClr val="8B92A5"/>
                </a:solidFill>
              </a:rPr>
              <a:t>(vs 6–8 months)</a:t>
            </a:r>
            <a:endParaRPr lang="en-US" sz="800" dirty="0"/>
          </a:p>
        </p:txBody>
      </p:sp>
      <p:sp>
        <p:nvSpPr>
          <p:cNvPr id="14" name="Shape 12"/>
          <p:cNvSpPr/>
          <p:nvPr/>
        </p:nvSpPr>
        <p:spPr>
          <a:xfrm>
            <a:off x="457200" y="3291840"/>
            <a:ext cx="3657600" cy="1645920"/>
          </a:xfrm>
          <a:prstGeom prst="rect">
            <a:avLst/>
          </a:prstGeom>
          <a:solidFill>
            <a:srgbClr val="0F2A1A"/>
          </a:solidFill>
          <a:ln w="12700">
            <a:solidFill>
              <a:srgbClr val="00C853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640080" y="3429000"/>
            <a:ext cx="32918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400" dirty="0">
                <a:solidFill>
                  <a:srgbClr val="000000"/>
                </a:solidFill>
              </a:rPr>
              <a:t>📊</a:t>
            </a:r>
            <a:endParaRPr lang="en-US" sz="2400" dirty="0"/>
          </a:p>
        </p:txBody>
      </p:sp>
      <p:sp>
        <p:nvSpPr>
          <p:cNvPr id="16" name="Text 14"/>
          <p:cNvSpPr/>
          <p:nvPr/>
        </p:nvSpPr>
        <p:spPr>
          <a:xfrm>
            <a:off x="640080" y="3794760"/>
            <a:ext cx="32918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000" b="1" dirty="0">
                <a:solidFill>
                  <a:srgbClr val="00C853"/>
                </a:solidFill>
              </a:rPr>
              <a:t>82%</a:t>
            </a:r>
            <a:endParaRPr lang="en-US" sz="2000" dirty="0"/>
          </a:p>
        </p:txBody>
      </p:sp>
      <p:sp>
        <p:nvSpPr>
          <p:cNvPr id="17" name="Text 15"/>
          <p:cNvSpPr/>
          <p:nvPr/>
        </p:nvSpPr>
        <p:spPr>
          <a:xfrm>
            <a:off x="640080" y="4206240"/>
            <a:ext cx="32918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FFFFFF"/>
                </a:solidFill>
              </a:rPr>
              <a:t>Forecast Accuracy</a:t>
            </a:r>
            <a:endParaRPr lang="en-US" sz="1000" dirty="0"/>
          </a:p>
        </p:txBody>
      </p:sp>
      <p:sp>
        <p:nvSpPr>
          <p:cNvPr id="18" name="Text 16"/>
          <p:cNvSpPr/>
          <p:nvPr/>
        </p:nvSpPr>
        <p:spPr>
          <a:xfrm>
            <a:off x="640080" y="4526280"/>
            <a:ext cx="32918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800" dirty="0">
                <a:solidFill>
                  <a:srgbClr val="8B92A5"/>
                </a:solidFill>
              </a:rPr>
              <a:t>(vs 65% manual planning)</a:t>
            </a:r>
            <a:endParaRPr lang="en-US" sz="800" dirty="0"/>
          </a:p>
        </p:txBody>
      </p:sp>
      <p:sp>
        <p:nvSpPr>
          <p:cNvPr id="19" name="Shape 17"/>
          <p:cNvSpPr/>
          <p:nvPr/>
        </p:nvSpPr>
        <p:spPr>
          <a:xfrm>
            <a:off x="4572000" y="3291840"/>
            <a:ext cx="3657600" cy="1645920"/>
          </a:xfrm>
          <a:prstGeom prst="rect">
            <a:avLst/>
          </a:prstGeom>
          <a:solidFill>
            <a:srgbClr val="0F2A1A"/>
          </a:solidFill>
          <a:ln w="12700">
            <a:solidFill>
              <a:srgbClr val="00C853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4754880" y="3429000"/>
            <a:ext cx="32918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400" dirty="0">
                <a:solidFill>
                  <a:srgbClr val="000000"/>
                </a:solidFill>
              </a:rPr>
              <a:t>🎯</a:t>
            </a:r>
            <a:endParaRPr lang="en-US" sz="2400" dirty="0"/>
          </a:p>
        </p:txBody>
      </p:sp>
      <p:sp>
        <p:nvSpPr>
          <p:cNvPr id="21" name="Text 19"/>
          <p:cNvSpPr/>
          <p:nvPr/>
        </p:nvSpPr>
        <p:spPr>
          <a:xfrm>
            <a:off x="4754880" y="3794760"/>
            <a:ext cx="32918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000" b="1" dirty="0">
                <a:solidFill>
                  <a:srgbClr val="00C853"/>
                </a:solidFill>
              </a:rPr>
              <a:t>85% faster</a:t>
            </a:r>
            <a:endParaRPr lang="en-US" sz="2000" dirty="0"/>
          </a:p>
        </p:txBody>
      </p:sp>
      <p:sp>
        <p:nvSpPr>
          <p:cNvPr id="22" name="Text 20"/>
          <p:cNvSpPr/>
          <p:nvPr/>
        </p:nvSpPr>
        <p:spPr>
          <a:xfrm>
            <a:off x="4754880" y="4206240"/>
            <a:ext cx="32918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FFFFFF"/>
                </a:solidFill>
              </a:rPr>
              <a:t>Vertical Launch Cycle</a:t>
            </a:r>
            <a:endParaRPr lang="en-US" sz="1000" dirty="0"/>
          </a:p>
        </p:txBody>
      </p:sp>
      <p:sp>
        <p:nvSpPr>
          <p:cNvPr id="23" name="Text 21"/>
          <p:cNvSpPr/>
          <p:nvPr/>
        </p:nvSpPr>
        <p:spPr>
          <a:xfrm>
            <a:off x="4754880" y="4526280"/>
            <a:ext cx="32918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800" dirty="0">
                <a:solidFill>
                  <a:srgbClr val="8B92A5"/>
                </a:solidFill>
              </a:rPr>
              <a:t>(reduced manual research)</a:t>
            </a:r>
            <a:endParaRPr lang="en-US" sz="8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0F4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274320" y="274320"/>
            <a:ext cx="859536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8B92A5"/>
                </a:solidFill>
              </a:rPr>
              <a:t>PROOF OF WORK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457200" y="73152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0D1F14"/>
                </a:solidFill>
              </a:rPr>
              <a:t>I Built This at PhonePe — Direct Map to VerticalIQ</a:t>
            </a:r>
            <a:endParaRPr lang="en-US" sz="2400" dirty="0"/>
          </a:p>
        </p:txBody>
      </p:sp>
      <p:sp>
        <p:nvSpPr>
          <p:cNvPr id="4" name="Shape 2"/>
          <p:cNvSpPr/>
          <p:nvPr/>
        </p:nvSpPr>
        <p:spPr>
          <a:xfrm>
            <a:off x="457200" y="1463040"/>
            <a:ext cx="3931920" cy="4023360"/>
          </a:xfrm>
          <a:prstGeom prst="rect">
            <a:avLst/>
          </a:prstGeom>
          <a:solidFill>
            <a:srgbClr val="0D1F14"/>
          </a:solidFill>
          <a:ln w="12700">
            <a:solidFill>
              <a:srgbClr val="0668E1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640080" y="1645920"/>
            <a:ext cx="35661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0C853"/>
                </a:solidFill>
              </a:rPr>
              <a:t>PhonePe: What I Built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822960" y="2103120"/>
            <a:ext cx="33832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FFFFFF"/>
                </a:solidFill>
              </a:rPr>
              <a:t>500+ brand partner marketplace</a:t>
            </a:r>
            <a:endParaRPr lang="en-US" sz="900" dirty="0"/>
          </a:p>
        </p:txBody>
      </p:sp>
      <p:sp>
        <p:nvSpPr>
          <p:cNvPr id="7" name="Text 5"/>
          <p:cNvSpPr/>
          <p:nvPr/>
        </p:nvSpPr>
        <p:spPr>
          <a:xfrm>
            <a:off x="822960" y="2651760"/>
            <a:ext cx="33832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FFFFFF"/>
                </a:solidFill>
              </a:rPr>
              <a:t>Real-time tracking of partner margins, pricing, market gaps</a:t>
            </a:r>
            <a:endParaRPr lang="en-US" sz="900" dirty="0"/>
          </a:p>
        </p:txBody>
      </p:sp>
      <p:sp>
        <p:nvSpPr>
          <p:cNvPr id="8" name="Text 6"/>
          <p:cNvSpPr/>
          <p:nvPr/>
        </p:nvSpPr>
        <p:spPr>
          <a:xfrm>
            <a:off x="822960" y="3200400"/>
            <a:ext cx="33832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FFFFFF"/>
                </a:solidFill>
              </a:rPr>
              <a:t>Discovered competitive threats (WhatsApp Pay undercutting) manually</a:t>
            </a:r>
            <a:endParaRPr lang="en-US" sz="900" dirty="0"/>
          </a:p>
        </p:txBody>
      </p:sp>
      <p:sp>
        <p:nvSpPr>
          <p:cNvPr id="9" name="Text 7"/>
          <p:cNvSpPr/>
          <p:nvPr/>
        </p:nvSpPr>
        <p:spPr>
          <a:xfrm>
            <a:off x="822960" y="3749040"/>
            <a:ext cx="33832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FFFFFF"/>
                </a:solidFill>
              </a:rPr>
              <a:t>Rebuilt ₹100Cr portfolio → 11% YoY growth through insights</a:t>
            </a:r>
            <a:endParaRPr lang="en-US" sz="900" dirty="0"/>
          </a:p>
        </p:txBody>
      </p:sp>
      <p:sp>
        <p:nvSpPr>
          <p:cNvPr id="10" name="Text 8"/>
          <p:cNvSpPr/>
          <p:nvPr/>
        </p:nvSpPr>
        <p:spPr>
          <a:xfrm>
            <a:off x="822960" y="4297680"/>
            <a:ext cx="33832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FFFFFF"/>
                </a:solidFill>
              </a:rPr>
              <a:t>Insight: Without systematic intel, we'd miss market windows</a:t>
            </a:r>
            <a:endParaRPr lang="en-US" sz="900" dirty="0"/>
          </a:p>
        </p:txBody>
      </p:sp>
      <p:sp>
        <p:nvSpPr>
          <p:cNvPr id="11" name="Shape 9"/>
          <p:cNvSpPr/>
          <p:nvPr/>
        </p:nvSpPr>
        <p:spPr>
          <a:xfrm>
            <a:off x="4754880" y="1463040"/>
            <a:ext cx="3931920" cy="4023360"/>
          </a:xfrm>
          <a:prstGeom prst="rect">
            <a:avLst/>
          </a:prstGeom>
          <a:solidFill>
            <a:srgbClr val="FFFFFF"/>
          </a:solidFill>
          <a:ln w="12700">
            <a:solidFill>
              <a:srgbClr val="00C853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4937760" y="1645920"/>
            <a:ext cx="35661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0C853"/>
                </a:solidFill>
              </a:rPr>
              <a:t>VerticalIQ: How to Apply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4937760" y="2103120"/>
            <a:ext cx="35661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0D1F14"/>
                </a:solidFill>
              </a:rPr>
              <a:t>Auto-scrape 5 fintech competitors daily</a:t>
            </a:r>
            <a:endParaRPr lang="en-US" sz="900" dirty="0"/>
          </a:p>
        </p:txBody>
      </p:sp>
      <p:sp>
        <p:nvSpPr>
          <p:cNvPr id="14" name="Text 12"/>
          <p:cNvSpPr/>
          <p:nvPr/>
        </p:nvSpPr>
        <p:spPr>
          <a:xfrm>
            <a:off x="4937760" y="2651760"/>
            <a:ext cx="35661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0D1F14"/>
                </a:solidFill>
              </a:rPr>
              <a:t>Aggregate intel by vertical + market</a:t>
            </a:r>
            <a:endParaRPr lang="en-US" sz="900" dirty="0"/>
          </a:p>
        </p:txBody>
      </p:sp>
      <p:sp>
        <p:nvSpPr>
          <p:cNvPr id="15" name="Text 13"/>
          <p:cNvSpPr/>
          <p:nvPr/>
        </p:nvSpPr>
        <p:spPr>
          <a:xfrm>
            <a:off x="4937760" y="3200400"/>
            <a:ext cx="35661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0D1F14"/>
                </a:solidFill>
              </a:rPr>
              <a:t>Surface gaps pre-launch (not post-launch)</a:t>
            </a:r>
            <a:endParaRPr lang="en-US" sz="900" dirty="0"/>
          </a:p>
        </p:txBody>
      </p:sp>
      <p:sp>
        <p:nvSpPr>
          <p:cNvPr id="16" name="Text 14"/>
          <p:cNvSpPr/>
          <p:nvPr/>
        </p:nvSpPr>
        <p:spPr>
          <a:xfrm>
            <a:off x="4937760" y="3749040"/>
            <a:ext cx="35661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0D1F14"/>
                </a:solidFill>
              </a:rPr>
              <a:t>Enable 12 Lending markets in 18 months at half the GTM cost</a:t>
            </a:r>
            <a:endParaRPr lang="en-US" sz="900" dirty="0"/>
          </a:p>
        </p:txBody>
      </p:sp>
      <p:sp>
        <p:nvSpPr>
          <p:cNvPr id="17" name="Text 15"/>
          <p:cNvSpPr/>
          <p:nvPr/>
        </p:nvSpPr>
        <p:spPr>
          <a:xfrm>
            <a:off x="4937760" y="4297680"/>
            <a:ext cx="35661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0D1F14"/>
                </a:solidFill>
              </a:rPr>
              <a:t>Flywheel: VerticalIQ learns from each launch</a:t>
            </a:r>
            <a:endParaRPr lang="en-US" sz="9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0D1F1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274320" y="274320"/>
            <a:ext cx="859536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8B92A5"/>
                </a:solidFill>
              </a:rPr>
              <a:t>ROLLOUT PLAN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457200" y="73152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</a:rPr>
              <a:t>Three Phases — Zero Risk Build to Full Vertical Expansion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457200" y="1371600"/>
            <a:ext cx="8229600" cy="1463040"/>
          </a:xfrm>
          <a:prstGeom prst="rect">
            <a:avLst/>
          </a:prstGeom>
          <a:solidFill>
            <a:srgbClr val="0F2A1A"/>
          </a:solidFill>
          <a:ln w="12700">
            <a:solidFill>
              <a:srgbClr val="00C853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640080" y="1508760"/>
            <a:ext cx="78638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0C853"/>
                </a:solidFill>
              </a:rPr>
              <a:t>Phase 1: Pilot VerticalIQ (Month 1–2)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822960" y="1874520"/>
            <a:ext cx="74980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FFFFFF"/>
                </a:solidFill>
              </a:rPr>
              <a:t>• Deploy VerticalIQ for Lending vertical (Poland + Czech)</a:t>
            </a:r>
            <a:endParaRPr lang="en-US" sz="800" dirty="0"/>
          </a:p>
        </p:txBody>
      </p:sp>
      <p:sp>
        <p:nvSpPr>
          <p:cNvPr id="7" name="Text 5"/>
          <p:cNvSpPr/>
          <p:nvPr/>
        </p:nvSpPr>
        <p:spPr>
          <a:xfrm>
            <a:off x="822960" y="2148840"/>
            <a:ext cx="74980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FFFFFF"/>
                </a:solidFill>
              </a:rPr>
              <a:t>• Scrape Wise, N26, Chime daily; aggregate intel</a:t>
            </a:r>
            <a:endParaRPr lang="en-US" sz="800" dirty="0"/>
          </a:p>
        </p:txBody>
      </p:sp>
      <p:sp>
        <p:nvSpPr>
          <p:cNvPr id="8" name="Shape 6"/>
          <p:cNvSpPr/>
          <p:nvPr/>
        </p:nvSpPr>
        <p:spPr>
          <a:xfrm>
            <a:off x="457200" y="2971800"/>
            <a:ext cx="8229600" cy="1463040"/>
          </a:xfrm>
          <a:prstGeom prst="rect">
            <a:avLst/>
          </a:prstGeom>
          <a:solidFill>
            <a:srgbClr val="0F2A1A"/>
          </a:solidFill>
          <a:ln w="12700">
            <a:solidFill>
              <a:srgbClr val="00C853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640080" y="3108960"/>
            <a:ext cx="78638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0C853"/>
                </a:solidFill>
              </a:rPr>
              <a:t>Phase 2: Vertical Expansion (Month 3–4)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822960" y="3474720"/>
            <a:ext cx="74980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FFFFFF"/>
                </a:solidFill>
              </a:rPr>
              <a:t>• Roll out to Wealth + Cards verticals</a:t>
            </a:r>
            <a:endParaRPr lang="en-US" sz="800" dirty="0"/>
          </a:p>
        </p:txBody>
      </p:sp>
      <p:sp>
        <p:nvSpPr>
          <p:cNvPr id="11" name="Text 9"/>
          <p:cNvSpPr/>
          <p:nvPr/>
        </p:nvSpPr>
        <p:spPr>
          <a:xfrm>
            <a:off x="822960" y="3749040"/>
            <a:ext cx="74980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FFFFFF"/>
                </a:solidFill>
              </a:rPr>
              <a:t>• Run A/B: VerticalIQ vs manual GTM (control market)</a:t>
            </a:r>
            <a:endParaRPr lang="en-US" sz="800" dirty="0"/>
          </a:p>
        </p:txBody>
      </p:sp>
      <p:sp>
        <p:nvSpPr>
          <p:cNvPr id="12" name="Shape 10"/>
          <p:cNvSpPr/>
          <p:nvPr/>
        </p:nvSpPr>
        <p:spPr>
          <a:xfrm>
            <a:off x="457200" y="4572000"/>
            <a:ext cx="8229600" cy="1463040"/>
          </a:xfrm>
          <a:prstGeom prst="rect">
            <a:avLst/>
          </a:prstGeom>
          <a:solidFill>
            <a:srgbClr val="0F2A1A"/>
          </a:solidFill>
          <a:ln w="12700">
            <a:solidFill>
              <a:srgbClr val="00C853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640080" y="4709160"/>
            <a:ext cx="78638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0C853"/>
                </a:solidFill>
              </a:rPr>
              <a:t>Phase 3: Full Scale (Month 5–6)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822960" y="5074920"/>
            <a:ext cx="74980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FFFFFF"/>
                </a:solidFill>
              </a:rPr>
              <a:t>• VerticalIQ becomes default for all verticals</a:t>
            </a:r>
            <a:endParaRPr lang="en-US" sz="800" dirty="0"/>
          </a:p>
        </p:txBody>
      </p:sp>
      <p:sp>
        <p:nvSpPr>
          <p:cNvPr id="15" name="Text 13"/>
          <p:cNvSpPr/>
          <p:nvPr/>
        </p:nvSpPr>
        <p:spPr>
          <a:xfrm>
            <a:off x="822960" y="5349240"/>
            <a:ext cx="74980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FFFFFF"/>
                </a:solidFill>
              </a:rPr>
              <a:t>• Scale from 3 → 12 markets (Lending across EEMEA)</a:t>
            </a:r>
            <a:endParaRPr lang="en-US" sz="800" dirty="0"/>
          </a:p>
        </p:txBody>
      </p:sp>
      <p:sp>
        <p:nvSpPr>
          <p:cNvPr id="16" name="Shape 14"/>
          <p:cNvSpPr/>
          <p:nvPr/>
        </p:nvSpPr>
        <p:spPr>
          <a:xfrm>
            <a:off x="457200" y="5943600"/>
            <a:ext cx="8229600" cy="731520"/>
          </a:xfrm>
          <a:prstGeom prst="rect">
            <a:avLst/>
          </a:prstGeom>
          <a:solidFill>
            <a:srgbClr val="0F2A1A"/>
          </a:solidFill>
          <a:ln w="25400">
            <a:solidFill>
              <a:srgbClr val="FF6B35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640080" y="6035040"/>
            <a:ext cx="78638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F6B35"/>
                </a:solidFill>
              </a:rPr>
              <a:t>What I Need: Data access (competitor app data) · 1 engineer (scraping + aggregation) · Alignment with vertical product leads</a:t>
            </a:r>
            <a:endParaRPr lang="en-US" sz="1000" dirty="0"/>
          </a:p>
        </p:txBody>
      </p:sp>
      <p:sp>
        <p:nvSpPr>
          <p:cNvPr id="18" name="Text 16"/>
          <p:cNvSpPr/>
          <p:nvPr/>
        </p:nvSpPr>
        <p:spPr>
          <a:xfrm>
            <a:off x="457200" y="6537960"/>
            <a:ext cx="82296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8B92A5"/>
                </a:solidFill>
              </a:rPr>
              <a:t>Ajay Avaghade | avaghadeajay009@gmail.com | +91 9561558439</a:t>
            </a:r>
            <a:endParaRPr lang="en-US" sz="9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8</Slides>
  <Notes>8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1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2026-06-03T18:03:30Z</dcterms:created>
  <dcterms:modified xsi:type="dcterms:W3CDTF">2026-06-03T18:03:30Z</dcterms:modified>
</cp:coreProperties>
</file>