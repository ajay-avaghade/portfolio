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800000">
            <a:off x="-457200" y="0"/>
            <a:ext cx="3200400" cy="5143500"/>
          </a:xfrm>
          <a:prstGeom prst="line">
            <a:avLst/>
          </a:prstGeom>
          <a:noFill/>
          <a:ln w="5080">
            <a:solidFill>
              <a:srgbClr val="00C6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800000">
            <a:off x="1554480" y="0"/>
            <a:ext cx="3200400" cy="5143500"/>
          </a:xfrm>
          <a:prstGeom prst="line">
            <a:avLst/>
          </a:prstGeom>
          <a:noFill/>
          <a:ln w="5080">
            <a:solidFill>
              <a:srgbClr val="00C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1800000">
            <a:off x="3566160" y="0"/>
            <a:ext cx="3200400" cy="5143500"/>
          </a:xfrm>
          <a:prstGeom prst="line">
            <a:avLst/>
          </a:prstGeom>
          <a:noFill/>
          <a:ln w="5080">
            <a:solidFill>
              <a:srgbClr val="00C6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1800000">
            <a:off x="5577840" y="0"/>
            <a:ext cx="3200400" cy="5143500"/>
          </a:xfrm>
          <a:prstGeom prst="line">
            <a:avLst/>
          </a:prstGeom>
          <a:noFill/>
          <a:ln w="5080">
            <a:solidFill>
              <a:srgbClr val="00C6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800000">
            <a:off x="7589520" y="0"/>
            <a:ext cx="1417320" cy="5143500"/>
          </a:xfrm>
          <a:prstGeom prst="line">
            <a:avLst/>
          </a:prstGeom>
          <a:noFill/>
          <a:ln w="5080">
            <a:solidFill>
              <a:srgbClr val="00C6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37744"/>
            <a:ext cx="2743200" cy="237744"/>
          </a:xfrm>
          <a:prstGeom prst="roundRect">
            <a:avLst>
              <a:gd name="adj" fmla="val 19231"/>
            </a:avLst>
          </a:prstGeom>
          <a:solidFill>
            <a:srgbClr val="00C6FF">
              <a:alpha val="12000"/>
            </a:srgbClr>
          </a:solidFill>
          <a:ln w="6350">
            <a:solidFill>
              <a:srgbClr val="00C6FF">
                <a:alpha val="5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37744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C6FF"/>
                </a:solidFill>
              </a:rPr>
              <a:t>CIRCLES — MENA DIGITAL BRAND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457200" y="658368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SmartPlan</a:t>
            </a:r>
            <a:endParaRPr lang="en-US" sz="6000" dirty="0"/>
          </a:p>
        </p:txBody>
      </p:sp>
      <p:sp>
        <p:nvSpPr>
          <p:cNvPr id="10" name="Shape 8"/>
          <p:cNvSpPr/>
          <p:nvPr/>
        </p:nvSpPr>
        <p:spPr>
          <a:xfrm>
            <a:off x="457200" y="1572768"/>
            <a:ext cx="1828800" cy="45720"/>
          </a:xfrm>
          <a:prstGeom prst="rect">
            <a:avLst/>
          </a:prstGeom>
          <a:solidFill>
            <a:srgbClr val="00C6FF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1719072"/>
            <a:ext cx="6583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C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Plan Personalisation for Digital Telco Subscribers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2157984"/>
            <a:ext cx="6400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7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Presented by Ajay Avaghade  ·  Product Manager — AI/ML &amp; Consumer Growth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492240" y="3474720"/>
            <a:ext cx="2423160" cy="1417320"/>
          </a:xfrm>
          <a:prstGeom prst="roundRect">
            <a:avLst>
              <a:gd name="adj" fmla="val 6452"/>
            </a:avLst>
          </a:prstGeom>
          <a:solidFill>
            <a:srgbClr val="0D1826"/>
          </a:solidFill>
          <a:ln w="12700">
            <a:solidFill>
              <a:srgbClr val="00C6FF">
                <a:alpha val="55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3547872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34%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6492240" y="4224528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09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subscribers on the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709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plan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C6FF"/>
                </a:solidFill>
              </a:rPr>
              <a:t>THE PROBLEM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420624"/>
            <a:ext cx="82296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One-Size Plans Drive Churn Before You Can See It Coming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2651760" cy="2560320"/>
          </a:xfrm>
          <a:prstGeom prst="roundRect">
            <a:avLst>
              <a:gd name="adj" fmla="val 4286"/>
            </a:avLst>
          </a:prstGeom>
          <a:solidFill>
            <a:srgbClr val="0D1826"/>
          </a:solidFill>
          <a:ln w="635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170432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572768"/>
            <a:ext cx="26517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0C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34%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Mismatch Rate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2487168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09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Subscribers on the wrong plan in mature digital telco markets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291840" y="1051560"/>
            <a:ext cx="2651760" cy="2560320"/>
          </a:xfrm>
          <a:prstGeom prst="roundRect">
            <a:avLst>
              <a:gd name="adj" fmla="val 4286"/>
            </a:avLst>
          </a:prstGeom>
          <a:solidFill>
            <a:srgbClr val="0D1826"/>
          </a:solidFill>
          <a:ln w="635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1170432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📉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291840" y="1572768"/>
            <a:ext cx="26517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0C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3.2×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291840" y="21945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Higher Churn Risk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29000" y="2487168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09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Mismatched users churn at 3.2× the rate of plan-fit subscribers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26480" y="1051560"/>
            <a:ext cx="2651760" cy="2560320"/>
          </a:xfrm>
          <a:prstGeom prst="roundRect">
            <a:avLst>
              <a:gd name="adj" fmla="val 4286"/>
            </a:avLst>
          </a:prstGeom>
          <a:solidFill>
            <a:srgbClr val="0D1826"/>
          </a:solidFill>
          <a:ln w="6350">
            <a:solidFill>
              <a:srgbClr val="00C6FF">
                <a:alpha val="3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26480" y="1170432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💸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126480" y="1572768"/>
            <a:ext cx="26517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0C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28%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6126480" y="21945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Preventable Churn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263640" y="2487168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09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all churn is addressable with right-fit plan detection at the right moment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7200" y="384048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0A1A28"/>
          </a:solidFill>
          <a:ln w="10160">
            <a:solidFill>
              <a:srgbClr val="00C6FF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7863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0B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 cause: Static plan portfolios treat all subscribers identically. Without usage intelligence, mismatched subscribers silently churn — and winback costs 5× more than prevention.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B82F6"/>
                </a:solidFill>
              </a:rPr>
              <a:t>THE INSIGHT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420624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0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Churn Isn't a Price Problem — It's a Plan Fit Problem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3657600" cy="2743200"/>
          </a:xfrm>
          <a:prstGeom prst="roundRect">
            <a:avLst>
              <a:gd name="adj" fmla="val 3333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115568"/>
            <a:ext cx="3474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 Static Plans (Current)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517904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Same plan options for all subscribers — no usage intelligence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920240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 signal until bill shock or cancellation request arrives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2322576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Winback costs 5× more than proactive plan-fit intervention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" y="2724912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ARPU stagnates — upsell requires expensive outbound campaigns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3127248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PM has zero visibility into plan mismatch cohorts or churn risk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005072" y="2240280"/>
            <a:ext cx="438912" cy="43891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05072" y="22402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VS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389120" y="1005840"/>
            <a:ext cx="4297680" cy="2743200"/>
          </a:xfrm>
          <a:prstGeom prst="roundRect">
            <a:avLst>
              <a:gd name="adj" fmla="val 3333"/>
            </a:avLst>
          </a:prstGeom>
          <a:solidFill>
            <a:srgbClr val="F0FAFB"/>
          </a:solidFill>
          <a:ln w="12700">
            <a:solidFill>
              <a:srgbClr val="67E8F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80560" y="1115568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SmartPlan (Proposed)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0" y="1517904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C4A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ML scores each subscriber's 90-day usage across 4 dimensions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92024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C4A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Plan Fit Score (0–100) surfaces at 80% data used and renewal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0" y="2322576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C4A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Personalised recommendation with projected savings shown in-app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0" y="2724912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C4A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Right-sized plan reduces churn risk 3.2× at zero winback cost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0" y="3127248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C4A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Ops dashboard gives PM full cohort visibility and nudge control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895344"/>
            <a:ext cx="8229600" cy="713232"/>
          </a:xfrm>
          <a:prstGeom prst="roundRect">
            <a:avLst>
              <a:gd name="adj" fmla="val 10256"/>
            </a:avLst>
          </a:prstGeom>
          <a:solidFill>
            <a:srgbClr val="E0F7FA"/>
          </a:solidFill>
          <a:ln w="12700">
            <a:solidFill>
              <a:srgbClr val="00C6FF">
                <a:alpha val="7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93192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E4A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insight: The switch only triggers after the subscriber's own usage data validates the recommendation — zero pressure, maximum personalisation, subscriber stays in control.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C6FF"/>
                </a:solidFill>
              </a:rPr>
              <a:t>THE MECHANIC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420624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SmartPlan Works: 5 Steps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84048" y="1005840"/>
            <a:ext cx="1591056" cy="2743200"/>
          </a:xfrm>
          <a:prstGeom prst="roundRect">
            <a:avLst>
              <a:gd name="adj" fmla="val 5747"/>
            </a:avLst>
          </a:prstGeom>
          <a:solidFill>
            <a:srgbClr val="0D1826"/>
          </a:solidFill>
          <a:ln w="7620">
            <a:solidFill>
              <a:srgbClr val="00C6FF">
                <a:alpha val="3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84048" y="1097280"/>
            <a:ext cx="159105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C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1572768"/>
            <a:ext cx="14447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Ingestion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1444752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09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days: data usage, peak hours, roaming frequency, voice mins, add-on utilisation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075688" y="1005840"/>
            <a:ext cx="1591056" cy="2743200"/>
          </a:xfrm>
          <a:prstGeom prst="roundRect">
            <a:avLst>
              <a:gd name="adj" fmla="val 5747"/>
            </a:avLst>
          </a:prstGeom>
          <a:solidFill>
            <a:srgbClr val="0D1826"/>
          </a:solidFill>
          <a:ln w="7620">
            <a:solidFill>
              <a:srgbClr val="00C6FF">
                <a:alpha val="35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75688" y="1097280"/>
            <a:ext cx="159105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C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148840" y="1572768"/>
            <a:ext cx="14447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148840" y="2103120"/>
            <a:ext cx="1444752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09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Fit Score (0–100) + cohort tag: Over-Data, Roaming Candidate, Under-Used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767328" y="1005840"/>
            <a:ext cx="1591056" cy="2743200"/>
          </a:xfrm>
          <a:prstGeom prst="roundRect">
            <a:avLst>
              <a:gd name="adj" fmla="val 5747"/>
            </a:avLst>
          </a:prstGeom>
          <a:solidFill>
            <a:srgbClr val="0D1826"/>
          </a:solidFill>
          <a:ln w="7620">
            <a:solidFill>
              <a:srgbClr val="00C6FF">
                <a:alpha val="35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67328" y="1097280"/>
            <a:ext cx="159105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C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840480" y="1572768"/>
            <a:ext cx="14447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840480" y="2103120"/>
            <a:ext cx="1444752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09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Maps user to optimal plan; calculates projected ARPU delta and personalised savings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458968" y="1005840"/>
            <a:ext cx="1591056" cy="2743200"/>
          </a:xfrm>
          <a:prstGeom prst="roundRect">
            <a:avLst>
              <a:gd name="adj" fmla="val 5747"/>
            </a:avLst>
          </a:prstGeom>
          <a:solidFill>
            <a:srgbClr val="0D1826"/>
          </a:solidFill>
          <a:ln w="7620">
            <a:solidFill>
              <a:srgbClr val="00C6FF">
                <a:alpha val="35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58968" y="1097280"/>
            <a:ext cx="159105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C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532120" y="1572768"/>
            <a:ext cx="14447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Nudge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532120" y="2103120"/>
            <a:ext cx="1444752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09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SmartPlan card surfaces at 80% data, billing renewal, post-travel, or bill shock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7150608" y="1005840"/>
            <a:ext cx="1591056" cy="2743200"/>
          </a:xfrm>
          <a:prstGeom prst="roundRect">
            <a:avLst>
              <a:gd name="adj" fmla="val 5747"/>
            </a:avLst>
          </a:prstGeom>
          <a:solidFill>
            <a:srgbClr val="0D1826"/>
          </a:solidFill>
          <a:ln w="7620">
            <a:solidFill>
              <a:srgbClr val="00C6FF">
                <a:alpha val="35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50608" y="1097280"/>
            <a:ext cx="159105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C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7223760" y="1572768"/>
            <a:ext cx="14447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Track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223760" y="2103120"/>
            <a:ext cx="1444752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09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One-tap switch; 90-day outcome tracked against Plan Fit, ARPU delta, churn rate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57200" y="3895344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0A1A28"/>
          </a:solidFill>
          <a:ln w="10160">
            <a:solidFill>
              <a:srgbClr val="F97316">
                <a:alpha val="55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3931920"/>
            <a:ext cx="7863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FDBA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A/B proof at PhonePe: Behaviour-linked incentive (Rent Waiver) vs flat discount → 60% improvement in 90-day device activation. Same trigger-and-track architecture as SmartPlan's nudge engine.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B82F6"/>
                </a:solidFill>
              </a:rPr>
              <a:t>THE PRODUCT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420624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0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Key Screen States — Built for the Circles MENA App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47472" y="987552"/>
            <a:ext cx="1993392" cy="3931920"/>
          </a:xfrm>
          <a:prstGeom prst="roundRect">
            <a:avLst>
              <a:gd name="adj" fmla="val 5505"/>
            </a:avLst>
          </a:prstGeom>
          <a:solidFill>
            <a:srgbClr val="060D1A"/>
          </a:solidFill>
          <a:ln w="7620">
            <a:solidFill>
              <a:srgbClr val="00C6FF">
                <a:alpha val="4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7472" y="1078992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C6FF"/>
                </a:solidFill>
              </a:rPr>
              <a:t>01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20624" y="1371600"/>
            <a:ext cx="1847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Plan Home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57200" y="1700784"/>
            <a:ext cx="1773936" cy="1554480"/>
          </a:xfrm>
          <a:prstGeom prst="roundRect">
            <a:avLst>
              <a:gd name="adj" fmla="val 3529"/>
            </a:avLst>
          </a:prstGeom>
          <a:solidFill>
            <a:srgbClr val="0D1826"/>
          </a:solidFill>
          <a:ln w="6350">
            <a:solidFill>
              <a:srgbClr val="1A28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737360"/>
            <a:ext cx="1737360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90B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[circles.life]   🔔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90B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─────────────────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90B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Active Plan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90B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Base 20GB · AED 89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90B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████████████░ 18.2GB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90B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Fit: 62/100 ⚠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90B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─────────────────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90B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💡 Better plan found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90B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[View SmartPlan →]</a:t>
            </a:r>
            <a:endParaRPr lang="en-US" sz="580" dirty="0"/>
          </a:p>
        </p:txBody>
      </p:sp>
      <p:sp>
        <p:nvSpPr>
          <p:cNvPr id="9" name="Text 7"/>
          <p:cNvSpPr/>
          <p:nvPr/>
        </p:nvSpPr>
        <p:spPr>
          <a:xfrm>
            <a:off x="420624" y="3310128"/>
            <a:ext cx="184708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6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ring + Plan Fit Score (62/100) + SmartPlan banner when fit &lt; 75 or data &gt; 80%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478024" y="987552"/>
            <a:ext cx="1993392" cy="3931920"/>
          </a:xfrm>
          <a:prstGeom prst="roundRect">
            <a:avLst>
              <a:gd name="adj" fmla="val 5505"/>
            </a:avLst>
          </a:prstGeom>
          <a:solidFill>
            <a:srgbClr val="060D1A"/>
          </a:solidFill>
          <a:ln w="7620">
            <a:solidFill>
              <a:srgbClr val="00C6FF">
                <a:alpha val="45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78024" y="1078992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C6FF"/>
                </a:solidFill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51176" y="1371600"/>
            <a:ext cx="1847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SmartPlan Analyzer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587752" y="1700784"/>
            <a:ext cx="1773936" cy="1554480"/>
          </a:xfrm>
          <a:prstGeom prst="roundRect">
            <a:avLst>
              <a:gd name="adj" fmla="val 3529"/>
            </a:avLst>
          </a:prstGeom>
          <a:solidFill>
            <a:srgbClr val="0D1826"/>
          </a:solidFill>
          <a:ln w="6350">
            <a:solidFill>
              <a:srgbClr val="1A28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06040" y="1737360"/>
            <a:ext cx="1737360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90B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SmartPlan Analysis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90B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─────────────────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90B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Usage (90 days)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90B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Data: ████████ 19.1G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90B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Roam: █████░░ 3 ctry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90B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Voice: █░░░░░  42min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90B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─────────────────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90B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✦ Smart 30GB AED 89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90B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Fit: 62 → 94 ↑↑↑</a:t>
            </a:r>
            <a:endParaRPr lang="en-US" sz="580" dirty="0"/>
          </a:p>
        </p:txBody>
      </p:sp>
      <p:sp>
        <p:nvSpPr>
          <p:cNvPr id="15" name="Text 13"/>
          <p:cNvSpPr/>
          <p:nvPr/>
        </p:nvSpPr>
        <p:spPr>
          <a:xfrm>
            <a:off x="2551176" y="3310128"/>
            <a:ext cx="184708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6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90-day usage breakdown + ML recommendation card showing Plan Fit uplift 62→94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608576" y="987552"/>
            <a:ext cx="1993392" cy="3931920"/>
          </a:xfrm>
          <a:prstGeom prst="roundRect">
            <a:avLst>
              <a:gd name="adj" fmla="val 5505"/>
            </a:avLst>
          </a:prstGeom>
          <a:solidFill>
            <a:srgbClr val="060D1A"/>
          </a:solidFill>
          <a:ln w="7620">
            <a:solidFill>
              <a:srgbClr val="00C6FF">
                <a:alpha val="45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08576" y="1078992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C6FF"/>
                </a:solidFill>
              </a:rPr>
              <a:t>03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681728" y="1371600"/>
            <a:ext cx="1847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 Confirmed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718304" y="1700784"/>
            <a:ext cx="1773936" cy="1554480"/>
          </a:xfrm>
          <a:prstGeom prst="roundRect">
            <a:avLst>
              <a:gd name="adj" fmla="val 3529"/>
            </a:avLst>
          </a:prstGeom>
          <a:solidFill>
            <a:srgbClr val="0D1826"/>
          </a:solidFill>
          <a:ln w="6350">
            <a:solidFill>
              <a:srgbClr val="1A28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36592" y="1737360"/>
            <a:ext cx="1737360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90B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🎉 Plan Switched!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90B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─────────────────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90B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Circles Smart 30GB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90B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Activates midnight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90B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─────────────────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90B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Data    20→30 GB ↑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90B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Roaming  No→10ct ↑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90B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Cost  AED 89→89 ✓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90B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Fit    62→94/100 ✓</a:t>
            </a:r>
            <a:endParaRPr lang="en-US" sz="580" dirty="0"/>
          </a:p>
        </p:txBody>
      </p:sp>
      <p:sp>
        <p:nvSpPr>
          <p:cNvPr id="21" name="Text 19"/>
          <p:cNvSpPr/>
          <p:nvPr/>
        </p:nvSpPr>
        <p:spPr>
          <a:xfrm>
            <a:off x="4681728" y="3310128"/>
            <a:ext cx="184708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6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Confetti + before/after: +10GB, free roaming, same price, Plan Fit 94/100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739128" y="987552"/>
            <a:ext cx="1993392" cy="3931920"/>
          </a:xfrm>
          <a:prstGeom prst="roundRect">
            <a:avLst>
              <a:gd name="adj" fmla="val 5505"/>
            </a:avLst>
          </a:prstGeom>
          <a:solidFill>
            <a:srgbClr val="060D1A"/>
          </a:solidFill>
          <a:ln w="7620">
            <a:solidFill>
              <a:srgbClr val="00C6FF">
                <a:alpha val="45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39128" y="1078992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C6FF"/>
                </a:solidFill>
              </a:rPr>
              <a:t>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812280" y="1371600"/>
            <a:ext cx="1847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Ops Intelligence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848856" y="1700784"/>
            <a:ext cx="1773936" cy="1554480"/>
          </a:xfrm>
          <a:prstGeom prst="roundRect">
            <a:avLst>
              <a:gd name="adj" fmla="val 3529"/>
            </a:avLst>
          </a:prstGeom>
          <a:solidFill>
            <a:srgbClr val="0D1826"/>
          </a:solidFill>
          <a:ln w="6350">
            <a:solidFill>
              <a:srgbClr val="1A284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67144" y="1737360"/>
            <a:ext cx="1737360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90B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SmartPlan Intel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90B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─────────────────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90B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Mismatch  34% ⚠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90B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Churn Risk 3.2× ⚠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90B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Avg Fit Score: 62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90B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─────────────────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90B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Overage  8,420 usr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90B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Unused  12,300 usr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90B8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ARPU@Risk AED 2.1M</a:t>
            </a:r>
            <a:endParaRPr lang="en-US" sz="580" dirty="0"/>
          </a:p>
        </p:txBody>
      </p:sp>
      <p:sp>
        <p:nvSpPr>
          <p:cNvPr id="27" name="Text 25"/>
          <p:cNvSpPr/>
          <p:nvPr/>
        </p:nvSpPr>
        <p:spPr>
          <a:xfrm>
            <a:off x="6812280" y="3310128"/>
            <a:ext cx="184708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6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view: mismatch cohorts, ARPU at risk (AED 2.1M), churn segments, nudge launcher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C6FF"/>
                </a:solidFill>
              </a:rPr>
              <a:t>IMPACT &amp; ROI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420624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Projected Impact — Built on PhonePe Proof Points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3977640" cy="292608"/>
          </a:xfrm>
          <a:prstGeom prst="roundRect">
            <a:avLst>
              <a:gd name="adj" fmla="val 15625"/>
            </a:avLst>
          </a:prstGeom>
          <a:solidFill>
            <a:srgbClr val="0D1826"/>
          </a:solidFill>
          <a:ln w="6350">
            <a:solidFill>
              <a:srgbClr val="00C6FF">
                <a:alpha val="5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005840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C6FF"/>
                </a:solidFill>
              </a:rPr>
              <a:t>SUBSCRIBER IMPACT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65760" y="1389888"/>
            <a:ext cx="3977640" cy="603504"/>
          </a:xfrm>
          <a:prstGeom prst="roundRect">
            <a:avLst>
              <a:gd name="adj" fmla="val 12121"/>
            </a:avLst>
          </a:prstGeom>
          <a:solidFill>
            <a:srgbClr val="0D1826"/>
          </a:solidFill>
          <a:ln w="6350">
            <a:solidFill>
              <a:srgbClr val="1A30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26464"/>
            <a:ext cx="11887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C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↑ 28%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783080" y="146304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09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Right-fit plan adoption within 90 days of SmartPlan launch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2066544"/>
            <a:ext cx="3977640" cy="603504"/>
          </a:xfrm>
          <a:prstGeom prst="roundRect">
            <a:avLst>
              <a:gd name="adj" fmla="val 12121"/>
            </a:avLst>
          </a:prstGeom>
          <a:solidFill>
            <a:srgbClr val="0D1826"/>
          </a:solidFill>
          <a:ln w="6350">
            <a:solidFill>
              <a:srgbClr val="1A30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103120"/>
            <a:ext cx="11887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C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31%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783080" y="2139696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09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Churn rate in mismatched subscriber cohort post-intervention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65760" y="2743200"/>
            <a:ext cx="3977640" cy="603504"/>
          </a:xfrm>
          <a:prstGeom prst="roundRect">
            <a:avLst>
              <a:gd name="adj" fmla="val 12121"/>
            </a:avLst>
          </a:prstGeom>
          <a:solidFill>
            <a:srgbClr val="0D1826"/>
          </a:solidFill>
          <a:ln w="6350">
            <a:solidFill>
              <a:srgbClr val="1A30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779776"/>
            <a:ext cx="11887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C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94/100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783080" y="281635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09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Plan Fit Score after switch (vs 62 baseline)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3419856"/>
            <a:ext cx="3977640" cy="603504"/>
          </a:xfrm>
          <a:prstGeom prst="roundRect">
            <a:avLst>
              <a:gd name="adj" fmla="val 12121"/>
            </a:avLst>
          </a:prstGeom>
          <a:solidFill>
            <a:srgbClr val="0D1826"/>
          </a:solidFill>
          <a:ln w="6350">
            <a:solidFill>
              <a:srgbClr val="1A30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456432"/>
            <a:ext cx="11887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C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4 min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783080" y="3493008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09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from recommendation surfaced to plan switch confirmed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1005840"/>
            <a:ext cx="4114800" cy="292608"/>
          </a:xfrm>
          <a:prstGeom prst="roundRect">
            <a:avLst>
              <a:gd name="adj" fmla="val 15625"/>
            </a:avLst>
          </a:prstGeom>
          <a:solidFill>
            <a:srgbClr val="0A1C14"/>
          </a:solidFill>
          <a:ln w="6350">
            <a:solidFill>
              <a:srgbClr val="22C55E">
                <a:alpha val="5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0" y="100584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C55E"/>
                </a:solidFill>
              </a:rPr>
              <a:t>BUSINESS ROI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663440" y="1389888"/>
            <a:ext cx="4114800" cy="603504"/>
          </a:xfrm>
          <a:prstGeom prst="roundRect">
            <a:avLst>
              <a:gd name="adj" fmla="val 12121"/>
            </a:avLst>
          </a:prstGeom>
          <a:solidFill>
            <a:srgbClr val="080F08"/>
          </a:solidFill>
          <a:ln w="6350">
            <a:solidFill>
              <a:srgbClr val="0F2A1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09160" y="1426464"/>
            <a:ext cx="1417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+AED 8.40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217920" y="146304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7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ARPU uplift per switched subscriber per month via fit-based upsell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663440" y="2066544"/>
            <a:ext cx="4114800" cy="603504"/>
          </a:xfrm>
          <a:prstGeom prst="roundRect">
            <a:avLst>
              <a:gd name="adj" fmla="val 12121"/>
            </a:avLst>
          </a:prstGeom>
          <a:solidFill>
            <a:srgbClr val="080F08"/>
          </a:solidFill>
          <a:ln w="6350">
            <a:solidFill>
              <a:srgbClr val="0F2A1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09160" y="2103120"/>
            <a:ext cx="1417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3.2× ↓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217920" y="2139696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7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Churn risk reduction in targeted cohort vs non-intervened control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663440" y="2743200"/>
            <a:ext cx="4114800" cy="603504"/>
          </a:xfrm>
          <a:prstGeom prst="roundRect">
            <a:avLst>
              <a:gd name="adj" fmla="val 12121"/>
            </a:avLst>
          </a:prstGeom>
          <a:solidFill>
            <a:srgbClr val="080F08"/>
          </a:solidFill>
          <a:ln w="6350">
            <a:solidFill>
              <a:srgbClr val="0F2A1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09160" y="2779776"/>
            <a:ext cx="1417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AED 2.1M+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217920" y="281635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7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ARPU at risk rescued per 250K-subscriber MENA base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663440" y="3419856"/>
            <a:ext cx="4114800" cy="603504"/>
          </a:xfrm>
          <a:prstGeom prst="roundRect">
            <a:avLst>
              <a:gd name="adj" fmla="val 12121"/>
            </a:avLst>
          </a:prstGeom>
          <a:solidFill>
            <a:srgbClr val="080F08"/>
          </a:solidFill>
          <a:ln w="6350">
            <a:solidFill>
              <a:srgbClr val="0F2A1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09160" y="3456432"/>
            <a:ext cx="1417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22%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217920" y="3493008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7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Reduction in data-cap support contacts within 60 days of launch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65760" y="4206240"/>
            <a:ext cx="8412480" cy="640080"/>
          </a:xfrm>
          <a:prstGeom prst="roundRect">
            <a:avLst>
              <a:gd name="adj" fmla="val 11429"/>
            </a:avLst>
          </a:prstGeom>
          <a:solidFill>
            <a:srgbClr val="0A1A28"/>
          </a:solidFill>
          <a:ln w="10160">
            <a:solidFill>
              <a:srgbClr val="00C6FF">
                <a:alpha val="60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4242816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0B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SmartPlan only triggers after the subscriber's usage data validates the mismatch — zero-cost retention. ARPU uplift is a by-product of right-fit, not aggressive upselling.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B82F6"/>
                </a:solidFill>
              </a:rPr>
              <a:t>PROOF OF WORK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420624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0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I've Built Every Piece of This. Here's the Evidence.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987552"/>
            <a:ext cx="4023360" cy="3657600"/>
          </a:xfrm>
          <a:prstGeom prst="roundRect">
            <a:avLst>
              <a:gd name="adj" fmla="val 3000"/>
            </a:avLst>
          </a:prstGeom>
          <a:solidFill>
            <a:srgbClr val="060D1A"/>
          </a:solidFill>
          <a:ln w="6350">
            <a:solidFill>
              <a:srgbClr val="00C6FF">
                <a:alpha val="4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0972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C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shipped at PhonePe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99616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ML Propensity-to-Transact models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94360" y="1773936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09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Replaced ₹1,000+ Cr/yr of static targeting → 32% spend reduction. Same scoring engine as Plan Fit Score.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2231136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Context-aware trigger engine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94360" y="2505456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09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 × intent × time-of-day signals → 35% AOV uplift. Same architecture as SmartPlan nudge layer.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48640" y="2962656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Ops intelligence dashboard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94360" y="3236976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09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Replaced 6 analyst workflows → TAT 2 days to 4 hours. Same as SmartPlan Intelligence cohort view.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48640" y="3694176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Milestone A/B test framework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3968496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09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Behaviour-linked incentive vs flat discount → 60% device activation uplift. Same BAT structure.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663440" y="987552"/>
            <a:ext cx="4114800" cy="3657600"/>
          </a:xfrm>
          <a:prstGeom prst="roundRect">
            <a:avLst>
              <a:gd name="adj" fmla="val 3000"/>
            </a:avLst>
          </a:prstGeom>
          <a:solidFill>
            <a:srgbClr val="F0F8FB"/>
          </a:solidFill>
          <a:ln w="635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10972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maps to this role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00600" y="149961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0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User-level ML scoring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46320" y="1773936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5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Plan Fit Score (0–100) replacing static plan assignment for MENA subscribers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800600" y="223113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0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Funnel performance tracking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46320" y="2505456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5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KPI ownership across acquisition, plan fit, churn, and ARPU with pre-launch instrumentation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800600" y="296265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0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Cross-functional Agile delivery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846320" y="3236976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5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Product, engineering, DS, commercial, and CS alignment for phased MENA rollout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800600" y="369417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0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Data-to-recommendation loop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846320" y="3968496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5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90-day usage → Plan Fit Score → personalised nudge → switch outcome tracking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C6FF"/>
                </a:solidFill>
              </a:rPr>
              <a:t>ROLLOUT PLAN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420624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Phased Delivery — MENA Digital Brand Launch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84048" y="1005840"/>
            <a:ext cx="2697480" cy="2670048"/>
          </a:xfrm>
          <a:prstGeom prst="roundRect">
            <a:avLst>
              <a:gd name="adj" fmla="val 3425"/>
            </a:avLst>
          </a:prstGeom>
          <a:solidFill>
            <a:srgbClr val="0D1826"/>
          </a:solidFill>
          <a:ln w="12700">
            <a:solidFill>
              <a:srgbClr val="00C6FF">
                <a:alpha val="5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84048" y="1005840"/>
            <a:ext cx="2697480" cy="475488"/>
          </a:xfrm>
          <a:prstGeom prst="roundRect">
            <a:avLst>
              <a:gd name="adj" fmla="val 19231"/>
            </a:avLst>
          </a:prstGeom>
          <a:solidFill>
            <a:srgbClr val="00C6FF">
              <a:alpha val="18000"/>
            </a:srgbClr>
          </a:solidFill>
          <a:ln w="6350">
            <a:solidFill>
              <a:srgbClr val="00C6FF">
                <a:alpha val="6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1042416"/>
            <a:ext cx="2697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C6FF"/>
                </a:solidFill>
              </a:rPr>
              <a:t>Phase 1  ·  Month 1–2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84048" y="1261872"/>
            <a:ext cx="2697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· 5K Subscribers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12064" y="1591056"/>
            <a:ext cx="2423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09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Instrument Plan Fit Score on 5,000 MENA beta users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512064" y="2048256"/>
            <a:ext cx="2423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09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Baseline churn rate, ARPU, and support ticket volume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12064" y="2505456"/>
            <a:ext cx="2423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09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A/B test SmartPlan banner vs control (no intervention)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12064" y="2962656"/>
            <a:ext cx="2423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09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Validate 90-day usage data pipeline with ML team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36976" y="1005840"/>
            <a:ext cx="2697480" cy="2670048"/>
          </a:xfrm>
          <a:prstGeom prst="roundRect">
            <a:avLst>
              <a:gd name="adj" fmla="val 3425"/>
            </a:avLst>
          </a:prstGeom>
          <a:solidFill>
            <a:srgbClr val="0D1826"/>
          </a:solidFill>
          <a:ln w="12700">
            <a:solidFill>
              <a:srgbClr val="3B82F6">
                <a:alpha val="5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36976" y="1005840"/>
            <a:ext cx="2697480" cy="475488"/>
          </a:xfrm>
          <a:prstGeom prst="roundRect">
            <a:avLst>
              <a:gd name="adj" fmla="val 19231"/>
            </a:avLst>
          </a:prstGeom>
          <a:solidFill>
            <a:srgbClr val="3B82F6">
              <a:alpha val="18000"/>
            </a:srgbClr>
          </a:solidFill>
          <a:ln w="6350">
            <a:solidFill>
              <a:srgbClr val="3B82F6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36976" y="1042416"/>
            <a:ext cx="2697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B82F6"/>
                </a:solidFill>
              </a:rPr>
              <a:t>Phase 2  ·  Month 3–4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236976" y="1261872"/>
            <a:ext cx="2697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· 50K Users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64992" y="1591056"/>
            <a:ext cx="2423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09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Expand to 50K; A/B test proactive vs reactive nudge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364992" y="2048256"/>
            <a:ext cx="2423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09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Tune Plan Fit thresholds using pilot churn data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364992" y="2505456"/>
            <a:ext cx="2423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09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Launch Ops Intelligence dashboard for PM &amp; commercial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364992" y="2962656"/>
            <a:ext cx="2423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09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Instrument ARPU delta and 90-day churn outcomes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089904" y="1005840"/>
            <a:ext cx="2697480" cy="2670048"/>
          </a:xfrm>
          <a:prstGeom prst="roundRect">
            <a:avLst>
              <a:gd name="adj" fmla="val 3425"/>
            </a:avLst>
          </a:prstGeom>
          <a:solidFill>
            <a:srgbClr val="0D1826"/>
          </a:solidFill>
          <a:ln w="12700">
            <a:solidFill>
              <a:srgbClr val="22C55E">
                <a:alpha val="5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89904" y="1005840"/>
            <a:ext cx="2697480" cy="475488"/>
          </a:xfrm>
          <a:prstGeom prst="roundRect">
            <a:avLst>
              <a:gd name="adj" fmla="val 19231"/>
            </a:avLst>
          </a:prstGeom>
          <a:solidFill>
            <a:srgbClr val="22C55E">
              <a:alpha val="18000"/>
            </a:srgbClr>
          </a:solidFill>
          <a:ln w="6350">
            <a:solidFill>
              <a:srgbClr val="22C55E">
                <a:alpha val="6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89904" y="1042416"/>
            <a:ext cx="2697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C55E"/>
                </a:solidFill>
              </a:rPr>
              <a:t>Phase 3  ·  Month 5–6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089904" y="1261872"/>
            <a:ext cx="2697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Rollout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217920" y="1591056"/>
            <a:ext cx="2423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09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Deploy to full MENA base with winning nudge variant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217920" y="2048256"/>
            <a:ext cx="2423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09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Integrate Plan Fit Score into new subscriber onboarding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217920" y="2505456"/>
            <a:ext cx="2423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09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Launch upsell module as SmartPlan premium migration path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217920" y="2962656"/>
            <a:ext cx="2423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09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Publish ARPU and churn impact report for investors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84048" y="3840480"/>
            <a:ext cx="5943600" cy="868680"/>
          </a:xfrm>
          <a:prstGeom prst="roundRect">
            <a:avLst>
              <a:gd name="adj" fmla="val 8421"/>
            </a:avLst>
          </a:prstGeom>
          <a:solidFill>
            <a:srgbClr val="0A1A28"/>
          </a:solidFill>
          <a:ln w="10160">
            <a:solidFill>
              <a:srgbClr val="00C6FF">
                <a:alpha val="6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3913632"/>
            <a:ext cx="5760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C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need to build this: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66928" y="4169664"/>
            <a:ext cx="5760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0B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Subscriber usage data access  ·  Commercial/plan team alignment  ·  1 ML engineer  ·  iOS/Android feature slot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05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Ajay Avaghade  ·  avaghadeajay009@gmail.com  ·  +91 9561558439  ·  linkedin.com/in/ajay-avaghade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2026-05-26T14:21:35Z</dcterms:created>
  <dcterms:modified xsi:type="dcterms:W3CDTF">2026-05-26T14:21:35Z</dcterms:modified>
</cp:coreProperties>
</file>