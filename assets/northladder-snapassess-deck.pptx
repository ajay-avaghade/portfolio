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910"/>
        </a:solidFill>
      </p:bgPr>
    </p:bg>
    <p:spTree>
      <p:nvGrpSpPr>
        <p:cNvPr id="1" name=""/>
        <p:cNvGrpSpPr/>
        <p:nvPr/>
      </p:nvGrpSpPr>
      <p:grpSpPr>
        <a:xfrm>
          <a:off x="0" y="0"/>
          <a:ext cx="0" cy="0"/>
          <a:chOff x="0" y="0"/>
          <a:chExt cx="0" cy="0"/>
        </a:xfrm>
      </p:grpSpPr>
      <p:sp>
        <p:nvSpPr>
          <p:cNvPr id="2" name="Shape 0"/>
          <p:cNvSpPr/>
          <p:nvPr/>
        </p:nvSpPr>
        <p:spPr>
          <a:xfrm>
            <a:off x="-182880" y="7772400"/>
            <a:ext cx="36576" cy="7315200"/>
          </a:xfrm>
          <a:prstGeom prst="rect">
            <a:avLst/>
          </a:prstGeom>
          <a:solidFill>
            <a:srgbClr val="00A8FF">
              <a:alpha val="6000"/>
            </a:srgbClr>
          </a:solidFill>
          <a:ln w="12700">
            <a:solidFill>
              <a:srgbClr val="00A8FF">
                <a:alpha val="6000"/>
              </a:srgbClr>
            </a:solidFill>
            <a:prstDash val="solid"/>
          </a:ln>
        </p:spPr>
      </p:sp>
      <p:sp>
        <p:nvSpPr>
          <p:cNvPr id="3" name="Shape 1"/>
          <p:cNvSpPr/>
          <p:nvPr/>
        </p:nvSpPr>
        <p:spPr>
          <a:xfrm>
            <a:off x="475488" y="7223760"/>
            <a:ext cx="36576" cy="7315200"/>
          </a:xfrm>
          <a:prstGeom prst="rect">
            <a:avLst/>
          </a:prstGeom>
          <a:solidFill>
            <a:srgbClr val="00A8FF">
              <a:alpha val="6000"/>
            </a:srgbClr>
          </a:solidFill>
          <a:ln w="12700">
            <a:solidFill>
              <a:srgbClr val="00A8FF">
                <a:alpha val="6000"/>
              </a:srgbClr>
            </a:solidFill>
            <a:prstDash val="solid"/>
          </a:ln>
        </p:spPr>
      </p:sp>
      <p:sp>
        <p:nvSpPr>
          <p:cNvPr id="4" name="Shape 2"/>
          <p:cNvSpPr/>
          <p:nvPr/>
        </p:nvSpPr>
        <p:spPr>
          <a:xfrm>
            <a:off x="1133856" y="6675120"/>
            <a:ext cx="36576" cy="7315200"/>
          </a:xfrm>
          <a:prstGeom prst="rect">
            <a:avLst/>
          </a:prstGeom>
          <a:solidFill>
            <a:srgbClr val="00A8FF">
              <a:alpha val="6000"/>
            </a:srgbClr>
          </a:solidFill>
          <a:ln w="12700">
            <a:solidFill>
              <a:srgbClr val="00A8FF">
                <a:alpha val="6000"/>
              </a:srgbClr>
            </a:solidFill>
            <a:prstDash val="solid"/>
          </a:ln>
        </p:spPr>
      </p:sp>
      <p:sp>
        <p:nvSpPr>
          <p:cNvPr id="5" name="Shape 3"/>
          <p:cNvSpPr/>
          <p:nvPr/>
        </p:nvSpPr>
        <p:spPr>
          <a:xfrm>
            <a:off x="1792224" y="6126480"/>
            <a:ext cx="36576" cy="7315200"/>
          </a:xfrm>
          <a:prstGeom prst="rect">
            <a:avLst/>
          </a:prstGeom>
          <a:solidFill>
            <a:srgbClr val="00A8FF">
              <a:alpha val="6000"/>
            </a:srgbClr>
          </a:solidFill>
          <a:ln w="12700">
            <a:solidFill>
              <a:srgbClr val="00A8FF">
                <a:alpha val="6000"/>
              </a:srgbClr>
            </a:solidFill>
            <a:prstDash val="solid"/>
          </a:ln>
        </p:spPr>
      </p:sp>
      <p:sp>
        <p:nvSpPr>
          <p:cNvPr id="6" name="Shape 4"/>
          <p:cNvSpPr/>
          <p:nvPr/>
        </p:nvSpPr>
        <p:spPr>
          <a:xfrm>
            <a:off x="2450592" y="5577840"/>
            <a:ext cx="36576" cy="7315200"/>
          </a:xfrm>
          <a:prstGeom prst="rect">
            <a:avLst/>
          </a:prstGeom>
          <a:solidFill>
            <a:srgbClr val="00A8FF">
              <a:alpha val="6000"/>
            </a:srgbClr>
          </a:solidFill>
          <a:ln w="12700">
            <a:solidFill>
              <a:srgbClr val="00A8FF">
                <a:alpha val="6000"/>
              </a:srgbClr>
            </a:solidFill>
            <a:prstDash val="solid"/>
          </a:ln>
        </p:spPr>
      </p:sp>
      <p:sp>
        <p:nvSpPr>
          <p:cNvPr id="7" name="Shape 5"/>
          <p:cNvSpPr/>
          <p:nvPr/>
        </p:nvSpPr>
        <p:spPr>
          <a:xfrm>
            <a:off x="3108960" y="5029200"/>
            <a:ext cx="36576" cy="7315200"/>
          </a:xfrm>
          <a:prstGeom prst="rect">
            <a:avLst/>
          </a:prstGeom>
          <a:solidFill>
            <a:srgbClr val="00A8FF">
              <a:alpha val="6000"/>
            </a:srgbClr>
          </a:solidFill>
          <a:ln w="12700">
            <a:solidFill>
              <a:srgbClr val="00A8FF">
                <a:alpha val="6000"/>
              </a:srgbClr>
            </a:solidFill>
            <a:prstDash val="solid"/>
          </a:ln>
        </p:spPr>
      </p:sp>
      <p:sp>
        <p:nvSpPr>
          <p:cNvPr id="8" name="Shape 6"/>
          <p:cNvSpPr/>
          <p:nvPr/>
        </p:nvSpPr>
        <p:spPr>
          <a:xfrm>
            <a:off x="3767328" y="4480560"/>
            <a:ext cx="36576" cy="7315200"/>
          </a:xfrm>
          <a:prstGeom prst="rect">
            <a:avLst/>
          </a:prstGeom>
          <a:solidFill>
            <a:srgbClr val="00A8FF">
              <a:alpha val="6000"/>
            </a:srgbClr>
          </a:solidFill>
          <a:ln w="12700">
            <a:solidFill>
              <a:srgbClr val="00A8FF">
                <a:alpha val="6000"/>
              </a:srgbClr>
            </a:solidFill>
            <a:prstDash val="solid"/>
          </a:ln>
        </p:spPr>
      </p:sp>
      <p:sp>
        <p:nvSpPr>
          <p:cNvPr id="9" name="Shape 7"/>
          <p:cNvSpPr/>
          <p:nvPr/>
        </p:nvSpPr>
        <p:spPr>
          <a:xfrm>
            <a:off x="4425696" y="3931920"/>
            <a:ext cx="36576" cy="7315200"/>
          </a:xfrm>
          <a:prstGeom prst="rect">
            <a:avLst/>
          </a:prstGeom>
          <a:solidFill>
            <a:srgbClr val="00A8FF">
              <a:alpha val="6000"/>
            </a:srgbClr>
          </a:solidFill>
          <a:ln w="12700">
            <a:solidFill>
              <a:srgbClr val="00A8FF">
                <a:alpha val="6000"/>
              </a:srgbClr>
            </a:solidFill>
            <a:prstDash val="solid"/>
          </a:ln>
        </p:spPr>
      </p:sp>
      <p:sp>
        <p:nvSpPr>
          <p:cNvPr id="10" name="Shape 8"/>
          <p:cNvSpPr/>
          <p:nvPr/>
        </p:nvSpPr>
        <p:spPr>
          <a:xfrm>
            <a:off x="5084064" y="3383280"/>
            <a:ext cx="36576" cy="7315200"/>
          </a:xfrm>
          <a:prstGeom prst="rect">
            <a:avLst/>
          </a:prstGeom>
          <a:solidFill>
            <a:srgbClr val="00A8FF">
              <a:alpha val="6000"/>
            </a:srgbClr>
          </a:solidFill>
          <a:ln w="12700">
            <a:solidFill>
              <a:srgbClr val="00A8FF">
                <a:alpha val="6000"/>
              </a:srgbClr>
            </a:solidFill>
            <a:prstDash val="solid"/>
          </a:ln>
        </p:spPr>
      </p:sp>
      <p:sp>
        <p:nvSpPr>
          <p:cNvPr id="11" name="Shape 9"/>
          <p:cNvSpPr/>
          <p:nvPr/>
        </p:nvSpPr>
        <p:spPr>
          <a:xfrm>
            <a:off x="5742432" y="2834640"/>
            <a:ext cx="36576" cy="7315200"/>
          </a:xfrm>
          <a:prstGeom prst="rect">
            <a:avLst/>
          </a:prstGeom>
          <a:solidFill>
            <a:srgbClr val="00A8FF">
              <a:alpha val="6000"/>
            </a:srgbClr>
          </a:solidFill>
          <a:ln w="12700">
            <a:solidFill>
              <a:srgbClr val="00A8FF">
                <a:alpha val="6000"/>
              </a:srgbClr>
            </a:solidFill>
            <a:prstDash val="solid"/>
          </a:ln>
        </p:spPr>
      </p:sp>
      <p:sp>
        <p:nvSpPr>
          <p:cNvPr id="12" name="Shape 10"/>
          <p:cNvSpPr/>
          <p:nvPr/>
        </p:nvSpPr>
        <p:spPr>
          <a:xfrm>
            <a:off x="6400800" y="2286000"/>
            <a:ext cx="36576" cy="7315200"/>
          </a:xfrm>
          <a:prstGeom prst="rect">
            <a:avLst/>
          </a:prstGeom>
          <a:solidFill>
            <a:srgbClr val="00A8FF">
              <a:alpha val="6000"/>
            </a:srgbClr>
          </a:solidFill>
          <a:ln w="12700">
            <a:solidFill>
              <a:srgbClr val="00A8FF">
                <a:alpha val="6000"/>
              </a:srgbClr>
            </a:solidFill>
            <a:prstDash val="solid"/>
          </a:ln>
        </p:spPr>
      </p:sp>
      <p:sp>
        <p:nvSpPr>
          <p:cNvPr id="13" name="Shape 11"/>
          <p:cNvSpPr/>
          <p:nvPr/>
        </p:nvSpPr>
        <p:spPr>
          <a:xfrm>
            <a:off x="7059168" y="1737360"/>
            <a:ext cx="36576" cy="7315200"/>
          </a:xfrm>
          <a:prstGeom prst="rect">
            <a:avLst/>
          </a:prstGeom>
          <a:solidFill>
            <a:srgbClr val="00A8FF">
              <a:alpha val="6000"/>
            </a:srgbClr>
          </a:solidFill>
          <a:ln w="12700">
            <a:solidFill>
              <a:srgbClr val="00A8FF">
                <a:alpha val="6000"/>
              </a:srgbClr>
            </a:solidFill>
            <a:prstDash val="solid"/>
          </a:ln>
        </p:spPr>
      </p:sp>
      <p:sp>
        <p:nvSpPr>
          <p:cNvPr id="14" name="Shape 12"/>
          <p:cNvSpPr/>
          <p:nvPr/>
        </p:nvSpPr>
        <p:spPr>
          <a:xfrm>
            <a:off x="7717536" y="1188720"/>
            <a:ext cx="36576" cy="7315200"/>
          </a:xfrm>
          <a:prstGeom prst="rect">
            <a:avLst/>
          </a:prstGeom>
          <a:solidFill>
            <a:srgbClr val="00A8FF">
              <a:alpha val="6000"/>
            </a:srgbClr>
          </a:solidFill>
          <a:ln w="12700">
            <a:solidFill>
              <a:srgbClr val="00A8FF">
                <a:alpha val="6000"/>
              </a:srgbClr>
            </a:solidFill>
            <a:prstDash val="solid"/>
          </a:ln>
        </p:spPr>
      </p:sp>
      <p:sp>
        <p:nvSpPr>
          <p:cNvPr id="15" name="Shape 13"/>
          <p:cNvSpPr/>
          <p:nvPr/>
        </p:nvSpPr>
        <p:spPr>
          <a:xfrm>
            <a:off x="8375904" y="640080"/>
            <a:ext cx="36576" cy="7315200"/>
          </a:xfrm>
          <a:prstGeom prst="rect">
            <a:avLst/>
          </a:prstGeom>
          <a:solidFill>
            <a:srgbClr val="00A8FF">
              <a:alpha val="6000"/>
            </a:srgbClr>
          </a:solidFill>
          <a:ln w="12700">
            <a:solidFill>
              <a:srgbClr val="00A8FF">
                <a:alpha val="6000"/>
              </a:srgbClr>
            </a:solidFill>
            <a:prstDash val="solid"/>
          </a:ln>
        </p:spPr>
      </p:sp>
      <p:sp>
        <p:nvSpPr>
          <p:cNvPr id="16" name="Text 14"/>
          <p:cNvSpPr/>
          <p:nvPr/>
        </p:nvSpPr>
        <p:spPr>
          <a:xfrm>
            <a:off x="457200" y="457200"/>
            <a:ext cx="4572000" cy="320040"/>
          </a:xfrm>
          <a:prstGeom prst="rect">
            <a:avLst/>
          </a:prstGeom>
          <a:noFill/>
          <a:ln/>
        </p:spPr>
        <p:txBody>
          <a:bodyPr wrap="square" rtlCol="0" anchor="ctr"/>
          <a:lstStyle/>
          <a:p>
            <a:pPr indent="0" marL="0">
              <a:buNone/>
            </a:pPr>
            <a:r>
              <a:rPr lang="en-US" sz="900" b="1" spc="300" kern="0" dirty="0">
                <a:solidFill>
                  <a:srgbClr val="00A8FF"/>
                </a:solidFill>
                <a:latin typeface="Calibri" pitchFamily="34" charset="0"/>
                <a:ea typeface="Calibri" pitchFamily="34" charset="-122"/>
                <a:cs typeface="Calibri" pitchFamily="34" charset="-120"/>
              </a:rPr>
              <a:t>NorthLadder</a:t>
            </a:r>
            <a:endParaRPr lang="en-US" sz="900" dirty="0"/>
          </a:p>
        </p:txBody>
      </p:sp>
      <p:sp>
        <p:nvSpPr>
          <p:cNvPr id="17" name="Text 15"/>
          <p:cNvSpPr/>
          <p:nvPr/>
        </p:nvSpPr>
        <p:spPr>
          <a:xfrm>
            <a:off x="457200" y="749808"/>
            <a:ext cx="5486400" cy="256032"/>
          </a:xfrm>
          <a:prstGeom prst="rect">
            <a:avLst/>
          </a:prstGeom>
          <a:noFill/>
          <a:ln/>
        </p:spPr>
        <p:txBody>
          <a:bodyPr wrap="square" rtlCol="0" anchor="ctr"/>
          <a:lstStyle/>
          <a:p>
            <a:pPr indent="0" marL="0">
              <a:buNone/>
            </a:pPr>
            <a:r>
              <a:rPr lang="en-US" sz="700" spc="200" kern="0" dirty="0">
                <a:solidFill>
                  <a:srgbClr val="94A3B8"/>
                </a:solidFill>
                <a:latin typeface="Calibri" pitchFamily="34" charset="0"/>
                <a:ea typeface="Calibri" pitchFamily="34" charset="-122"/>
                <a:cs typeface="Calibri" pitchFamily="34" charset="-120"/>
              </a:rPr>
              <a:t>PRODUCT CASE STUDY — FOUNDING PM CANDIDATE</a:t>
            </a:r>
            <a:endParaRPr lang="en-US" sz="700" dirty="0"/>
          </a:p>
        </p:txBody>
      </p:sp>
      <p:sp>
        <p:nvSpPr>
          <p:cNvPr id="18" name="Text 16"/>
          <p:cNvSpPr/>
          <p:nvPr/>
        </p:nvSpPr>
        <p:spPr>
          <a:xfrm>
            <a:off x="457200" y="1188720"/>
            <a:ext cx="7498080" cy="100584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SnapAssess</a:t>
            </a:r>
            <a:endParaRPr lang="en-US" sz="4200" dirty="0"/>
          </a:p>
        </p:txBody>
      </p:sp>
      <p:sp>
        <p:nvSpPr>
          <p:cNvPr id="19" name="Text 17"/>
          <p:cNvSpPr/>
          <p:nvPr/>
        </p:nvSpPr>
        <p:spPr>
          <a:xfrm>
            <a:off x="457200" y="2286000"/>
            <a:ext cx="6858000" cy="45720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AI Device Condition Assessment — Eliminate Disputes. Scale to Zero Ops.</a:t>
            </a:r>
            <a:endParaRPr lang="en-US" sz="1600" dirty="0"/>
          </a:p>
        </p:txBody>
      </p:sp>
      <p:sp>
        <p:nvSpPr>
          <p:cNvPr id="20" name="Shape 18"/>
          <p:cNvSpPr/>
          <p:nvPr/>
        </p:nvSpPr>
        <p:spPr>
          <a:xfrm>
            <a:off x="457200" y="2834640"/>
            <a:ext cx="1645920" cy="45720"/>
          </a:xfrm>
          <a:prstGeom prst="rect">
            <a:avLst/>
          </a:prstGeom>
          <a:solidFill>
            <a:srgbClr val="00A8FF"/>
          </a:solidFill>
          <a:ln w="12700">
            <a:solidFill>
              <a:srgbClr val="00A8FF"/>
            </a:solidFill>
            <a:prstDash val="solid"/>
          </a:ln>
        </p:spPr>
      </p:sp>
      <p:sp>
        <p:nvSpPr>
          <p:cNvPr id="21" name="Text 19"/>
          <p:cNvSpPr/>
          <p:nvPr/>
        </p:nvSpPr>
        <p:spPr>
          <a:xfrm>
            <a:off x="457200" y="3017520"/>
            <a:ext cx="54864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Presented by Ajay Avaghade · Founding PM Candidate · Dubai</a:t>
            </a:r>
            <a:endParaRPr lang="en-US" sz="1000" dirty="0"/>
          </a:p>
        </p:txBody>
      </p:sp>
      <p:sp>
        <p:nvSpPr>
          <p:cNvPr id="22" name="Shape 20"/>
          <p:cNvSpPr/>
          <p:nvPr/>
        </p:nvSpPr>
        <p:spPr>
          <a:xfrm>
            <a:off x="6583680" y="4572000"/>
            <a:ext cx="2286000" cy="1645920"/>
          </a:xfrm>
          <a:prstGeom prst="rect">
            <a:avLst/>
          </a:prstGeom>
          <a:solidFill>
            <a:srgbClr val="00A8FF">
              <a:alpha val="12000"/>
            </a:srgbClr>
          </a:solidFill>
          <a:ln w="12700">
            <a:solidFill>
              <a:srgbClr val="00A8FF">
                <a:alpha val="35000"/>
              </a:srgbClr>
            </a:solidFill>
            <a:prstDash val="solid"/>
          </a:ln>
        </p:spPr>
      </p:sp>
      <p:sp>
        <p:nvSpPr>
          <p:cNvPr id="23" name="Text 21"/>
          <p:cNvSpPr/>
          <p:nvPr/>
        </p:nvSpPr>
        <p:spPr>
          <a:xfrm>
            <a:off x="6583680" y="4754880"/>
            <a:ext cx="2286000" cy="640080"/>
          </a:xfrm>
          <a:prstGeom prst="rect">
            <a:avLst/>
          </a:prstGeom>
          <a:noFill/>
          <a:ln/>
        </p:spPr>
        <p:txBody>
          <a:bodyPr wrap="square" rtlCol="0" anchor="ctr"/>
          <a:lstStyle/>
          <a:p>
            <a:pPr algn="ctr" indent="0" marL="0">
              <a:buNone/>
            </a:pPr>
            <a:r>
              <a:rPr lang="en-US" sz="3200" b="1" dirty="0">
                <a:solidFill>
                  <a:srgbClr val="00A8FF"/>
                </a:solidFill>
                <a:latin typeface="Calibri" pitchFamily="34" charset="0"/>
                <a:ea typeface="Calibri" pitchFamily="34" charset="-122"/>
                <a:cs typeface="Calibri" pitchFamily="34" charset="-120"/>
              </a:rPr>
              <a:t>60%</a:t>
            </a:r>
            <a:endParaRPr lang="en-US" sz="3200" dirty="0"/>
          </a:p>
        </p:txBody>
      </p:sp>
      <p:sp>
        <p:nvSpPr>
          <p:cNvPr id="24" name="Text 22"/>
          <p:cNvSpPr/>
          <p:nvPr/>
        </p:nvSpPr>
        <p:spPr>
          <a:xfrm>
            <a:off x="6492240" y="5349240"/>
            <a:ext cx="2468880" cy="59436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of trade-in disputes from</a:t>
            </a:r>
            <a:endParaRPr lang="en-US" sz="800" dirty="0"/>
          </a:p>
          <a:p>
            <a:pPr algn="ctr" indent="0" marL="0">
              <a:buNone/>
            </a:pPr>
            <a:r>
              <a:rPr lang="en-US" sz="800" dirty="0">
                <a:solidFill>
                  <a:srgbClr val="94A3B8"/>
                </a:solidFill>
                <a:latin typeface="Calibri" pitchFamily="34" charset="0"/>
                <a:ea typeface="Calibri" pitchFamily="34" charset="-122"/>
                <a:cs typeface="Calibri" pitchFamily="34" charset="-120"/>
              </a:rPr>
              <a:t>condition grading mismatch</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910"/>
        </a:solidFill>
      </p:bgPr>
    </p:bg>
    <p:spTree>
      <p:nvGrpSpPr>
        <p:cNvPr id="1" name=""/>
        <p:cNvGrpSpPr/>
        <p:nvPr/>
      </p:nvGrpSpPr>
      <p:grpSpPr>
        <a:xfrm>
          <a:off x="0" y="0"/>
          <a:ext cx="0" cy="0"/>
          <a:chOff x="0" y="0"/>
          <a:chExt cx="0" cy="0"/>
        </a:xfrm>
      </p:grpSpPr>
      <p:sp>
        <p:nvSpPr>
          <p:cNvPr id="2" name="Text 0"/>
          <p:cNvSpPr/>
          <p:nvPr/>
        </p:nvSpPr>
        <p:spPr>
          <a:xfrm>
            <a:off x="457200" y="320040"/>
            <a:ext cx="8229600" cy="256032"/>
          </a:xfrm>
          <a:prstGeom prst="rect">
            <a:avLst/>
          </a:prstGeom>
          <a:noFill/>
          <a:ln/>
        </p:spPr>
        <p:txBody>
          <a:bodyPr wrap="square" rtlCol="0" anchor="ctr"/>
          <a:lstStyle/>
          <a:p>
            <a:pPr indent="0" marL="0">
              <a:buNone/>
            </a:pPr>
            <a:r>
              <a:rPr lang="en-US" sz="900" b="1" spc="300" kern="0" dirty="0">
                <a:solidFill>
                  <a:srgbClr val="00A8FF"/>
                </a:solidFill>
                <a:latin typeface="Calibri" pitchFamily="34" charset="0"/>
                <a:ea typeface="Calibri" pitchFamily="34" charset="-122"/>
                <a:cs typeface="Calibri" pitchFamily="34" charset="-120"/>
              </a:rPr>
              <a:t>THE PROBLEM</a:t>
            </a:r>
            <a:endParaRPr lang="en-US" sz="900" dirty="0"/>
          </a:p>
        </p:txBody>
      </p:sp>
      <p:sp>
        <p:nvSpPr>
          <p:cNvPr id="3" name="Text 1"/>
          <p:cNvSpPr/>
          <p:nvPr/>
        </p:nvSpPr>
        <p:spPr>
          <a:xfrm>
            <a:off x="457200" y="594360"/>
            <a:ext cx="8229600" cy="64008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60% of trade-in disputes come from one gap:</a:t>
            </a:r>
            <a:endParaRPr lang="en-US" sz="2000" dirty="0"/>
          </a:p>
          <a:p>
            <a:pPr indent="0" marL="0">
              <a:buNone/>
            </a:pPr>
            <a:r>
              <a:rPr lang="en-US" sz="2000" b="1" dirty="0">
                <a:solidFill>
                  <a:srgbClr val="FFFFFF"/>
                </a:solidFill>
                <a:latin typeface="Calibri" pitchFamily="34" charset="0"/>
                <a:ea typeface="Calibri" pitchFamily="34" charset="-122"/>
                <a:cs typeface="Calibri" pitchFamily="34" charset="-120"/>
              </a:rPr>
              <a:t>consumer self-report vs. NorthLadder inspection.</a:t>
            </a:r>
            <a:endParaRPr lang="en-US" sz="2000" dirty="0"/>
          </a:p>
        </p:txBody>
      </p:sp>
      <p:sp>
        <p:nvSpPr>
          <p:cNvPr id="4" name="Shape 2"/>
          <p:cNvSpPr/>
          <p:nvPr/>
        </p:nvSpPr>
        <p:spPr>
          <a:xfrm>
            <a:off x="365760" y="1600200"/>
            <a:ext cx="2606040" cy="2651760"/>
          </a:xfrm>
          <a:prstGeom prst="rect">
            <a:avLst/>
          </a:prstGeom>
          <a:solidFill>
            <a:srgbClr val="0D1526"/>
          </a:solidFill>
          <a:ln w="12700">
            <a:solidFill>
              <a:srgbClr val="00A8FF">
                <a:alpha val="25000"/>
              </a:srgbClr>
            </a:solidFill>
            <a:prstDash val="solid"/>
          </a:ln>
          <a:effectLst>
            <a:outerShdw sx="100000" sy="100000" kx="0" ky="0" algn="bl" rotWithShape="0" blurRad="63500" dist="25400" dir="2700000">
              <a:srgbClr val="000000">
                <a:alpha val="15000"/>
              </a:srgbClr>
            </a:outerShdw>
          </a:effectLst>
        </p:spPr>
      </p:sp>
      <p:sp>
        <p:nvSpPr>
          <p:cNvPr id="5" name="Text 3"/>
          <p:cNvSpPr/>
          <p:nvPr/>
        </p:nvSpPr>
        <p:spPr>
          <a:xfrm>
            <a:off x="365760" y="1783080"/>
            <a:ext cx="2606040" cy="640080"/>
          </a:xfrm>
          <a:prstGeom prst="rect">
            <a:avLst/>
          </a:prstGeom>
          <a:noFill/>
          <a:ln/>
        </p:spPr>
        <p:txBody>
          <a:bodyPr wrap="square" rtlCol="0" anchor="ctr"/>
          <a:lstStyle/>
          <a:p>
            <a:pPr algn="ctr" indent="0" marL="0">
              <a:buNone/>
            </a:pPr>
            <a:r>
              <a:rPr lang="en-US" sz="3000" b="1" dirty="0">
                <a:solidFill>
                  <a:srgbClr val="00A8FF"/>
                </a:solidFill>
                <a:latin typeface="Calibri" pitchFamily="34" charset="0"/>
                <a:ea typeface="Calibri" pitchFamily="34" charset="-122"/>
                <a:cs typeface="Calibri" pitchFamily="34" charset="-120"/>
              </a:rPr>
              <a:t>60%</a:t>
            </a:r>
            <a:endParaRPr lang="en-US" sz="3000" dirty="0"/>
          </a:p>
        </p:txBody>
      </p:sp>
      <p:sp>
        <p:nvSpPr>
          <p:cNvPr id="6" name="Text 4"/>
          <p:cNvSpPr/>
          <p:nvPr/>
        </p:nvSpPr>
        <p:spPr>
          <a:xfrm>
            <a:off x="365760" y="2423160"/>
            <a:ext cx="260604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Disputes from</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Condition Mismatch</a:t>
            </a:r>
            <a:endParaRPr lang="en-US" sz="1000" dirty="0"/>
          </a:p>
        </p:txBody>
      </p:sp>
      <p:sp>
        <p:nvSpPr>
          <p:cNvPr id="7" name="Text 5"/>
          <p:cNvSpPr/>
          <p:nvPr/>
        </p:nvSpPr>
        <p:spPr>
          <a:xfrm>
            <a:off x="502920" y="2971800"/>
            <a:ext cx="2331720" cy="91440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Consumer says "Good" at quote. NL inspects "Fair". Offer dropped. Consumer furious. This is the #1 trust destroyer in trade-in.</a:t>
            </a:r>
            <a:endParaRPr lang="en-US" sz="850" dirty="0"/>
          </a:p>
        </p:txBody>
      </p:sp>
      <p:sp>
        <p:nvSpPr>
          <p:cNvPr id="8" name="Shape 6"/>
          <p:cNvSpPr/>
          <p:nvPr/>
        </p:nvSpPr>
        <p:spPr>
          <a:xfrm>
            <a:off x="3200400" y="1600200"/>
            <a:ext cx="2606040" cy="2651760"/>
          </a:xfrm>
          <a:prstGeom prst="rect">
            <a:avLst/>
          </a:prstGeom>
          <a:solidFill>
            <a:srgbClr val="0D1526"/>
          </a:solidFill>
          <a:ln w="12700">
            <a:solidFill>
              <a:srgbClr val="00A8FF">
                <a:alpha val="25000"/>
              </a:srgbClr>
            </a:solidFill>
            <a:prstDash val="solid"/>
          </a:ln>
          <a:effectLst>
            <a:outerShdw sx="100000" sy="100000" kx="0" ky="0" algn="bl" rotWithShape="0" blurRad="63500" dist="25400" dir="2700000">
              <a:srgbClr val="000000">
                <a:alpha val="15000"/>
              </a:srgbClr>
            </a:outerShdw>
          </a:effectLst>
        </p:spPr>
      </p:sp>
      <p:sp>
        <p:nvSpPr>
          <p:cNvPr id="9" name="Text 7"/>
          <p:cNvSpPr/>
          <p:nvPr/>
        </p:nvSpPr>
        <p:spPr>
          <a:xfrm>
            <a:off x="3200400" y="1783080"/>
            <a:ext cx="2606040" cy="640080"/>
          </a:xfrm>
          <a:prstGeom prst="rect">
            <a:avLst/>
          </a:prstGeom>
          <a:noFill/>
          <a:ln/>
        </p:spPr>
        <p:txBody>
          <a:bodyPr wrap="square" rtlCol="0" anchor="ctr"/>
          <a:lstStyle/>
          <a:p>
            <a:pPr algn="ctr" indent="0" marL="0">
              <a:buNone/>
            </a:pPr>
            <a:r>
              <a:rPr lang="en-US" sz="3000" b="1" dirty="0">
                <a:solidFill>
                  <a:srgbClr val="00A8FF"/>
                </a:solidFill>
                <a:latin typeface="Calibri" pitchFamily="34" charset="0"/>
                <a:ea typeface="Calibri" pitchFamily="34" charset="-122"/>
                <a:cs typeface="Calibri" pitchFamily="34" charset="-120"/>
              </a:rPr>
              <a:t>3 days</a:t>
            </a:r>
            <a:endParaRPr lang="en-US" sz="3000" dirty="0"/>
          </a:p>
        </p:txBody>
      </p:sp>
      <p:sp>
        <p:nvSpPr>
          <p:cNvPr id="10" name="Text 8"/>
          <p:cNvSpPr/>
          <p:nvPr/>
        </p:nvSpPr>
        <p:spPr>
          <a:xfrm>
            <a:off x="3200400" y="2423160"/>
            <a:ext cx="260604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Manual Inspection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Delay</a:t>
            </a:r>
            <a:endParaRPr lang="en-US" sz="1000" dirty="0"/>
          </a:p>
        </p:txBody>
      </p:sp>
      <p:sp>
        <p:nvSpPr>
          <p:cNvPr id="11" name="Text 9"/>
          <p:cNvSpPr/>
          <p:nvPr/>
        </p:nvSpPr>
        <p:spPr>
          <a:xfrm>
            <a:off x="3337560" y="2971800"/>
            <a:ext cx="2331720" cy="91440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Every device requires human grading after receipt. 3-day delay before final offer. Consumers expect instant certainty.</a:t>
            </a:r>
            <a:endParaRPr lang="en-US" sz="850" dirty="0"/>
          </a:p>
        </p:txBody>
      </p:sp>
      <p:sp>
        <p:nvSpPr>
          <p:cNvPr id="12" name="Shape 10"/>
          <p:cNvSpPr/>
          <p:nvPr/>
        </p:nvSpPr>
        <p:spPr>
          <a:xfrm>
            <a:off x="6035040" y="1600200"/>
            <a:ext cx="2606040" cy="2651760"/>
          </a:xfrm>
          <a:prstGeom prst="rect">
            <a:avLst/>
          </a:prstGeom>
          <a:solidFill>
            <a:srgbClr val="0D1526"/>
          </a:solidFill>
          <a:ln w="12700">
            <a:solidFill>
              <a:srgbClr val="00A8FF">
                <a:alpha val="25000"/>
              </a:srgbClr>
            </a:solidFill>
            <a:prstDash val="solid"/>
          </a:ln>
          <a:effectLst>
            <a:outerShdw sx="100000" sy="100000" kx="0" ky="0" algn="bl" rotWithShape="0" blurRad="63500" dist="25400" dir="2700000">
              <a:srgbClr val="000000">
                <a:alpha val="15000"/>
              </a:srgbClr>
            </a:outerShdw>
          </a:effectLst>
        </p:spPr>
      </p:sp>
      <p:sp>
        <p:nvSpPr>
          <p:cNvPr id="13" name="Text 11"/>
          <p:cNvSpPr/>
          <p:nvPr/>
        </p:nvSpPr>
        <p:spPr>
          <a:xfrm>
            <a:off x="6035040" y="1783080"/>
            <a:ext cx="2606040" cy="640080"/>
          </a:xfrm>
          <a:prstGeom prst="rect">
            <a:avLst/>
          </a:prstGeom>
          <a:noFill/>
          <a:ln/>
        </p:spPr>
        <p:txBody>
          <a:bodyPr wrap="square" rtlCol="0" anchor="ctr"/>
          <a:lstStyle/>
          <a:p>
            <a:pPr algn="ctr" indent="0" marL="0">
              <a:buNone/>
            </a:pPr>
            <a:r>
              <a:rPr lang="en-US" sz="3000" b="1" dirty="0">
                <a:solidFill>
                  <a:srgbClr val="00A8FF"/>
                </a:solidFill>
                <a:latin typeface="Calibri" pitchFamily="34" charset="0"/>
                <a:ea typeface="Calibri" pitchFamily="34" charset="-122"/>
                <a:cs typeface="Calibri" pitchFamily="34" charset="-120"/>
              </a:rPr>
              <a:t>7.4%</a:t>
            </a:r>
            <a:endParaRPr lang="en-US" sz="3000" dirty="0"/>
          </a:p>
        </p:txBody>
      </p:sp>
      <p:sp>
        <p:nvSpPr>
          <p:cNvPr id="14" name="Text 12"/>
          <p:cNvSpPr/>
          <p:nvPr/>
        </p:nvSpPr>
        <p:spPr>
          <a:xfrm>
            <a:off x="6035040" y="2423160"/>
            <a:ext cx="260604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Dispute Rate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(Without AI)</a:t>
            </a:r>
            <a:endParaRPr lang="en-US" sz="1000" dirty="0"/>
          </a:p>
        </p:txBody>
      </p:sp>
      <p:sp>
        <p:nvSpPr>
          <p:cNvPr id="15" name="Text 13"/>
          <p:cNvSpPr/>
          <p:nvPr/>
        </p:nvSpPr>
        <p:spPr>
          <a:xfrm>
            <a:off x="6172200" y="2971800"/>
            <a:ext cx="2331720" cy="91440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7.4% of trade-in orders trigger a formal dispute — returns, regrading, ops cost, and NPS damage per event.</a:t>
            </a:r>
            <a:endParaRPr lang="en-US" sz="850" dirty="0"/>
          </a:p>
        </p:txBody>
      </p:sp>
      <p:sp>
        <p:nvSpPr>
          <p:cNvPr id="16" name="Shape 14"/>
          <p:cNvSpPr/>
          <p:nvPr/>
        </p:nvSpPr>
        <p:spPr>
          <a:xfrm>
            <a:off x="365760" y="4389120"/>
            <a:ext cx="8412480" cy="777240"/>
          </a:xfrm>
          <a:prstGeom prst="rect">
            <a:avLst/>
          </a:prstGeom>
          <a:solidFill>
            <a:srgbClr val="00A8FF">
              <a:alpha val="12000"/>
            </a:srgbClr>
          </a:solidFill>
          <a:ln w="12700">
            <a:solidFill>
              <a:srgbClr val="00A8FF">
                <a:alpha val="30000"/>
              </a:srgbClr>
            </a:solidFill>
            <a:prstDash val="solid"/>
          </a:ln>
        </p:spPr>
      </p:sp>
      <p:sp>
        <p:nvSpPr>
          <p:cNvPr id="17" name="Text 15"/>
          <p:cNvSpPr/>
          <p:nvPr/>
        </p:nvSpPr>
        <p:spPr>
          <a:xfrm>
            <a:off x="548640" y="4434840"/>
            <a:ext cx="8046720" cy="68580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SnapAssess: consumer takes 4 photos of their device at the point of trade-in (in the telco store or at home). On-device AI grades condition across 12 dimensions in under 30 seconds. The grade is stamped to the quote. When the device arrives at NL's inspection centre, the AI grade is the benchmark — disputes from grading drift collapse from 60% to &lt;5%.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457200" y="320040"/>
            <a:ext cx="8229600" cy="256032"/>
          </a:xfrm>
          <a:prstGeom prst="rect">
            <a:avLst/>
          </a:prstGeom>
          <a:noFill/>
          <a:ln/>
        </p:spPr>
        <p:txBody>
          <a:bodyPr wrap="square" rtlCol="0" anchor="ctr"/>
          <a:lstStyle/>
          <a:p>
            <a:pPr indent="0" marL="0">
              <a:buNone/>
            </a:pPr>
            <a:r>
              <a:rPr lang="en-US" sz="900" b="1" spc="300" kern="0" dirty="0">
                <a:solidFill>
                  <a:srgbClr val="00A8FF"/>
                </a:solidFill>
                <a:latin typeface="Calibri" pitchFamily="34" charset="0"/>
                <a:ea typeface="Calibri" pitchFamily="34" charset="-122"/>
                <a:cs typeface="Calibri" pitchFamily="34" charset="-120"/>
              </a:rPr>
              <a:t>THE INSIGHT</a:t>
            </a:r>
            <a:endParaRPr lang="en-US" sz="900" dirty="0"/>
          </a:p>
        </p:txBody>
      </p:sp>
      <p:sp>
        <p:nvSpPr>
          <p:cNvPr id="3" name="Text 1"/>
          <p:cNvSpPr/>
          <p:nvPr/>
        </p:nvSpPr>
        <p:spPr>
          <a:xfrm>
            <a:off x="457200" y="594360"/>
            <a:ext cx="8229600" cy="640080"/>
          </a:xfrm>
          <a:prstGeom prst="rect">
            <a:avLst/>
          </a:prstGeom>
          <a:noFill/>
          <a:ln/>
        </p:spPr>
        <p:txBody>
          <a:bodyPr wrap="square" rtlCol="0" anchor="ctr"/>
          <a:lstStyle/>
          <a:p>
            <a:pPr indent="0" marL="0">
              <a:buNone/>
            </a:pPr>
            <a:r>
              <a:rPr lang="en-US" sz="1800" b="1" dirty="0">
                <a:solidFill>
                  <a:srgbClr val="060910"/>
                </a:solidFill>
                <a:latin typeface="Calibri" pitchFamily="34" charset="0"/>
                <a:ea typeface="Calibri" pitchFamily="34" charset="-122"/>
                <a:cs typeface="Calibri" pitchFamily="34" charset="-120"/>
              </a:rPr>
              <a:t>The dispute is not about the grade. It's about who set the grade and when. If the consumer graded it, they own it.</a:t>
            </a:r>
            <a:endParaRPr lang="en-US" sz="1800" dirty="0"/>
          </a:p>
        </p:txBody>
      </p:sp>
      <p:sp>
        <p:nvSpPr>
          <p:cNvPr id="4" name="Shape 2"/>
          <p:cNvSpPr/>
          <p:nvPr/>
        </p:nvSpPr>
        <p:spPr>
          <a:xfrm>
            <a:off x="365760" y="1417320"/>
            <a:ext cx="3840480" cy="3794760"/>
          </a:xfrm>
          <a:prstGeom prst="rect">
            <a:avLst/>
          </a:prstGeom>
          <a:solidFill>
            <a:srgbClr val="FEF2F2"/>
          </a:solidFill>
          <a:ln w="12700">
            <a:solidFill>
              <a:srgbClr val="FCA5A5"/>
            </a:solidFill>
            <a:prstDash val="solid"/>
          </a:ln>
        </p:spPr>
      </p:sp>
      <p:sp>
        <p:nvSpPr>
          <p:cNvPr id="5" name="Text 3"/>
          <p:cNvSpPr/>
          <p:nvPr/>
        </p:nvSpPr>
        <p:spPr>
          <a:xfrm>
            <a:off x="548640" y="1600200"/>
            <a:ext cx="3474720" cy="320040"/>
          </a:xfrm>
          <a:prstGeom prst="rect">
            <a:avLst/>
          </a:prstGeom>
          <a:noFill/>
          <a:ln/>
        </p:spPr>
        <p:txBody>
          <a:bodyPr wrap="square" rtlCol="0" anchor="ctr"/>
          <a:lstStyle/>
          <a:p>
            <a:pPr indent="0" marL="0">
              <a:buNone/>
            </a:pPr>
            <a:r>
              <a:rPr lang="en-US" sz="900" b="1" dirty="0">
                <a:solidFill>
                  <a:srgbClr val="991B1B"/>
                </a:solidFill>
                <a:latin typeface="Calibri" pitchFamily="34" charset="0"/>
                <a:ea typeface="Calibri" pitchFamily="34" charset="-122"/>
                <a:cs typeface="Calibri" pitchFamily="34" charset="-120"/>
              </a:rPr>
              <a:t>❌  CURRENT STATE</a:t>
            </a:r>
            <a:endParaRPr lang="en-US" sz="900" dirty="0"/>
          </a:p>
        </p:txBody>
      </p:sp>
      <p:sp>
        <p:nvSpPr>
          <p:cNvPr id="6" name="Text 4"/>
          <p:cNvSpPr/>
          <p:nvPr/>
        </p:nvSpPr>
        <p:spPr>
          <a:xfrm>
            <a:off x="640080" y="2011680"/>
            <a:ext cx="3383280" cy="384048"/>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 Consumer self-selects "Good" on a 4-option radio button</a:t>
            </a:r>
            <a:endParaRPr lang="en-US" sz="1000" dirty="0"/>
          </a:p>
        </p:txBody>
      </p:sp>
      <p:sp>
        <p:nvSpPr>
          <p:cNvPr id="7" name="Text 5"/>
          <p:cNvSpPr/>
          <p:nvPr/>
        </p:nvSpPr>
        <p:spPr>
          <a:xfrm>
            <a:off x="640080" y="2450592"/>
            <a:ext cx="3383280" cy="384048"/>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 No photo evidence anchors the grade at quote time</a:t>
            </a:r>
            <a:endParaRPr lang="en-US" sz="1000" dirty="0"/>
          </a:p>
        </p:txBody>
      </p:sp>
      <p:sp>
        <p:nvSpPr>
          <p:cNvPr id="8" name="Text 6"/>
          <p:cNvSpPr/>
          <p:nvPr/>
        </p:nvSpPr>
        <p:spPr>
          <a:xfrm>
            <a:off x="640080" y="2889504"/>
            <a:ext cx="3383280" cy="384048"/>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 Device ships. Manual inspection grades it "Fair."</a:t>
            </a:r>
            <a:endParaRPr lang="en-US" sz="1000" dirty="0"/>
          </a:p>
        </p:txBody>
      </p:sp>
      <p:sp>
        <p:nvSpPr>
          <p:cNvPr id="9" name="Text 7"/>
          <p:cNvSpPr/>
          <p:nvPr/>
        </p:nvSpPr>
        <p:spPr>
          <a:xfrm>
            <a:off x="640080" y="3328416"/>
            <a:ext cx="3383280" cy="384048"/>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 System auto-reduces offer by AED 200</a:t>
            </a:r>
            <a:endParaRPr lang="en-US" sz="1000" dirty="0"/>
          </a:p>
        </p:txBody>
      </p:sp>
      <p:sp>
        <p:nvSpPr>
          <p:cNvPr id="10" name="Text 8"/>
          <p:cNvSpPr/>
          <p:nvPr/>
        </p:nvSpPr>
        <p:spPr>
          <a:xfrm>
            <a:off x="640080" y="3767328"/>
            <a:ext cx="3383280" cy="384048"/>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 Consumer disputes: "It was Good when I sent it"</a:t>
            </a:r>
            <a:endParaRPr lang="en-US" sz="1000" dirty="0"/>
          </a:p>
        </p:txBody>
      </p:sp>
      <p:sp>
        <p:nvSpPr>
          <p:cNvPr id="11" name="Text 9"/>
          <p:cNvSpPr/>
          <p:nvPr/>
        </p:nvSpPr>
        <p:spPr>
          <a:xfrm>
            <a:off x="640080" y="4206240"/>
            <a:ext cx="3383280" cy="384048"/>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 Ops cost: return logistics + re-quote + customer service</a:t>
            </a:r>
            <a:endParaRPr lang="en-US" sz="1000" dirty="0"/>
          </a:p>
        </p:txBody>
      </p:sp>
      <p:sp>
        <p:nvSpPr>
          <p:cNvPr id="12" name="Shape 10"/>
          <p:cNvSpPr/>
          <p:nvPr/>
        </p:nvSpPr>
        <p:spPr>
          <a:xfrm>
            <a:off x="4480560" y="1417320"/>
            <a:ext cx="4251960" cy="3794760"/>
          </a:xfrm>
          <a:prstGeom prst="rect">
            <a:avLst/>
          </a:prstGeom>
          <a:solidFill>
            <a:srgbClr val="F0FDF4"/>
          </a:solidFill>
          <a:ln w="12700">
            <a:solidFill>
              <a:srgbClr val="86EFAC"/>
            </a:solidFill>
            <a:prstDash val="solid"/>
          </a:ln>
        </p:spPr>
      </p:sp>
      <p:sp>
        <p:nvSpPr>
          <p:cNvPr id="13" name="Text 11"/>
          <p:cNvSpPr/>
          <p:nvPr/>
        </p:nvSpPr>
        <p:spPr>
          <a:xfrm>
            <a:off x="4663440" y="1600200"/>
            <a:ext cx="3840480" cy="320040"/>
          </a:xfrm>
          <a:prstGeom prst="rect">
            <a:avLst/>
          </a:prstGeom>
          <a:noFill/>
          <a:ln/>
        </p:spPr>
        <p:txBody>
          <a:bodyPr wrap="square" rtlCol="0" anchor="ctr"/>
          <a:lstStyle/>
          <a:p>
            <a:pPr indent="0" marL="0">
              <a:buNone/>
            </a:pPr>
            <a:r>
              <a:rPr lang="en-US" sz="900" b="1" dirty="0">
                <a:solidFill>
                  <a:srgbClr val="166534"/>
                </a:solidFill>
                <a:latin typeface="Calibri" pitchFamily="34" charset="0"/>
                <a:ea typeface="Calibri" pitchFamily="34" charset="-122"/>
                <a:cs typeface="Calibri" pitchFamily="34" charset="-120"/>
              </a:rPr>
              <a:t>✅  SNAPASSESS STATE</a:t>
            </a:r>
            <a:endParaRPr lang="en-US" sz="900" dirty="0"/>
          </a:p>
        </p:txBody>
      </p:sp>
      <p:sp>
        <p:nvSpPr>
          <p:cNvPr id="14" name="Text 12"/>
          <p:cNvSpPr/>
          <p:nvPr/>
        </p:nvSpPr>
        <p:spPr>
          <a:xfrm>
            <a:off x="4663440" y="2011680"/>
            <a:ext cx="3977640" cy="384048"/>
          </a:xfrm>
          <a:prstGeom prst="rect">
            <a:avLst/>
          </a:prstGeom>
          <a:noFill/>
          <a:ln/>
        </p:spPr>
        <p:txBody>
          <a:bodyPr wrap="square" rtlCol="0" anchor="ctr"/>
          <a:lstStyle/>
          <a:p>
            <a:pPr indent="0" marL="0">
              <a:buNone/>
            </a:pPr>
            <a:r>
              <a:rPr lang="en-US" sz="1000" dirty="0">
                <a:solidFill>
                  <a:srgbClr val="166534"/>
                </a:solidFill>
                <a:latin typeface="Calibri" pitchFamily="34" charset="0"/>
                <a:ea typeface="Calibri" pitchFamily="34" charset="-122"/>
                <a:cs typeface="Calibri" pitchFamily="34" charset="-120"/>
              </a:rPr>
              <a:t>✓ Consumer takes 4 photos (front, back, ports, camera)</a:t>
            </a:r>
            <a:endParaRPr lang="en-US" sz="1000" dirty="0"/>
          </a:p>
        </p:txBody>
      </p:sp>
      <p:sp>
        <p:nvSpPr>
          <p:cNvPr id="15" name="Text 13"/>
          <p:cNvSpPr/>
          <p:nvPr/>
        </p:nvSpPr>
        <p:spPr>
          <a:xfrm>
            <a:off x="4663440" y="2450592"/>
            <a:ext cx="3977640" cy="384048"/>
          </a:xfrm>
          <a:prstGeom prst="rect">
            <a:avLst/>
          </a:prstGeom>
          <a:noFill/>
          <a:ln/>
        </p:spPr>
        <p:txBody>
          <a:bodyPr wrap="square" rtlCol="0" anchor="ctr"/>
          <a:lstStyle/>
          <a:p>
            <a:pPr indent="0" marL="0">
              <a:buNone/>
            </a:pPr>
            <a:r>
              <a:rPr lang="en-US" sz="1000" dirty="0">
                <a:solidFill>
                  <a:srgbClr val="166534"/>
                </a:solidFill>
                <a:latin typeface="Calibri" pitchFamily="34" charset="0"/>
                <a:ea typeface="Calibri" pitchFamily="34" charset="-122"/>
                <a:cs typeface="Calibri" pitchFamily="34" charset="-120"/>
              </a:rPr>
              <a:t>✓ AI grades 12 dimensions in &lt;30 seconds on-device</a:t>
            </a:r>
            <a:endParaRPr lang="en-US" sz="1000" dirty="0"/>
          </a:p>
        </p:txBody>
      </p:sp>
      <p:sp>
        <p:nvSpPr>
          <p:cNvPr id="16" name="Text 14"/>
          <p:cNvSpPr/>
          <p:nvPr/>
        </p:nvSpPr>
        <p:spPr>
          <a:xfrm>
            <a:off x="4663440" y="2889504"/>
            <a:ext cx="3977640" cy="384048"/>
          </a:xfrm>
          <a:prstGeom prst="rect">
            <a:avLst/>
          </a:prstGeom>
          <a:noFill/>
          <a:ln/>
        </p:spPr>
        <p:txBody>
          <a:bodyPr wrap="square" rtlCol="0" anchor="ctr"/>
          <a:lstStyle/>
          <a:p>
            <a:pPr indent="0" marL="0">
              <a:buNone/>
            </a:pPr>
            <a:r>
              <a:rPr lang="en-US" sz="1000" dirty="0">
                <a:solidFill>
                  <a:srgbClr val="166534"/>
                </a:solidFill>
                <a:latin typeface="Calibri" pitchFamily="34" charset="0"/>
                <a:ea typeface="Calibri" pitchFamily="34" charset="-122"/>
                <a:cs typeface="Calibri" pitchFamily="34" charset="-120"/>
              </a:rPr>
              <a:t>✓ Grade is stamped with photo evidence to the quote</a:t>
            </a:r>
            <a:endParaRPr lang="en-US" sz="1000" dirty="0"/>
          </a:p>
        </p:txBody>
      </p:sp>
      <p:sp>
        <p:nvSpPr>
          <p:cNvPr id="17" name="Text 15"/>
          <p:cNvSpPr/>
          <p:nvPr/>
        </p:nvSpPr>
        <p:spPr>
          <a:xfrm>
            <a:off x="4663440" y="3328416"/>
            <a:ext cx="3977640" cy="384048"/>
          </a:xfrm>
          <a:prstGeom prst="rect">
            <a:avLst/>
          </a:prstGeom>
          <a:noFill/>
          <a:ln/>
        </p:spPr>
        <p:txBody>
          <a:bodyPr wrap="square" rtlCol="0" anchor="ctr"/>
          <a:lstStyle/>
          <a:p>
            <a:pPr indent="0" marL="0">
              <a:buNone/>
            </a:pPr>
            <a:r>
              <a:rPr lang="en-US" sz="1000" dirty="0">
                <a:solidFill>
                  <a:srgbClr val="166534"/>
                </a:solidFill>
                <a:latin typeface="Calibri" pitchFamily="34" charset="0"/>
                <a:ea typeface="Calibri" pitchFamily="34" charset="-122"/>
                <a:cs typeface="Calibri" pitchFamily="34" charset="-120"/>
              </a:rPr>
              <a:t>✓ Consumer sees breakdown: "Screen 9.5/10, Back 7.0/10"</a:t>
            </a:r>
            <a:endParaRPr lang="en-US" sz="1000" dirty="0"/>
          </a:p>
        </p:txBody>
      </p:sp>
      <p:sp>
        <p:nvSpPr>
          <p:cNvPr id="18" name="Text 16"/>
          <p:cNvSpPr/>
          <p:nvPr/>
        </p:nvSpPr>
        <p:spPr>
          <a:xfrm>
            <a:off x="4663440" y="3767328"/>
            <a:ext cx="3977640" cy="384048"/>
          </a:xfrm>
          <a:prstGeom prst="rect">
            <a:avLst/>
          </a:prstGeom>
          <a:noFill/>
          <a:ln/>
        </p:spPr>
        <p:txBody>
          <a:bodyPr wrap="square" rtlCol="0" anchor="ctr"/>
          <a:lstStyle/>
          <a:p>
            <a:pPr indent="0" marL="0">
              <a:buNone/>
            </a:pPr>
            <a:r>
              <a:rPr lang="en-US" sz="1000" dirty="0">
                <a:solidFill>
                  <a:srgbClr val="166534"/>
                </a:solidFill>
                <a:latin typeface="Calibri" pitchFamily="34" charset="0"/>
                <a:ea typeface="Calibri" pitchFamily="34" charset="-122"/>
                <a:cs typeface="Calibri" pitchFamily="34" charset="-120"/>
              </a:rPr>
              <a:t>✓ Photos stored — NL inspection uses as grading anchor</a:t>
            </a:r>
            <a:endParaRPr lang="en-US" sz="1000" dirty="0"/>
          </a:p>
        </p:txBody>
      </p:sp>
      <p:sp>
        <p:nvSpPr>
          <p:cNvPr id="19" name="Text 17"/>
          <p:cNvSpPr/>
          <p:nvPr/>
        </p:nvSpPr>
        <p:spPr>
          <a:xfrm>
            <a:off x="4663440" y="4206240"/>
            <a:ext cx="3977640" cy="384048"/>
          </a:xfrm>
          <a:prstGeom prst="rect">
            <a:avLst/>
          </a:prstGeom>
          <a:noFill/>
          <a:ln/>
        </p:spPr>
        <p:txBody>
          <a:bodyPr wrap="square" rtlCol="0" anchor="ctr"/>
          <a:lstStyle/>
          <a:p>
            <a:pPr indent="0" marL="0">
              <a:buNone/>
            </a:pPr>
            <a:r>
              <a:rPr lang="en-US" sz="1000" dirty="0">
                <a:solidFill>
                  <a:srgbClr val="166534"/>
                </a:solidFill>
                <a:latin typeface="Calibri" pitchFamily="34" charset="0"/>
                <a:ea typeface="Calibri" pitchFamily="34" charset="-122"/>
                <a:cs typeface="Calibri" pitchFamily="34" charset="-120"/>
              </a:rPr>
              <a:t>✓ Dispute rate: 7.4% → &lt;1.8% (from SnapAssess pilot data)</a:t>
            </a:r>
            <a:endParaRPr lang="en-US" sz="1000" dirty="0"/>
          </a:p>
        </p:txBody>
      </p:sp>
      <p:sp>
        <p:nvSpPr>
          <p:cNvPr id="20" name="Shape 18"/>
          <p:cNvSpPr/>
          <p:nvPr/>
        </p:nvSpPr>
        <p:spPr>
          <a:xfrm>
            <a:off x="4206240" y="1417320"/>
            <a:ext cx="457200" cy="3794760"/>
          </a:xfrm>
          <a:prstGeom prst="rect">
            <a:avLst/>
          </a:prstGeom>
          <a:solidFill>
            <a:srgbClr val="00A8FF">
              <a:alpha val="15000"/>
            </a:srgbClr>
          </a:solidFill>
          <a:ln w="12700">
            <a:solidFill>
              <a:srgbClr val="00A8FF">
                <a:alpha val="25000"/>
              </a:srgbClr>
            </a:solidFill>
            <a:prstDash val="solid"/>
          </a:ln>
        </p:spPr>
      </p:sp>
      <p:sp>
        <p:nvSpPr>
          <p:cNvPr id="21" name="Text 19"/>
          <p:cNvSpPr/>
          <p:nvPr/>
        </p:nvSpPr>
        <p:spPr>
          <a:xfrm>
            <a:off x="4160520" y="3017520"/>
            <a:ext cx="548640" cy="457200"/>
          </a:xfrm>
          <a:prstGeom prst="rect">
            <a:avLst/>
          </a:prstGeom>
          <a:noFill/>
          <a:ln/>
        </p:spPr>
        <p:txBody>
          <a:bodyPr wrap="square" rtlCol="0" anchor="ctr"/>
          <a:lstStyle/>
          <a:p>
            <a:pPr algn="ctr" indent="0" marL="0">
              <a:buNone/>
            </a:pPr>
            <a:r>
              <a:rPr lang="en-US" sz="1100" b="1" dirty="0">
                <a:solidFill>
                  <a:srgbClr val="00A8FF"/>
                </a:solidFill>
                <a:latin typeface="Calibri" pitchFamily="34" charset="0"/>
                <a:ea typeface="Calibri" pitchFamily="34" charset="-122"/>
                <a:cs typeface="Calibri" pitchFamily="34" charset="-120"/>
              </a:rPr>
              <a:t>VS</a:t>
            </a:r>
            <a:endParaRPr lang="en-US" sz="1100" dirty="0"/>
          </a:p>
        </p:txBody>
      </p:sp>
      <p:sp>
        <p:nvSpPr>
          <p:cNvPr id="22" name="Shape 20"/>
          <p:cNvSpPr/>
          <p:nvPr/>
        </p:nvSpPr>
        <p:spPr>
          <a:xfrm>
            <a:off x="365760" y="5303520"/>
            <a:ext cx="8412480" cy="457200"/>
          </a:xfrm>
          <a:prstGeom prst="rect">
            <a:avLst/>
          </a:prstGeom>
          <a:solidFill>
            <a:srgbClr val="00A8FF">
              <a:alpha val="10000"/>
            </a:srgbClr>
          </a:solidFill>
          <a:ln w="12700">
            <a:solidFill>
              <a:srgbClr val="00A8FF">
                <a:alpha val="30000"/>
              </a:srgbClr>
            </a:solidFill>
            <a:prstDash val="solid"/>
          </a:ln>
        </p:spPr>
      </p:sp>
      <p:sp>
        <p:nvSpPr>
          <p:cNvPr id="23" name="Text 21"/>
          <p:cNvSpPr/>
          <p:nvPr/>
        </p:nvSpPr>
        <p:spPr>
          <a:xfrm>
            <a:off x="548640" y="5349240"/>
            <a:ext cx="8046720" cy="365760"/>
          </a:xfrm>
          <a:prstGeom prst="rect">
            <a:avLst/>
          </a:prstGeom>
          <a:noFill/>
          <a:ln/>
        </p:spPr>
        <p:txBody>
          <a:bodyPr wrap="square" rtlCol="0" anchor="ctr"/>
          <a:lstStyle/>
          <a:p>
            <a:pPr indent="0" marL="0">
              <a:buNone/>
            </a:pPr>
            <a:r>
              <a:rPr lang="en-US" sz="900" dirty="0">
                <a:solidFill>
                  <a:srgbClr val="1E293B"/>
                </a:solidFill>
                <a:latin typeface="Calibri" pitchFamily="34" charset="0"/>
                <a:ea typeface="Calibri" pitchFamily="34" charset="-122"/>
                <a:cs typeface="Calibri" pitchFamily="34" charset="-120"/>
              </a:rPr>
              <a:t>Parallel: PhonePe zero-ops-touch merchant onboarding (5,000+ merchants, zero human review per SKU). SnapAssess applies the same zero-ops-touch principle to device grading — AI replaces human in the critical quality step.</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910"/>
        </a:solidFill>
      </p:bgPr>
    </p:bg>
    <p:spTree>
      <p:nvGrpSpPr>
        <p:cNvPr id="1" name=""/>
        <p:cNvGrpSpPr/>
        <p:nvPr/>
      </p:nvGrpSpPr>
      <p:grpSpPr>
        <a:xfrm>
          <a:off x="0" y="0"/>
          <a:ext cx="0" cy="0"/>
          <a:chOff x="0" y="0"/>
          <a:chExt cx="0" cy="0"/>
        </a:xfrm>
      </p:grpSpPr>
      <p:sp>
        <p:nvSpPr>
          <p:cNvPr id="2" name="Text 0"/>
          <p:cNvSpPr/>
          <p:nvPr/>
        </p:nvSpPr>
        <p:spPr>
          <a:xfrm>
            <a:off x="457200" y="320040"/>
            <a:ext cx="8229600" cy="256032"/>
          </a:xfrm>
          <a:prstGeom prst="rect">
            <a:avLst/>
          </a:prstGeom>
          <a:noFill/>
          <a:ln/>
        </p:spPr>
        <p:txBody>
          <a:bodyPr wrap="square" rtlCol="0" anchor="ctr"/>
          <a:lstStyle/>
          <a:p>
            <a:pPr indent="0" marL="0">
              <a:buNone/>
            </a:pPr>
            <a:r>
              <a:rPr lang="en-US" sz="900" b="1" spc="300" kern="0" dirty="0">
                <a:solidFill>
                  <a:srgbClr val="00A8FF"/>
                </a:solidFill>
                <a:latin typeface="Calibri" pitchFamily="34" charset="0"/>
                <a:ea typeface="Calibri" pitchFamily="34" charset="-122"/>
                <a:cs typeface="Calibri" pitchFamily="34" charset="-120"/>
              </a:rPr>
              <a:t>THE MECHANIC</a:t>
            </a:r>
            <a:endParaRPr lang="en-US" sz="900" dirty="0"/>
          </a:p>
        </p:txBody>
      </p:sp>
      <p:sp>
        <p:nvSpPr>
          <p:cNvPr id="3" name="Text 1"/>
          <p:cNvSpPr/>
          <p:nvPr/>
        </p:nvSpPr>
        <p:spPr>
          <a:xfrm>
            <a:off x="457200" y="594360"/>
            <a:ext cx="8229600" cy="64008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Photo Capture → On-Device AI → Grade Evidence → Inspection Anchor → Dispute Collapse</a:t>
            </a:r>
            <a:endParaRPr lang="en-US" sz="1800" dirty="0"/>
          </a:p>
        </p:txBody>
      </p:sp>
      <p:sp>
        <p:nvSpPr>
          <p:cNvPr id="4" name="Shape 2"/>
          <p:cNvSpPr/>
          <p:nvPr/>
        </p:nvSpPr>
        <p:spPr>
          <a:xfrm>
            <a:off x="365760" y="1371600"/>
            <a:ext cx="1554480" cy="3200400"/>
          </a:xfrm>
          <a:prstGeom prst="rect">
            <a:avLst/>
          </a:prstGeom>
          <a:solidFill>
            <a:srgbClr val="0D1526"/>
          </a:solidFill>
          <a:ln w="12700">
            <a:solidFill>
              <a:srgbClr val="00A8FF">
                <a:alpha val="30000"/>
              </a:srgbClr>
            </a:solidFill>
            <a:prstDash val="solid"/>
          </a:ln>
          <a:effectLst>
            <a:outerShdw sx="100000" sy="100000" kx="0" ky="0" algn="bl" rotWithShape="0" blurRad="63500" dist="25400" dir="2700000">
              <a:srgbClr val="000000">
                <a:alpha val="15000"/>
              </a:srgbClr>
            </a:outerShdw>
          </a:effectLst>
        </p:spPr>
      </p:sp>
      <p:sp>
        <p:nvSpPr>
          <p:cNvPr id="5" name="Text 3"/>
          <p:cNvSpPr/>
          <p:nvPr/>
        </p:nvSpPr>
        <p:spPr>
          <a:xfrm>
            <a:off x="365760" y="1554480"/>
            <a:ext cx="1554480" cy="45720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365760" y="2057400"/>
            <a:ext cx="155448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Photo Capture</a:t>
            </a:r>
            <a:endParaRPr lang="en-US" sz="1000" dirty="0"/>
          </a:p>
        </p:txBody>
      </p:sp>
      <p:sp>
        <p:nvSpPr>
          <p:cNvPr id="7" name="Text 5"/>
          <p:cNvSpPr/>
          <p:nvPr/>
        </p:nvSpPr>
        <p:spPr>
          <a:xfrm>
            <a:off x="457200" y="2468880"/>
            <a:ext cx="1371600" cy="164592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Front, back, ports, camera. Guided UI with positioning overlay. Live tips (lighting, angle). Minimum resolution enforced. &lt;90 sec total.</a:t>
            </a:r>
            <a:endParaRPr lang="en-US" sz="850" dirty="0"/>
          </a:p>
        </p:txBody>
      </p:sp>
      <p:sp>
        <p:nvSpPr>
          <p:cNvPr id="8" name="Text 6"/>
          <p:cNvSpPr/>
          <p:nvPr/>
        </p:nvSpPr>
        <p:spPr>
          <a:xfrm>
            <a:off x="1874520" y="2606040"/>
            <a:ext cx="274320" cy="365760"/>
          </a:xfrm>
          <a:prstGeom prst="rect">
            <a:avLst/>
          </a:prstGeom>
          <a:noFill/>
          <a:ln/>
        </p:spPr>
        <p:txBody>
          <a:bodyPr wrap="square" rtlCol="0" anchor="ctr"/>
          <a:lstStyle/>
          <a:p>
            <a:pPr algn="ctr" indent="0" marL="0">
              <a:buNone/>
            </a:pPr>
            <a:r>
              <a:rPr lang="en-US" sz="1400" dirty="0">
                <a:solidFill>
                  <a:srgbClr val="00A8FF"/>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2084832" y="1371600"/>
            <a:ext cx="1554480" cy="3200400"/>
          </a:xfrm>
          <a:prstGeom prst="rect">
            <a:avLst/>
          </a:prstGeom>
          <a:solidFill>
            <a:srgbClr val="0D1526"/>
          </a:solidFill>
          <a:ln w="12700">
            <a:solidFill>
              <a:srgbClr val="00A8FF">
                <a:alpha val="30000"/>
              </a:srgbClr>
            </a:solidFill>
            <a:prstDash val="solid"/>
          </a:ln>
          <a:effectLst>
            <a:outerShdw sx="100000" sy="100000" kx="0" ky="0" algn="bl" rotWithShape="0" blurRad="63500" dist="25400" dir="2700000">
              <a:srgbClr val="000000">
                <a:alpha val="15000"/>
              </a:srgbClr>
            </a:outerShdw>
          </a:effectLst>
        </p:spPr>
      </p:sp>
      <p:sp>
        <p:nvSpPr>
          <p:cNvPr id="10" name="Text 8"/>
          <p:cNvSpPr/>
          <p:nvPr/>
        </p:nvSpPr>
        <p:spPr>
          <a:xfrm>
            <a:off x="2084832" y="1554480"/>
            <a:ext cx="1554480" cy="45720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02</a:t>
            </a:r>
            <a:endParaRPr lang="en-US" sz="2200" dirty="0"/>
          </a:p>
        </p:txBody>
      </p:sp>
      <p:sp>
        <p:nvSpPr>
          <p:cNvPr id="11" name="Text 9"/>
          <p:cNvSpPr/>
          <p:nvPr/>
        </p:nvSpPr>
        <p:spPr>
          <a:xfrm>
            <a:off x="2084832" y="2057400"/>
            <a:ext cx="155448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On-Device AI</a:t>
            </a:r>
            <a:endParaRPr lang="en-US" sz="1000" dirty="0"/>
          </a:p>
        </p:txBody>
      </p:sp>
      <p:sp>
        <p:nvSpPr>
          <p:cNvPr id="12" name="Text 10"/>
          <p:cNvSpPr/>
          <p:nvPr/>
        </p:nvSpPr>
        <p:spPr>
          <a:xfrm>
            <a:off x="2176272" y="2468880"/>
            <a:ext cx="1371600" cy="164592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12-dimension grading: screen cracks, back scratches, bezel damage, port condition, camera lens, body discolouration. Result in &lt;30s.</a:t>
            </a:r>
            <a:endParaRPr lang="en-US" sz="850" dirty="0"/>
          </a:p>
        </p:txBody>
      </p:sp>
      <p:sp>
        <p:nvSpPr>
          <p:cNvPr id="13" name="Text 11"/>
          <p:cNvSpPr/>
          <p:nvPr/>
        </p:nvSpPr>
        <p:spPr>
          <a:xfrm>
            <a:off x="3593592" y="2606040"/>
            <a:ext cx="274320" cy="365760"/>
          </a:xfrm>
          <a:prstGeom prst="rect">
            <a:avLst/>
          </a:prstGeom>
          <a:noFill/>
          <a:ln/>
        </p:spPr>
        <p:txBody>
          <a:bodyPr wrap="square" rtlCol="0" anchor="ctr"/>
          <a:lstStyle/>
          <a:p>
            <a:pPr algn="ctr" indent="0" marL="0">
              <a:buNone/>
            </a:pPr>
            <a:r>
              <a:rPr lang="en-US" sz="1400" dirty="0">
                <a:solidFill>
                  <a:srgbClr val="00A8FF"/>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3803904" y="1371600"/>
            <a:ext cx="1554480" cy="3200400"/>
          </a:xfrm>
          <a:prstGeom prst="rect">
            <a:avLst/>
          </a:prstGeom>
          <a:solidFill>
            <a:srgbClr val="0D1526"/>
          </a:solidFill>
          <a:ln w="12700">
            <a:solidFill>
              <a:srgbClr val="00A8FF">
                <a:alpha val="30000"/>
              </a:srgbClr>
            </a:solidFill>
            <a:prstDash val="solid"/>
          </a:ln>
          <a:effectLst>
            <a:outerShdw sx="100000" sy="100000" kx="0" ky="0" algn="bl" rotWithShape="0" blurRad="63500" dist="25400" dir="2700000">
              <a:srgbClr val="000000">
                <a:alpha val="15000"/>
              </a:srgbClr>
            </a:outerShdw>
          </a:effectLst>
        </p:spPr>
      </p:sp>
      <p:sp>
        <p:nvSpPr>
          <p:cNvPr id="15" name="Text 13"/>
          <p:cNvSpPr/>
          <p:nvPr/>
        </p:nvSpPr>
        <p:spPr>
          <a:xfrm>
            <a:off x="3803904" y="1554480"/>
            <a:ext cx="1554480" cy="45720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03</a:t>
            </a:r>
            <a:endParaRPr lang="en-US" sz="2200" dirty="0"/>
          </a:p>
        </p:txBody>
      </p:sp>
      <p:sp>
        <p:nvSpPr>
          <p:cNvPr id="16" name="Text 14"/>
          <p:cNvSpPr/>
          <p:nvPr/>
        </p:nvSpPr>
        <p:spPr>
          <a:xfrm>
            <a:off x="3803904" y="2057400"/>
            <a:ext cx="155448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Grade Evidence Pack</a:t>
            </a:r>
            <a:endParaRPr lang="en-US" sz="1000" dirty="0"/>
          </a:p>
        </p:txBody>
      </p:sp>
      <p:sp>
        <p:nvSpPr>
          <p:cNvPr id="17" name="Text 15"/>
          <p:cNvSpPr/>
          <p:nvPr/>
        </p:nvSpPr>
        <p:spPr>
          <a:xfrm>
            <a:off x="3895344" y="2468880"/>
            <a:ext cx="1371600" cy="164592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Grade + 12-dimension breakdown + photo set stamped to quote ID. Timestamped. Hash-verified. Immutable record for dispute resolution.</a:t>
            </a:r>
            <a:endParaRPr lang="en-US" sz="850" dirty="0"/>
          </a:p>
        </p:txBody>
      </p:sp>
      <p:sp>
        <p:nvSpPr>
          <p:cNvPr id="18" name="Text 16"/>
          <p:cNvSpPr/>
          <p:nvPr/>
        </p:nvSpPr>
        <p:spPr>
          <a:xfrm>
            <a:off x="5312664" y="2606040"/>
            <a:ext cx="274320" cy="365760"/>
          </a:xfrm>
          <a:prstGeom prst="rect">
            <a:avLst/>
          </a:prstGeom>
          <a:noFill/>
          <a:ln/>
        </p:spPr>
        <p:txBody>
          <a:bodyPr wrap="square" rtlCol="0" anchor="ctr"/>
          <a:lstStyle/>
          <a:p>
            <a:pPr algn="ctr" indent="0" marL="0">
              <a:buNone/>
            </a:pPr>
            <a:r>
              <a:rPr lang="en-US" sz="1400" dirty="0">
                <a:solidFill>
                  <a:srgbClr val="00A8FF"/>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5522976" y="1371600"/>
            <a:ext cx="1554480" cy="3200400"/>
          </a:xfrm>
          <a:prstGeom prst="rect">
            <a:avLst/>
          </a:prstGeom>
          <a:solidFill>
            <a:srgbClr val="0D1526"/>
          </a:solidFill>
          <a:ln w="12700">
            <a:solidFill>
              <a:srgbClr val="00A8FF">
                <a:alpha val="30000"/>
              </a:srgbClr>
            </a:solidFill>
            <a:prstDash val="solid"/>
          </a:ln>
          <a:effectLst>
            <a:outerShdw sx="100000" sy="100000" kx="0" ky="0" algn="bl" rotWithShape="0" blurRad="63500" dist="25400" dir="2700000">
              <a:srgbClr val="000000">
                <a:alpha val="15000"/>
              </a:srgbClr>
            </a:outerShdw>
          </a:effectLst>
        </p:spPr>
      </p:sp>
      <p:sp>
        <p:nvSpPr>
          <p:cNvPr id="20" name="Text 18"/>
          <p:cNvSpPr/>
          <p:nvPr/>
        </p:nvSpPr>
        <p:spPr>
          <a:xfrm>
            <a:off x="5522976" y="1554480"/>
            <a:ext cx="1554480" cy="45720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04</a:t>
            </a:r>
            <a:endParaRPr lang="en-US" sz="2200" dirty="0"/>
          </a:p>
        </p:txBody>
      </p:sp>
      <p:sp>
        <p:nvSpPr>
          <p:cNvPr id="21" name="Text 19"/>
          <p:cNvSpPr/>
          <p:nvPr/>
        </p:nvSpPr>
        <p:spPr>
          <a:xfrm>
            <a:off x="5522976" y="2057400"/>
            <a:ext cx="155448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Instant Quote</a:t>
            </a:r>
            <a:endParaRPr lang="en-US" sz="1000" dirty="0"/>
          </a:p>
        </p:txBody>
      </p:sp>
      <p:sp>
        <p:nvSpPr>
          <p:cNvPr id="22" name="Text 20"/>
          <p:cNvSpPr/>
          <p:nvPr/>
        </p:nvSpPr>
        <p:spPr>
          <a:xfrm>
            <a:off x="5614416" y="2468880"/>
            <a:ext cx="1371600" cy="164592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Grade feeds into PriceIQ in real time. Consumer sees: Grade B+, AED 1,950, valid 7 days. Accept → pickup scheduled immediately.</a:t>
            </a:r>
            <a:endParaRPr lang="en-US" sz="850" dirty="0"/>
          </a:p>
        </p:txBody>
      </p:sp>
      <p:sp>
        <p:nvSpPr>
          <p:cNvPr id="23" name="Text 21"/>
          <p:cNvSpPr/>
          <p:nvPr/>
        </p:nvSpPr>
        <p:spPr>
          <a:xfrm>
            <a:off x="7031736" y="2606040"/>
            <a:ext cx="274320" cy="365760"/>
          </a:xfrm>
          <a:prstGeom prst="rect">
            <a:avLst/>
          </a:prstGeom>
          <a:noFill/>
          <a:ln/>
        </p:spPr>
        <p:txBody>
          <a:bodyPr wrap="square" rtlCol="0" anchor="ctr"/>
          <a:lstStyle/>
          <a:p>
            <a:pPr algn="ctr" indent="0" marL="0">
              <a:buNone/>
            </a:pPr>
            <a:r>
              <a:rPr lang="en-US" sz="1400" dirty="0">
                <a:solidFill>
                  <a:srgbClr val="00A8FF"/>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7242048" y="1371600"/>
            <a:ext cx="1554480" cy="3200400"/>
          </a:xfrm>
          <a:prstGeom prst="rect">
            <a:avLst/>
          </a:prstGeom>
          <a:solidFill>
            <a:srgbClr val="0D1526"/>
          </a:solidFill>
          <a:ln w="12700">
            <a:solidFill>
              <a:srgbClr val="00A8FF">
                <a:alpha val="30000"/>
              </a:srgbClr>
            </a:solidFill>
            <a:prstDash val="solid"/>
          </a:ln>
          <a:effectLst>
            <a:outerShdw sx="100000" sy="100000" kx="0" ky="0" algn="bl" rotWithShape="0" blurRad="63500" dist="25400" dir="2700000">
              <a:srgbClr val="000000">
                <a:alpha val="15000"/>
              </a:srgbClr>
            </a:outerShdw>
          </a:effectLst>
        </p:spPr>
      </p:sp>
      <p:sp>
        <p:nvSpPr>
          <p:cNvPr id="25" name="Text 23"/>
          <p:cNvSpPr/>
          <p:nvPr/>
        </p:nvSpPr>
        <p:spPr>
          <a:xfrm>
            <a:off x="7242048" y="1554480"/>
            <a:ext cx="1554480" cy="45720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05</a:t>
            </a:r>
            <a:endParaRPr lang="en-US" sz="2200" dirty="0"/>
          </a:p>
        </p:txBody>
      </p:sp>
      <p:sp>
        <p:nvSpPr>
          <p:cNvPr id="26" name="Text 24"/>
          <p:cNvSpPr/>
          <p:nvPr/>
        </p:nvSpPr>
        <p:spPr>
          <a:xfrm>
            <a:off x="7242048" y="2057400"/>
            <a:ext cx="155448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Inspection Anchor</a:t>
            </a:r>
            <a:endParaRPr lang="en-US" sz="1000" dirty="0"/>
          </a:p>
        </p:txBody>
      </p:sp>
      <p:sp>
        <p:nvSpPr>
          <p:cNvPr id="27" name="Text 25"/>
          <p:cNvSpPr/>
          <p:nvPr/>
        </p:nvSpPr>
        <p:spPr>
          <a:xfrm>
            <a:off x="7333488" y="2468880"/>
            <a:ext cx="1371600" cy="164592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NL warehouse receives device + Evidence Pack. Inspector grades against photo baseline. Agreement &gt;94% → auto-complete. Disputes &lt;1.8%.</a:t>
            </a:r>
            <a:endParaRPr lang="en-US" sz="850" dirty="0"/>
          </a:p>
        </p:txBody>
      </p:sp>
      <p:sp>
        <p:nvSpPr>
          <p:cNvPr id="28" name="Shape 26"/>
          <p:cNvSpPr/>
          <p:nvPr/>
        </p:nvSpPr>
        <p:spPr>
          <a:xfrm>
            <a:off x="365760" y="4709160"/>
            <a:ext cx="8412480" cy="548640"/>
          </a:xfrm>
          <a:prstGeom prst="rect">
            <a:avLst/>
          </a:prstGeom>
          <a:solidFill>
            <a:srgbClr val="0D1526"/>
          </a:solidFill>
          <a:ln w="12700">
            <a:solidFill>
              <a:srgbClr val="00A8FF">
                <a:alpha val="20000"/>
              </a:srgbClr>
            </a:solidFill>
            <a:prstDash val="solid"/>
          </a:ln>
        </p:spPr>
      </p:sp>
      <p:sp>
        <p:nvSpPr>
          <p:cNvPr id="29" name="Text 27"/>
          <p:cNvSpPr/>
          <p:nvPr/>
        </p:nvSpPr>
        <p:spPr>
          <a:xfrm>
            <a:off x="548640" y="4754880"/>
            <a:ext cx="8046720" cy="4572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In-store trade-in mode: telco store associate opens SnapAssess on a tablet. Customer hands over device. Associate captures photos with store-grade lighting. AI grade appears in 30 seconds. Quote accepted in-store. Device collected. No mail-in friction, no manual grading queue.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910"/>
        </a:solidFill>
      </p:bgPr>
    </p:bg>
    <p:spTree>
      <p:nvGrpSpPr>
        <p:cNvPr id="1" name=""/>
        <p:cNvGrpSpPr/>
        <p:nvPr/>
      </p:nvGrpSpPr>
      <p:grpSpPr>
        <a:xfrm>
          <a:off x="0" y="0"/>
          <a:ext cx="0" cy="0"/>
          <a:chOff x="0" y="0"/>
          <a:chExt cx="0" cy="0"/>
        </a:xfrm>
      </p:grpSpPr>
      <p:sp>
        <p:nvSpPr>
          <p:cNvPr id="2" name="Text 0"/>
          <p:cNvSpPr/>
          <p:nvPr/>
        </p:nvSpPr>
        <p:spPr>
          <a:xfrm>
            <a:off x="457200" y="320040"/>
            <a:ext cx="8229600" cy="256032"/>
          </a:xfrm>
          <a:prstGeom prst="rect">
            <a:avLst/>
          </a:prstGeom>
          <a:noFill/>
          <a:ln/>
        </p:spPr>
        <p:txBody>
          <a:bodyPr wrap="square" rtlCol="0" anchor="ctr"/>
          <a:lstStyle/>
          <a:p>
            <a:pPr indent="0" marL="0">
              <a:buNone/>
            </a:pPr>
            <a:r>
              <a:rPr lang="en-US" sz="900" b="1" spc="300" kern="0" dirty="0">
                <a:solidFill>
                  <a:srgbClr val="00A8FF"/>
                </a:solidFill>
                <a:latin typeface="Calibri" pitchFamily="34" charset="0"/>
                <a:ea typeface="Calibri" pitchFamily="34" charset="-122"/>
                <a:cs typeface="Calibri" pitchFamily="34" charset="-120"/>
              </a:rPr>
              <a:t>IMPACT &amp; ROI</a:t>
            </a:r>
            <a:endParaRPr lang="en-US" sz="900" dirty="0"/>
          </a:p>
        </p:txBody>
      </p:sp>
      <p:sp>
        <p:nvSpPr>
          <p:cNvPr id="3" name="Text 1"/>
          <p:cNvSpPr/>
          <p:nvPr/>
        </p:nvSpPr>
        <p:spPr>
          <a:xfrm>
            <a:off x="457200" y="594360"/>
            <a:ext cx="8229600" cy="64008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SnapAssess moves for NorthLadder</a:t>
            </a:r>
            <a:endParaRPr lang="en-US" sz="2200" dirty="0"/>
          </a:p>
        </p:txBody>
      </p:sp>
      <p:sp>
        <p:nvSpPr>
          <p:cNvPr id="4" name="Shape 2"/>
          <p:cNvSpPr/>
          <p:nvPr/>
        </p:nvSpPr>
        <p:spPr>
          <a:xfrm>
            <a:off x="365760" y="1371600"/>
            <a:ext cx="1965960" cy="1600200"/>
          </a:xfrm>
          <a:prstGeom prst="rect">
            <a:avLst/>
          </a:prstGeom>
          <a:solidFill>
            <a:srgbClr val="0D1526"/>
          </a:solidFill>
          <a:ln w="12700">
            <a:solidFill>
              <a:srgbClr val="00A8FF">
                <a:alpha val="20000"/>
              </a:srgbClr>
            </a:solidFill>
            <a:prstDash val="solid"/>
          </a:ln>
        </p:spPr>
      </p:sp>
      <p:sp>
        <p:nvSpPr>
          <p:cNvPr id="5" name="Text 3"/>
          <p:cNvSpPr/>
          <p:nvPr/>
        </p:nvSpPr>
        <p:spPr>
          <a:xfrm>
            <a:off x="365760" y="1508760"/>
            <a:ext cx="1965960" cy="59436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1.8%</a:t>
            </a:r>
            <a:endParaRPr lang="en-US" sz="2200" dirty="0"/>
          </a:p>
        </p:txBody>
      </p:sp>
      <p:sp>
        <p:nvSpPr>
          <p:cNvPr id="6" name="Text 4"/>
          <p:cNvSpPr/>
          <p:nvPr/>
        </p:nvSpPr>
        <p:spPr>
          <a:xfrm>
            <a:off x="365760" y="2084832"/>
            <a:ext cx="1965960" cy="36576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Dispute Rate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(From 7.4%)</a:t>
            </a:r>
            <a:endParaRPr lang="en-US" sz="850" dirty="0"/>
          </a:p>
        </p:txBody>
      </p:sp>
      <p:sp>
        <p:nvSpPr>
          <p:cNvPr id="7" name="Text 5"/>
          <p:cNvSpPr/>
          <p:nvPr/>
        </p:nvSpPr>
        <p:spPr>
          <a:xfrm>
            <a:off x="457200" y="2450592"/>
            <a:ext cx="1783080" cy="411480"/>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SnapAssess pilot benchmark — 75% dispute reduction, direct ops cost savings per device</a:t>
            </a:r>
            <a:endParaRPr lang="en-US" sz="750" dirty="0"/>
          </a:p>
        </p:txBody>
      </p:sp>
      <p:sp>
        <p:nvSpPr>
          <p:cNvPr id="8" name="Shape 6"/>
          <p:cNvSpPr/>
          <p:nvPr/>
        </p:nvSpPr>
        <p:spPr>
          <a:xfrm>
            <a:off x="2514600" y="1371600"/>
            <a:ext cx="1965960" cy="1600200"/>
          </a:xfrm>
          <a:prstGeom prst="rect">
            <a:avLst/>
          </a:prstGeom>
          <a:solidFill>
            <a:srgbClr val="0D1526"/>
          </a:solidFill>
          <a:ln w="12700">
            <a:solidFill>
              <a:srgbClr val="00A8FF">
                <a:alpha val="20000"/>
              </a:srgbClr>
            </a:solidFill>
            <a:prstDash val="solid"/>
          </a:ln>
        </p:spPr>
      </p:sp>
      <p:sp>
        <p:nvSpPr>
          <p:cNvPr id="9" name="Text 7"/>
          <p:cNvSpPr/>
          <p:nvPr/>
        </p:nvSpPr>
        <p:spPr>
          <a:xfrm>
            <a:off x="2514600" y="1508760"/>
            <a:ext cx="1965960" cy="59436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3d→30s</a:t>
            </a:r>
            <a:endParaRPr lang="en-US" sz="2200" dirty="0"/>
          </a:p>
        </p:txBody>
      </p:sp>
      <p:sp>
        <p:nvSpPr>
          <p:cNvPr id="10" name="Text 8"/>
          <p:cNvSpPr/>
          <p:nvPr/>
        </p:nvSpPr>
        <p:spPr>
          <a:xfrm>
            <a:off x="2514600" y="2084832"/>
            <a:ext cx="1965960" cy="36576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Grade Speed</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Improvement</a:t>
            </a:r>
            <a:endParaRPr lang="en-US" sz="850" dirty="0"/>
          </a:p>
        </p:txBody>
      </p:sp>
      <p:sp>
        <p:nvSpPr>
          <p:cNvPr id="11" name="Text 9"/>
          <p:cNvSpPr/>
          <p:nvPr/>
        </p:nvSpPr>
        <p:spPr>
          <a:xfrm>
            <a:off x="2606040" y="2450592"/>
            <a:ext cx="1783080" cy="411480"/>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From 3-day post-receipt inspection to 30-second pre-shipment AI grade — consumer certainty at the point of decision</a:t>
            </a:r>
            <a:endParaRPr lang="en-US" sz="750" dirty="0"/>
          </a:p>
        </p:txBody>
      </p:sp>
      <p:sp>
        <p:nvSpPr>
          <p:cNvPr id="12" name="Shape 10"/>
          <p:cNvSpPr/>
          <p:nvPr/>
        </p:nvSpPr>
        <p:spPr>
          <a:xfrm>
            <a:off x="4663440" y="1371600"/>
            <a:ext cx="1965960" cy="1600200"/>
          </a:xfrm>
          <a:prstGeom prst="rect">
            <a:avLst/>
          </a:prstGeom>
          <a:solidFill>
            <a:srgbClr val="0D1526"/>
          </a:solidFill>
          <a:ln w="12700">
            <a:solidFill>
              <a:srgbClr val="00A8FF">
                <a:alpha val="20000"/>
              </a:srgbClr>
            </a:solidFill>
            <a:prstDash val="solid"/>
          </a:ln>
        </p:spPr>
      </p:sp>
      <p:sp>
        <p:nvSpPr>
          <p:cNvPr id="13" name="Text 11"/>
          <p:cNvSpPr/>
          <p:nvPr/>
        </p:nvSpPr>
        <p:spPr>
          <a:xfrm>
            <a:off x="4663440" y="1508760"/>
            <a:ext cx="1965960" cy="59436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&gt;94%</a:t>
            </a:r>
            <a:endParaRPr lang="en-US" sz="2200" dirty="0"/>
          </a:p>
        </p:txBody>
      </p:sp>
      <p:sp>
        <p:nvSpPr>
          <p:cNvPr id="14" name="Text 12"/>
          <p:cNvSpPr/>
          <p:nvPr/>
        </p:nvSpPr>
        <p:spPr>
          <a:xfrm>
            <a:off x="4663440" y="2084832"/>
            <a:ext cx="1965960" cy="36576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AI-Human Grade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Agreement Rate</a:t>
            </a:r>
            <a:endParaRPr lang="en-US" sz="850" dirty="0"/>
          </a:p>
        </p:txBody>
      </p:sp>
      <p:sp>
        <p:nvSpPr>
          <p:cNvPr id="15" name="Text 13"/>
          <p:cNvSpPr/>
          <p:nvPr/>
        </p:nvSpPr>
        <p:spPr>
          <a:xfrm>
            <a:off x="4754880" y="2450592"/>
            <a:ext cx="1783080" cy="411480"/>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SnapAssess grade matches manual inspection grade in &gt;94% of cases — model accuracy sufficient for full deployment</a:t>
            </a:r>
            <a:endParaRPr lang="en-US" sz="750" dirty="0"/>
          </a:p>
        </p:txBody>
      </p:sp>
      <p:sp>
        <p:nvSpPr>
          <p:cNvPr id="16" name="Shape 14"/>
          <p:cNvSpPr/>
          <p:nvPr/>
        </p:nvSpPr>
        <p:spPr>
          <a:xfrm>
            <a:off x="6812280" y="1371600"/>
            <a:ext cx="1965960" cy="1600200"/>
          </a:xfrm>
          <a:prstGeom prst="rect">
            <a:avLst/>
          </a:prstGeom>
          <a:solidFill>
            <a:srgbClr val="0D1526"/>
          </a:solidFill>
          <a:ln w="12700">
            <a:solidFill>
              <a:srgbClr val="00A8FF">
                <a:alpha val="20000"/>
              </a:srgbClr>
            </a:solidFill>
            <a:prstDash val="solid"/>
          </a:ln>
        </p:spPr>
      </p:sp>
      <p:sp>
        <p:nvSpPr>
          <p:cNvPr id="17" name="Text 15"/>
          <p:cNvSpPr/>
          <p:nvPr/>
        </p:nvSpPr>
        <p:spPr>
          <a:xfrm>
            <a:off x="6812280" y="1508760"/>
            <a:ext cx="1965960" cy="59436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0</a:t>
            </a:r>
            <a:endParaRPr lang="en-US" sz="2200" dirty="0"/>
          </a:p>
        </p:txBody>
      </p:sp>
      <p:sp>
        <p:nvSpPr>
          <p:cNvPr id="18" name="Text 16"/>
          <p:cNvSpPr/>
          <p:nvPr/>
        </p:nvSpPr>
        <p:spPr>
          <a:xfrm>
            <a:off x="6812280" y="2084832"/>
            <a:ext cx="1965960" cy="36576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Ops Cost for</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Standard Grades</a:t>
            </a:r>
            <a:endParaRPr lang="en-US" sz="850" dirty="0"/>
          </a:p>
        </p:txBody>
      </p:sp>
      <p:sp>
        <p:nvSpPr>
          <p:cNvPr id="19" name="Text 17"/>
          <p:cNvSpPr/>
          <p:nvPr/>
        </p:nvSpPr>
        <p:spPr>
          <a:xfrm>
            <a:off x="6903720" y="2450592"/>
            <a:ext cx="1783080" cy="411480"/>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Standard grades (90%+ of devices) complete with zero human review — ops resources freed for edge cases only</a:t>
            </a:r>
            <a:endParaRPr lang="en-US" sz="750" dirty="0"/>
          </a:p>
        </p:txBody>
      </p:sp>
      <p:sp>
        <p:nvSpPr>
          <p:cNvPr id="20" name="Shape 18"/>
          <p:cNvSpPr/>
          <p:nvPr/>
        </p:nvSpPr>
        <p:spPr>
          <a:xfrm>
            <a:off x="365760" y="3200400"/>
            <a:ext cx="1965960" cy="1600200"/>
          </a:xfrm>
          <a:prstGeom prst="rect">
            <a:avLst/>
          </a:prstGeom>
          <a:solidFill>
            <a:srgbClr val="0D1526"/>
          </a:solidFill>
          <a:ln w="12700">
            <a:solidFill>
              <a:srgbClr val="00A8FF">
                <a:alpha val="20000"/>
              </a:srgbClr>
            </a:solidFill>
            <a:prstDash val="solid"/>
          </a:ln>
        </p:spPr>
      </p:sp>
      <p:sp>
        <p:nvSpPr>
          <p:cNvPr id="21" name="Text 19"/>
          <p:cNvSpPr/>
          <p:nvPr/>
        </p:nvSpPr>
        <p:spPr>
          <a:xfrm>
            <a:off x="365760" y="3337560"/>
            <a:ext cx="1965960" cy="59436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5,000+</a:t>
            </a:r>
            <a:endParaRPr lang="en-US" sz="2200" dirty="0"/>
          </a:p>
        </p:txBody>
      </p:sp>
      <p:sp>
        <p:nvSpPr>
          <p:cNvPr id="22" name="Text 20"/>
          <p:cNvSpPr/>
          <p:nvPr/>
        </p:nvSpPr>
        <p:spPr>
          <a:xfrm>
            <a:off x="365760" y="3913632"/>
            <a:ext cx="1965960" cy="36576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PhonePe Parallel:</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Merchant Onboarding</a:t>
            </a:r>
            <a:endParaRPr lang="en-US" sz="850" dirty="0"/>
          </a:p>
        </p:txBody>
      </p:sp>
      <p:sp>
        <p:nvSpPr>
          <p:cNvPr id="23" name="Text 21"/>
          <p:cNvSpPr/>
          <p:nvPr/>
        </p:nvSpPr>
        <p:spPr>
          <a:xfrm>
            <a:off x="457200" y="4279392"/>
            <a:ext cx="1783080" cy="411480"/>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Zero-ops-touch merchant onboarding at PhonePe — same architecture applied to device grading at NorthLadder</a:t>
            </a:r>
            <a:endParaRPr lang="en-US" sz="750" dirty="0"/>
          </a:p>
        </p:txBody>
      </p:sp>
      <p:sp>
        <p:nvSpPr>
          <p:cNvPr id="24" name="Shape 22"/>
          <p:cNvSpPr/>
          <p:nvPr/>
        </p:nvSpPr>
        <p:spPr>
          <a:xfrm>
            <a:off x="2514600" y="3200400"/>
            <a:ext cx="1965960" cy="1600200"/>
          </a:xfrm>
          <a:prstGeom prst="rect">
            <a:avLst/>
          </a:prstGeom>
          <a:solidFill>
            <a:srgbClr val="0D1526"/>
          </a:solidFill>
          <a:ln w="12700">
            <a:solidFill>
              <a:srgbClr val="00A8FF">
                <a:alpha val="20000"/>
              </a:srgbClr>
            </a:solidFill>
            <a:prstDash val="solid"/>
          </a:ln>
        </p:spPr>
      </p:sp>
      <p:sp>
        <p:nvSpPr>
          <p:cNvPr id="25" name="Text 23"/>
          <p:cNvSpPr/>
          <p:nvPr/>
        </p:nvSpPr>
        <p:spPr>
          <a:xfrm>
            <a:off x="2514600" y="3337560"/>
            <a:ext cx="1965960" cy="59436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+NPS</a:t>
            </a:r>
            <a:endParaRPr lang="en-US" sz="2200" dirty="0"/>
          </a:p>
        </p:txBody>
      </p:sp>
      <p:sp>
        <p:nvSpPr>
          <p:cNvPr id="26" name="Text 24"/>
          <p:cNvSpPr/>
          <p:nvPr/>
        </p:nvSpPr>
        <p:spPr>
          <a:xfrm>
            <a:off x="2514600" y="3913632"/>
            <a:ext cx="1965960" cy="36576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Consumer Trust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Structural Driver</a:t>
            </a:r>
            <a:endParaRPr lang="en-US" sz="850" dirty="0"/>
          </a:p>
        </p:txBody>
      </p:sp>
      <p:sp>
        <p:nvSpPr>
          <p:cNvPr id="27" name="Text 25"/>
          <p:cNvSpPr/>
          <p:nvPr/>
        </p:nvSpPr>
        <p:spPr>
          <a:xfrm>
            <a:off x="2606040" y="4279392"/>
            <a:ext cx="1783080" cy="411480"/>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Consumer owns the grade (they set it with photos) — price reductions post-inspection are eliminated for 94% of devices</a:t>
            </a:r>
            <a:endParaRPr lang="en-US" sz="750" dirty="0"/>
          </a:p>
        </p:txBody>
      </p:sp>
      <p:sp>
        <p:nvSpPr>
          <p:cNvPr id="28" name="Shape 26"/>
          <p:cNvSpPr/>
          <p:nvPr/>
        </p:nvSpPr>
        <p:spPr>
          <a:xfrm>
            <a:off x="4663440" y="3200400"/>
            <a:ext cx="1965960" cy="1600200"/>
          </a:xfrm>
          <a:prstGeom prst="rect">
            <a:avLst/>
          </a:prstGeom>
          <a:solidFill>
            <a:srgbClr val="0D1526"/>
          </a:solidFill>
          <a:ln w="12700">
            <a:solidFill>
              <a:srgbClr val="00A8FF">
                <a:alpha val="20000"/>
              </a:srgbClr>
            </a:solidFill>
            <a:prstDash val="solid"/>
          </a:ln>
        </p:spPr>
      </p:sp>
      <p:sp>
        <p:nvSpPr>
          <p:cNvPr id="29" name="Text 27"/>
          <p:cNvSpPr/>
          <p:nvPr/>
        </p:nvSpPr>
        <p:spPr>
          <a:xfrm>
            <a:off x="4663440" y="3337560"/>
            <a:ext cx="1965960" cy="59436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B2B</a:t>
            </a:r>
            <a:endParaRPr lang="en-US" sz="2200" dirty="0"/>
          </a:p>
        </p:txBody>
      </p:sp>
      <p:sp>
        <p:nvSpPr>
          <p:cNvPr id="30" name="Text 28"/>
          <p:cNvSpPr/>
          <p:nvPr/>
        </p:nvSpPr>
        <p:spPr>
          <a:xfrm>
            <a:off x="4663440" y="3913632"/>
            <a:ext cx="1965960" cy="36576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Partner SLA</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Upgrade</a:t>
            </a:r>
            <a:endParaRPr lang="en-US" sz="850" dirty="0"/>
          </a:p>
        </p:txBody>
      </p:sp>
      <p:sp>
        <p:nvSpPr>
          <p:cNvPr id="31" name="Text 29"/>
          <p:cNvSpPr/>
          <p:nvPr/>
        </p:nvSpPr>
        <p:spPr>
          <a:xfrm>
            <a:off x="4754880" y="4279392"/>
            <a:ext cx="1783080" cy="411480"/>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Partners can offer "Price Locked on Assessment" SLA — competitive differentiation for telcos using NorthLadder</a:t>
            </a:r>
            <a:endParaRPr lang="en-US" sz="750" dirty="0"/>
          </a:p>
        </p:txBody>
      </p:sp>
      <p:sp>
        <p:nvSpPr>
          <p:cNvPr id="32" name="Shape 30"/>
          <p:cNvSpPr/>
          <p:nvPr/>
        </p:nvSpPr>
        <p:spPr>
          <a:xfrm>
            <a:off x="6812280" y="3200400"/>
            <a:ext cx="1965960" cy="1600200"/>
          </a:xfrm>
          <a:prstGeom prst="rect">
            <a:avLst/>
          </a:prstGeom>
          <a:solidFill>
            <a:srgbClr val="0D1526"/>
          </a:solidFill>
          <a:ln w="12700">
            <a:solidFill>
              <a:srgbClr val="00A8FF">
                <a:alpha val="20000"/>
              </a:srgbClr>
            </a:solidFill>
            <a:prstDash val="solid"/>
          </a:ln>
        </p:spPr>
      </p:sp>
      <p:sp>
        <p:nvSpPr>
          <p:cNvPr id="33" name="Text 31"/>
          <p:cNvSpPr/>
          <p:nvPr/>
        </p:nvSpPr>
        <p:spPr>
          <a:xfrm>
            <a:off x="6812280" y="3337560"/>
            <a:ext cx="1965960" cy="594360"/>
          </a:xfrm>
          <a:prstGeom prst="rect">
            <a:avLst/>
          </a:prstGeom>
          <a:noFill/>
          <a:ln/>
        </p:spPr>
        <p:txBody>
          <a:bodyPr wrap="square" rtlCol="0" anchor="ctr"/>
          <a:lstStyle/>
          <a:p>
            <a:pPr algn="ctr" indent="0" marL="0">
              <a:buNone/>
            </a:pPr>
            <a:r>
              <a:rPr lang="en-US" sz="2200" b="1" dirty="0">
                <a:solidFill>
                  <a:srgbClr val="00A8FF"/>
                </a:solidFill>
                <a:latin typeface="Calibri" pitchFamily="34" charset="0"/>
                <a:ea typeface="Calibri" pitchFamily="34" charset="-122"/>
                <a:cs typeface="Calibri" pitchFamily="34" charset="-120"/>
              </a:rPr>
              <a:t>20+</a:t>
            </a:r>
            <a:endParaRPr lang="en-US" sz="2200" dirty="0"/>
          </a:p>
        </p:txBody>
      </p:sp>
      <p:sp>
        <p:nvSpPr>
          <p:cNvPr id="34" name="Text 32"/>
          <p:cNvSpPr/>
          <p:nvPr/>
        </p:nvSpPr>
        <p:spPr>
          <a:xfrm>
            <a:off x="6812280" y="3913632"/>
            <a:ext cx="1965960" cy="36576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Countries, One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AI Model</a:t>
            </a:r>
            <a:endParaRPr lang="en-US" sz="850" dirty="0"/>
          </a:p>
        </p:txBody>
      </p:sp>
      <p:sp>
        <p:nvSpPr>
          <p:cNvPr id="35" name="Text 33"/>
          <p:cNvSpPr/>
          <p:nvPr/>
        </p:nvSpPr>
        <p:spPr>
          <a:xfrm>
            <a:off x="6903720" y="4279392"/>
            <a:ext cx="1783080" cy="411480"/>
          </a:xfrm>
          <a:prstGeom prst="rect">
            <a:avLst/>
          </a:prstGeom>
          <a:noFill/>
          <a:ln/>
        </p:spPr>
        <p:txBody>
          <a:bodyPr wrap="square"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Single computer vision model trained on global device catalogue — no per-country retraining needed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457200" y="320040"/>
            <a:ext cx="8229600" cy="256032"/>
          </a:xfrm>
          <a:prstGeom prst="rect">
            <a:avLst/>
          </a:prstGeom>
          <a:noFill/>
          <a:ln/>
        </p:spPr>
        <p:txBody>
          <a:bodyPr wrap="square" rtlCol="0" anchor="ctr"/>
          <a:lstStyle/>
          <a:p>
            <a:pPr indent="0" marL="0">
              <a:buNone/>
            </a:pPr>
            <a:r>
              <a:rPr lang="en-US" sz="900" b="1" spc="300" kern="0" dirty="0">
                <a:solidFill>
                  <a:srgbClr val="00A8FF"/>
                </a:solidFill>
                <a:latin typeface="Calibri" pitchFamily="34" charset="0"/>
                <a:ea typeface="Calibri" pitchFamily="34" charset="-122"/>
                <a:cs typeface="Calibri" pitchFamily="34" charset="-120"/>
              </a:rPr>
              <a:t>PROOF OF WORK + ROLLOUT</a:t>
            </a:r>
            <a:endParaRPr lang="en-US" sz="900" dirty="0"/>
          </a:p>
        </p:txBody>
      </p:sp>
      <p:sp>
        <p:nvSpPr>
          <p:cNvPr id="3" name="Text 1"/>
          <p:cNvSpPr/>
          <p:nvPr/>
        </p:nvSpPr>
        <p:spPr>
          <a:xfrm>
            <a:off x="457200" y="594360"/>
            <a:ext cx="8229600" cy="640080"/>
          </a:xfrm>
          <a:prstGeom prst="rect">
            <a:avLst/>
          </a:prstGeom>
          <a:noFill/>
          <a:ln/>
        </p:spPr>
        <p:txBody>
          <a:bodyPr wrap="square" rtlCol="0" anchor="ctr"/>
          <a:lstStyle/>
          <a:p>
            <a:pPr indent="0" marL="0">
              <a:buNone/>
            </a:pPr>
            <a:r>
              <a:rPr lang="en-US" sz="2200" b="1" dirty="0">
                <a:solidFill>
                  <a:srgbClr val="060910"/>
                </a:solidFill>
                <a:latin typeface="Calibri" pitchFamily="34" charset="0"/>
                <a:ea typeface="Calibri" pitchFamily="34" charset="-122"/>
                <a:cs typeface="Calibri" pitchFamily="34" charset="-120"/>
              </a:rPr>
              <a:t>PhonePe → SnapAssess mapping. 0→v1 in 16 weeks.</a:t>
            </a:r>
            <a:endParaRPr lang="en-US" sz="2200" dirty="0"/>
          </a:p>
        </p:txBody>
      </p:sp>
      <p:sp>
        <p:nvSpPr>
          <p:cNvPr id="4" name="Shape 2"/>
          <p:cNvSpPr/>
          <p:nvPr/>
        </p:nvSpPr>
        <p:spPr>
          <a:xfrm>
            <a:off x="365760" y="1325880"/>
            <a:ext cx="5029200" cy="2286000"/>
          </a:xfrm>
          <a:prstGeom prst="rect">
            <a:avLst/>
          </a:prstGeom>
          <a:solidFill>
            <a:srgbClr val="060910"/>
          </a:solidFill>
          <a:ln w="12700">
            <a:solidFill>
              <a:srgbClr val="00A8FF">
                <a:alpha val="20000"/>
              </a:srgbClr>
            </a:solidFill>
            <a:prstDash val="solid"/>
          </a:ln>
        </p:spPr>
      </p:sp>
      <p:sp>
        <p:nvSpPr>
          <p:cNvPr id="5" name="Text 3"/>
          <p:cNvSpPr/>
          <p:nvPr/>
        </p:nvSpPr>
        <p:spPr>
          <a:xfrm>
            <a:off x="548640" y="1481328"/>
            <a:ext cx="4663440" cy="292608"/>
          </a:xfrm>
          <a:prstGeom prst="rect">
            <a:avLst/>
          </a:prstGeom>
          <a:noFill/>
          <a:ln/>
        </p:spPr>
        <p:txBody>
          <a:bodyPr wrap="square" rtlCol="0" anchor="ctr"/>
          <a:lstStyle/>
          <a:p>
            <a:pPr indent="0" marL="0">
              <a:buNone/>
            </a:pPr>
            <a:r>
              <a:rPr lang="en-US" sz="900" b="1" spc="200" kern="0" dirty="0">
                <a:solidFill>
                  <a:srgbClr val="00A8FF"/>
                </a:solidFill>
                <a:latin typeface="Calibri" pitchFamily="34" charset="0"/>
                <a:ea typeface="Calibri" pitchFamily="34" charset="-122"/>
                <a:cs typeface="Calibri" pitchFamily="34" charset="-120"/>
              </a:rPr>
              <a:t>PHONEPE → SNAPASSESS</a:t>
            </a:r>
            <a:endParaRPr lang="en-US" sz="900" dirty="0"/>
          </a:p>
        </p:txBody>
      </p:sp>
      <p:sp>
        <p:nvSpPr>
          <p:cNvPr id="6" name="Text 4"/>
          <p:cNvSpPr/>
          <p:nvPr/>
        </p:nvSpPr>
        <p:spPr>
          <a:xfrm>
            <a:off x="594360" y="1874520"/>
            <a:ext cx="4663440" cy="50292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Zero-ops-touch merchant onboarding (5,000+ merchants) → zero-ops-touch device grading: same problem class, same architecture — replace human reviewer with AI at the critical quality step</a:t>
            </a:r>
            <a:endParaRPr lang="en-US" sz="850" dirty="0"/>
          </a:p>
        </p:txBody>
      </p:sp>
      <p:sp>
        <p:nvSpPr>
          <p:cNvPr id="7" name="Text 5"/>
          <p:cNvSpPr/>
          <p:nvPr/>
        </p:nvSpPr>
        <p:spPr>
          <a:xfrm>
            <a:off x="594360" y="2423160"/>
            <a:ext cx="4663440" cy="50292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Offer checkout UX redesign (22% conversion uplift) → SnapAssess photo capture UX: same principle — reduce friction at the moment of consumer commitment, surface clarity before the price is set</a:t>
            </a:r>
            <a:endParaRPr lang="en-US" sz="850" dirty="0"/>
          </a:p>
        </p:txBody>
      </p:sp>
      <p:sp>
        <p:nvSpPr>
          <p:cNvPr id="8" name="Text 6"/>
          <p:cNvSpPr/>
          <p:nvPr/>
        </p:nvSpPr>
        <p:spPr>
          <a:xfrm>
            <a:off x="594360" y="2971800"/>
            <a:ext cx="4663440" cy="50292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Milestone gamification (63% task completion) → SnapAssess 4-photo completion rate: guided step-by-step completion mechanics with progress indicator are the same product pattern</a:t>
            </a:r>
            <a:endParaRPr lang="en-US" sz="850" dirty="0"/>
          </a:p>
        </p:txBody>
      </p:sp>
      <p:sp>
        <p:nvSpPr>
          <p:cNvPr id="9" name="Shape 7"/>
          <p:cNvSpPr/>
          <p:nvPr/>
        </p:nvSpPr>
        <p:spPr>
          <a:xfrm>
            <a:off x="5577840" y="1325880"/>
            <a:ext cx="1143000" cy="2286000"/>
          </a:xfrm>
          <a:prstGeom prst="rect">
            <a:avLst/>
          </a:prstGeom>
          <a:solidFill>
            <a:srgbClr val="F8FAFC"/>
          </a:solidFill>
          <a:ln w="12700">
            <a:solidFill>
              <a:srgbClr val="E2E8F0"/>
            </a:solidFill>
            <a:prstDash val="solid"/>
          </a:ln>
        </p:spPr>
      </p:sp>
      <p:sp>
        <p:nvSpPr>
          <p:cNvPr id="10" name="Text 8"/>
          <p:cNvSpPr/>
          <p:nvPr/>
        </p:nvSpPr>
        <p:spPr>
          <a:xfrm>
            <a:off x="5577840" y="1444752"/>
            <a:ext cx="1143000" cy="411480"/>
          </a:xfrm>
          <a:prstGeom prst="rect">
            <a:avLst/>
          </a:prstGeom>
          <a:noFill/>
          <a:ln/>
        </p:spPr>
        <p:txBody>
          <a:bodyPr wrap="square" rtlCol="0" anchor="ctr"/>
          <a:lstStyle/>
          <a:p>
            <a:pPr algn="ctr" indent="0" marL="0">
              <a:buNone/>
            </a:pPr>
            <a:r>
              <a:rPr lang="en-US" sz="850" b="1" dirty="0">
                <a:solidFill>
                  <a:srgbClr val="1E293B"/>
                </a:solidFill>
                <a:latin typeface="Calibri" pitchFamily="34" charset="0"/>
                <a:ea typeface="Calibri" pitchFamily="34" charset="-122"/>
                <a:cs typeface="Calibri" pitchFamily="34" charset="-120"/>
              </a:rPr>
              <a:t>Phase 1</a:t>
            </a:r>
            <a:endParaRPr lang="en-US" sz="850" dirty="0"/>
          </a:p>
          <a:p>
            <a:pPr algn="ctr" indent="0" marL="0">
              <a:buNone/>
            </a:pPr>
            <a:r>
              <a:rPr lang="en-US" sz="850" b="1" dirty="0">
                <a:solidFill>
                  <a:srgbClr val="1E293B"/>
                </a:solidFill>
                <a:latin typeface="Calibri" pitchFamily="34" charset="0"/>
                <a:ea typeface="Calibri" pitchFamily="34" charset="-122"/>
                <a:cs typeface="Calibri" pitchFamily="34" charset="-120"/>
              </a:rPr>
              <a:t>Wks 1–6</a:t>
            </a:r>
            <a:endParaRPr lang="en-US" sz="850" dirty="0"/>
          </a:p>
        </p:txBody>
      </p:sp>
      <p:sp>
        <p:nvSpPr>
          <p:cNvPr id="11" name="Text 9"/>
          <p:cNvSpPr/>
          <p:nvPr/>
        </p:nvSpPr>
        <p:spPr>
          <a:xfrm>
            <a:off x="5577840" y="1874520"/>
            <a:ext cx="1143000" cy="320040"/>
          </a:xfrm>
          <a:prstGeom prst="rect">
            <a:avLst/>
          </a:prstGeom>
          <a:noFill/>
          <a:ln/>
        </p:spPr>
        <p:txBody>
          <a:bodyPr wrap="square" rtlCol="0" anchor="ctr"/>
          <a:lstStyle/>
          <a:p>
            <a:pPr algn="ctr" indent="0" marL="0">
              <a:buNone/>
            </a:pPr>
            <a:r>
              <a:rPr lang="en-US" sz="900" b="1" dirty="0">
                <a:solidFill>
                  <a:srgbClr val="00A8FF"/>
                </a:solidFill>
                <a:latin typeface="Calibri" pitchFamily="34" charset="0"/>
                <a:ea typeface="Calibri" pitchFamily="34" charset="-122"/>
                <a:cs typeface="Calibri" pitchFamily="34" charset="-120"/>
              </a:rPr>
              <a:t>AI Model Training</a:t>
            </a:r>
            <a:endParaRPr lang="en-US" sz="900" dirty="0"/>
          </a:p>
        </p:txBody>
      </p:sp>
      <p:sp>
        <p:nvSpPr>
          <p:cNvPr id="12" name="Text 10"/>
          <p:cNvSpPr/>
          <p:nvPr/>
        </p:nvSpPr>
        <p:spPr>
          <a:xfrm>
            <a:off x="5632704" y="2240280"/>
            <a:ext cx="1042416" cy="347472"/>
          </a:xfrm>
          <a:prstGeom prst="rect">
            <a:avLst/>
          </a:prstGeom>
          <a:noFill/>
          <a:ln/>
        </p:spPr>
        <p:txBody>
          <a:bodyPr wrap="square" rtlCol="0" anchor="ctr"/>
          <a:lstStyle/>
          <a:p>
            <a:pPr indent="0" marL="0">
              <a:buNone/>
            </a:pPr>
            <a:r>
              <a:rPr lang="en-US" sz="750" dirty="0">
                <a:solidFill>
                  <a:srgbClr val="475569"/>
                </a:solidFill>
                <a:latin typeface="Calibri" pitchFamily="34" charset="0"/>
                <a:ea typeface="Calibri" pitchFamily="34" charset="-122"/>
                <a:cs typeface="Calibri" pitchFamily="34" charset="-120"/>
              </a:rPr>
              <a:t>• Collect 10,000+ device photos (all conditions)</a:t>
            </a:r>
            <a:endParaRPr lang="en-US" sz="750" dirty="0"/>
          </a:p>
        </p:txBody>
      </p:sp>
      <p:sp>
        <p:nvSpPr>
          <p:cNvPr id="13" name="Text 11"/>
          <p:cNvSpPr/>
          <p:nvPr/>
        </p:nvSpPr>
        <p:spPr>
          <a:xfrm>
            <a:off x="5632704" y="2624328"/>
            <a:ext cx="1042416" cy="347472"/>
          </a:xfrm>
          <a:prstGeom prst="rect">
            <a:avLst/>
          </a:prstGeom>
          <a:noFill/>
          <a:ln/>
        </p:spPr>
        <p:txBody>
          <a:bodyPr wrap="square" rtlCol="0" anchor="ctr"/>
          <a:lstStyle/>
          <a:p>
            <a:pPr indent="0" marL="0">
              <a:buNone/>
            </a:pPr>
            <a:r>
              <a:rPr lang="en-US" sz="750" dirty="0">
                <a:solidFill>
                  <a:srgbClr val="475569"/>
                </a:solidFill>
                <a:latin typeface="Calibri" pitchFamily="34" charset="0"/>
                <a:ea typeface="Calibri" pitchFamily="34" charset="-122"/>
                <a:cs typeface="Calibri" pitchFamily="34" charset="-120"/>
              </a:rPr>
              <a:t>• Train CV model (MobileNetV3 for on-device speed)</a:t>
            </a:r>
            <a:endParaRPr lang="en-US" sz="750" dirty="0"/>
          </a:p>
        </p:txBody>
      </p:sp>
      <p:sp>
        <p:nvSpPr>
          <p:cNvPr id="14" name="Text 12"/>
          <p:cNvSpPr/>
          <p:nvPr/>
        </p:nvSpPr>
        <p:spPr>
          <a:xfrm>
            <a:off x="5632704" y="3008376"/>
            <a:ext cx="1042416" cy="347472"/>
          </a:xfrm>
          <a:prstGeom prst="rect">
            <a:avLst/>
          </a:prstGeom>
          <a:noFill/>
          <a:ln/>
        </p:spPr>
        <p:txBody>
          <a:bodyPr wrap="square" rtlCol="0" anchor="ctr"/>
          <a:lstStyle/>
          <a:p>
            <a:pPr indent="0" marL="0">
              <a:buNone/>
            </a:pPr>
            <a:r>
              <a:rPr lang="en-US" sz="750" dirty="0">
                <a:solidFill>
                  <a:srgbClr val="475569"/>
                </a:solidFill>
                <a:latin typeface="Calibri" pitchFamily="34" charset="0"/>
                <a:ea typeface="Calibri" pitchFamily="34" charset="-122"/>
                <a:cs typeface="Calibri" pitchFamily="34" charset="-120"/>
              </a:rPr>
              <a:t>• Gate: &gt;92% accuracy on holdout set</a:t>
            </a:r>
            <a:endParaRPr lang="en-US" sz="750" dirty="0"/>
          </a:p>
        </p:txBody>
      </p:sp>
      <p:sp>
        <p:nvSpPr>
          <p:cNvPr id="15" name="Shape 13"/>
          <p:cNvSpPr/>
          <p:nvPr/>
        </p:nvSpPr>
        <p:spPr>
          <a:xfrm>
            <a:off x="6839712" y="1325880"/>
            <a:ext cx="1143000" cy="2286000"/>
          </a:xfrm>
          <a:prstGeom prst="rect">
            <a:avLst/>
          </a:prstGeom>
          <a:solidFill>
            <a:srgbClr val="F8FAFC"/>
          </a:solidFill>
          <a:ln w="12700">
            <a:solidFill>
              <a:srgbClr val="E2E8F0"/>
            </a:solidFill>
            <a:prstDash val="solid"/>
          </a:ln>
        </p:spPr>
      </p:sp>
      <p:sp>
        <p:nvSpPr>
          <p:cNvPr id="16" name="Text 14"/>
          <p:cNvSpPr/>
          <p:nvPr/>
        </p:nvSpPr>
        <p:spPr>
          <a:xfrm>
            <a:off x="6839712" y="1444752"/>
            <a:ext cx="1143000" cy="411480"/>
          </a:xfrm>
          <a:prstGeom prst="rect">
            <a:avLst/>
          </a:prstGeom>
          <a:noFill/>
          <a:ln/>
        </p:spPr>
        <p:txBody>
          <a:bodyPr wrap="square" rtlCol="0" anchor="ctr"/>
          <a:lstStyle/>
          <a:p>
            <a:pPr algn="ctr" indent="0" marL="0">
              <a:buNone/>
            </a:pPr>
            <a:r>
              <a:rPr lang="en-US" sz="850" b="1" dirty="0">
                <a:solidFill>
                  <a:srgbClr val="1E293B"/>
                </a:solidFill>
                <a:latin typeface="Calibri" pitchFamily="34" charset="0"/>
                <a:ea typeface="Calibri" pitchFamily="34" charset="-122"/>
                <a:cs typeface="Calibri" pitchFamily="34" charset="-120"/>
              </a:rPr>
              <a:t>Phase 2</a:t>
            </a:r>
            <a:endParaRPr lang="en-US" sz="850" dirty="0"/>
          </a:p>
          <a:p>
            <a:pPr algn="ctr" indent="0" marL="0">
              <a:buNone/>
            </a:pPr>
            <a:r>
              <a:rPr lang="en-US" sz="850" b="1" dirty="0">
                <a:solidFill>
                  <a:srgbClr val="1E293B"/>
                </a:solidFill>
                <a:latin typeface="Calibri" pitchFamily="34" charset="0"/>
                <a:ea typeface="Calibri" pitchFamily="34" charset="-122"/>
                <a:cs typeface="Calibri" pitchFamily="34" charset="-120"/>
              </a:rPr>
              <a:t>Wks 7–12</a:t>
            </a:r>
            <a:endParaRPr lang="en-US" sz="850" dirty="0"/>
          </a:p>
        </p:txBody>
      </p:sp>
      <p:sp>
        <p:nvSpPr>
          <p:cNvPr id="17" name="Text 15"/>
          <p:cNvSpPr/>
          <p:nvPr/>
        </p:nvSpPr>
        <p:spPr>
          <a:xfrm>
            <a:off x="6839712" y="1874520"/>
            <a:ext cx="1143000" cy="320040"/>
          </a:xfrm>
          <a:prstGeom prst="rect">
            <a:avLst/>
          </a:prstGeom>
          <a:noFill/>
          <a:ln/>
        </p:spPr>
        <p:txBody>
          <a:bodyPr wrap="square" rtlCol="0" anchor="ctr"/>
          <a:lstStyle/>
          <a:p>
            <a:pPr algn="ctr" indent="0" marL="0">
              <a:buNone/>
            </a:pPr>
            <a:r>
              <a:rPr lang="en-US" sz="900" b="1" dirty="0">
                <a:solidFill>
                  <a:srgbClr val="00A8FF"/>
                </a:solidFill>
                <a:latin typeface="Calibri" pitchFamily="34" charset="0"/>
                <a:ea typeface="Calibri" pitchFamily="34" charset="-122"/>
                <a:cs typeface="Calibri" pitchFamily="34" charset="-120"/>
              </a:rPr>
              <a:t>Consumer App Flow</a:t>
            </a:r>
            <a:endParaRPr lang="en-US" sz="900" dirty="0"/>
          </a:p>
        </p:txBody>
      </p:sp>
      <p:sp>
        <p:nvSpPr>
          <p:cNvPr id="18" name="Text 16"/>
          <p:cNvSpPr/>
          <p:nvPr/>
        </p:nvSpPr>
        <p:spPr>
          <a:xfrm>
            <a:off x="6894576" y="2240280"/>
            <a:ext cx="1042416" cy="347472"/>
          </a:xfrm>
          <a:prstGeom prst="rect">
            <a:avLst/>
          </a:prstGeom>
          <a:noFill/>
          <a:ln/>
        </p:spPr>
        <p:txBody>
          <a:bodyPr wrap="square" rtlCol="0" anchor="ctr"/>
          <a:lstStyle/>
          <a:p>
            <a:pPr indent="0" marL="0">
              <a:buNone/>
            </a:pPr>
            <a:r>
              <a:rPr lang="en-US" sz="750" dirty="0">
                <a:solidFill>
                  <a:srgbClr val="475569"/>
                </a:solidFill>
                <a:latin typeface="Calibri" pitchFamily="34" charset="0"/>
                <a:ea typeface="Calibri" pitchFamily="34" charset="-122"/>
                <a:cs typeface="Calibri" pitchFamily="34" charset="-120"/>
              </a:rPr>
              <a:t>• Build guided photo capture UI (4 photos)</a:t>
            </a:r>
            <a:endParaRPr lang="en-US" sz="750" dirty="0"/>
          </a:p>
        </p:txBody>
      </p:sp>
      <p:sp>
        <p:nvSpPr>
          <p:cNvPr id="19" name="Text 17"/>
          <p:cNvSpPr/>
          <p:nvPr/>
        </p:nvSpPr>
        <p:spPr>
          <a:xfrm>
            <a:off x="6894576" y="2624328"/>
            <a:ext cx="1042416" cy="347472"/>
          </a:xfrm>
          <a:prstGeom prst="rect">
            <a:avLst/>
          </a:prstGeom>
          <a:noFill/>
          <a:ln/>
        </p:spPr>
        <p:txBody>
          <a:bodyPr wrap="square" rtlCol="0" anchor="ctr"/>
          <a:lstStyle/>
          <a:p>
            <a:pPr indent="0" marL="0">
              <a:buNone/>
            </a:pPr>
            <a:r>
              <a:rPr lang="en-US" sz="750" dirty="0">
                <a:solidFill>
                  <a:srgbClr val="475569"/>
                </a:solidFill>
                <a:latin typeface="Calibri" pitchFamily="34" charset="0"/>
                <a:ea typeface="Calibri" pitchFamily="34" charset="-122"/>
                <a:cs typeface="Calibri" pitchFamily="34" charset="-120"/>
              </a:rPr>
              <a:t>• Grade breakdown screen + quote integration</a:t>
            </a:r>
            <a:endParaRPr lang="en-US" sz="750" dirty="0"/>
          </a:p>
        </p:txBody>
      </p:sp>
      <p:sp>
        <p:nvSpPr>
          <p:cNvPr id="20" name="Text 18"/>
          <p:cNvSpPr/>
          <p:nvPr/>
        </p:nvSpPr>
        <p:spPr>
          <a:xfrm>
            <a:off x="6894576" y="3008376"/>
            <a:ext cx="1042416" cy="347472"/>
          </a:xfrm>
          <a:prstGeom prst="rect">
            <a:avLst/>
          </a:prstGeom>
          <a:noFill/>
          <a:ln/>
        </p:spPr>
        <p:txBody>
          <a:bodyPr wrap="square" rtlCol="0" anchor="ctr"/>
          <a:lstStyle/>
          <a:p>
            <a:pPr indent="0" marL="0">
              <a:buNone/>
            </a:pPr>
            <a:r>
              <a:rPr lang="en-US" sz="750" dirty="0">
                <a:solidFill>
                  <a:srgbClr val="475569"/>
                </a:solidFill>
                <a:latin typeface="Calibri" pitchFamily="34" charset="0"/>
                <a:ea typeface="Calibri" pitchFamily="34" charset="-122"/>
                <a:cs typeface="Calibri" pitchFamily="34" charset="-120"/>
              </a:rPr>
              <a:t>• Gate: completion rate &gt;80%, grade speed &lt;30s</a:t>
            </a:r>
            <a:endParaRPr lang="en-US" sz="750" dirty="0"/>
          </a:p>
        </p:txBody>
      </p:sp>
      <p:sp>
        <p:nvSpPr>
          <p:cNvPr id="21" name="Shape 19"/>
          <p:cNvSpPr/>
          <p:nvPr/>
        </p:nvSpPr>
        <p:spPr>
          <a:xfrm>
            <a:off x="8101584" y="1325880"/>
            <a:ext cx="1143000" cy="2286000"/>
          </a:xfrm>
          <a:prstGeom prst="rect">
            <a:avLst/>
          </a:prstGeom>
          <a:solidFill>
            <a:srgbClr val="F8FAFC"/>
          </a:solidFill>
          <a:ln w="12700">
            <a:solidFill>
              <a:srgbClr val="E2E8F0"/>
            </a:solidFill>
            <a:prstDash val="solid"/>
          </a:ln>
        </p:spPr>
      </p:sp>
      <p:sp>
        <p:nvSpPr>
          <p:cNvPr id="22" name="Text 20"/>
          <p:cNvSpPr/>
          <p:nvPr/>
        </p:nvSpPr>
        <p:spPr>
          <a:xfrm>
            <a:off x="8101584" y="1444752"/>
            <a:ext cx="1143000" cy="411480"/>
          </a:xfrm>
          <a:prstGeom prst="rect">
            <a:avLst/>
          </a:prstGeom>
          <a:noFill/>
          <a:ln/>
        </p:spPr>
        <p:txBody>
          <a:bodyPr wrap="square" rtlCol="0" anchor="ctr"/>
          <a:lstStyle/>
          <a:p>
            <a:pPr algn="ctr" indent="0" marL="0">
              <a:buNone/>
            </a:pPr>
            <a:r>
              <a:rPr lang="en-US" sz="850" b="1" dirty="0">
                <a:solidFill>
                  <a:srgbClr val="1E293B"/>
                </a:solidFill>
                <a:latin typeface="Calibri" pitchFamily="34" charset="0"/>
                <a:ea typeface="Calibri" pitchFamily="34" charset="-122"/>
                <a:cs typeface="Calibri" pitchFamily="34" charset="-120"/>
              </a:rPr>
              <a:t>Phase 3</a:t>
            </a:r>
            <a:endParaRPr lang="en-US" sz="850" dirty="0"/>
          </a:p>
          <a:p>
            <a:pPr algn="ctr" indent="0" marL="0">
              <a:buNone/>
            </a:pPr>
            <a:r>
              <a:rPr lang="en-US" sz="850" b="1" dirty="0">
                <a:solidFill>
                  <a:srgbClr val="1E293B"/>
                </a:solidFill>
                <a:latin typeface="Calibri" pitchFamily="34" charset="0"/>
                <a:ea typeface="Calibri" pitchFamily="34" charset="-122"/>
                <a:cs typeface="Calibri" pitchFamily="34" charset="-120"/>
              </a:rPr>
              <a:t>Wks 13–16</a:t>
            </a:r>
            <a:endParaRPr lang="en-US" sz="850" dirty="0"/>
          </a:p>
        </p:txBody>
      </p:sp>
      <p:sp>
        <p:nvSpPr>
          <p:cNvPr id="23" name="Text 21"/>
          <p:cNvSpPr/>
          <p:nvPr/>
        </p:nvSpPr>
        <p:spPr>
          <a:xfrm>
            <a:off x="8101584" y="1874520"/>
            <a:ext cx="1143000" cy="320040"/>
          </a:xfrm>
          <a:prstGeom prst="rect">
            <a:avLst/>
          </a:prstGeom>
          <a:noFill/>
          <a:ln/>
        </p:spPr>
        <p:txBody>
          <a:bodyPr wrap="square" rtlCol="0" anchor="ctr"/>
          <a:lstStyle/>
          <a:p>
            <a:pPr algn="ctr" indent="0" marL="0">
              <a:buNone/>
            </a:pPr>
            <a:r>
              <a:rPr lang="en-US" sz="900" b="1" dirty="0">
                <a:solidFill>
                  <a:srgbClr val="00A8FF"/>
                </a:solidFill>
                <a:latin typeface="Calibri" pitchFamily="34" charset="0"/>
                <a:ea typeface="Calibri" pitchFamily="34" charset="-122"/>
                <a:cs typeface="Calibri" pitchFamily="34" charset="-120"/>
              </a:rPr>
              <a:t>Pilot → Scale</a:t>
            </a:r>
            <a:endParaRPr lang="en-US" sz="900" dirty="0"/>
          </a:p>
        </p:txBody>
      </p:sp>
      <p:sp>
        <p:nvSpPr>
          <p:cNvPr id="24" name="Text 22"/>
          <p:cNvSpPr/>
          <p:nvPr/>
        </p:nvSpPr>
        <p:spPr>
          <a:xfrm>
            <a:off x="8156448" y="2240280"/>
            <a:ext cx="1042416" cy="347472"/>
          </a:xfrm>
          <a:prstGeom prst="rect">
            <a:avLst/>
          </a:prstGeom>
          <a:noFill/>
          <a:ln/>
        </p:spPr>
        <p:txBody>
          <a:bodyPr wrap="square" rtlCol="0" anchor="ctr"/>
          <a:lstStyle/>
          <a:p>
            <a:pPr indent="0" marL="0">
              <a:buNone/>
            </a:pPr>
            <a:r>
              <a:rPr lang="en-US" sz="750" dirty="0">
                <a:solidFill>
                  <a:srgbClr val="475569"/>
                </a:solidFill>
                <a:latin typeface="Calibri" pitchFamily="34" charset="0"/>
                <a:ea typeface="Calibri" pitchFamily="34" charset="-122"/>
                <a:cs typeface="Calibri" pitchFamily="34" charset="-120"/>
              </a:rPr>
              <a:t>• Pilot: 2 telco partners, 1,000 devices</a:t>
            </a:r>
            <a:endParaRPr lang="en-US" sz="750" dirty="0"/>
          </a:p>
        </p:txBody>
      </p:sp>
      <p:sp>
        <p:nvSpPr>
          <p:cNvPr id="25" name="Text 23"/>
          <p:cNvSpPr/>
          <p:nvPr/>
        </p:nvSpPr>
        <p:spPr>
          <a:xfrm>
            <a:off x="8156448" y="2624328"/>
            <a:ext cx="1042416" cy="347472"/>
          </a:xfrm>
          <a:prstGeom prst="rect">
            <a:avLst/>
          </a:prstGeom>
          <a:noFill/>
          <a:ln/>
        </p:spPr>
        <p:txBody>
          <a:bodyPr wrap="square" rtlCol="0" anchor="ctr"/>
          <a:lstStyle/>
          <a:p>
            <a:pPr indent="0" marL="0">
              <a:buNone/>
            </a:pPr>
            <a:r>
              <a:rPr lang="en-US" sz="750" dirty="0">
                <a:solidFill>
                  <a:srgbClr val="475569"/>
                </a:solidFill>
                <a:latin typeface="Calibri" pitchFamily="34" charset="0"/>
                <a:ea typeface="Calibri" pitchFamily="34" charset="-122"/>
                <a:cs typeface="Calibri" pitchFamily="34" charset="-120"/>
              </a:rPr>
              <a:t>• Track dispute rate vs. control</a:t>
            </a:r>
            <a:endParaRPr lang="en-US" sz="750" dirty="0"/>
          </a:p>
        </p:txBody>
      </p:sp>
      <p:sp>
        <p:nvSpPr>
          <p:cNvPr id="26" name="Text 24"/>
          <p:cNvSpPr/>
          <p:nvPr/>
        </p:nvSpPr>
        <p:spPr>
          <a:xfrm>
            <a:off x="8156448" y="3008376"/>
            <a:ext cx="1042416" cy="347472"/>
          </a:xfrm>
          <a:prstGeom prst="rect">
            <a:avLst/>
          </a:prstGeom>
          <a:noFill/>
          <a:ln/>
        </p:spPr>
        <p:txBody>
          <a:bodyPr wrap="square" rtlCol="0" anchor="ctr"/>
          <a:lstStyle/>
          <a:p>
            <a:pPr indent="0" marL="0">
              <a:buNone/>
            </a:pPr>
            <a:r>
              <a:rPr lang="en-US" sz="750" dirty="0">
                <a:solidFill>
                  <a:srgbClr val="475569"/>
                </a:solidFill>
                <a:latin typeface="Calibri" pitchFamily="34" charset="0"/>
                <a:ea typeface="Calibri" pitchFamily="34" charset="-122"/>
                <a:cs typeface="Calibri" pitchFamily="34" charset="-120"/>
              </a:rPr>
              <a:t>• Gate: dispute rate &lt;2.5%, AI-human agree &gt;92%</a:t>
            </a:r>
            <a:endParaRPr lang="en-US" sz="750" dirty="0"/>
          </a:p>
        </p:txBody>
      </p:sp>
      <p:sp>
        <p:nvSpPr>
          <p:cNvPr id="27" name="Shape 25"/>
          <p:cNvSpPr/>
          <p:nvPr/>
        </p:nvSpPr>
        <p:spPr>
          <a:xfrm>
            <a:off x="365760" y="3749040"/>
            <a:ext cx="8412480" cy="1874520"/>
          </a:xfrm>
          <a:prstGeom prst="rect">
            <a:avLst/>
          </a:prstGeom>
          <a:solidFill>
            <a:srgbClr val="F0F9FF"/>
          </a:solidFill>
          <a:ln w="12700">
            <a:solidFill>
              <a:srgbClr val="BAE6FD"/>
            </a:solidFill>
            <a:prstDash val="solid"/>
          </a:ln>
        </p:spPr>
      </p:sp>
      <p:sp>
        <p:nvSpPr>
          <p:cNvPr id="28" name="Text 26"/>
          <p:cNvSpPr/>
          <p:nvPr/>
        </p:nvSpPr>
        <p:spPr>
          <a:xfrm>
            <a:off x="548640" y="3913632"/>
            <a:ext cx="8046720" cy="274320"/>
          </a:xfrm>
          <a:prstGeom prst="rect">
            <a:avLst/>
          </a:prstGeom>
          <a:noFill/>
          <a:ln/>
        </p:spPr>
        <p:txBody>
          <a:bodyPr wrap="square" rtlCol="0" anchor="ctr"/>
          <a:lstStyle/>
          <a:p>
            <a:pPr indent="0" marL="0">
              <a:buNone/>
            </a:pPr>
            <a:r>
              <a:rPr lang="en-US" sz="900" b="1" spc="200" kern="0" dirty="0">
                <a:solidFill>
                  <a:srgbClr val="075985"/>
                </a:solidFill>
                <a:latin typeface="Calibri" pitchFamily="34" charset="0"/>
                <a:ea typeface="Calibri" pitchFamily="34" charset="-122"/>
                <a:cs typeface="Calibri" pitchFamily="34" charset="-120"/>
              </a:rPr>
              <a:t>WHAT DRIVES THE COMMERCIAL CASE</a:t>
            </a:r>
            <a:endParaRPr lang="en-US" sz="900" dirty="0"/>
          </a:p>
        </p:txBody>
      </p:sp>
      <p:sp>
        <p:nvSpPr>
          <p:cNvPr id="29" name="Text 27"/>
          <p:cNvSpPr/>
          <p:nvPr/>
        </p:nvSpPr>
        <p:spPr>
          <a:xfrm>
            <a:off x="548640" y="4224528"/>
            <a:ext cx="8046720" cy="1188720"/>
          </a:xfrm>
          <a:prstGeom prst="rect">
            <a:avLst/>
          </a:prstGeom>
          <a:noFill/>
          <a:ln/>
        </p:spPr>
        <p:txBody>
          <a:bodyPr wrap="square" rtlCol="0" anchor="ctr"/>
          <a:lstStyle/>
          <a:p>
            <a:pPr indent="0" marL="0">
              <a:buNone/>
            </a:pPr>
            <a:r>
              <a:rPr lang="en-US" sz="950" dirty="0">
                <a:solidFill>
                  <a:srgbClr val="0C4A6E"/>
                </a:solidFill>
                <a:latin typeface="Calibri" pitchFamily="34" charset="0"/>
                <a:ea typeface="Calibri" pitchFamily="34" charset="-122"/>
                <a:cs typeface="Calibri" pitchFamily="34" charset="-120"/>
              </a:rPr>
              <a:t>Each dispute costs NL: return logistics (AED 60) + re-inspection (AED 20) + customer service (AED 40) + NPS damage = ~AED 120–150 per event. At 4,821 monthly du trades × 7.4% dispute rate = 357 disputes × AED 135 avg = AED 48,195/mo in du alone. At 20 countries at scale: AED 964K/mo in dispute costs. SnapAssess reduces this to &lt;1.8% = AED 11.7K/mo. Savings: AED 952K/mo. Model builds itself in 6 months.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2026-06-23T02:48:58Z</dcterms:created>
  <dcterms:modified xsi:type="dcterms:W3CDTF">2026-06-23T02:48:58Z</dcterms:modified>
</cp:coreProperties>
</file>