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5029200" y="-457200"/>
            <a:ext cx="4572000" cy="4572000"/>
          </a:xfrm>
          <a:prstGeom prst="ellipse">
            <a:avLst/>
          </a:prstGeom>
          <a:solidFill>
            <a:srgbClr val="F59E0B">
              <a:alpha val="6000"/>
            </a:srgbClr>
          </a:solidFill>
          <a:ln w="12700">
            <a:solidFill>
              <a:srgbClr val="F59E0B">
                <a:alpha val="0"/>
              </a:srgbClr>
            </a:solidFill>
            <a:prstDash val="solid"/>
          </a:ln>
        </p:spPr>
      </p:sp>
      <p:sp>
        <p:nvSpPr>
          <p:cNvPr id="3" name="Shape 1"/>
          <p:cNvSpPr/>
          <p:nvPr/>
        </p:nvSpPr>
        <p:spPr>
          <a:xfrm>
            <a:off x="0" y="0"/>
            <a:ext cx="73152" cy="6858000"/>
          </a:xfrm>
          <a:prstGeom prst="rect">
            <a:avLst/>
          </a:prstGeom>
          <a:solidFill>
            <a:srgbClr val="F59E0B"/>
          </a:solidFill>
          <a:ln/>
        </p:spPr>
      </p:sp>
      <p:sp>
        <p:nvSpPr>
          <p:cNvPr id="4" name="Text 2"/>
          <p:cNvSpPr/>
          <p:nvPr/>
        </p:nvSpPr>
        <p:spPr>
          <a:xfrm>
            <a:off x="365760" y="320040"/>
            <a:ext cx="8412480" cy="228600"/>
          </a:xfrm>
          <a:prstGeom prst="rect">
            <a:avLst/>
          </a:prstGeom>
          <a:noFill/>
          <a:ln/>
        </p:spPr>
        <p:txBody>
          <a:bodyPr wrap="square" rtlCol="0" anchor="ctr"/>
          <a:lstStyle/>
          <a:p>
            <a:pPr indent="0" marL="0">
              <a:buNone/>
            </a:pPr>
            <a:r>
              <a:rPr lang="en-US" sz="900" b="1" spc="300" kern="0" dirty="0">
                <a:solidFill>
                  <a:srgbClr val="F59E0B"/>
                </a:solidFill>
                <a:latin typeface="Inter" pitchFamily="34" charset="0"/>
                <a:ea typeface="Inter" pitchFamily="34" charset="-122"/>
                <a:cs typeface="Inter" pitchFamily="34" charset="-120"/>
              </a:rPr>
              <a:t>HEADOUT · CASE STUDY 03 · BETWEENTRIPS</a:t>
            </a:r>
            <a:endParaRPr lang="en-US" sz="900" dirty="0"/>
          </a:p>
        </p:txBody>
      </p:sp>
      <p:sp>
        <p:nvSpPr>
          <p:cNvPr id="5" name="Text 3"/>
          <p:cNvSpPr/>
          <p:nvPr/>
        </p:nvSpPr>
        <p:spPr>
          <a:xfrm>
            <a:off x="365760" y="914400"/>
            <a:ext cx="5486400" cy="1280160"/>
          </a:xfrm>
          <a:prstGeom prst="rect">
            <a:avLst/>
          </a:prstGeom>
          <a:noFill/>
          <a:ln/>
        </p:spPr>
        <p:txBody>
          <a:bodyPr wrap="square" rtlCol="0" anchor="ctr"/>
          <a:lstStyle/>
          <a:p>
            <a:pPr indent="0" marL="0">
              <a:buNone/>
            </a:pPr>
            <a:r>
              <a:rPr lang="en-US" sz="6000" b="1" dirty="0">
                <a:solidFill>
                  <a:srgbClr val="FFFFFF"/>
                </a:solidFill>
                <a:latin typeface="Outfit" pitchFamily="34" charset="0"/>
                <a:ea typeface="Outfit" pitchFamily="34" charset="-122"/>
                <a:cs typeface="Outfit" pitchFamily="34" charset="-120"/>
              </a:rPr>
              <a:t>BetweenTrips</a:t>
            </a:r>
            <a:endParaRPr lang="en-US" sz="6000" dirty="0"/>
          </a:p>
        </p:txBody>
      </p:sp>
      <p:sp>
        <p:nvSpPr>
          <p:cNvPr id="6" name="Text 4"/>
          <p:cNvSpPr/>
          <p:nvPr/>
        </p:nvSpPr>
        <p:spPr>
          <a:xfrm>
            <a:off x="365760" y="2286000"/>
            <a:ext cx="5486400" cy="914400"/>
          </a:xfrm>
          <a:prstGeom prst="rect">
            <a:avLst/>
          </a:prstGeom>
          <a:noFill/>
          <a:ln/>
        </p:spPr>
        <p:txBody>
          <a:bodyPr wrap="square" rtlCol="0" anchor="ctr"/>
          <a:lstStyle/>
          <a:p>
            <a:pPr indent="0" marL="0">
              <a:buNone/>
            </a:pPr>
            <a:r>
              <a:rPr lang="en-US" sz="2200" dirty="0">
                <a:solidFill>
                  <a:srgbClr val="F59E0B"/>
                </a:solidFill>
                <a:latin typeface="Inter" pitchFamily="34" charset="0"/>
                <a:ea typeface="Inter" pitchFamily="34" charset="-122"/>
                <a:cs typeface="Inter" pitchFamily="34" charset="-120"/>
              </a:rPr>
              <a:t>The Between-Trip</a:t>
            </a:r>
            <a:endParaRPr lang="en-US" sz="2200" dirty="0"/>
          </a:p>
          <a:p>
            <a:pPr indent="0" marL="0">
              <a:buNone/>
            </a:pPr>
            <a:r>
              <a:rPr lang="en-US" sz="2200" dirty="0">
                <a:solidFill>
                  <a:srgbClr val="F59E0B"/>
                </a:solidFill>
                <a:latin typeface="Inter" pitchFamily="34" charset="0"/>
                <a:ea typeface="Inter" pitchFamily="34" charset="-122"/>
                <a:cs typeface="Inter" pitchFamily="34" charset="-120"/>
              </a:rPr>
              <a:t>Engagement Engine</a:t>
            </a:r>
            <a:endParaRPr lang="en-US" sz="2200" dirty="0"/>
          </a:p>
        </p:txBody>
      </p:sp>
      <p:sp>
        <p:nvSpPr>
          <p:cNvPr id="7" name="Text 5"/>
          <p:cNvSpPr/>
          <p:nvPr/>
        </p:nvSpPr>
        <p:spPr>
          <a:xfrm>
            <a:off x="365760" y="6217920"/>
            <a:ext cx="4572000" cy="274320"/>
          </a:xfrm>
          <a:prstGeom prst="rect">
            <a:avLst/>
          </a:prstGeom>
          <a:noFill/>
          <a:ln/>
        </p:spPr>
        <p:txBody>
          <a:bodyPr wrap="square" rtlCol="0" anchor="ctr"/>
          <a:lstStyle/>
          <a:p>
            <a:pPr indent="0" marL="0">
              <a:buNone/>
            </a:pPr>
            <a:r>
              <a:rPr lang="en-US" sz="1100" dirty="0">
                <a:solidFill>
                  <a:srgbClr val="888880"/>
                </a:solidFill>
                <a:latin typeface="Inter" pitchFamily="34" charset="0"/>
                <a:ea typeface="Inter" pitchFamily="34" charset="-122"/>
                <a:cs typeface="Inter" pitchFamily="34" charset="-120"/>
              </a:rPr>
              <a:t>Ajay Avaghade · Product Manager</a:t>
            </a:r>
            <a:endParaRPr lang="en-US" sz="1100" dirty="0"/>
          </a:p>
        </p:txBody>
      </p:sp>
      <p:sp>
        <p:nvSpPr>
          <p:cNvPr id="8" name="Shape 6"/>
          <p:cNvSpPr/>
          <p:nvPr/>
        </p:nvSpPr>
        <p:spPr>
          <a:xfrm>
            <a:off x="5943600" y="2011680"/>
            <a:ext cx="2834640" cy="1828800"/>
          </a:xfrm>
          <a:prstGeom prst="rect">
            <a:avLst/>
          </a:prstGeom>
          <a:solidFill>
            <a:srgbClr val="F59E0B"/>
          </a:solidFill>
          <a:ln/>
          <a:effectLst>
            <a:outerShdw sx="100000" sy="100000" kx="0" ky="0" algn="bl" rotWithShape="0" blurRad="76200" dist="25400" dir="2700000">
              <a:srgbClr val="000000">
                <a:alpha val="18000"/>
              </a:srgbClr>
            </a:outerShdw>
          </a:effectLst>
        </p:spPr>
      </p:sp>
      <p:sp>
        <p:nvSpPr>
          <p:cNvPr id="9" name="Text 7"/>
          <p:cNvSpPr/>
          <p:nvPr/>
        </p:nvSpPr>
        <p:spPr>
          <a:xfrm>
            <a:off x="6035040" y="2148840"/>
            <a:ext cx="2651760" cy="731520"/>
          </a:xfrm>
          <a:prstGeom prst="rect">
            <a:avLst/>
          </a:prstGeom>
          <a:noFill/>
          <a:ln/>
        </p:spPr>
        <p:txBody>
          <a:bodyPr wrap="square" rtlCol="0" anchor="ctr"/>
          <a:lstStyle/>
          <a:p>
            <a:pPr algn="ctr" indent="0" marL="0">
              <a:buNone/>
            </a:pPr>
            <a:r>
              <a:rPr lang="en-US" sz="4400" b="1" dirty="0">
                <a:solidFill>
                  <a:srgbClr val="0D0D0D"/>
                </a:solidFill>
                <a:latin typeface="Outfit" pitchFamily="34" charset="0"/>
                <a:ea typeface="Outfit" pitchFamily="34" charset="-122"/>
                <a:cs typeface="Outfit" pitchFamily="34" charset="-120"/>
              </a:rPr>
              <a:t>+3.2×</a:t>
            </a:r>
            <a:endParaRPr lang="en-US" sz="4400" dirty="0"/>
          </a:p>
        </p:txBody>
      </p:sp>
      <p:sp>
        <p:nvSpPr>
          <p:cNvPr id="10" name="Text 8"/>
          <p:cNvSpPr/>
          <p:nvPr/>
        </p:nvSpPr>
        <p:spPr>
          <a:xfrm>
            <a:off x="6035040" y="2834640"/>
            <a:ext cx="2651760" cy="731520"/>
          </a:xfrm>
          <a:prstGeom prst="rect">
            <a:avLst/>
          </a:prstGeom>
          <a:noFill/>
          <a:ln/>
        </p:spPr>
        <p:txBody>
          <a:bodyPr wrap="square" rtlCol="0" anchor="ctr"/>
          <a:lstStyle/>
          <a:p>
            <a:pPr algn="ctr" indent="0" marL="0">
              <a:buNone/>
            </a:pPr>
            <a:r>
              <a:rPr lang="en-US" sz="1100" b="1" dirty="0">
                <a:solidFill>
                  <a:srgbClr val="0D0D0D"/>
                </a:solidFill>
                <a:latin typeface="Inter" pitchFamily="34" charset="0"/>
                <a:ea typeface="Inter" pitchFamily="34" charset="-122"/>
                <a:cs typeface="Inter" pitchFamily="34" charset="-120"/>
              </a:rPr>
              <a:t>App Opens/Month</a:t>
            </a:r>
            <a:endParaRPr lang="en-US" sz="1100" dirty="0"/>
          </a:p>
          <a:p>
            <a:pPr algn="ctr" indent="0" marL="0">
              <a:buNone/>
            </a:pPr>
            <a:r>
              <a:rPr lang="en-US" sz="1100" b="1" dirty="0">
                <a:solidFill>
                  <a:srgbClr val="0D0D0D"/>
                </a:solidFill>
                <a:latin typeface="Inter" pitchFamily="34" charset="0"/>
                <a:ea typeface="Inter" pitchFamily="34" charset="-122"/>
                <a:cs typeface="Inter" pitchFamily="34" charset="-120"/>
              </a:rPr>
              <a:t>(0.8× → 2.6× projected)</a:t>
            </a:r>
            <a:endParaRPr lang="en-US" sz="1100" dirty="0"/>
          </a:p>
        </p:txBody>
      </p:sp>
      <p:sp>
        <p:nvSpPr>
          <p:cNvPr id="11" name="Shape 9"/>
          <p:cNvSpPr/>
          <p:nvPr/>
        </p:nvSpPr>
        <p:spPr>
          <a:xfrm>
            <a:off x="5943600" y="4023360"/>
            <a:ext cx="1325880" cy="146304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2" name="Text 10"/>
          <p:cNvSpPr/>
          <p:nvPr/>
        </p:nvSpPr>
        <p:spPr>
          <a:xfrm>
            <a:off x="5989320" y="4160520"/>
            <a:ext cx="1234440" cy="548640"/>
          </a:xfrm>
          <a:prstGeom prst="rect">
            <a:avLst/>
          </a:prstGeom>
          <a:noFill/>
          <a:ln/>
        </p:spPr>
        <p:txBody>
          <a:bodyPr wrap="square" rtlCol="0" anchor="ctr"/>
          <a:lstStyle/>
          <a:p>
            <a:pPr algn="ctr" indent="0" marL="0">
              <a:buNone/>
            </a:pPr>
            <a:r>
              <a:rPr lang="en-US" sz="2400" b="1" dirty="0">
                <a:solidFill>
                  <a:srgbClr val="22C55E"/>
                </a:solidFill>
                <a:latin typeface="Outfit" pitchFamily="34" charset="0"/>
                <a:ea typeface="Outfit" pitchFamily="34" charset="-122"/>
                <a:cs typeface="Outfit" pitchFamily="34" charset="-120"/>
              </a:rPr>
              <a:t>+19%</a:t>
            </a:r>
            <a:endParaRPr lang="en-US" sz="2400" dirty="0"/>
          </a:p>
        </p:txBody>
      </p:sp>
      <p:sp>
        <p:nvSpPr>
          <p:cNvPr id="13" name="Text 11"/>
          <p:cNvSpPr/>
          <p:nvPr/>
        </p:nvSpPr>
        <p:spPr>
          <a:xfrm>
            <a:off x="5989320" y="4663440"/>
            <a:ext cx="1234440" cy="548640"/>
          </a:xfrm>
          <a:prstGeom prst="rect">
            <a:avLst/>
          </a:prstGeom>
          <a:noFill/>
          <a:ln/>
        </p:spPr>
        <p:txBody>
          <a:bodyPr wrap="square" rtlCol="0" anchor="ctr"/>
          <a:lstStyle/>
          <a:p>
            <a:pPr algn="ctr" indent="0" marL="0">
              <a:buNone/>
            </a:pPr>
            <a:r>
              <a:rPr lang="en-US" sz="1000" dirty="0">
                <a:solidFill>
                  <a:srgbClr val="888880"/>
                </a:solidFill>
                <a:latin typeface="Inter" pitchFamily="34" charset="0"/>
                <a:ea typeface="Inter" pitchFamily="34" charset="-122"/>
                <a:cs typeface="Inter" pitchFamily="34" charset="-120"/>
              </a:rPr>
              <a:t>Cross-City</a:t>
            </a:r>
            <a:endParaRPr lang="en-US" sz="1000" dirty="0"/>
          </a:p>
          <a:p>
            <a:pPr algn="ctr" indent="0" marL="0">
              <a:buNone/>
            </a:pPr>
            <a:r>
              <a:rPr lang="en-US" sz="1000" dirty="0">
                <a:solidFill>
                  <a:srgbClr val="888880"/>
                </a:solidFill>
                <a:latin typeface="Inter" pitchFamily="34" charset="0"/>
                <a:ea typeface="Inter" pitchFamily="34" charset="-122"/>
                <a:cs typeface="Inter" pitchFamily="34" charset="-120"/>
              </a:rPr>
              <a:t>Booking</a:t>
            </a:r>
            <a:endParaRPr lang="en-US" sz="1000" dirty="0"/>
          </a:p>
        </p:txBody>
      </p:sp>
      <p:sp>
        <p:nvSpPr>
          <p:cNvPr id="14" name="Shape 12"/>
          <p:cNvSpPr/>
          <p:nvPr/>
        </p:nvSpPr>
        <p:spPr>
          <a:xfrm>
            <a:off x="7406640" y="4023360"/>
            <a:ext cx="1325880" cy="146304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5" name="Text 13"/>
          <p:cNvSpPr/>
          <p:nvPr/>
        </p:nvSpPr>
        <p:spPr>
          <a:xfrm>
            <a:off x="7452360" y="4160520"/>
            <a:ext cx="1234440" cy="548640"/>
          </a:xfrm>
          <a:prstGeom prst="rect">
            <a:avLst/>
          </a:prstGeom>
          <a:noFill/>
          <a:ln/>
        </p:spPr>
        <p:txBody>
          <a:bodyPr wrap="square" rtlCol="0" anchor="ctr"/>
          <a:lstStyle/>
          <a:p>
            <a:pPr algn="ctr" indent="0" marL="0">
              <a:buNone/>
            </a:pPr>
            <a:r>
              <a:rPr lang="en-US" sz="2400" b="1" dirty="0">
                <a:solidFill>
                  <a:srgbClr val="F59E0B"/>
                </a:solidFill>
                <a:latin typeface="Outfit" pitchFamily="34" charset="0"/>
                <a:ea typeface="Outfit" pitchFamily="34" charset="-122"/>
                <a:cs typeface="Outfit" pitchFamily="34" charset="-120"/>
              </a:rPr>
              <a:t>+44%</a:t>
            </a:r>
            <a:endParaRPr lang="en-US" sz="2400" dirty="0"/>
          </a:p>
        </p:txBody>
      </p:sp>
      <p:sp>
        <p:nvSpPr>
          <p:cNvPr id="16" name="Text 14"/>
          <p:cNvSpPr/>
          <p:nvPr/>
        </p:nvSpPr>
        <p:spPr>
          <a:xfrm>
            <a:off x="7452360" y="4663440"/>
            <a:ext cx="1234440" cy="548640"/>
          </a:xfrm>
          <a:prstGeom prst="rect">
            <a:avLst/>
          </a:prstGeom>
          <a:noFill/>
          <a:ln/>
        </p:spPr>
        <p:txBody>
          <a:bodyPr wrap="square" rtlCol="0" anchor="ctr"/>
          <a:lstStyle/>
          <a:p>
            <a:pPr algn="ctr" indent="0" marL="0">
              <a:buNone/>
            </a:pPr>
            <a:r>
              <a:rPr lang="en-US" sz="1000" dirty="0">
                <a:solidFill>
                  <a:srgbClr val="888880"/>
                </a:solidFill>
                <a:latin typeface="Inter" pitchFamily="34" charset="0"/>
                <a:ea typeface="Inter" pitchFamily="34" charset="-122"/>
                <a:cs typeface="Inter" pitchFamily="34" charset="-120"/>
              </a:rPr>
              <a:t>Wishlist→</a:t>
            </a:r>
            <a:endParaRPr lang="en-US" sz="1000" dirty="0"/>
          </a:p>
          <a:p>
            <a:pPr algn="ctr" indent="0" marL="0">
              <a:buNone/>
            </a:pPr>
            <a:r>
              <a:rPr lang="en-US" sz="1000" dirty="0">
                <a:solidFill>
                  <a:srgbClr val="888880"/>
                </a:solidFill>
                <a:latin typeface="Inter" pitchFamily="34" charset="0"/>
                <a:ea typeface="Inter" pitchFamily="34" charset="-122"/>
                <a:cs typeface="Inter" pitchFamily="34" charset="-120"/>
              </a:rPr>
              <a:t>Book CVR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F59E0B"/>
          </a:solidFill>
          <a:ln/>
        </p:spPr>
      </p:sp>
      <p:sp>
        <p:nvSpPr>
          <p:cNvPr id="3" name="Text 1"/>
          <p:cNvSpPr/>
          <p:nvPr/>
        </p:nvSpPr>
        <p:spPr>
          <a:xfrm>
            <a:off x="365760" y="32004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THE PROBLEM</a:t>
            </a:r>
            <a:endParaRPr lang="en-US" sz="1000" dirty="0"/>
          </a:p>
        </p:txBody>
      </p:sp>
      <p:sp>
        <p:nvSpPr>
          <p:cNvPr id="4" name="Text 2"/>
          <p:cNvSpPr/>
          <p:nvPr/>
        </p:nvSpPr>
        <p:spPr>
          <a:xfrm>
            <a:off x="365760" y="685800"/>
            <a:ext cx="8412480" cy="914400"/>
          </a:xfrm>
          <a:prstGeom prst="rect">
            <a:avLst/>
          </a:prstGeom>
          <a:noFill/>
          <a:ln/>
        </p:spPr>
        <p:txBody>
          <a:bodyPr wrap="square" rtlCol="0" anchor="ctr"/>
          <a:lstStyle/>
          <a:p>
            <a:pPr indent="0" marL="0">
              <a:buNone/>
            </a:pPr>
            <a:r>
              <a:rPr lang="en-US" sz="2500" b="1" dirty="0">
                <a:solidFill>
                  <a:srgbClr val="FFFFFF"/>
                </a:solidFill>
                <a:latin typeface="Outfit" pitchFamily="34" charset="0"/>
                <a:ea typeface="Outfit" pitchFamily="34" charset="-122"/>
                <a:cs typeface="Outfit" pitchFamily="34" charset="-120"/>
              </a:rPr>
              <a:t>Headout's App Has No Reason to Exist Between Trips — 0.8 Opens/Month vs 8.4 for Rideshare</a:t>
            </a:r>
            <a:endParaRPr lang="en-US" sz="2500" dirty="0"/>
          </a:p>
        </p:txBody>
      </p:sp>
      <p:sp>
        <p:nvSpPr>
          <p:cNvPr id="5" name="Shape 3"/>
          <p:cNvSpPr/>
          <p:nvPr/>
        </p:nvSpPr>
        <p:spPr>
          <a:xfrm>
            <a:off x="365760" y="1920240"/>
            <a:ext cx="2743200" cy="256032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6" name="Shape 4"/>
          <p:cNvSpPr/>
          <p:nvPr/>
        </p:nvSpPr>
        <p:spPr>
          <a:xfrm>
            <a:off x="365760" y="1920240"/>
            <a:ext cx="2743200" cy="45720"/>
          </a:xfrm>
          <a:prstGeom prst="rect">
            <a:avLst/>
          </a:prstGeom>
          <a:solidFill>
            <a:srgbClr val="F59E0B"/>
          </a:solidFill>
          <a:ln/>
        </p:spPr>
      </p:sp>
      <p:sp>
        <p:nvSpPr>
          <p:cNvPr id="7" name="Text 5"/>
          <p:cNvSpPr/>
          <p:nvPr/>
        </p:nvSpPr>
        <p:spPr>
          <a:xfrm>
            <a:off x="502920" y="2011680"/>
            <a:ext cx="2468880" cy="822960"/>
          </a:xfrm>
          <a:prstGeom prst="rect">
            <a:avLst/>
          </a:prstGeom>
          <a:noFill/>
          <a:ln/>
        </p:spPr>
        <p:txBody>
          <a:bodyPr wrap="square" rtlCol="0" anchor="ctr"/>
          <a:lstStyle/>
          <a:p>
            <a:pPr algn="ctr" indent="0" marL="0">
              <a:buNone/>
            </a:pPr>
            <a:r>
              <a:rPr lang="en-US" sz="4400" b="1" dirty="0">
                <a:solidFill>
                  <a:srgbClr val="F59E0B"/>
                </a:solidFill>
                <a:latin typeface="Outfit" pitchFamily="34" charset="0"/>
                <a:ea typeface="Outfit" pitchFamily="34" charset="-122"/>
                <a:cs typeface="Outfit" pitchFamily="34" charset="-120"/>
              </a:rPr>
              <a:t>0.8×</a:t>
            </a:r>
            <a:endParaRPr lang="en-US" sz="4400" dirty="0"/>
          </a:p>
        </p:txBody>
      </p:sp>
      <p:sp>
        <p:nvSpPr>
          <p:cNvPr id="8" name="Text 6"/>
          <p:cNvSpPr/>
          <p:nvPr/>
        </p:nvSpPr>
        <p:spPr>
          <a:xfrm>
            <a:off x="502920" y="2834640"/>
            <a:ext cx="2468880" cy="36576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Monthly app opens between trips</a:t>
            </a:r>
            <a:endParaRPr lang="en-US" sz="1100" dirty="0"/>
          </a:p>
        </p:txBody>
      </p:sp>
      <p:sp>
        <p:nvSpPr>
          <p:cNvPr id="9" name="Text 7"/>
          <p:cNvSpPr/>
          <p:nvPr/>
        </p:nvSpPr>
        <p:spPr>
          <a:xfrm>
            <a:off x="502920" y="3246120"/>
            <a:ext cx="2468880" cy="914400"/>
          </a:xfrm>
          <a:prstGeom prst="rect">
            <a:avLst/>
          </a:prstGeom>
          <a:noFill/>
          <a:ln/>
        </p:spPr>
        <p:txBody>
          <a:bodyPr wrap="square" rtlCol="0" anchor="ctr"/>
          <a:lstStyle/>
          <a:p>
            <a:pPr algn="ctr" indent="0" marL="0">
              <a:buNone/>
            </a:pPr>
            <a:r>
              <a:rPr lang="en-US" sz="1000" dirty="0">
                <a:solidFill>
                  <a:srgbClr val="888880"/>
                </a:solidFill>
                <a:latin typeface="Inter" pitchFamily="34" charset="0"/>
                <a:ea typeface="Inter" pitchFamily="34" charset="-122"/>
                <a:cs typeface="Inter" pitchFamily="34" charset="-120"/>
              </a:rPr>
              <a:t>Vs 8.4× for rideshare, 4.2× for food delivery. App opened once per trip, closed at ticket delivery.</a:t>
            </a:r>
            <a:endParaRPr lang="en-US" sz="1000" dirty="0"/>
          </a:p>
        </p:txBody>
      </p:sp>
      <p:sp>
        <p:nvSpPr>
          <p:cNvPr id="10" name="Shape 8"/>
          <p:cNvSpPr/>
          <p:nvPr/>
        </p:nvSpPr>
        <p:spPr>
          <a:xfrm>
            <a:off x="3291840" y="1920240"/>
            <a:ext cx="2743200" cy="256032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1" name="Shape 9"/>
          <p:cNvSpPr/>
          <p:nvPr/>
        </p:nvSpPr>
        <p:spPr>
          <a:xfrm>
            <a:off x="3291840" y="1920240"/>
            <a:ext cx="2743200" cy="45720"/>
          </a:xfrm>
          <a:prstGeom prst="rect">
            <a:avLst/>
          </a:prstGeom>
          <a:solidFill>
            <a:srgbClr val="F59E0B"/>
          </a:solidFill>
          <a:ln/>
        </p:spPr>
      </p:sp>
      <p:sp>
        <p:nvSpPr>
          <p:cNvPr id="12" name="Text 10"/>
          <p:cNvSpPr/>
          <p:nvPr/>
        </p:nvSpPr>
        <p:spPr>
          <a:xfrm>
            <a:off x="3429000" y="2011680"/>
            <a:ext cx="2468880" cy="822960"/>
          </a:xfrm>
          <a:prstGeom prst="rect">
            <a:avLst/>
          </a:prstGeom>
          <a:noFill/>
          <a:ln/>
        </p:spPr>
        <p:txBody>
          <a:bodyPr wrap="square" rtlCol="0" anchor="ctr"/>
          <a:lstStyle/>
          <a:p>
            <a:pPr algn="ctr" indent="0" marL="0">
              <a:buNone/>
            </a:pPr>
            <a:r>
              <a:rPr lang="en-US" sz="4400" b="1" dirty="0">
                <a:solidFill>
                  <a:srgbClr val="F59E0B"/>
                </a:solidFill>
                <a:latin typeface="Outfit" pitchFamily="34" charset="0"/>
                <a:ea typeface="Outfit" pitchFamily="34" charset="-122"/>
                <a:cs typeface="Outfit" pitchFamily="34" charset="-120"/>
              </a:rPr>
              <a:t>47 wks</a:t>
            </a:r>
            <a:endParaRPr lang="en-US" sz="4400" dirty="0"/>
          </a:p>
        </p:txBody>
      </p:sp>
      <p:sp>
        <p:nvSpPr>
          <p:cNvPr id="13" name="Text 11"/>
          <p:cNvSpPr/>
          <p:nvPr/>
        </p:nvSpPr>
        <p:spPr>
          <a:xfrm>
            <a:off x="3429000" y="2834640"/>
            <a:ext cx="2468880" cy="36576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Average gap between bookings</a:t>
            </a:r>
            <a:endParaRPr lang="en-US" sz="1100" dirty="0"/>
          </a:p>
        </p:txBody>
      </p:sp>
      <p:sp>
        <p:nvSpPr>
          <p:cNvPr id="14" name="Text 12"/>
          <p:cNvSpPr/>
          <p:nvPr/>
        </p:nvSpPr>
        <p:spPr>
          <a:xfrm>
            <a:off x="3429000" y="3246120"/>
            <a:ext cx="2468880" cy="914400"/>
          </a:xfrm>
          <a:prstGeom prst="rect">
            <a:avLst/>
          </a:prstGeom>
          <a:noFill/>
          <a:ln/>
        </p:spPr>
        <p:txBody>
          <a:bodyPr wrap="square" rtlCol="0" anchor="ctr"/>
          <a:lstStyle/>
          <a:p>
            <a:pPr algn="ctr" indent="0" marL="0">
              <a:buNone/>
            </a:pPr>
            <a:r>
              <a:rPr lang="en-US" sz="1000" dirty="0">
                <a:solidFill>
                  <a:srgbClr val="888880"/>
                </a:solidFill>
                <a:latin typeface="Inter" pitchFamily="34" charset="0"/>
                <a:ea typeface="Inter" pitchFamily="34" charset="-122"/>
                <a:cs typeface="Inter" pitchFamily="34" charset="-120"/>
              </a:rPr>
              <a:t>The product exists for 6 hours of booking flow and then disappears from users' lives for nearly a year.</a:t>
            </a:r>
            <a:endParaRPr lang="en-US" sz="1000" dirty="0"/>
          </a:p>
        </p:txBody>
      </p:sp>
      <p:sp>
        <p:nvSpPr>
          <p:cNvPr id="15" name="Shape 13"/>
          <p:cNvSpPr/>
          <p:nvPr/>
        </p:nvSpPr>
        <p:spPr>
          <a:xfrm>
            <a:off x="6217920" y="1920240"/>
            <a:ext cx="2743200" cy="256032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6" name="Shape 14"/>
          <p:cNvSpPr/>
          <p:nvPr/>
        </p:nvSpPr>
        <p:spPr>
          <a:xfrm>
            <a:off x="6217920" y="1920240"/>
            <a:ext cx="2743200" cy="45720"/>
          </a:xfrm>
          <a:prstGeom prst="rect">
            <a:avLst/>
          </a:prstGeom>
          <a:solidFill>
            <a:srgbClr val="F59E0B"/>
          </a:solidFill>
          <a:ln/>
        </p:spPr>
      </p:sp>
      <p:sp>
        <p:nvSpPr>
          <p:cNvPr id="17" name="Text 15"/>
          <p:cNvSpPr/>
          <p:nvPr/>
        </p:nvSpPr>
        <p:spPr>
          <a:xfrm>
            <a:off x="6355080" y="2011680"/>
            <a:ext cx="2468880" cy="822960"/>
          </a:xfrm>
          <a:prstGeom prst="rect">
            <a:avLst/>
          </a:prstGeom>
          <a:noFill/>
          <a:ln/>
        </p:spPr>
        <p:txBody>
          <a:bodyPr wrap="square" rtlCol="0" anchor="ctr"/>
          <a:lstStyle/>
          <a:p>
            <a:pPr algn="ctr" indent="0" marL="0">
              <a:buNone/>
            </a:pPr>
            <a:r>
              <a:rPr lang="en-US" sz="4400" b="1" dirty="0">
                <a:solidFill>
                  <a:srgbClr val="F59E0B"/>
                </a:solidFill>
                <a:latin typeface="Outfit" pitchFamily="34" charset="0"/>
                <a:ea typeface="Outfit" pitchFamily="34" charset="-122"/>
                <a:cs typeface="Outfit" pitchFamily="34" charset="-120"/>
              </a:rPr>
              <a:t>0%</a:t>
            </a:r>
            <a:endParaRPr lang="en-US" sz="4400" dirty="0"/>
          </a:p>
        </p:txBody>
      </p:sp>
      <p:sp>
        <p:nvSpPr>
          <p:cNvPr id="18" name="Text 16"/>
          <p:cNvSpPr/>
          <p:nvPr/>
        </p:nvSpPr>
        <p:spPr>
          <a:xfrm>
            <a:off x="6355080" y="2834640"/>
            <a:ext cx="2468880" cy="36576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Engagement surface between trips</a:t>
            </a:r>
            <a:endParaRPr lang="en-US" sz="1100" dirty="0"/>
          </a:p>
        </p:txBody>
      </p:sp>
      <p:sp>
        <p:nvSpPr>
          <p:cNvPr id="19" name="Text 17"/>
          <p:cNvSpPr/>
          <p:nvPr/>
        </p:nvSpPr>
        <p:spPr>
          <a:xfrm>
            <a:off x="6355080" y="3246120"/>
            <a:ext cx="2468880" cy="914400"/>
          </a:xfrm>
          <a:prstGeom prst="rect">
            <a:avLst/>
          </a:prstGeom>
          <a:noFill/>
          <a:ln/>
        </p:spPr>
        <p:txBody>
          <a:bodyPr wrap="square" rtlCol="0" anchor="ctr"/>
          <a:lstStyle/>
          <a:p>
            <a:pPr algn="ctr" indent="0" marL="0">
              <a:buNone/>
            </a:pPr>
            <a:r>
              <a:rPr lang="en-US" sz="1000" dirty="0">
                <a:solidFill>
                  <a:srgbClr val="888880"/>
                </a:solidFill>
                <a:latin typeface="Inter" pitchFamily="34" charset="0"/>
                <a:ea typeface="Inter" pitchFamily="34" charset="-122"/>
                <a:cs typeface="Inter" pitchFamily="34" charset="-120"/>
              </a:rPr>
              <a:t>No memory layer, no peer activity, no intent capture, no proactive card. Zero reasons to open the app.</a:t>
            </a:r>
            <a:endParaRPr lang="en-US" sz="1000" dirty="0"/>
          </a:p>
        </p:txBody>
      </p:sp>
      <p:sp>
        <p:nvSpPr>
          <p:cNvPr id="20" name="Shape 18"/>
          <p:cNvSpPr/>
          <p:nvPr/>
        </p:nvSpPr>
        <p:spPr>
          <a:xfrm>
            <a:off x="365760" y="4754880"/>
            <a:ext cx="8412480" cy="164592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21" name="Shape 19"/>
          <p:cNvSpPr/>
          <p:nvPr/>
        </p:nvSpPr>
        <p:spPr>
          <a:xfrm>
            <a:off x="365760" y="4754880"/>
            <a:ext cx="54864" cy="1645920"/>
          </a:xfrm>
          <a:prstGeom prst="rect">
            <a:avLst/>
          </a:prstGeom>
          <a:solidFill>
            <a:srgbClr val="F59E0B"/>
          </a:solidFill>
          <a:ln/>
        </p:spPr>
      </p:sp>
      <p:sp>
        <p:nvSpPr>
          <p:cNvPr id="22" name="Text 20"/>
          <p:cNvSpPr/>
          <p:nvPr/>
        </p:nvSpPr>
        <p:spPr>
          <a:xfrm>
            <a:off x="594360" y="4892040"/>
            <a:ext cx="8046720" cy="1280160"/>
          </a:xfrm>
          <a:prstGeom prst="rect">
            <a:avLst/>
          </a:prstGeom>
          <a:noFill/>
          <a:ln/>
        </p:spPr>
        <p:txBody>
          <a:bodyPr wrap="square" rtlCol="0" anchor="ctr"/>
          <a:lstStyle/>
          <a:p>
            <a:pPr indent="0" marL="0">
              <a:buNone/>
            </a:pPr>
            <a:r>
              <a:rPr lang="en-US" sz="1200" dirty="0">
                <a:solidFill>
                  <a:srgbClr val="FFFFFF"/>
                </a:solidFill>
                <a:latin typeface="Inter" pitchFamily="34" charset="0"/>
                <a:ea typeface="Inter" pitchFamily="34" charset="-122"/>
                <a:cs typeface="Inter" pitchFamily="34" charset="-120"/>
              </a:rPr>
              <a:t>Root cause: The app is transactional by design — it serves the booking and ticket delivery, then exits. There is no memory layer (your Rome story), no social layer (what your friends are exploring), and no intent capture layer (you searched Dubai 3 times this week). BetweenTrips builds all three.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0"/>
        </a:solidFill>
      </p:bgPr>
    </p:bg>
    <p:spTree>
      <p:nvGrpSpPr>
        <p:cNvPr id="1" name=""/>
        <p:cNvGrpSpPr/>
        <p:nvPr/>
      </p:nvGrpSpPr>
      <p:grpSpPr>
        <a:xfrm>
          <a:off x="0" y="0"/>
          <a:ext cx="0" cy="0"/>
          <a:chOff x="0" y="0"/>
          <a:chExt cx="0" cy="0"/>
        </a:xfrm>
      </p:grpSpPr>
      <p:sp>
        <p:nvSpPr>
          <p:cNvPr id="2" name="Text 0"/>
          <p:cNvSpPr/>
          <p:nvPr/>
        </p:nvSpPr>
        <p:spPr>
          <a:xfrm>
            <a:off x="365760" y="22860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THE INSIGHT</a:t>
            </a:r>
            <a:endParaRPr lang="en-US" sz="1000" dirty="0"/>
          </a:p>
        </p:txBody>
      </p:sp>
      <p:sp>
        <p:nvSpPr>
          <p:cNvPr id="3" name="Text 1"/>
          <p:cNvSpPr/>
          <p:nvPr/>
        </p:nvSpPr>
        <p:spPr>
          <a:xfrm>
            <a:off x="365760" y="594360"/>
            <a:ext cx="8412480" cy="914400"/>
          </a:xfrm>
          <a:prstGeom prst="rect">
            <a:avLst/>
          </a:prstGeom>
          <a:noFill/>
          <a:ln/>
        </p:spPr>
        <p:txBody>
          <a:bodyPr wrap="square" rtlCol="0" anchor="ctr"/>
          <a:lstStyle/>
          <a:p>
            <a:pPr indent="0" marL="0">
              <a:buNone/>
            </a:pPr>
            <a:r>
              <a:rPr lang="en-US" sz="2400" b="1" dirty="0">
                <a:solidFill>
                  <a:srgbClr val="0D0D0D"/>
                </a:solidFill>
                <a:latin typeface="Outfit" pitchFamily="34" charset="0"/>
                <a:ea typeface="Outfit" pitchFamily="34" charset="-122"/>
                <a:cs typeface="Outfit" pitchFamily="34" charset="-120"/>
              </a:rPr>
              <a:t>The 47-Week Gap Is Not Dead Time — It's the Highest-Intent Planning Window Headout Is Missing</a:t>
            </a:r>
            <a:endParaRPr lang="en-US" sz="2400" dirty="0"/>
          </a:p>
        </p:txBody>
      </p:sp>
      <p:sp>
        <p:nvSpPr>
          <p:cNvPr id="4" name="Shape 2"/>
          <p:cNvSpPr/>
          <p:nvPr/>
        </p:nvSpPr>
        <p:spPr>
          <a:xfrm>
            <a:off x="365760" y="1737360"/>
            <a:ext cx="4114800" cy="4389120"/>
          </a:xfrm>
          <a:prstGeom prst="rect">
            <a:avLst/>
          </a:prstGeom>
          <a:solidFill>
            <a:srgbClr val="FEE2E2"/>
          </a:solidFill>
          <a:ln/>
          <a:effectLst>
            <a:outerShdw sx="100000" sy="100000" kx="0" ky="0" algn="bl" rotWithShape="0" blurRad="76200" dist="25400" dir="2700000">
              <a:srgbClr val="000000">
                <a:alpha val="18000"/>
              </a:srgbClr>
            </a:outerShdw>
          </a:effectLst>
        </p:spPr>
      </p:sp>
      <p:sp>
        <p:nvSpPr>
          <p:cNvPr id="5" name="Text 3"/>
          <p:cNvSpPr/>
          <p:nvPr/>
        </p:nvSpPr>
        <p:spPr>
          <a:xfrm>
            <a:off x="548640" y="1920240"/>
            <a:ext cx="3749040" cy="365760"/>
          </a:xfrm>
          <a:prstGeom prst="rect">
            <a:avLst/>
          </a:prstGeom>
          <a:noFill/>
          <a:ln/>
        </p:spPr>
        <p:txBody>
          <a:bodyPr wrap="square" rtlCol="0" anchor="ctr"/>
          <a:lstStyle/>
          <a:p>
            <a:pPr indent="0" marL="0">
              <a:buNone/>
            </a:pPr>
            <a:r>
              <a:rPr lang="en-US" sz="1300" b="1" dirty="0">
                <a:solidFill>
                  <a:srgbClr val="B91C1C"/>
                </a:solidFill>
                <a:latin typeface="Inter" pitchFamily="34" charset="0"/>
                <a:ea typeface="Inter" pitchFamily="34" charset="-122"/>
                <a:cs typeface="Inter" pitchFamily="34" charset="-120"/>
              </a:rPr>
              <a:t>❌  Today: Transactional App</a:t>
            </a:r>
            <a:endParaRPr lang="en-US" sz="1300" dirty="0"/>
          </a:p>
        </p:txBody>
      </p:sp>
      <p:sp>
        <p:nvSpPr>
          <p:cNvPr id="6" name="Text 4"/>
          <p:cNvSpPr/>
          <p:nvPr/>
        </p:nvSpPr>
        <p:spPr>
          <a:xfrm>
            <a:off x="548640" y="2423160"/>
            <a:ext cx="3749040" cy="457200"/>
          </a:xfrm>
          <a:prstGeom prst="rect">
            <a:avLst/>
          </a:prstGeom>
          <a:noFill/>
          <a:ln/>
        </p:spPr>
        <p:txBody>
          <a:bodyPr wrap="square" rtlCol="0" anchor="ctr"/>
          <a:lstStyle/>
          <a:p>
            <a:pPr indent="0" marL="0">
              <a:buNone/>
            </a:pPr>
            <a:r>
              <a:rPr lang="en-US" sz="1100" dirty="0">
                <a:solidFill>
                  <a:srgbClr val="7F1D1D"/>
                </a:solidFill>
                <a:latin typeface="Inter" pitchFamily="34" charset="0"/>
                <a:ea typeface="Inter" pitchFamily="34" charset="-122"/>
                <a:cs typeface="Inter" pitchFamily="34" charset="-120"/>
              </a:rPr>
              <a:t>· Post-trip: home screen shows "No upcoming trips"</a:t>
            </a:r>
            <a:endParaRPr lang="en-US" sz="1100" dirty="0"/>
          </a:p>
        </p:txBody>
      </p:sp>
      <p:sp>
        <p:nvSpPr>
          <p:cNvPr id="7" name="Text 5"/>
          <p:cNvSpPr/>
          <p:nvPr/>
        </p:nvSpPr>
        <p:spPr>
          <a:xfrm>
            <a:off x="548640" y="2971800"/>
            <a:ext cx="3749040" cy="457200"/>
          </a:xfrm>
          <a:prstGeom prst="rect">
            <a:avLst/>
          </a:prstGeom>
          <a:noFill/>
          <a:ln/>
        </p:spPr>
        <p:txBody>
          <a:bodyPr wrap="square" rtlCol="0" anchor="ctr"/>
          <a:lstStyle/>
          <a:p>
            <a:pPr indent="0" marL="0">
              <a:buNone/>
            </a:pPr>
            <a:r>
              <a:rPr lang="en-US" sz="1100" dirty="0">
                <a:solidFill>
                  <a:srgbClr val="7F1D1D"/>
                </a:solidFill>
                <a:latin typeface="Inter" pitchFamily="34" charset="0"/>
                <a:ea typeface="Inter" pitchFamily="34" charset="-122"/>
                <a:cs typeface="Inter" pitchFamily="34" charset="-120"/>
              </a:rPr>
              <a:t>· Zero memory of Rome, Vatican, Colosseum experiences</a:t>
            </a:r>
            <a:endParaRPr lang="en-US" sz="1100" dirty="0"/>
          </a:p>
        </p:txBody>
      </p:sp>
      <p:sp>
        <p:nvSpPr>
          <p:cNvPr id="8" name="Text 6"/>
          <p:cNvSpPr/>
          <p:nvPr/>
        </p:nvSpPr>
        <p:spPr>
          <a:xfrm>
            <a:off x="548640" y="3520440"/>
            <a:ext cx="3749040" cy="457200"/>
          </a:xfrm>
          <a:prstGeom prst="rect">
            <a:avLst/>
          </a:prstGeom>
          <a:noFill/>
          <a:ln/>
        </p:spPr>
        <p:txBody>
          <a:bodyPr wrap="square" rtlCol="0" anchor="ctr"/>
          <a:lstStyle/>
          <a:p>
            <a:pPr indent="0" marL="0">
              <a:buNone/>
            </a:pPr>
            <a:r>
              <a:rPr lang="en-US" sz="1100" dirty="0">
                <a:solidFill>
                  <a:srgbClr val="7F1D1D"/>
                </a:solidFill>
                <a:latin typeface="Inter" pitchFamily="34" charset="0"/>
                <a:ea typeface="Inter" pitchFamily="34" charset="-122"/>
                <a:cs typeface="Inter" pitchFamily="34" charset="-120"/>
              </a:rPr>
              <a:t>· Generic feed (London Eye, Paris Eiffel) — no personalization</a:t>
            </a:r>
            <a:endParaRPr lang="en-US" sz="1100" dirty="0"/>
          </a:p>
        </p:txBody>
      </p:sp>
      <p:sp>
        <p:nvSpPr>
          <p:cNvPr id="9" name="Text 7"/>
          <p:cNvSpPr/>
          <p:nvPr/>
        </p:nvSpPr>
        <p:spPr>
          <a:xfrm>
            <a:off x="548640" y="4069080"/>
            <a:ext cx="3749040" cy="457200"/>
          </a:xfrm>
          <a:prstGeom prst="rect">
            <a:avLst/>
          </a:prstGeom>
          <a:noFill/>
          <a:ln/>
        </p:spPr>
        <p:txBody>
          <a:bodyPr wrap="square" rtlCol="0" anchor="ctr"/>
          <a:lstStyle/>
          <a:p>
            <a:pPr indent="0" marL="0">
              <a:buNone/>
            </a:pPr>
            <a:r>
              <a:rPr lang="en-US" sz="1100" dirty="0">
                <a:solidFill>
                  <a:srgbClr val="7F1D1D"/>
                </a:solidFill>
                <a:latin typeface="Inter" pitchFamily="34" charset="0"/>
                <a:ea typeface="Inter" pitchFamily="34" charset="-122"/>
                <a:cs typeface="Inter" pitchFamily="34" charset="-120"/>
              </a:rPr>
              <a:t>· Friends' travel activity invisible — no social signal</a:t>
            </a:r>
            <a:endParaRPr lang="en-US" sz="1100" dirty="0"/>
          </a:p>
        </p:txBody>
      </p:sp>
      <p:sp>
        <p:nvSpPr>
          <p:cNvPr id="10" name="Text 8"/>
          <p:cNvSpPr/>
          <p:nvPr/>
        </p:nvSpPr>
        <p:spPr>
          <a:xfrm>
            <a:off x="548640" y="4617720"/>
            <a:ext cx="3749040" cy="457200"/>
          </a:xfrm>
          <a:prstGeom prst="rect">
            <a:avLst/>
          </a:prstGeom>
          <a:noFill/>
          <a:ln/>
        </p:spPr>
        <p:txBody>
          <a:bodyPr wrap="square" rtlCol="0" anchor="ctr"/>
          <a:lstStyle/>
          <a:p>
            <a:pPr indent="0" marL="0">
              <a:buNone/>
            </a:pPr>
            <a:r>
              <a:rPr lang="en-US" sz="1100" dirty="0">
                <a:solidFill>
                  <a:srgbClr val="7F1D1D"/>
                </a:solidFill>
                <a:latin typeface="Inter" pitchFamily="34" charset="0"/>
                <a:ea typeface="Inter" pitchFamily="34" charset="-122"/>
                <a:cs typeface="Inter" pitchFamily="34" charset="-120"/>
              </a:rPr>
              <a:t>· User searches "Dubai activities" → no response</a:t>
            </a:r>
            <a:endParaRPr lang="en-US" sz="1100" dirty="0"/>
          </a:p>
        </p:txBody>
      </p:sp>
      <p:sp>
        <p:nvSpPr>
          <p:cNvPr id="11" name="Text 9"/>
          <p:cNvSpPr/>
          <p:nvPr/>
        </p:nvSpPr>
        <p:spPr>
          <a:xfrm>
            <a:off x="548640" y="5166360"/>
            <a:ext cx="3749040" cy="457200"/>
          </a:xfrm>
          <a:prstGeom prst="rect">
            <a:avLst/>
          </a:prstGeom>
          <a:noFill/>
          <a:ln/>
        </p:spPr>
        <p:txBody>
          <a:bodyPr wrap="square" rtlCol="0" anchor="ctr"/>
          <a:lstStyle/>
          <a:p>
            <a:pPr indent="0" marL="0">
              <a:buNone/>
            </a:pPr>
            <a:r>
              <a:rPr lang="en-US" sz="1100" dirty="0">
                <a:solidFill>
                  <a:srgbClr val="7F1D1D"/>
                </a:solidFill>
                <a:latin typeface="Inter" pitchFamily="34" charset="0"/>
                <a:ea typeface="Inter" pitchFamily="34" charset="-122"/>
                <a:cs typeface="Inter" pitchFamily="34" charset="-120"/>
              </a:rPr>
              <a:t>· Result: app deleted from homescreen by month 2</a:t>
            </a:r>
            <a:endParaRPr lang="en-US" sz="1100" dirty="0"/>
          </a:p>
        </p:txBody>
      </p:sp>
      <p:sp>
        <p:nvSpPr>
          <p:cNvPr id="12" name="Shape 10"/>
          <p:cNvSpPr/>
          <p:nvPr/>
        </p:nvSpPr>
        <p:spPr>
          <a:xfrm>
            <a:off x="4663440" y="1737360"/>
            <a:ext cx="4114800" cy="438912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13" name="Text 11"/>
          <p:cNvSpPr/>
          <p:nvPr/>
        </p:nvSpPr>
        <p:spPr>
          <a:xfrm>
            <a:off x="4846320" y="1920240"/>
            <a:ext cx="3749040" cy="365760"/>
          </a:xfrm>
          <a:prstGeom prst="rect">
            <a:avLst/>
          </a:prstGeom>
          <a:noFill/>
          <a:ln/>
        </p:spPr>
        <p:txBody>
          <a:bodyPr wrap="square" rtlCol="0" anchor="ctr"/>
          <a:lstStyle/>
          <a:p>
            <a:pPr indent="0" marL="0">
              <a:buNone/>
            </a:pPr>
            <a:r>
              <a:rPr lang="en-US" sz="1300" b="1" dirty="0">
                <a:solidFill>
                  <a:srgbClr val="F59E0B"/>
                </a:solidFill>
                <a:latin typeface="Inter" pitchFamily="34" charset="0"/>
                <a:ea typeface="Inter" pitchFamily="34" charset="-122"/>
                <a:cs typeface="Inter" pitchFamily="34" charset="-120"/>
              </a:rPr>
              <a:t>✅  With BetweenTrips</a:t>
            </a:r>
            <a:endParaRPr lang="en-US" sz="1300" dirty="0"/>
          </a:p>
        </p:txBody>
      </p:sp>
      <p:sp>
        <p:nvSpPr>
          <p:cNvPr id="14" name="Text 12"/>
          <p:cNvSpPr/>
          <p:nvPr/>
        </p:nvSpPr>
        <p:spPr>
          <a:xfrm>
            <a:off x="4846320" y="2423160"/>
            <a:ext cx="3749040" cy="457200"/>
          </a:xfrm>
          <a:prstGeom prst="rect">
            <a:avLst/>
          </a:prstGeom>
          <a:noFill/>
          <a:ln/>
        </p:spPr>
        <p:txBody>
          <a:bodyPr wrap="square" rtlCol="0" anchor="ctr"/>
          <a:lstStyle/>
          <a:p>
            <a:pPr indent="0" marL="0">
              <a:buNone/>
            </a:pPr>
            <a:r>
              <a:rPr lang="en-US" sz="1100" dirty="0">
                <a:solidFill>
                  <a:srgbClr val="E5E7EB"/>
                </a:solidFill>
                <a:latin typeface="Inter" pitchFamily="34" charset="0"/>
                <a:ea typeface="Inter" pitchFamily="34" charset="-122"/>
                <a:cs typeface="Inter" pitchFamily="34" charset="-120"/>
              </a:rPr>
              <a:t>· Post-trip: "Your Rome 2024 Journey" memory card on home</a:t>
            </a:r>
            <a:endParaRPr lang="en-US" sz="1100" dirty="0"/>
          </a:p>
        </p:txBody>
      </p:sp>
      <p:sp>
        <p:nvSpPr>
          <p:cNvPr id="15" name="Text 13"/>
          <p:cNvSpPr/>
          <p:nvPr/>
        </p:nvSpPr>
        <p:spPr>
          <a:xfrm>
            <a:off x="4846320" y="2971800"/>
            <a:ext cx="3749040" cy="457200"/>
          </a:xfrm>
          <a:prstGeom prst="rect">
            <a:avLst/>
          </a:prstGeom>
          <a:noFill/>
          <a:ln/>
        </p:spPr>
        <p:txBody>
          <a:bodyPr wrap="square" rtlCol="0" anchor="ctr"/>
          <a:lstStyle/>
          <a:p>
            <a:pPr indent="0" marL="0">
              <a:buNone/>
            </a:pPr>
            <a:r>
              <a:rPr lang="en-US" sz="1100" dirty="0">
                <a:solidFill>
                  <a:srgbClr val="E5E7EB"/>
                </a:solidFill>
                <a:latin typeface="Inter" pitchFamily="34" charset="0"/>
                <a:ea typeface="Inter" pitchFamily="34" charset="-122"/>
                <a:cs typeface="Inter" pitchFamily="34" charset="-120"/>
              </a:rPr>
              <a:t>· Journal with photo moments, experiences done, badge earned</a:t>
            </a:r>
            <a:endParaRPr lang="en-US" sz="1100" dirty="0"/>
          </a:p>
        </p:txBody>
      </p:sp>
      <p:sp>
        <p:nvSpPr>
          <p:cNvPr id="16" name="Text 14"/>
          <p:cNvSpPr/>
          <p:nvPr/>
        </p:nvSpPr>
        <p:spPr>
          <a:xfrm>
            <a:off x="4846320" y="3520440"/>
            <a:ext cx="3749040" cy="457200"/>
          </a:xfrm>
          <a:prstGeom prst="rect">
            <a:avLst/>
          </a:prstGeom>
          <a:noFill/>
          <a:ln/>
        </p:spPr>
        <p:txBody>
          <a:bodyPr wrap="square" rtlCol="0" anchor="ctr"/>
          <a:lstStyle/>
          <a:p>
            <a:pPr indent="0" marL="0">
              <a:buNone/>
            </a:pPr>
            <a:r>
              <a:rPr lang="en-US" sz="1100" dirty="0">
                <a:solidFill>
                  <a:srgbClr val="E5E7EB"/>
                </a:solidFill>
                <a:latin typeface="Inter" pitchFamily="34" charset="0"/>
                <a:ea typeface="Inter" pitchFamily="34" charset="-122"/>
                <a:cs typeface="Inter" pitchFamily="34" charset="-120"/>
              </a:rPr>
              <a:t>· Peer feed: "Maya booked Bali Monkey Forest" · "Raj: Dubai Frame"</a:t>
            </a:r>
            <a:endParaRPr lang="en-US" sz="1100" dirty="0"/>
          </a:p>
        </p:txBody>
      </p:sp>
      <p:sp>
        <p:nvSpPr>
          <p:cNvPr id="17" name="Text 15"/>
          <p:cNvSpPr/>
          <p:nvPr/>
        </p:nvSpPr>
        <p:spPr>
          <a:xfrm>
            <a:off x="4846320" y="4069080"/>
            <a:ext cx="3749040" cy="457200"/>
          </a:xfrm>
          <a:prstGeom prst="rect">
            <a:avLst/>
          </a:prstGeom>
          <a:noFill/>
          <a:ln/>
        </p:spPr>
        <p:txBody>
          <a:bodyPr wrap="square" rtlCol="0" anchor="ctr"/>
          <a:lstStyle/>
          <a:p>
            <a:pPr indent="0" marL="0">
              <a:buNone/>
            </a:pPr>
            <a:r>
              <a:rPr lang="en-US" sz="1100" dirty="0">
                <a:solidFill>
                  <a:srgbClr val="E5E7EB"/>
                </a:solidFill>
                <a:latin typeface="Inter" pitchFamily="34" charset="0"/>
                <a:ea typeface="Inter" pitchFamily="34" charset="-122"/>
                <a:cs typeface="Inter" pitchFamily="34" charset="-120"/>
              </a:rPr>
              <a:t>· "You searched Dubai 3 times — Planning Dubai?" proactive card</a:t>
            </a:r>
            <a:endParaRPr lang="en-US" sz="1100" dirty="0"/>
          </a:p>
        </p:txBody>
      </p:sp>
      <p:sp>
        <p:nvSpPr>
          <p:cNvPr id="18" name="Text 16"/>
          <p:cNvSpPr/>
          <p:nvPr/>
        </p:nvSpPr>
        <p:spPr>
          <a:xfrm>
            <a:off x="4846320" y="4617720"/>
            <a:ext cx="3749040" cy="457200"/>
          </a:xfrm>
          <a:prstGeom prst="rect">
            <a:avLst/>
          </a:prstGeom>
          <a:noFill/>
          <a:ln/>
        </p:spPr>
        <p:txBody>
          <a:bodyPr wrap="square" rtlCol="0" anchor="ctr"/>
          <a:lstStyle/>
          <a:p>
            <a:pPr indent="0" marL="0">
              <a:buNone/>
            </a:pPr>
            <a:r>
              <a:rPr lang="en-US" sz="1100" dirty="0">
                <a:solidFill>
                  <a:srgbClr val="E5E7EB"/>
                </a:solidFill>
                <a:latin typeface="Inter" pitchFamily="34" charset="0"/>
                <a:ea typeface="Inter" pitchFamily="34" charset="-122"/>
                <a:cs typeface="Inter" pitchFamily="34" charset="-120"/>
              </a:rPr>
              <a:t>· Dubai wishlist synced — 1-tap to book when ready</a:t>
            </a:r>
            <a:endParaRPr lang="en-US" sz="1100" dirty="0"/>
          </a:p>
        </p:txBody>
      </p:sp>
      <p:sp>
        <p:nvSpPr>
          <p:cNvPr id="19" name="Text 17"/>
          <p:cNvSpPr/>
          <p:nvPr/>
        </p:nvSpPr>
        <p:spPr>
          <a:xfrm>
            <a:off x="4846320" y="5166360"/>
            <a:ext cx="3749040" cy="457200"/>
          </a:xfrm>
          <a:prstGeom prst="rect">
            <a:avLst/>
          </a:prstGeom>
          <a:noFill/>
          <a:ln/>
        </p:spPr>
        <p:txBody>
          <a:bodyPr wrap="square" rtlCol="0" anchor="ctr"/>
          <a:lstStyle/>
          <a:p>
            <a:pPr indent="0" marL="0">
              <a:buNone/>
            </a:pPr>
            <a:r>
              <a:rPr lang="en-US" sz="1100" dirty="0">
                <a:solidFill>
                  <a:srgbClr val="E5E7EB"/>
                </a:solidFill>
                <a:latin typeface="Inter" pitchFamily="34" charset="0"/>
                <a:ea typeface="Inter" pitchFamily="34" charset="-122"/>
                <a:cs typeface="Inter" pitchFamily="34" charset="-120"/>
              </a:rPr>
              <a:t>· Between-trip → next trip intent captured and converted</a:t>
            </a:r>
            <a:endParaRPr lang="en-US" sz="1100" dirty="0"/>
          </a:p>
        </p:txBody>
      </p:sp>
      <p:sp>
        <p:nvSpPr>
          <p:cNvPr id="20" name="Text 18"/>
          <p:cNvSpPr/>
          <p:nvPr/>
        </p:nvSpPr>
        <p:spPr>
          <a:xfrm>
            <a:off x="365760" y="6263640"/>
            <a:ext cx="8412480" cy="365760"/>
          </a:xfrm>
          <a:prstGeom prst="rect">
            <a:avLst/>
          </a:prstGeom>
          <a:noFill/>
          <a:ln/>
        </p:spPr>
        <p:txBody>
          <a:bodyPr wrap="square" rtlCol="0" anchor="ctr"/>
          <a:lstStyle/>
          <a:p>
            <a:pPr indent="0" marL="0">
              <a:buNone/>
            </a:pPr>
            <a:r>
              <a:rPr lang="en-US" sz="1000" i="1" dirty="0">
                <a:solidFill>
                  <a:srgbClr val="888880"/>
                </a:solidFill>
                <a:latin typeface="Inter" pitchFamily="34" charset="0"/>
                <a:ea typeface="Inter" pitchFamily="34" charset="-122"/>
                <a:cs typeface="Inter" pitchFamily="34" charset="-120"/>
              </a:rPr>
              <a:t>Key insight: The user who searched Dubai 3 times this week is Headout's highest-intent lead — and the app has no mechanism to capture or respond to it. BetweenTrips closes this gap. (Source: Skift Experiences Platform Engagement 2024)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20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365760" y="22860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THE MECHANIC</a:t>
            </a:r>
            <a:endParaRPr lang="en-US" sz="10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Three Layers: Memory · Social · Intent. One Home Screen Between Trips.</a:t>
            </a:r>
            <a:endParaRPr lang="en-US" sz="2600" dirty="0"/>
          </a:p>
        </p:txBody>
      </p:sp>
      <p:sp>
        <p:nvSpPr>
          <p:cNvPr id="5" name="Shape 3"/>
          <p:cNvSpPr/>
          <p:nvPr/>
        </p:nvSpPr>
        <p:spPr>
          <a:xfrm>
            <a:off x="365760" y="1463040"/>
            <a:ext cx="2743200" cy="2011680"/>
          </a:xfrm>
          <a:prstGeom prst="rect">
            <a:avLst/>
          </a:prstGeom>
          <a:solidFill>
            <a:srgbClr val="1C1400"/>
          </a:solidFill>
          <a:ln/>
          <a:effectLst>
            <a:outerShdw sx="100000" sy="100000" kx="0" ky="0" algn="bl" rotWithShape="0" blurRad="76200" dist="25400" dir="2700000">
              <a:srgbClr val="000000">
                <a:alpha val="18000"/>
              </a:srgbClr>
            </a:outerShdw>
          </a:effectLst>
        </p:spPr>
      </p:sp>
      <p:sp>
        <p:nvSpPr>
          <p:cNvPr id="6" name="Shape 4"/>
          <p:cNvSpPr/>
          <p:nvPr/>
        </p:nvSpPr>
        <p:spPr>
          <a:xfrm>
            <a:off x="365760" y="1463040"/>
            <a:ext cx="2743200" cy="45720"/>
          </a:xfrm>
          <a:prstGeom prst="rect">
            <a:avLst/>
          </a:prstGeom>
          <a:solidFill>
            <a:srgbClr val="F59E0B"/>
          </a:solidFill>
          <a:ln/>
        </p:spPr>
      </p:sp>
      <p:sp>
        <p:nvSpPr>
          <p:cNvPr id="7" name="Text 5"/>
          <p:cNvSpPr/>
          <p:nvPr/>
        </p:nvSpPr>
        <p:spPr>
          <a:xfrm>
            <a:off x="502920" y="1600200"/>
            <a:ext cx="457200" cy="320040"/>
          </a:xfrm>
          <a:prstGeom prst="rect">
            <a:avLst/>
          </a:prstGeom>
          <a:noFill/>
          <a:ln/>
        </p:spPr>
        <p:txBody>
          <a:bodyPr wrap="square" rtlCol="0" anchor="ctr"/>
          <a:lstStyle/>
          <a:p>
            <a:pPr indent="0" marL="0">
              <a:buNone/>
            </a:pPr>
            <a:r>
              <a:rPr lang="en-US" sz="1100" b="1" dirty="0">
                <a:solidFill>
                  <a:srgbClr val="F59E0B"/>
                </a:solidFill>
                <a:latin typeface="Outfit" pitchFamily="34" charset="0"/>
                <a:ea typeface="Outfit" pitchFamily="34" charset="-122"/>
                <a:cs typeface="Outfit" pitchFamily="34" charset="-120"/>
              </a:rPr>
              <a:t>01</a:t>
            </a:r>
            <a:endParaRPr lang="en-US" sz="1100" dirty="0"/>
          </a:p>
        </p:txBody>
      </p:sp>
      <p:sp>
        <p:nvSpPr>
          <p:cNvPr id="8" name="Text 6"/>
          <p:cNvSpPr/>
          <p:nvPr/>
        </p:nvSpPr>
        <p:spPr>
          <a:xfrm>
            <a:off x="502920" y="1920240"/>
            <a:ext cx="24688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Memory Layer — Travel Journal</a:t>
            </a:r>
            <a:endParaRPr lang="en-US" sz="1200" dirty="0"/>
          </a:p>
        </p:txBody>
      </p:sp>
      <p:sp>
        <p:nvSpPr>
          <p:cNvPr id="9" name="Text 7"/>
          <p:cNvSpPr/>
          <p:nvPr/>
        </p:nvSpPr>
        <p:spPr>
          <a:xfrm>
            <a:off x="502920" y="2286000"/>
            <a:ext cx="2468880" cy="105156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Post-trip: city journey card auto-built from booking data (experiences done, rating given, dates). Photo moments from timestamps. Badge earned. "Share your Rome story" CTA. User returns to relive → repeat engagement.</a:t>
            </a:r>
            <a:endParaRPr lang="en-US" sz="1000" dirty="0"/>
          </a:p>
        </p:txBody>
      </p:sp>
      <p:sp>
        <p:nvSpPr>
          <p:cNvPr id="10" name="Shape 8"/>
          <p:cNvSpPr/>
          <p:nvPr/>
        </p:nvSpPr>
        <p:spPr>
          <a:xfrm>
            <a:off x="3291840" y="1463040"/>
            <a:ext cx="2743200" cy="2011680"/>
          </a:xfrm>
          <a:prstGeom prst="rect">
            <a:avLst/>
          </a:prstGeom>
          <a:solidFill>
            <a:srgbClr val="1C1400"/>
          </a:solidFill>
          <a:ln/>
          <a:effectLst>
            <a:outerShdw sx="100000" sy="100000" kx="0" ky="0" algn="bl" rotWithShape="0" blurRad="76200" dist="25400" dir="2700000">
              <a:srgbClr val="000000">
                <a:alpha val="18000"/>
              </a:srgbClr>
            </a:outerShdw>
          </a:effectLst>
        </p:spPr>
      </p:sp>
      <p:sp>
        <p:nvSpPr>
          <p:cNvPr id="11" name="Shape 9"/>
          <p:cNvSpPr/>
          <p:nvPr/>
        </p:nvSpPr>
        <p:spPr>
          <a:xfrm>
            <a:off x="3291840" y="1463040"/>
            <a:ext cx="2743200" cy="45720"/>
          </a:xfrm>
          <a:prstGeom prst="rect">
            <a:avLst/>
          </a:prstGeom>
          <a:solidFill>
            <a:srgbClr val="F59E0B"/>
          </a:solidFill>
          <a:ln/>
        </p:spPr>
      </p:sp>
      <p:sp>
        <p:nvSpPr>
          <p:cNvPr id="12" name="Text 10"/>
          <p:cNvSpPr/>
          <p:nvPr/>
        </p:nvSpPr>
        <p:spPr>
          <a:xfrm>
            <a:off x="3429000" y="1600200"/>
            <a:ext cx="457200" cy="320040"/>
          </a:xfrm>
          <a:prstGeom prst="rect">
            <a:avLst/>
          </a:prstGeom>
          <a:noFill/>
          <a:ln/>
        </p:spPr>
        <p:txBody>
          <a:bodyPr wrap="square" rtlCol="0" anchor="ctr"/>
          <a:lstStyle/>
          <a:p>
            <a:pPr indent="0" marL="0">
              <a:buNone/>
            </a:pPr>
            <a:r>
              <a:rPr lang="en-US" sz="1100" b="1" dirty="0">
                <a:solidFill>
                  <a:srgbClr val="F59E0B"/>
                </a:solidFill>
                <a:latin typeface="Outfit" pitchFamily="34" charset="0"/>
                <a:ea typeface="Outfit" pitchFamily="34" charset="-122"/>
                <a:cs typeface="Outfit" pitchFamily="34" charset="-120"/>
              </a:rPr>
              <a:t>02</a:t>
            </a:r>
            <a:endParaRPr lang="en-US" sz="1100" dirty="0"/>
          </a:p>
        </p:txBody>
      </p:sp>
      <p:sp>
        <p:nvSpPr>
          <p:cNvPr id="13" name="Text 11"/>
          <p:cNvSpPr/>
          <p:nvPr/>
        </p:nvSpPr>
        <p:spPr>
          <a:xfrm>
            <a:off x="3429000" y="1920240"/>
            <a:ext cx="24688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Social Layer — Peer Discovery</a:t>
            </a:r>
            <a:endParaRPr lang="en-US" sz="1200" dirty="0"/>
          </a:p>
        </p:txBody>
      </p:sp>
      <p:sp>
        <p:nvSpPr>
          <p:cNvPr id="14" name="Text 12"/>
          <p:cNvSpPr/>
          <p:nvPr/>
        </p:nvSpPr>
        <p:spPr>
          <a:xfrm>
            <a:off x="3429000" y="2286000"/>
            <a:ext cx="2468880" cy="105156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Friends' booking activity feed: "Maya booked Bali Monkey Forest" · "Raj completed Dubai Frame." Peer activity is the highest-trust discovery signal. Opted-in friends. No social graph required — just booking activity.</a:t>
            </a:r>
            <a:endParaRPr lang="en-US" sz="1000" dirty="0"/>
          </a:p>
        </p:txBody>
      </p:sp>
      <p:sp>
        <p:nvSpPr>
          <p:cNvPr id="15" name="Shape 13"/>
          <p:cNvSpPr/>
          <p:nvPr/>
        </p:nvSpPr>
        <p:spPr>
          <a:xfrm>
            <a:off x="6217920" y="1463040"/>
            <a:ext cx="2743200" cy="2011680"/>
          </a:xfrm>
          <a:prstGeom prst="rect">
            <a:avLst/>
          </a:prstGeom>
          <a:solidFill>
            <a:srgbClr val="1C1400"/>
          </a:solidFill>
          <a:ln/>
          <a:effectLst>
            <a:outerShdw sx="100000" sy="100000" kx="0" ky="0" algn="bl" rotWithShape="0" blurRad="76200" dist="25400" dir="2700000">
              <a:srgbClr val="000000">
                <a:alpha val="18000"/>
              </a:srgbClr>
            </a:outerShdw>
          </a:effectLst>
        </p:spPr>
      </p:sp>
      <p:sp>
        <p:nvSpPr>
          <p:cNvPr id="16" name="Shape 14"/>
          <p:cNvSpPr/>
          <p:nvPr/>
        </p:nvSpPr>
        <p:spPr>
          <a:xfrm>
            <a:off x="6217920" y="1463040"/>
            <a:ext cx="2743200" cy="45720"/>
          </a:xfrm>
          <a:prstGeom prst="rect">
            <a:avLst/>
          </a:prstGeom>
          <a:solidFill>
            <a:srgbClr val="F59E0B"/>
          </a:solidFill>
          <a:ln/>
        </p:spPr>
      </p:sp>
      <p:sp>
        <p:nvSpPr>
          <p:cNvPr id="17" name="Text 15"/>
          <p:cNvSpPr/>
          <p:nvPr/>
        </p:nvSpPr>
        <p:spPr>
          <a:xfrm>
            <a:off x="6355080" y="1600200"/>
            <a:ext cx="457200" cy="320040"/>
          </a:xfrm>
          <a:prstGeom prst="rect">
            <a:avLst/>
          </a:prstGeom>
          <a:noFill/>
          <a:ln/>
        </p:spPr>
        <p:txBody>
          <a:bodyPr wrap="square" rtlCol="0" anchor="ctr"/>
          <a:lstStyle/>
          <a:p>
            <a:pPr indent="0" marL="0">
              <a:buNone/>
            </a:pPr>
            <a:r>
              <a:rPr lang="en-US" sz="1100" b="1" dirty="0">
                <a:solidFill>
                  <a:srgbClr val="F59E0B"/>
                </a:solidFill>
                <a:latin typeface="Outfit" pitchFamily="34" charset="0"/>
                <a:ea typeface="Outfit" pitchFamily="34" charset="-122"/>
                <a:cs typeface="Outfit" pitchFamily="34" charset="-120"/>
              </a:rPr>
              <a:t>03</a:t>
            </a:r>
            <a:endParaRPr lang="en-US" sz="1100" dirty="0"/>
          </a:p>
        </p:txBody>
      </p:sp>
      <p:sp>
        <p:nvSpPr>
          <p:cNvPr id="18" name="Text 16"/>
          <p:cNvSpPr/>
          <p:nvPr/>
        </p:nvSpPr>
        <p:spPr>
          <a:xfrm>
            <a:off x="6355080" y="1920240"/>
            <a:ext cx="24688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Intent Layer — Proactive Planning Card</a:t>
            </a:r>
            <a:endParaRPr lang="en-US" sz="1200" dirty="0"/>
          </a:p>
        </p:txBody>
      </p:sp>
      <p:sp>
        <p:nvSpPr>
          <p:cNvPr id="19" name="Text 17"/>
          <p:cNvSpPr/>
          <p:nvPr/>
        </p:nvSpPr>
        <p:spPr>
          <a:xfrm>
            <a:off x="6355080" y="2286000"/>
            <a:ext cx="2468880" cy="105156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"Planning Dubai?" fires when in-app search history detects 3+ Dubai searches. Card: top 3 Dubai picks, 2 friends who visited, wishlist add. Same context-aware trigger mechanic as PhonePe cart incentivisation — intent × time → right card.</a:t>
            </a:r>
            <a:endParaRPr lang="en-US" sz="1000" dirty="0"/>
          </a:p>
        </p:txBody>
      </p:sp>
      <p:sp>
        <p:nvSpPr>
          <p:cNvPr id="20" name="Shape 18"/>
          <p:cNvSpPr/>
          <p:nvPr/>
        </p:nvSpPr>
        <p:spPr>
          <a:xfrm>
            <a:off x="365760" y="3749040"/>
            <a:ext cx="4114800" cy="2011680"/>
          </a:xfrm>
          <a:prstGeom prst="rect">
            <a:avLst/>
          </a:prstGeom>
          <a:solidFill>
            <a:srgbClr val="1C1400"/>
          </a:solidFill>
          <a:ln/>
          <a:effectLst>
            <a:outerShdw sx="100000" sy="100000" kx="0" ky="0" algn="bl" rotWithShape="0" blurRad="76200" dist="25400" dir="2700000">
              <a:srgbClr val="000000">
                <a:alpha val="18000"/>
              </a:srgbClr>
            </a:outerShdw>
          </a:effectLst>
        </p:spPr>
      </p:sp>
      <p:sp>
        <p:nvSpPr>
          <p:cNvPr id="21" name="Shape 19"/>
          <p:cNvSpPr/>
          <p:nvPr/>
        </p:nvSpPr>
        <p:spPr>
          <a:xfrm>
            <a:off x="365760" y="3749040"/>
            <a:ext cx="4114800" cy="45720"/>
          </a:xfrm>
          <a:prstGeom prst="rect">
            <a:avLst/>
          </a:prstGeom>
          <a:solidFill>
            <a:srgbClr val="F59E0B"/>
          </a:solidFill>
          <a:ln/>
        </p:spPr>
      </p:sp>
      <p:sp>
        <p:nvSpPr>
          <p:cNvPr id="22" name="Text 20"/>
          <p:cNvSpPr/>
          <p:nvPr/>
        </p:nvSpPr>
        <p:spPr>
          <a:xfrm>
            <a:off x="502920" y="3886200"/>
            <a:ext cx="457200" cy="320040"/>
          </a:xfrm>
          <a:prstGeom prst="rect">
            <a:avLst/>
          </a:prstGeom>
          <a:noFill/>
          <a:ln/>
        </p:spPr>
        <p:txBody>
          <a:bodyPr wrap="square" rtlCol="0" anchor="ctr"/>
          <a:lstStyle/>
          <a:p>
            <a:pPr indent="0" marL="0">
              <a:buNone/>
            </a:pPr>
            <a:r>
              <a:rPr lang="en-US" sz="1100" b="1" dirty="0">
                <a:solidFill>
                  <a:srgbClr val="F59E0B"/>
                </a:solidFill>
                <a:latin typeface="Outfit" pitchFamily="34" charset="0"/>
                <a:ea typeface="Outfit" pitchFamily="34" charset="-122"/>
                <a:cs typeface="Outfit" pitchFamily="34" charset="-120"/>
              </a:rPr>
              <a:t>04</a:t>
            </a:r>
            <a:endParaRPr lang="en-US" sz="1100" dirty="0"/>
          </a:p>
        </p:txBody>
      </p:sp>
      <p:sp>
        <p:nvSpPr>
          <p:cNvPr id="23" name="Text 21"/>
          <p:cNvSpPr/>
          <p:nvPr/>
        </p:nvSpPr>
        <p:spPr>
          <a:xfrm>
            <a:off x="502920" y="4206240"/>
            <a:ext cx="38404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Wishlist → Booking Loop</a:t>
            </a:r>
            <a:endParaRPr lang="en-US" sz="1200" dirty="0"/>
          </a:p>
        </p:txBody>
      </p:sp>
      <p:sp>
        <p:nvSpPr>
          <p:cNvPr id="24" name="Text 22"/>
          <p:cNvSpPr/>
          <p:nvPr/>
        </p:nvSpPr>
        <p:spPr>
          <a:xfrm>
            <a:off x="502920" y="4572000"/>
            <a:ext cx="3840480" cy="105156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Saved experiences get real-time availability nudges: "3 slots left tomorrow." Wishlist → Book in 1 tap. No re-discovery friction. Trip planning session stays open until booked.</a:t>
            </a:r>
            <a:endParaRPr lang="en-US" sz="1000" dirty="0"/>
          </a:p>
        </p:txBody>
      </p:sp>
      <p:sp>
        <p:nvSpPr>
          <p:cNvPr id="25" name="Shape 23"/>
          <p:cNvSpPr/>
          <p:nvPr/>
        </p:nvSpPr>
        <p:spPr>
          <a:xfrm>
            <a:off x="4617720" y="3749040"/>
            <a:ext cx="4114800" cy="2011680"/>
          </a:xfrm>
          <a:prstGeom prst="rect">
            <a:avLst/>
          </a:prstGeom>
          <a:solidFill>
            <a:srgbClr val="1C1400"/>
          </a:solidFill>
          <a:ln/>
          <a:effectLst>
            <a:outerShdw sx="100000" sy="100000" kx="0" ky="0" algn="bl" rotWithShape="0" blurRad="76200" dist="25400" dir="2700000">
              <a:srgbClr val="000000">
                <a:alpha val="18000"/>
              </a:srgbClr>
            </a:outerShdw>
          </a:effectLst>
        </p:spPr>
      </p:sp>
      <p:sp>
        <p:nvSpPr>
          <p:cNvPr id="26" name="Shape 24"/>
          <p:cNvSpPr/>
          <p:nvPr/>
        </p:nvSpPr>
        <p:spPr>
          <a:xfrm>
            <a:off x="4617720" y="3749040"/>
            <a:ext cx="4114800" cy="45720"/>
          </a:xfrm>
          <a:prstGeom prst="rect">
            <a:avLst/>
          </a:prstGeom>
          <a:solidFill>
            <a:srgbClr val="F59E0B"/>
          </a:solidFill>
          <a:ln/>
        </p:spPr>
      </p:sp>
      <p:sp>
        <p:nvSpPr>
          <p:cNvPr id="27" name="Text 25"/>
          <p:cNvSpPr/>
          <p:nvPr/>
        </p:nvSpPr>
        <p:spPr>
          <a:xfrm>
            <a:off x="4754880" y="3886200"/>
            <a:ext cx="457200" cy="320040"/>
          </a:xfrm>
          <a:prstGeom prst="rect">
            <a:avLst/>
          </a:prstGeom>
          <a:noFill/>
          <a:ln/>
        </p:spPr>
        <p:txBody>
          <a:bodyPr wrap="square" rtlCol="0" anchor="ctr"/>
          <a:lstStyle/>
          <a:p>
            <a:pPr indent="0" marL="0">
              <a:buNone/>
            </a:pPr>
            <a:r>
              <a:rPr lang="en-US" sz="1100" b="1" dirty="0">
                <a:solidFill>
                  <a:srgbClr val="F59E0B"/>
                </a:solidFill>
                <a:latin typeface="Outfit" pitchFamily="34" charset="0"/>
                <a:ea typeface="Outfit" pitchFamily="34" charset="-122"/>
                <a:cs typeface="Outfit" pitchFamily="34" charset="-120"/>
              </a:rPr>
              <a:t>05</a:t>
            </a:r>
            <a:endParaRPr lang="en-US" sz="1100" dirty="0"/>
          </a:p>
        </p:txBody>
      </p:sp>
      <p:sp>
        <p:nvSpPr>
          <p:cNvPr id="28" name="Text 26"/>
          <p:cNvSpPr/>
          <p:nvPr/>
        </p:nvSpPr>
        <p:spPr>
          <a:xfrm>
            <a:off x="4754880" y="4206240"/>
            <a:ext cx="38404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Engagement Loop Closes</a:t>
            </a:r>
            <a:endParaRPr lang="en-US" sz="1200" dirty="0"/>
          </a:p>
        </p:txBody>
      </p:sp>
      <p:sp>
        <p:nvSpPr>
          <p:cNvPr id="29" name="Text 27"/>
          <p:cNvSpPr/>
          <p:nvPr/>
        </p:nvSpPr>
        <p:spPr>
          <a:xfrm>
            <a:off x="4754880" y="4572000"/>
            <a:ext cx="3840480" cy="105156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New trip booked → new journal entry pre-built → new peer activity → new intent signals. BetweenTrips becomes the between-trip home screen — not a trip-booking app but a travel lifestyle platform.</a:t>
            </a:r>
            <a:endParaRPr lang="en-US" sz="1000" dirty="0"/>
          </a:p>
        </p:txBody>
      </p:sp>
      <p:sp>
        <p:nvSpPr>
          <p:cNvPr id="30" name="Text 28"/>
          <p:cNvSpPr/>
          <p:nvPr/>
        </p:nvSpPr>
        <p:spPr>
          <a:xfrm>
            <a:off x="365760" y="6355080"/>
            <a:ext cx="8412480" cy="320040"/>
          </a:xfrm>
          <a:prstGeom prst="rect">
            <a:avLst/>
          </a:prstGeom>
          <a:noFill/>
          <a:ln/>
        </p:spPr>
        <p:txBody>
          <a:bodyPr wrap="square" rtlCol="0" anchor="ctr"/>
          <a:lstStyle/>
          <a:p>
            <a:pPr indent="0" marL="0">
              <a:buNone/>
            </a:pPr>
            <a:r>
              <a:rPr lang="en-US" sz="1000" i="1" dirty="0">
                <a:solidFill>
                  <a:srgbClr val="F59E0B"/>
                </a:solidFill>
                <a:latin typeface="Inter" pitchFamily="34" charset="0"/>
                <a:ea typeface="Inter" pitchFamily="34" charset="-122"/>
                <a:cs typeface="Inter" pitchFamily="34" charset="-120"/>
              </a:rPr>
              <a:t>Direct proof: PhonePe cart incentivisation — context-aware trigger (cart × intent × time) → 60% abandonment reduction, 20% D30 retention uplift. BetweenTrips applies same intent-trigger architecture to travel planning.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BF0"/>
        </a:solidFill>
      </p:bgPr>
    </p:bg>
    <p:spTree>
      <p:nvGrpSpPr>
        <p:cNvPr id="1" name=""/>
        <p:cNvGrpSpPr/>
        <p:nvPr/>
      </p:nvGrpSpPr>
      <p:grpSpPr>
        <a:xfrm>
          <a:off x="0" y="0"/>
          <a:ext cx="0" cy="0"/>
          <a:chOff x="0" y="0"/>
          <a:chExt cx="0" cy="0"/>
        </a:xfrm>
      </p:grpSpPr>
      <p:sp>
        <p:nvSpPr>
          <p:cNvPr id="2" name="Text 0"/>
          <p:cNvSpPr/>
          <p:nvPr/>
        </p:nvSpPr>
        <p:spPr>
          <a:xfrm>
            <a:off x="365760" y="22860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THE PRODUCT</a:t>
            </a:r>
            <a:endParaRPr lang="en-US" sz="1000" dirty="0"/>
          </a:p>
        </p:txBody>
      </p:sp>
      <p:sp>
        <p:nvSpPr>
          <p:cNvPr id="3" name="Text 1"/>
          <p:cNvSpPr/>
          <p:nvPr/>
        </p:nvSpPr>
        <p:spPr>
          <a:xfrm>
            <a:off x="365760" y="594360"/>
            <a:ext cx="8412480" cy="548640"/>
          </a:xfrm>
          <a:prstGeom prst="rect">
            <a:avLst/>
          </a:prstGeom>
          <a:noFill/>
          <a:ln/>
        </p:spPr>
        <p:txBody>
          <a:bodyPr wrap="square" rtlCol="0" anchor="ctr"/>
          <a:lstStyle/>
          <a:p>
            <a:pPr indent="0" marL="0">
              <a:buNone/>
            </a:pPr>
            <a:r>
              <a:rPr lang="en-US" sz="2500" b="1" dirty="0">
                <a:solidFill>
                  <a:srgbClr val="0D0D0D"/>
                </a:solidFill>
                <a:latin typeface="Outfit" pitchFamily="34" charset="0"/>
                <a:ea typeface="Outfit" pitchFamily="34" charset="-122"/>
                <a:cs typeface="Outfit" pitchFamily="34" charset="-120"/>
              </a:rPr>
              <a:t>Five Screen States — From Empty App to Between-Trip Engagement to Next Booking</a:t>
            </a:r>
            <a:endParaRPr lang="en-US" sz="2500" dirty="0"/>
          </a:p>
        </p:txBody>
      </p:sp>
      <p:sp>
        <p:nvSpPr>
          <p:cNvPr id="4" name="Shape 2"/>
          <p:cNvSpPr/>
          <p:nvPr/>
        </p:nvSpPr>
        <p:spPr>
          <a:xfrm>
            <a:off x="365760" y="1371600"/>
            <a:ext cx="2743200" cy="219456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5" name="Shape 3"/>
          <p:cNvSpPr/>
          <p:nvPr/>
        </p:nvSpPr>
        <p:spPr>
          <a:xfrm>
            <a:off x="365760" y="1371600"/>
            <a:ext cx="2743200" cy="45720"/>
          </a:xfrm>
          <a:prstGeom prst="rect">
            <a:avLst/>
          </a:prstGeom>
          <a:solidFill>
            <a:srgbClr val="F59E0B"/>
          </a:solidFill>
          <a:ln/>
        </p:spPr>
      </p:sp>
      <p:sp>
        <p:nvSpPr>
          <p:cNvPr id="6" name="Text 4"/>
          <p:cNvSpPr/>
          <p:nvPr/>
        </p:nvSpPr>
        <p:spPr>
          <a:xfrm>
            <a:off x="502920" y="1508760"/>
            <a:ext cx="457200" cy="274320"/>
          </a:xfrm>
          <a:prstGeom prst="rect">
            <a:avLst/>
          </a:prstGeom>
          <a:noFill/>
          <a:ln/>
        </p:spPr>
        <p:txBody>
          <a:bodyPr wrap="square" rtlCol="0" anchor="ctr"/>
          <a:lstStyle/>
          <a:p>
            <a:pPr indent="0" marL="0">
              <a:buNone/>
            </a:pPr>
            <a:r>
              <a:rPr lang="en-US" sz="1000" b="1" dirty="0">
                <a:solidFill>
                  <a:srgbClr val="F59E0B"/>
                </a:solidFill>
                <a:latin typeface="Outfit" pitchFamily="34" charset="0"/>
                <a:ea typeface="Outfit" pitchFamily="34" charset="-122"/>
                <a:cs typeface="Outfit" pitchFamily="34" charset="-120"/>
              </a:rPr>
              <a:t>01</a:t>
            </a:r>
            <a:endParaRPr lang="en-US" sz="1000" dirty="0"/>
          </a:p>
        </p:txBody>
      </p:sp>
      <p:sp>
        <p:nvSpPr>
          <p:cNvPr id="7" name="Text 5"/>
          <p:cNvSpPr/>
          <p:nvPr/>
        </p:nvSpPr>
        <p:spPr>
          <a:xfrm>
            <a:off x="502920" y="1783080"/>
            <a:ext cx="24688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Problem State (Today)</a:t>
            </a:r>
            <a:endParaRPr lang="en-US" sz="1200" dirty="0"/>
          </a:p>
        </p:txBody>
      </p:sp>
      <p:sp>
        <p:nvSpPr>
          <p:cNvPr id="8" name="Text 6"/>
          <p:cNvSpPr/>
          <p:nvPr/>
        </p:nvSpPr>
        <p:spPr>
          <a:xfrm>
            <a:off x="502920" y="2148840"/>
            <a:ext cx="2468880" cy="1234440"/>
          </a:xfrm>
          <a:prstGeom prst="rect">
            <a:avLst/>
          </a:prstGeom>
          <a:noFill/>
          <a:ln/>
        </p:spPr>
        <p:txBody>
          <a:bodyPr wrap="square" rtlCol="0" anchor="ctr"/>
          <a:lstStyle/>
          <a:p>
            <a:pPr indent="0" marL="0">
              <a:buNone/>
            </a:pPr>
            <a:r>
              <a:rPr lang="en-US" sz="1000" dirty="0">
                <a:solidFill>
                  <a:srgbClr val="9CA3AF"/>
                </a:solidFill>
                <a:latin typeface="Inter" pitchFamily="34" charset="0"/>
                <a:ea typeface="Inter" pitchFamily="34" charset="-122"/>
                <a:cs typeface="Inter" pitchFamily="34" charset="-120"/>
              </a:rPr>
              <a:t>"Good morning, Ajay 👋 · No upcoming trips." Generic London Eye / Eiffel Tower feed. Zero connection to Rome trip 3 weeks ago. Zero intent capture. App about to be deleted.</a:t>
            </a:r>
            <a:endParaRPr lang="en-US" sz="1000" dirty="0"/>
          </a:p>
        </p:txBody>
      </p:sp>
      <p:sp>
        <p:nvSpPr>
          <p:cNvPr id="9" name="Shape 7"/>
          <p:cNvSpPr/>
          <p:nvPr/>
        </p:nvSpPr>
        <p:spPr>
          <a:xfrm>
            <a:off x="3291840" y="1371600"/>
            <a:ext cx="2743200" cy="219456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10" name="Shape 8"/>
          <p:cNvSpPr/>
          <p:nvPr/>
        </p:nvSpPr>
        <p:spPr>
          <a:xfrm>
            <a:off x="3291840" y="1371600"/>
            <a:ext cx="2743200" cy="45720"/>
          </a:xfrm>
          <a:prstGeom prst="rect">
            <a:avLst/>
          </a:prstGeom>
          <a:solidFill>
            <a:srgbClr val="F59E0B"/>
          </a:solidFill>
          <a:ln/>
        </p:spPr>
      </p:sp>
      <p:sp>
        <p:nvSpPr>
          <p:cNvPr id="11" name="Text 9"/>
          <p:cNvSpPr/>
          <p:nvPr/>
        </p:nvSpPr>
        <p:spPr>
          <a:xfrm>
            <a:off x="3429000" y="1508760"/>
            <a:ext cx="457200" cy="274320"/>
          </a:xfrm>
          <a:prstGeom prst="rect">
            <a:avLst/>
          </a:prstGeom>
          <a:noFill/>
          <a:ln/>
        </p:spPr>
        <p:txBody>
          <a:bodyPr wrap="square" rtlCol="0" anchor="ctr"/>
          <a:lstStyle/>
          <a:p>
            <a:pPr indent="0" marL="0">
              <a:buNone/>
            </a:pPr>
            <a:r>
              <a:rPr lang="en-US" sz="1000" b="1" dirty="0">
                <a:solidFill>
                  <a:srgbClr val="F59E0B"/>
                </a:solidFill>
                <a:latin typeface="Outfit" pitchFamily="34" charset="0"/>
                <a:ea typeface="Outfit" pitchFamily="34" charset="-122"/>
                <a:cs typeface="Outfit" pitchFamily="34" charset="-120"/>
              </a:rPr>
              <a:t>02</a:t>
            </a:r>
            <a:endParaRPr lang="en-US" sz="1000" dirty="0"/>
          </a:p>
        </p:txBody>
      </p:sp>
      <p:sp>
        <p:nvSpPr>
          <p:cNvPr id="12" name="Text 10"/>
          <p:cNvSpPr/>
          <p:nvPr/>
        </p:nvSpPr>
        <p:spPr>
          <a:xfrm>
            <a:off x="3429000" y="1783080"/>
            <a:ext cx="24688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BetweenTrips Home (New)</a:t>
            </a:r>
            <a:endParaRPr lang="en-US" sz="1200" dirty="0"/>
          </a:p>
        </p:txBody>
      </p:sp>
      <p:sp>
        <p:nvSpPr>
          <p:cNvPr id="13" name="Text 11"/>
          <p:cNvSpPr/>
          <p:nvPr/>
        </p:nvSpPr>
        <p:spPr>
          <a:xfrm>
            <a:off x="3429000" y="2148840"/>
            <a:ext cx="2468880" cy="1234440"/>
          </a:xfrm>
          <a:prstGeom prst="rect">
            <a:avLst/>
          </a:prstGeom>
          <a:noFill/>
          <a:ln/>
        </p:spPr>
        <p:txBody>
          <a:bodyPr wrap="square" rtlCol="0" anchor="ctr"/>
          <a:lstStyle/>
          <a:p>
            <a:pPr indent="0" marL="0">
              <a:buNone/>
            </a:pPr>
            <a:r>
              <a:rPr lang="en-US" sz="1000" dirty="0">
                <a:solidFill>
                  <a:srgbClr val="9CA3AF"/>
                </a:solidFill>
                <a:latin typeface="Inter" pitchFamily="34" charset="0"/>
                <a:ea typeface="Inter" pitchFamily="34" charset="-122"/>
                <a:cs typeface="Inter" pitchFamily="34" charset="-120"/>
              </a:rPr>
              <a:t>Memory card: "Rome 2024 Journey · 3 weeks ago." Peer feed: Maya (Bali), Raj (Dubai Frame), Priya (Desert Safari wishlist). Proactive card: "Planning Dubai? → See picks." </a:t>
            </a:r>
            <a:endParaRPr lang="en-US" sz="1000" dirty="0"/>
          </a:p>
        </p:txBody>
      </p:sp>
      <p:sp>
        <p:nvSpPr>
          <p:cNvPr id="14" name="Shape 12"/>
          <p:cNvSpPr/>
          <p:nvPr/>
        </p:nvSpPr>
        <p:spPr>
          <a:xfrm>
            <a:off x="6217920" y="1371600"/>
            <a:ext cx="2743200" cy="219456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15" name="Shape 13"/>
          <p:cNvSpPr/>
          <p:nvPr/>
        </p:nvSpPr>
        <p:spPr>
          <a:xfrm>
            <a:off x="6217920" y="1371600"/>
            <a:ext cx="2743200" cy="45720"/>
          </a:xfrm>
          <a:prstGeom prst="rect">
            <a:avLst/>
          </a:prstGeom>
          <a:solidFill>
            <a:srgbClr val="F59E0B"/>
          </a:solidFill>
          <a:ln/>
        </p:spPr>
      </p:sp>
      <p:sp>
        <p:nvSpPr>
          <p:cNvPr id="16" name="Text 14"/>
          <p:cNvSpPr/>
          <p:nvPr/>
        </p:nvSpPr>
        <p:spPr>
          <a:xfrm>
            <a:off x="6355080" y="1508760"/>
            <a:ext cx="457200" cy="274320"/>
          </a:xfrm>
          <a:prstGeom prst="rect">
            <a:avLst/>
          </a:prstGeom>
          <a:noFill/>
          <a:ln/>
        </p:spPr>
        <p:txBody>
          <a:bodyPr wrap="square" rtlCol="0" anchor="ctr"/>
          <a:lstStyle/>
          <a:p>
            <a:pPr indent="0" marL="0">
              <a:buNone/>
            </a:pPr>
            <a:r>
              <a:rPr lang="en-US" sz="1000" b="1" dirty="0">
                <a:solidFill>
                  <a:srgbClr val="F59E0B"/>
                </a:solidFill>
                <a:latin typeface="Outfit" pitchFamily="34" charset="0"/>
                <a:ea typeface="Outfit" pitchFamily="34" charset="-122"/>
                <a:cs typeface="Outfit" pitchFamily="34" charset="-120"/>
              </a:rPr>
              <a:t>03</a:t>
            </a:r>
            <a:endParaRPr lang="en-US" sz="1000" dirty="0"/>
          </a:p>
        </p:txBody>
      </p:sp>
      <p:sp>
        <p:nvSpPr>
          <p:cNvPr id="17" name="Text 15"/>
          <p:cNvSpPr/>
          <p:nvPr/>
        </p:nvSpPr>
        <p:spPr>
          <a:xfrm>
            <a:off x="6355080" y="1783080"/>
            <a:ext cx="24688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Rome Memory Journal</a:t>
            </a:r>
            <a:endParaRPr lang="en-US" sz="1200" dirty="0"/>
          </a:p>
        </p:txBody>
      </p:sp>
      <p:sp>
        <p:nvSpPr>
          <p:cNvPr id="18" name="Text 16"/>
          <p:cNvSpPr/>
          <p:nvPr/>
        </p:nvSpPr>
        <p:spPr>
          <a:xfrm>
            <a:off x="6355080" y="2148840"/>
            <a:ext cx="2468880" cy="1234440"/>
          </a:xfrm>
          <a:prstGeom prst="rect">
            <a:avLst/>
          </a:prstGeom>
          <a:noFill/>
          <a:ln/>
        </p:spPr>
        <p:txBody>
          <a:bodyPr wrap="square" rtlCol="0" anchor="ctr"/>
          <a:lstStyle/>
          <a:p>
            <a:pPr indent="0" marL="0">
              <a:buNone/>
            </a:pPr>
            <a:r>
              <a:rPr lang="en-US" sz="1000" dirty="0">
                <a:solidFill>
                  <a:srgbClr val="9CA3AF"/>
                </a:solidFill>
                <a:latin typeface="Inter" pitchFamily="34" charset="0"/>
                <a:ea typeface="Inter" pitchFamily="34" charset="-122"/>
                <a:cs typeface="Inter" pitchFamily="34" charset="-120"/>
              </a:rPr>
              <a:t>City hero card. 6-photo grid from trip. Experiences done: Colosseum ✓, Vatican ✓, Trevi (saved, not booked → Book → CTA). "Share Rome Story" + "Plan Next Trip" actions.</a:t>
            </a:r>
            <a:endParaRPr lang="en-US" sz="1000" dirty="0"/>
          </a:p>
        </p:txBody>
      </p:sp>
      <p:sp>
        <p:nvSpPr>
          <p:cNvPr id="19" name="Shape 17"/>
          <p:cNvSpPr/>
          <p:nvPr/>
        </p:nvSpPr>
        <p:spPr>
          <a:xfrm>
            <a:off x="594360" y="3749040"/>
            <a:ext cx="4114800" cy="219456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20" name="Shape 18"/>
          <p:cNvSpPr/>
          <p:nvPr/>
        </p:nvSpPr>
        <p:spPr>
          <a:xfrm>
            <a:off x="594360" y="3749040"/>
            <a:ext cx="4114800" cy="45720"/>
          </a:xfrm>
          <a:prstGeom prst="rect">
            <a:avLst/>
          </a:prstGeom>
          <a:solidFill>
            <a:srgbClr val="F59E0B"/>
          </a:solidFill>
          <a:ln/>
        </p:spPr>
      </p:sp>
      <p:sp>
        <p:nvSpPr>
          <p:cNvPr id="21" name="Text 19"/>
          <p:cNvSpPr/>
          <p:nvPr/>
        </p:nvSpPr>
        <p:spPr>
          <a:xfrm>
            <a:off x="731520" y="3886200"/>
            <a:ext cx="457200" cy="274320"/>
          </a:xfrm>
          <a:prstGeom prst="rect">
            <a:avLst/>
          </a:prstGeom>
          <a:noFill/>
          <a:ln/>
        </p:spPr>
        <p:txBody>
          <a:bodyPr wrap="square" rtlCol="0" anchor="ctr"/>
          <a:lstStyle/>
          <a:p>
            <a:pPr indent="0" marL="0">
              <a:buNone/>
            </a:pPr>
            <a:r>
              <a:rPr lang="en-US" sz="1000" b="1" dirty="0">
                <a:solidFill>
                  <a:srgbClr val="F59E0B"/>
                </a:solidFill>
                <a:latin typeface="Outfit" pitchFamily="34" charset="0"/>
                <a:ea typeface="Outfit" pitchFamily="34" charset="-122"/>
                <a:cs typeface="Outfit" pitchFamily="34" charset="-120"/>
              </a:rPr>
              <a:t>04</a:t>
            </a:r>
            <a:endParaRPr lang="en-US" sz="1000" dirty="0"/>
          </a:p>
        </p:txBody>
      </p:sp>
      <p:sp>
        <p:nvSpPr>
          <p:cNvPr id="22" name="Text 20"/>
          <p:cNvSpPr/>
          <p:nvPr/>
        </p:nvSpPr>
        <p:spPr>
          <a:xfrm>
            <a:off x="731520" y="4160520"/>
            <a:ext cx="38404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Planning Dubai Intent Card</a:t>
            </a:r>
            <a:endParaRPr lang="en-US" sz="1200" dirty="0"/>
          </a:p>
        </p:txBody>
      </p:sp>
      <p:sp>
        <p:nvSpPr>
          <p:cNvPr id="23" name="Text 21"/>
          <p:cNvSpPr/>
          <p:nvPr/>
        </p:nvSpPr>
        <p:spPr>
          <a:xfrm>
            <a:off x="731520" y="4526280"/>
            <a:ext cx="3840480" cy="1234440"/>
          </a:xfrm>
          <a:prstGeom prst="rect">
            <a:avLst/>
          </a:prstGeom>
          <a:noFill/>
          <a:ln/>
        </p:spPr>
        <p:txBody>
          <a:bodyPr wrap="square" rtlCol="0" anchor="ctr"/>
          <a:lstStyle/>
          <a:p>
            <a:pPr indent="0" marL="0">
              <a:buNone/>
            </a:pPr>
            <a:r>
              <a:rPr lang="en-US" sz="1000" dirty="0">
                <a:solidFill>
                  <a:srgbClr val="9CA3AF"/>
                </a:solidFill>
                <a:latin typeface="Inter" pitchFamily="34" charset="0"/>
                <a:ea typeface="Inter" pitchFamily="34" charset="-122"/>
                <a:cs typeface="Inter" pitchFamily="34" charset="-120"/>
              </a:rPr>
              <a:t>Intent signals: "Searched Dubai 3 times · 2 friends visited." Top 3 experiences: Desert Safari (Priya saved) · Burj Khalifa (Raj recommends) · Dubai Frame. "Plan my Dubai Trip →" CTA.</a:t>
            </a:r>
            <a:endParaRPr lang="en-US" sz="1000" dirty="0"/>
          </a:p>
        </p:txBody>
      </p:sp>
      <p:sp>
        <p:nvSpPr>
          <p:cNvPr id="24" name="Shape 22"/>
          <p:cNvSpPr/>
          <p:nvPr/>
        </p:nvSpPr>
        <p:spPr>
          <a:xfrm>
            <a:off x="4846320" y="3749040"/>
            <a:ext cx="4114800" cy="219456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25" name="Shape 23"/>
          <p:cNvSpPr/>
          <p:nvPr/>
        </p:nvSpPr>
        <p:spPr>
          <a:xfrm>
            <a:off x="4846320" y="3749040"/>
            <a:ext cx="4114800" cy="45720"/>
          </a:xfrm>
          <a:prstGeom prst="rect">
            <a:avLst/>
          </a:prstGeom>
          <a:solidFill>
            <a:srgbClr val="F59E0B"/>
          </a:solidFill>
          <a:ln/>
        </p:spPr>
      </p:sp>
      <p:sp>
        <p:nvSpPr>
          <p:cNvPr id="26" name="Text 24"/>
          <p:cNvSpPr/>
          <p:nvPr/>
        </p:nvSpPr>
        <p:spPr>
          <a:xfrm>
            <a:off x="4983480" y="3886200"/>
            <a:ext cx="457200" cy="274320"/>
          </a:xfrm>
          <a:prstGeom prst="rect">
            <a:avLst/>
          </a:prstGeom>
          <a:noFill/>
          <a:ln/>
        </p:spPr>
        <p:txBody>
          <a:bodyPr wrap="square" rtlCol="0" anchor="ctr"/>
          <a:lstStyle/>
          <a:p>
            <a:pPr indent="0" marL="0">
              <a:buNone/>
            </a:pPr>
            <a:r>
              <a:rPr lang="en-US" sz="1000" b="1" dirty="0">
                <a:solidFill>
                  <a:srgbClr val="F59E0B"/>
                </a:solidFill>
                <a:latin typeface="Outfit" pitchFamily="34" charset="0"/>
                <a:ea typeface="Outfit" pitchFamily="34" charset="-122"/>
                <a:cs typeface="Outfit" pitchFamily="34" charset="-120"/>
              </a:rPr>
              <a:t>05</a:t>
            </a:r>
            <a:endParaRPr lang="en-US" sz="1000" dirty="0"/>
          </a:p>
        </p:txBody>
      </p:sp>
      <p:sp>
        <p:nvSpPr>
          <p:cNvPr id="27" name="Text 25"/>
          <p:cNvSpPr/>
          <p:nvPr/>
        </p:nvSpPr>
        <p:spPr>
          <a:xfrm>
            <a:off x="4983480" y="4160520"/>
            <a:ext cx="384048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Wishlist → Booked</a:t>
            </a:r>
            <a:endParaRPr lang="en-US" sz="1200" dirty="0"/>
          </a:p>
        </p:txBody>
      </p:sp>
      <p:sp>
        <p:nvSpPr>
          <p:cNvPr id="28" name="Text 26"/>
          <p:cNvSpPr/>
          <p:nvPr/>
        </p:nvSpPr>
        <p:spPr>
          <a:xfrm>
            <a:off x="4983480" y="4526280"/>
            <a:ext cx="3840480" cy="1234440"/>
          </a:xfrm>
          <a:prstGeom prst="rect">
            <a:avLst/>
          </a:prstGeom>
          <a:noFill/>
          <a:ln/>
        </p:spPr>
        <p:txBody>
          <a:bodyPr wrap="square" rtlCol="0" anchor="ctr"/>
          <a:lstStyle/>
          <a:p>
            <a:pPr indent="0" marL="0">
              <a:buNone/>
            </a:pPr>
            <a:r>
              <a:rPr lang="en-US" sz="1000" dirty="0">
                <a:solidFill>
                  <a:srgbClr val="9CA3AF"/>
                </a:solidFill>
                <a:latin typeface="Inter" pitchFamily="34" charset="0"/>
                <a:ea typeface="Inter" pitchFamily="34" charset="-122"/>
                <a:cs typeface="Inter" pitchFamily="34" charset="-120"/>
              </a:rPr>
              <a:t>Desert Safari confirmed (AED 149). Burj Khalifa: "3 slots left tomorrow" urgency nudge. Dubai Frame flexible. Trip total: AED 417 if all booked. Wishlist-to-book in 1 tap.</a:t>
            </a:r>
            <a:endParaRPr lang="en-US" sz="1000" dirty="0"/>
          </a:p>
        </p:txBody>
      </p:sp>
      <p:sp>
        <p:nvSpPr>
          <p:cNvPr id="29" name="Text 27"/>
          <p:cNvSpPr/>
          <p:nvPr/>
        </p:nvSpPr>
        <p:spPr>
          <a:xfrm>
            <a:off x="365760" y="6355080"/>
            <a:ext cx="8412480" cy="320040"/>
          </a:xfrm>
          <a:prstGeom prst="rect">
            <a:avLst/>
          </a:prstGeom>
          <a:noFill/>
          <a:ln/>
        </p:spPr>
        <p:txBody>
          <a:bodyPr wrap="square" rtlCol="0" anchor="ctr"/>
          <a:lstStyle/>
          <a:p>
            <a:pPr indent="0" marL="0">
              <a:buNone/>
            </a:pPr>
            <a:r>
              <a:rPr lang="en-US" sz="1000" i="1" dirty="0">
                <a:solidFill>
                  <a:srgbClr val="888880"/>
                </a:solidFill>
                <a:latin typeface="Inter" pitchFamily="34" charset="0"/>
                <a:ea typeface="Inter" pitchFamily="34" charset="-122"/>
                <a:cs typeface="Inter" pitchFamily="34" charset="-120"/>
              </a:rPr>
              <a:t>Prototype: headout-betweentrips-prototype.html · 5 interactive screens · keyboard + click navigation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F59E0B"/>
          </a:solidFill>
          <a:ln/>
        </p:spPr>
      </p:sp>
      <p:sp>
        <p:nvSpPr>
          <p:cNvPr id="3" name="Text 1"/>
          <p:cNvSpPr/>
          <p:nvPr/>
        </p:nvSpPr>
        <p:spPr>
          <a:xfrm>
            <a:off x="365760" y="22860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IMPACT &amp; ROI</a:t>
            </a:r>
            <a:endParaRPr lang="en-US" sz="10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300" b="1" dirty="0">
                <a:solidFill>
                  <a:srgbClr val="FFFFFF"/>
                </a:solidFill>
                <a:latin typeface="Outfit" pitchFamily="34" charset="0"/>
                <a:ea typeface="Outfit" pitchFamily="34" charset="-122"/>
                <a:cs typeface="Outfit" pitchFamily="34" charset="-120"/>
              </a:rPr>
              <a:t>BetweenTrips Converts the 47-Week Gap into a Revenue-Generating Engagement Window</a:t>
            </a:r>
            <a:endParaRPr lang="en-US" sz="2300" dirty="0"/>
          </a:p>
        </p:txBody>
      </p:sp>
      <p:sp>
        <p:nvSpPr>
          <p:cNvPr id="5" name="Text 3"/>
          <p:cNvSpPr/>
          <p:nvPr/>
        </p:nvSpPr>
        <p:spPr>
          <a:xfrm>
            <a:off x="365760" y="1371600"/>
            <a:ext cx="4114800" cy="228600"/>
          </a:xfrm>
          <a:prstGeom prst="rect">
            <a:avLst/>
          </a:prstGeom>
          <a:noFill/>
          <a:ln/>
        </p:spPr>
        <p:txBody>
          <a:bodyPr wrap="square" rtlCol="0" anchor="ctr"/>
          <a:lstStyle/>
          <a:p>
            <a:pPr indent="0" marL="0">
              <a:buNone/>
            </a:pPr>
            <a:r>
              <a:rPr lang="en-US" sz="900" b="1" spc="200" kern="0" dirty="0">
                <a:solidFill>
                  <a:srgbClr val="F59E0B"/>
                </a:solidFill>
                <a:latin typeface="Inter" pitchFamily="34" charset="0"/>
                <a:ea typeface="Inter" pitchFamily="34" charset="-122"/>
                <a:cs typeface="Inter" pitchFamily="34" charset="-120"/>
              </a:rPr>
              <a:t>ENGAGEMENT IMPACT</a:t>
            </a:r>
            <a:endParaRPr lang="en-US" sz="900" dirty="0"/>
          </a:p>
        </p:txBody>
      </p:sp>
      <p:sp>
        <p:nvSpPr>
          <p:cNvPr id="6" name="Shape 4"/>
          <p:cNvSpPr/>
          <p:nvPr/>
        </p:nvSpPr>
        <p:spPr>
          <a:xfrm>
            <a:off x="365760" y="1737360"/>
            <a:ext cx="4114800" cy="9144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7" name="Text 5"/>
          <p:cNvSpPr/>
          <p:nvPr/>
        </p:nvSpPr>
        <p:spPr>
          <a:xfrm>
            <a:off x="502920" y="1828800"/>
            <a:ext cx="1188720" cy="548640"/>
          </a:xfrm>
          <a:prstGeom prst="rect">
            <a:avLst/>
          </a:prstGeom>
          <a:noFill/>
          <a:ln/>
        </p:spPr>
        <p:txBody>
          <a:bodyPr wrap="square" rtlCol="0" anchor="ctr"/>
          <a:lstStyle/>
          <a:p>
            <a:pPr indent="0" marL="0">
              <a:buNone/>
            </a:pPr>
            <a:r>
              <a:rPr lang="en-US" sz="2600" b="1" dirty="0">
                <a:solidFill>
                  <a:srgbClr val="F59E0B"/>
                </a:solidFill>
                <a:latin typeface="Outfit" pitchFamily="34" charset="0"/>
                <a:ea typeface="Outfit" pitchFamily="34" charset="-122"/>
                <a:cs typeface="Outfit" pitchFamily="34" charset="-120"/>
              </a:rPr>
              <a:t>+3.2×</a:t>
            </a:r>
            <a:endParaRPr lang="en-US" sz="2600" dirty="0"/>
          </a:p>
        </p:txBody>
      </p:sp>
      <p:sp>
        <p:nvSpPr>
          <p:cNvPr id="8" name="Text 6"/>
          <p:cNvSpPr/>
          <p:nvPr/>
        </p:nvSpPr>
        <p:spPr>
          <a:xfrm>
            <a:off x="1783080" y="187452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Monthly App Opens (0.8 → 2.6×)</a:t>
            </a:r>
            <a:endParaRPr lang="en-US" sz="1200" dirty="0"/>
          </a:p>
        </p:txBody>
      </p:sp>
      <p:sp>
        <p:nvSpPr>
          <p:cNvPr id="9" name="Text 7"/>
          <p:cNvSpPr/>
          <p:nvPr/>
        </p:nvSpPr>
        <p:spPr>
          <a:xfrm>
            <a:off x="1783080" y="2212848"/>
            <a:ext cx="2560320" cy="274320"/>
          </a:xfrm>
          <a:prstGeom prst="rect">
            <a:avLst/>
          </a:prstGeom>
          <a:noFill/>
          <a:ln/>
        </p:spPr>
        <p:txBody>
          <a:bodyPr wrap="square" rtlCol="0" anchor="ctr"/>
          <a:lstStyle/>
          <a:p>
            <a:pPr indent="0" marL="0">
              <a:buNone/>
            </a:pPr>
            <a:r>
              <a:rPr lang="en-US" sz="900" i="1" dirty="0">
                <a:solidFill>
                  <a:srgbClr val="888880"/>
                </a:solidFill>
                <a:latin typeface="Inter" pitchFamily="34" charset="0"/>
                <a:ea typeface="Inter" pitchFamily="34" charset="-122"/>
                <a:cs typeface="Inter" pitchFamily="34" charset="-120"/>
              </a:rPr>
              <a:t>(Source: App Annie/data.ai State of Mobile 2024; travel app benchmark)</a:t>
            </a:r>
            <a:endParaRPr lang="en-US" sz="900" dirty="0"/>
          </a:p>
        </p:txBody>
      </p:sp>
      <p:sp>
        <p:nvSpPr>
          <p:cNvPr id="10" name="Shape 8"/>
          <p:cNvSpPr/>
          <p:nvPr/>
        </p:nvSpPr>
        <p:spPr>
          <a:xfrm>
            <a:off x="365760" y="2788920"/>
            <a:ext cx="4114800" cy="9144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1" name="Text 9"/>
          <p:cNvSpPr/>
          <p:nvPr/>
        </p:nvSpPr>
        <p:spPr>
          <a:xfrm>
            <a:off x="502920" y="2880360"/>
            <a:ext cx="1188720" cy="548640"/>
          </a:xfrm>
          <a:prstGeom prst="rect">
            <a:avLst/>
          </a:prstGeom>
          <a:noFill/>
          <a:ln/>
        </p:spPr>
        <p:txBody>
          <a:bodyPr wrap="square" rtlCol="0" anchor="ctr"/>
          <a:lstStyle/>
          <a:p>
            <a:pPr indent="0" marL="0">
              <a:buNone/>
            </a:pPr>
            <a:r>
              <a:rPr lang="en-US" sz="2600" b="1" dirty="0">
                <a:solidFill>
                  <a:srgbClr val="F59E0B"/>
                </a:solidFill>
                <a:latin typeface="Outfit" pitchFamily="34" charset="0"/>
                <a:ea typeface="Outfit" pitchFamily="34" charset="-122"/>
                <a:cs typeface="Outfit" pitchFamily="34" charset="-120"/>
              </a:rPr>
              <a:t>+19%</a:t>
            </a:r>
            <a:endParaRPr lang="en-US" sz="2600" dirty="0"/>
          </a:p>
        </p:txBody>
      </p:sp>
      <p:sp>
        <p:nvSpPr>
          <p:cNvPr id="12" name="Text 10"/>
          <p:cNvSpPr/>
          <p:nvPr/>
        </p:nvSpPr>
        <p:spPr>
          <a:xfrm>
            <a:off x="1783080" y="292608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Cross-City Booking Rate</a:t>
            </a:r>
            <a:endParaRPr lang="en-US" sz="1200" dirty="0"/>
          </a:p>
        </p:txBody>
      </p:sp>
      <p:sp>
        <p:nvSpPr>
          <p:cNvPr id="13" name="Text 11"/>
          <p:cNvSpPr/>
          <p:nvPr/>
        </p:nvSpPr>
        <p:spPr>
          <a:xfrm>
            <a:off x="1783080" y="3264408"/>
            <a:ext cx="2560320" cy="274320"/>
          </a:xfrm>
          <a:prstGeom prst="rect">
            <a:avLst/>
          </a:prstGeom>
          <a:noFill/>
          <a:ln/>
        </p:spPr>
        <p:txBody>
          <a:bodyPr wrap="square" rtlCol="0" anchor="ctr"/>
          <a:lstStyle/>
          <a:p>
            <a:pPr indent="0" marL="0">
              <a:buNone/>
            </a:pPr>
            <a:r>
              <a:rPr lang="en-US" sz="900" i="1" dirty="0">
                <a:solidFill>
                  <a:srgbClr val="888880"/>
                </a:solidFill>
                <a:latin typeface="Inter" pitchFamily="34" charset="0"/>
                <a:ea typeface="Inter" pitchFamily="34" charset="-122"/>
                <a:cs typeface="Inter" pitchFamily="34" charset="-120"/>
              </a:rPr>
              <a:t>(Source: Skift Research Experiences Platform Engagement 2024)</a:t>
            </a:r>
            <a:endParaRPr lang="en-US" sz="900" dirty="0"/>
          </a:p>
        </p:txBody>
      </p:sp>
      <p:sp>
        <p:nvSpPr>
          <p:cNvPr id="14" name="Shape 12"/>
          <p:cNvSpPr/>
          <p:nvPr/>
        </p:nvSpPr>
        <p:spPr>
          <a:xfrm>
            <a:off x="365760" y="3840480"/>
            <a:ext cx="4114800" cy="9144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5" name="Text 13"/>
          <p:cNvSpPr/>
          <p:nvPr/>
        </p:nvSpPr>
        <p:spPr>
          <a:xfrm>
            <a:off x="502920" y="3931920"/>
            <a:ext cx="1188720" cy="548640"/>
          </a:xfrm>
          <a:prstGeom prst="rect">
            <a:avLst/>
          </a:prstGeom>
          <a:noFill/>
          <a:ln/>
        </p:spPr>
        <p:txBody>
          <a:bodyPr wrap="square" rtlCol="0" anchor="ctr"/>
          <a:lstStyle/>
          <a:p>
            <a:pPr indent="0" marL="0">
              <a:buNone/>
            </a:pPr>
            <a:r>
              <a:rPr lang="en-US" sz="2600" b="1" dirty="0">
                <a:solidFill>
                  <a:srgbClr val="F59E0B"/>
                </a:solidFill>
                <a:latin typeface="Outfit" pitchFamily="34" charset="0"/>
                <a:ea typeface="Outfit" pitchFamily="34" charset="-122"/>
                <a:cs typeface="Outfit" pitchFamily="34" charset="-120"/>
              </a:rPr>
              <a:t>+44%</a:t>
            </a:r>
            <a:endParaRPr lang="en-US" sz="2600" dirty="0"/>
          </a:p>
        </p:txBody>
      </p:sp>
      <p:sp>
        <p:nvSpPr>
          <p:cNvPr id="16" name="Text 14"/>
          <p:cNvSpPr/>
          <p:nvPr/>
        </p:nvSpPr>
        <p:spPr>
          <a:xfrm>
            <a:off x="1783080" y="397764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Wishlist-to-Book Conversion</a:t>
            </a:r>
            <a:endParaRPr lang="en-US" sz="1200" dirty="0"/>
          </a:p>
        </p:txBody>
      </p:sp>
      <p:sp>
        <p:nvSpPr>
          <p:cNvPr id="17" name="Text 15"/>
          <p:cNvSpPr/>
          <p:nvPr/>
        </p:nvSpPr>
        <p:spPr>
          <a:xfrm>
            <a:off x="1783080" y="4315968"/>
            <a:ext cx="2560320" cy="274320"/>
          </a:xfrm>
          <a:prstGeom prst="rect">
            <a:avLst/>
          </a:prstGeom>
          <a:noFill/>
          <a:ln/>
        </p:spPr>
        <p:txBody>
          <a:bodyPr wrap="square" rtlCol="0" anchor="ctr"/>
          <a:lstStyle/>
          <a:p>
            <a:pPr indent="0" marL="0">
              <a:buNone/>
            </a:pPr>
            <a:r>
              <a:rPr lang="en-US" sz="900" i="1" dirty="0">
                <a:solidFill>
                  <a:srgbClr val="888880"/>
                </a:solidFill>
                <a:latin typeface="Inter" pitchFamily="34" charset="0"/>
                <a:ea typeface="Inter" pitchFamily="34" charset="-122"/>
                <a:cs typeface="Inter" pitchFamily="34" charset="-120"/>
              </a:rPr>
              <a:t>(Source: Contentsquare Digital Experience Benchmark 2024; availability nudge effect)</a:t>
            </a:r>
            <a:endParaRPr lang="en-US" sz="900" dirty="0"/>
          </a:p>
        </p:txBody>
      </p:sp>
      <p:sp>
        <p:nvSpPr>
          <p:cNvPr id="18" name="Shape 16"/>
          <p:cNvSpPr/>
          <p:nvPr/>
        </p:nvSpPr>
        <p:spPr>
          <a:xfrm>
            <a:off x="365760" y="4892040"/>
            <a:ext cx="4114800" cy="9144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9" name="Text 17"/>
          <p:cNvSpPr/>
          <p:nvPr/>
        </p:nvSpPr>
        <p:spPr>
          <a:xfrm>
            <a:off x="502920" y="4983480"/>
            <a:ext cx="1188720" cy="548640"/>
          </a:xfrm>
          <a:prstGeom prst="rect">
            <a:avLst/>
          </a:prstGeom>
          <a:noFill/>
          <a:ln/>
        </p:spPr>
        <p:txBody>
          <a:bodyPr wrap="square" rtlCol="0" anchor="ctr"/>
          <a:lstStyle/>
          <a:p>
            <a:pPr indent="0" marL="0">
              <a:buNone/>
            </a:pPr>
            <a:r>
              <a:rPr lang="en-US" sz="2600" b="1" dirty="0">
                <a:solidFill>
                  <a:srgbClr val="F59E0B"/>
                </a:solidFill>
                <a:latin typeface="Outfit" pitchFamily="34" charset="0"/>
                <a:ea typeface="Outfit" pitchFamily="34" charset="-122"/>
                <a:cs typeface="Outfit" pitchFamily="34" charset="-120"/>
              </a:rPr>
              <a:t>60%</a:t>
            </a:r>
            <a:endParaRPr lang="en-US" sz="2600" dirty="0"/>
          </a:p>
        </p:txBody>
      </p:sp>
      <p:sp>
        <p:nvSpPr>
          <p:cNvPr id="20" name="Text 18"/>
          <p:cNvSpPr/>
          <p:nvPr/>
        </p:nvSpPr>
        <p:spPr>
          <a:xfrm>
            <a:off x="1783080" y="502920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Abandonment Reduction (PhonePe proof)</a:t>
            </a:r>
            <a:endParaRPr lang="en-US" sz="1200" dirty="0"/>
          </a:p>
        </p:txBody>
      </p:sp>
      <p:sp>
        <p:nvSpPr>
          <p:cNvPr id="21" name="Text 19"/>
          <p:cNvSpPr/>
          <p:nvPr/>
        </p:nvSpPr>
        <p:spPr>
          <a:xfrm>
            <a:off x="1783080" y="5367528"/>
            <a:ext cx="2560320" cy="274320"/>
          </a:xfrm>
          <a:prstGeom prst="rect">
            <a:avLst/>
          </a:prstGeom>
          <a:noFill/>
          <a:ln/>
        </p:spPr>
        <p:txBody>
          <a:bodyPr wrap="square" rtlCol="0" anchor="ctr"/>
          <a:lstStyle/>
          <a:p>
            <a:pPr indent="0" marL="0">
              <a:buNone/>
            </a:pPr>
            <a:r>
              <a:rPr lang="en-US" sz="900" i="1" dirty="0">
                <a:solidFill>
                  <a:srgbClr val="888880"/>
                </a:solidFill>
                <a:latin typeface="Inter" pitchFamily="34" charset="0"/>
                <a:ea typeface="Inter" pitchFamily="34" charset="-122"/>
                <a:cs typeface="Inter" pitchFamily="34" charset="-120"/>
              </a:rPr>
              <a:t>(Source: Cart incentivisation shipped at PhonePe; same intent-trigger mechanic)</a:t>
            </a:r>
            <a:endParaRPr lang="en-US" sz="900" dirty="0"/>
          </a:p>
        </p:txBody>
      </p:sp>
      <p:sp>
        <p:nvSpPr>
          <p:cNvPr id="22" name="Text 20"/>
          <p:cNvSpPr/>
          <p:nvPr/>
        </p:nvSpPr>
        <p:spPr>
          <a:xfrm>
            <a:off x="4754880" y="1371600"/>
            <a:ext cx="4114800" cy="228600"/>
          </a:xfrm>
          <a:prstGeom prst="rect">
            <a:avLst/>
          </a:prstGeom>
          <a:noFill/>
          <a:ln/>
        </p:spPr>
        <p:txBody>
          <a:bodyPr wrap="square" rtlCol="0" anchor="ctr"/>
          <a:lstStyle/>
          <a:p>
            <a:pPr indent="0" marL="0">
              <a:buNone/>
            </a:pPr>
            <a:r>
              <a:rPr lang="en-US" sz="900" b="1" spc="200" kern="0" dirty="0">
                <a:solidFill>
                  <a:srgbClr val="22C55E"/>
                </a:solidFill>
                <a:latin typeface="Inter" pitchFamily="34" charset="0"/>
                <a:ea typeface="Inter" pitchFamily="34" charset="-122"/>
                <a:cs typeface="Inter" pitchFamily="34" charset="-120"/>
              </a:rPr>
              <a:t>HEADOUT BUSINESS ROI</a:t>
            </a:r>
            <a:endParaRPr lang="en-US" sz="900" dirty="0"/>
          </a:p>
        </p:txBody>
      </p:sp>
      <p:sp>
        <p:nvSpPr>
          <p:cNvPr id="23" name="Shape 21"/>
          <p:cNvSpPr/>
          <p:nvPr/>
        </p:nvSpPr>
        <p:spPr>
          <a:xfrm>
            <a:off x="4754880" y="1737360"/>
            <a:ext cx="4114800" cy="914400"/>
          </a:xfrm>
          <a:prstGeom prst="rect">
            <a:avLst/>
          </a:prstGeom>
          <a:solidFill>
            <a:srgbClr val="1A1400"/>
          </a:solidFill>
          <a:ln/>
          <a:effectLst>
            <a:outerShdw sx="100000" sy="100000" kx="0" ky="0" algn="bl" rotWithShape="0" blurRad="76200" dist="25400" dir="2700000">
              <a:srgbClr val="000000">
                <a:alpha val="18000"/>
              </a:srgbClr>
            </a:outerShdw>
          </a:effectLst>
        </p:spPr>
      </p:sp>
      <p:sp>
        <p:nvSpPr>
          <p:cNvPr id="24" name="Text 22"/>
          <p:cNvSpPr/>
          <p:nvPr/>
        </p:nvSpPr>
        <p:spPr>
          <a:xfrm>
            <a:off x="4892040" y="1828800"/>
            <a:ext cx="1188720" cy="548640"/>
          </a:xfrm>
          <a:prstGeom prst="rect">
            <a:avLst/>
          </a:prstGeom>
          <a:noFill/>
          <a:ln/>
        </p:spPr>
        <p:txBody>
          <a:bodyPr wrap="square" rtlCol="0" anchor="ctr"/>
          <a:lstStyle/>
          <a:p>
            <a:pPr indent="0" marL="0">
              <a:buNone/>
            </a:pPr>
            <a:r>
              <a:rPr lang="en-US" sz="2600" b="1" dirty="0">
                <a:solidFill>
                  <a:srgbClr val="22C55E"/>
                </a:solidFill>
                <a:latin typeface="Outfit" pitchFamily="34" charset="0"/>
                <a:ea typeface="Outfit" pitchFamily="34" charset="-122"/>
                <a:cs typeface="Outfit" pitchFamily="34" charset="-120"/>
              </a:rPr>
              <a:t>0</a:t>
            </a:r>
            <a:endParaRPr lang="en-US" sz="2600" dirty="0"/>
          </a:p>
        </p:txBody>
      </p:sp>
      <p:sp>
        <p:nvSpPr>
          <p:cNvPr id="25" name="Text 23"/>
          <p:cNvSpPr/>
          <p:nvPr/>
        </p:nvSpPr>
        <p:spPr>
          <a:xfrm>
            <a:off x="6172200" y="187452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Additional CAC required</a:t>
            </a:r>
            <a:endParaRPr lang="en-US" sz="1200" dirty="0"/>
          </a:p>
        </p:txBody>
      </p:sp>
      <p:sp>
        <p:nvSpPr>
          <p:cNvPr id="26" name="Text 24"/>
          <p:cNvSpPr/>
          <p:nvPr/>
        </p:nvSpPr>
        <p:spPr>
          <a:xfrm>
            <a:off x="6172200" y="2212848"/>
            <a:ext cx="2560320" cy="274320"/>
          </a:xfrm>
          <a:prstGeom prst="rect">
            <a:avLst/>
          </a:prstGeom>
          <a:noFill/>
          <a:ln/>
        </p:spPr>
        <p:txBody>
          <a:bodyPr wrap="square" rtlCol="0" anchor="ctr"/>
          <a:lstStyle/>
          <a:p>
            <a:pPr indent="0" marL="0">
              <a:buNone/>
            </a:pPr>
            <a:r>
              <a:rPr lang="en-US" sz="900" dirty="0">
                <a:solidFill>
                  <a:srgbClr val="888880"/>
                </a:solidFill>
                <a:latin typeface="Inter" pitchFamily="34" charset="0"/>
                <a:ea typeface="Inter" pitchFamily="34" charset="-122"/>
                <a:cs typeface="Inter" pitchFamily="34" charset="-120"/>
              </a:rPr>
              <a:t>All intent captured from existing users who are already thinking about their next trip</a:t>
            </a:r>
            <a:endParaRPr lang="en-US" sz="900" dirty="0"/>
          </a:p>
        </p:txBody>
      </p:sp>
      <p:sp>
        <p:nvSpPr>
          <p:cNvPr id="27" name="Shape 25"/>
          <p:cNvSpPr/>
          <p:nvPr/>
        </p:nvSpPr>
        <p:spPr>
          <a:xfrm>
            <a:off x="4754880" y="2788920"/>
            <a:ext cx="4114800" cy="914400"/>
          </a:xfrm>
          <a:prstGeom prst="rect">
            <a:avLst/>
          </a:prstGeom>
          <a:solidFill>
            <a:srgbClr val="1A1400"/>
          </a:solidFill>
          <a:ln/>
          <a:effectLst>
            <a:outerShdw sx="100000" sy="100000" kx="0" ky="0" algn="bl" rotWithShape="0" blurRad="76200" dist="25400" dir="2700000">
              <a:srgbClr val="000000">
                <a:alpha val="18000"/>
              </a:srgbClr>
            </a:outerShdw>
          </a:effectLst>
        </p:spPr>
      </p:sp>
      <p:sp>
        <p:nvSpPr>
          <p:cNvPr id="28" name="Text 26"/>
          <p:cNvSpPr/>
          <p:nvPr/>
        </p:nvSpPr>
        <p:spPr>
          <a:xfrm>
            <a:off x="4892040" y="2880360"/>
            <a:ext cx="1188720" cy="548640"/>
          </a:xfrm>
          <a:prstGeom prst="rect">
            <a:avLst/>
          </a:prstGeom>
          <a:noFill/>
          <a:ln/>
        </p:spPr>
        <p:txBody>
          <a:bodyPr wrap="square" rtlCol="0" anchor="ctr"/>
          <a:lstStyle/>
          <a:p>
            <a:pPr indent="0" marL="0">
              <a:buNone/>
            </a:pPr>
            <a:r>
              <a:rPr lang="en-US" sz="2600" b="1" dirty="0">
                <a:solidFill>
                  <a:srgbClr val="22C55E"/>
                </a:solidFill>
                <a:latin typeface="Outfit" pitchFamily="34" charset="0"/>
                <a:ea typeface="Outfit" pitchFamily="34" charset="-122"/>
                <a:cs typeface="Outfit" pitchFamily="34" charset="-120"/>
              </a:rPr>
              <a:t>2.6×</a:t>
            </a:r>
            <a:endParaRPr lang="en-US" sz="2600" dirty="0"/>
          </a:p>
        </p:txBody>
      </p:sp>
      <p:sp>
        <p:nvSpPr>
          <p:cNvPr id="29" name="Text 27"/>
          <p:cNvSpPr/>
          <p:nvPr/>
        </p:nvSpPr>
        <p:spPr>
          <a:xfrm>
            <a:off x="6172200" y="292608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Sessions/month per active user</a:t>
            </a:r>
            <a:endParaRPr lang="en-US" sz="1200" dirty="0"/>
          </a:p>
        </p:txBody>
      </p:sp>
      <p:sp>
        <p:nvSpPr>
          <p:cNvPr id="30" name="Text 28"/>
          <p:cNvSpPr/>
          <p:nvPr/>
        </p:nvSpPr>
        <p:spPr>
          <a:xfrm>
            <a:off x="6172200" y="3264408"/>
            <a:ext cx="2560320" cy="274320"/>
          </a:xfrm>
          <a:prstGeom prst="rect">
            <a:avLst/>
          </a:prstGeom>
          <a:noFill/>
          <a:ln/>
        </p:spPr>
        <p:txBody>
          <a:bodyPr wrap="square" rtlCol="0" anchor="ctr"/>
          <a:lstStyle/>
          <a:p>
            <a:pPr indent="0" marL="0">
              <a:buNone/>
            </a:pPr>
            <a:r>
              <a:rPr lang="en-US" sz="900" dirty="0">
                <a:solidFill>
                  <a:srgbClr val="888880"/>
                </a:solidFill>
                <a:latin typeface="Inter" pitchFamily="34" charset="0"/>
                <a:ea typeface="Inter" pitchFamily="34" charset="-122"/>
                <a:cs typeface="Inter" pitchFamily="34" charset="-120"/>
              </a:rPr>
              <a:t>From 0.8× → 2.6× via journal + peer feed + intent cards. More sessions = more booking opportunities</a:t>
            </a:r>
            <a:endParaRPr lang="en-US" sz="900" dirty="0"/>
          </a:p>
        </p:txBody>
      </p:sp>
      <p:sp>
        <p:nvSpPr>
          <p:cNvPr id="31" name="Shape 29"/>
          <p:cNvSpPr/>
          <p:nvPr/>
        </p:nvSpPr>
        <p:spPr>
          <a:xfrm>
            <a:off x="4754880" y="3840480"/>
            <a:ext cx="4114800" cy="914400"/>
          </a:xfrm>
          <a:prstGeom prst="rect">
            <a:avLst/>
          </a:prstGeom>
          <a:solidFill>
            <a:srgbClr val="1A1400"/>
          </a:solidFill>
          <a:ln/>
          <a:effectLst>
            <a:outerShdw sx="100000" sy="100000" kx="0" ky="0" algn="bl" rotWithShape="0" blurRad="76200" dist="25400" dir="2700000">
              <a:srgbClr val="000000">
                <a:alpha val="18000"/>
              </a:srgbClr>
            </a:outerShdw>
          </a:effectLst>
        </p:spPr>
      </p:sp>
      <p:sp>
        <p:nvSpPr>
          <p:cNvPr id="32" name="Text 30"/>
          <p:cNvSpPr/>
          <p:nvPr/>
        </p:nvSpPr>
        <p:spPr>
          <a:xfrm>
            <a:off x="4892040" y="3931920"/>
            <a:ext cx="1188720" cy="548640"/>
          </a:xfrm>
          <a:prstGeom prst="rect">
            <a:avLst/>
          </a:prstGeom>
          <a:noFill/>
          <a:ln/>
        </p:spPr>
        <p:txBody>
          <a:bodyPr wrap="square" rtlCol="0" anchor="ctr"/>
          <a:lstStyle/>
          <a:p>
            <a:pPr indent="0" marL="0">
              <a:buNone/>
            </a:pPr>
            <a:r>
              <a:rPr lang="en-US" sz="2600" b="1" dirty="0">
                <a:solidFill>
                  <a:srgbClr val="22C55E"/>
                </a:solidFill>
                <a:latin typeface="Outfit" pitchFamily="34" charset="0"/>
                <a:ea typeface="Outfit" pitchFamily="34" charset="-122"/>
                <a:cs typeface="Outfit" pitchFamily="34" charset="-120"/>
              </a:rPr>
              <a:t>+19%</a:t>
            </a:r>
            <a:endParaRPr lang="en-US" sz="2600" dirty="0"/>
          </a:p>
        </p:txBody>
      </p:sp>
      <p:sp>
        <p:nvSpPr>
          <p:cNvPr id="33" name="Text 31"/>
          <p:cNvSpPr/>
          <p:nvPr/>
        </p:nvSpPr>
        <p:spPr>
          <a:xfrm>
            <a:off x="6172200" y="397764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Revenue/user (cross-city expansion)</a:t>
            </a:r>
            <a:endParaRPr lang="en-US" sz="1200" dirty="0"/>
          </a:p>
        </p:txBody>
      </p:sp>
      <p:sp>
        <p:nvSpPr>
          <p:cNvPr id="34" name="Text 32"/>
          <p:cNvSpPr/>
          <p:nvPr/>
        </p:nvSpPr>
        <p:spPr>
          <a:xfrm>
            <a:off x="6172200" y="4315968"/>
            <a:ext cx="2560320" cy="274320"/>
          </a:xfrm>
          <a:prstGeom prst="rect">
            <a:avLst/>
          </a:prstGeom>
          <a:noFill/>
          <a:ln/>
        </p:spPr>
        <p:txBody>
          <a:bodyPr wrap="square" rtlCol="0" anchor="ctr"/>
          <a:lstStyle/>
          <a:p>
            <a:pPr indent="0" marL="0">
              <a:buNone/>
            </a:pPr>
            <a:r>
              <a:rPr lang="en-US" sz="900" dirty="0">
                <a:solidFill>
                  <a:srgbClr val="888880"/>
                </a:solidFill>
                <a:latin typeface="Inter" pitchFamily="34" charset="0"/>
                <a:ea typeface="Inter" pitchFamily="34" charset="-122"/>
                <a:cs typeface="Inter" pitchFamily="34" charset="-120"/>
              </a:rPr>
              <a:t>Explorer mechanic + peer social proof drives Rome users to book Dubai/Paris/Barcelona</a:t>
            </a:r>
            <a:endParaRPr lang="en-US" sz="900" dirty="0"/>
          </a:p>
        </p:txBody>
      </p:sp>
      <p:sp>
        <p:nvSpPr>
          <p:cNvPr id="35" name="Shape 33"/>
          <p:cNvSpPr/>
          <p:nvPr/>
        </p:nvSpPr>
        <p:spPr>
          <a:xfrm>
            <a:off x="4754880" y="4892040"/>
            <a:ext cx="4114800" cy="914400"/>
          </a:xfrm>
          <a:prstGeom prst="rect">
            <a:avLst/>
          </a:prstGeom>
          <a:solidFill>
            <a:srgbClr val="1A1400"/>
          </a:solidFill>
          <a:ln/>
          <a:effectLst>
            <a:outerShdw sx="100000" sy="100000" kx="0" ky="0" algn="bl" rotWithShape="0" blurRad="76200" dist="25400" dir="2700000">
              <a:srgbClr val="000000">
                <a:alpha val="18000"/>
              </a:srgbClr>
            </a:outerShdw>
          </a:effectLst>
        </p:spPr>
      </p:sp>
      <p:sp>
        <p:nvSpPr>
          <p:cNvPr id="36" name="Text 34"/>
          <p:cNvSpPr/>
          <p:nvPr/>
        </p:nvSpPr>
        <p:spPr>
          <a:xfrm>
            <a:off x="4892040" y="4983480"/>
            <a:ext cx="1188720" cy="548640"/>
          </a:xfrm>
          <a:prstGeom prst="rect">
            <a:avLst/>
          </a:prstGeom>
          <a:noFill/>
          <a:ln/>
        </p:spPr>
        <p:txBody>
          <a:bodyPr wrap="square" rtlCol="0" anchor="ctr"/>
          <a:lstStyle/>
          <a:p>
            <a:pPr indent="0" marL="0">
              <a:buNone/>
            </a:pPr>
            <a:r>
              <a:rPr lang="en-US" sz="2600" b="1" dirty="0">
                <a:solidFill>
                  <a:srgbClr val="22C55E"/>
                </a:solidFill>
                <a:latin typeface="Outfit" pitchFamily="34" charset="0"/>
                <a:ea typeface="Outfit" pitchFamily="34" charset="-122"/>
                <a:cs typeface="Outfit" pitchFamily="34" charset="-120"/>
              </a:rPr>
              <a:t>Q1</a:t>
            </a:r>
            <a:endParaRPr lang="en-US" sz="2600" dirty="0"/>
          </a:p>
        </p:txBody>
      </p:sp>
      <p:sp>
        <p:nvSpPr>
          <p:cNvPr id="37" name="Text 35"/>
          <p:cNvSpPr/>
          <p:nvPr/>
        </p:nvSpPr>
        <p:spPr>
          <a:xfrm>
            <a:off x="6172200" y="5029200"/>
            <a:ext cx="2560320" cy="320040"/>
          </a:xfrm>
          <a:prstGeom prst="rect">
            <a:avLst/>
          </a:prstGeom>
          <a:noFill/>
          <a:ln/>
        </p:spPr>
        <p:txBody>
          <a:bodyPr wrap="square" rtlCol="0" anchor="ctr"/>
          <a:lstStyle/>
          <a:p>
            <a:pPr indent="0" marL="0">
              <a:buNone/>
            </a:pPr>
            <a:r>
              <a:rPr lang="en-US" sz="1200" b="1" dirty="0">
                <a:solidFill>
                  <a:srgbClr val="FFFFFF"/>
                </a:solidFill>
                <a:latin typeface="Inter" pitchFamily="34" charset="0"/>
                <a:ea typeface="Inter" pitchFamily="34" charset="-122"/>
                <a:cs typeface="Inter" pitchFamily="34" charset="-120"/>
              </a:rPr>
              <a:t>Measurable DAU/MAU shift</a:t>
            </a:r>
            <a:endParaRPr lang="en-US" sz="1200" dirty="0"/>
          </a:p>
        </p:txBody>
      </p:sp>
      <p:sp>
        <p:nvSpPr>
          <p:cNvPr id="38" name="Text 36"/>
          <p:cNvSpPr/>
          <p:nvPr/>
        </p:nvSpPr>
        <p:spPr>
          <a:xfrm>
            <a:off x="6172200" y="5367528"/>
            <a:ext cx="2560320" cy="274320"/>
          </a:xfrm>
          <a:prstGeom prst="rect">
            <a:avLst/>
          </a:prstGeom>
          <a:noFill/>
          <a:ln/>
        </p:spPr>
        <p:txBody>
          <a:bodyPr wrap="square" rtlCol="0" anchor="ctr"/>
          <a:lstStyle/>
          <a:p>
            <a:pPr indent="0" marL="0">
              <a:buNone/>
            </a:pPr>
            <a:r>
              <a:rPr lang="en-US" sz="900" dirty="0">
                <a:solidFill>
                  <a:srgbClr val="888880"/>
                </a:solidFill>
                <a:latin typeface="Inter" pitchFamily="34" charset="0"/>
                <a:ea typeface="Inter" pitchFamily="34" charset="-122"/>
                <a:cs typeface="Inter" pitchFamily="34" charset="-120"/>
              </a:rPr>
              <a:t>A/B: BetweenTrips home vs standard home. DAU/MAU and session frequency delta measurable in 4 weeks</a:t>
            </a:r>
            <a:endParaRPr lang="en-US" sz="900" dirty="0"/>
          </a:p>
        </p:txBody>
      </p:sp>
      <p:sp>
        <p:nvSpPr>
          <p:cNvPr id="39" name="Shape 37"/>
          <p:cNvSpPr/>
          <p:nvPr/>
        </p:nvSpPr>
        <p:spPr>
          <a:xfrm>
            <a:off x="365760" y="5989320"/>
            <a:ext cx="8412480" cy="640080"/>
          </a:xfrm>
          <a:prstGeom prst="rect">
            <a:avLst/>
          </a:prstGeom>
          <a:solidFill>
            <a:srgbClr val="1A1200"/>
          </a:solidFill>
          <a:ln/>
        </p:spPr>
      </p:sp>
      <p:sp>
        <p:nvSpPr>
          <p:cNvPr id="40" name="Text 38"/>
          <p:cNvSpPr/>
          <p:nvPr/>
        </p:nvSpPr>
        <p:spPr>
          <a:xfrm>
            <a:off x="548640" y="6080760"/>
            <a:ext cx="8046720" cy="457200"/>
          </a:xfrm>
          <a:prstGeom prst="rect">
            <a:avLst/>
          </a:prstGeom>
          <a:noFill/>
          <a:ln/>
        </p:spPr>
        <p:txBody>
          <a:bodyPr wrap="square" rtlCol="0" anchor="ctr"/>
          <a:lstStyle/>
          <a:p>
            <a:pPr indent="0" marL="0">
              <a:buNone/>
            </a:pPr>
            <a:r>
              <a:rPr lang="en-US" sz="1100" b="1" dirty="0">
                <a:solidFill>
                  <a:srgbClr val="FFFFFF"/>
                </a:solidFill>
                <a:latin typeface="Inter" pitchFamily="34" charset="0"/>
                <a:ea typeface="Inter" pitchFamily="34" charset="-122"/>
                <a:cs typeface="Inter" pitchFamily="34" charset="-120"/>
              </a:rPr>
              <a:t>BetweenTrips turns the 47-week gap from dead time into a planning funnel. The user who searched Dubai 3 times is Headout's highest-intent lead — and this is the product that captures and converts them.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BF0"/>
        </a:solidFill>
      </p:bgPr>
    </p:bg>
    <p:spTree>
      <p:nvGrpSpPr>
        <p:cNvPr id="1" name=""/>
        <p:cNvGrpSpPr/>
        <p:nvPr/>
      </p:nvGrpSpPr>
      <p:grpSpPr>
        <a:xfrm>
          <a:off x="0" y="0"/>
          <a:ext cx="0" cy="0"/>
          <a:chOff x="0" y="0"/>
          <a:chExt cx="0" cy="0"/>
        </a:xfrm>
      </p:grpSpPr>
      <p:sp>
        <p:nvSpPr>
          <p:cNvPr id="2" name="Text 0"/>
          <p:cNvSpPr/>
          <p:nvPr/>
        </p:nvSpPr>
        <p:spPr>
          <a:xfrm>
            <a:off x="365760" y="22860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PROOF OF WORK</a:t>
            </a:r>
            <a:endParaRPr lang="en-US" sz="1000" dirty="0"/>
          </a:p>
        </p:txBody>
      </p:sp>
      <p:sp>
        <p:nvSpPr>
          <p:cNvPr id="3" name="Text 1"/>
          <p:cNvSpPr/>
          <p:nvPr/>
        </p:nvSpPr>
        <p:spPr>
          <a:xfrm>
            <a:off x="365760" y="594360"/>
            <a:ext cx="8412480" cy="548640"/>
          </a:xfrm>
          <a:prstGeom prst="rect">
            <a:avLst/>
          </a:prstGeom>
          <a:noFill/>
          <a:ln/>
        </p:spPr>
        <p:txBody>
          <a:bodyPr wrap="square" rtlCol="0" anchor="ctr"/>
          <a:lstStyle/>
          <a:p>
            <a:pPr indent="0" marL="0">
              <a:buNone/>
            </a:pPr>
            <a:r>
              <a:rPr lang="en-US" sz="2400" b="1" dirty="0">
                <a:solidFill>
                  <a:srgbClr val="0D0D0D"/>
                </a:solidFill>
                <a:latin typeface="Outfit" pitchFamily="34" charset="0"/>
                <a:ea typeface="Outfit" pitchFamily="34" charset="-122"/>
                <a:cs typeface="Outfit" pitchFamily="34" charset="-120"/>
              </a:rPr>
              <a:t>I Shipped the Trigger-Based Engagement System at PhonePe. Here Is the Direct Map.</a:t>
            </a:r>
            <a:endParaRPr lang="en-US" sz="2400" dirty="0"/>
          </a:p>
        </p:txBody>
      </p:sp>
      <p:sp>
        <p:nvSpPr>
          <p:cNvPr id="4" name="Shape 2"/>
          <p:cNvSpPr/>
          <p:nvPr/>
        </p:nvSpPr>
        <p:spPr>
          <a:xfrm>
            <a:off x="365760" y="1371600"/>
            <a:ext cx="4114800" cy="4937760"/>
          </a:xfrm>
          <a:prstGeom prst="rect">
            <a:avLst/>
          </a:prstGeom>
          <a:solidFill>
            <a:srgbClr val="0D0D0D"/>
          </a:solidFill>
          <a:ln/>
          <a:effectLst>
            <a:outerShdw sx="100000" sy="100000" kx="0" ky="0" algn="bl" rotWithShape="0" blurRad="76200" dist="25400" dir="2700000">
              <a:srgbClr val="000000">
                <a:alpha val="18000"/>
              </a:srgbClr>
            </a:outerShdw>
          </a:effectLst>
        </p:spPr>
      </p:sp>
      <p:sp>
        <p:nvSpPr>
          <p:cNvPr id="5" name="Text 3"/>
          <p:cNvSpPr/>
          <p:nvPr/>
        </p:nvSpPr>
        <p:spPr>
          <a:xfrm>
            <a:off x="548640" y="1554480"/>
            <a:ext cx="3749040" cy="320040"/>
          </a:xfrm>
          <a:prstGeom prst="rect">
            <a:avLst/>
          </a:prstGeom>
          <a:noFill/>
          <a:ln/>
        </p:spPr>
        <p:txBody>
          <a:bodyPr wrap="square" rtlCol="0" anchor="ctr"/>
          <a:lstStyle/>
          <a:p>
            <a:pPr indent="0" marL="0">
              <a:buNone/>
            </a:pPr>
            <a:r>
              <a:rPr lang="en-US" sz="1200" b="1" dirty="0">
                <a:solidFill>
                  <a:srgbClr val="F59E0B"/>
                </a:solidFill>
                <a:latin typeface="Inter" pitchFamily="34" charset="0"/>
                <a:ea typeface="Inter" pitchFamily="34" charset="-122"/>
                <a:cs typeface="Inter" pitchFamily="34" charset="-120"/>
              </a:rPr>
              <a:t>What I Built at PhonePe</a:t>
            </a:r>
            <a:endParaRPr lang="en-US" sz="1200" dirty="0"/>
          </a:p>
        </p:txBody>
      </p:sp>
      <p:sp>
        <p:nvSpPr>
          <p:cNvPr id="6" name="Text 4"/>
          <p:cNvSpPr/>
          <p:nvPr/>
        </p:nvSpPr>
        <p:spPr>
          <a:xfrm>
            <a:off x="548640" y="2057400"/>
            <a:ext cx="365760" cy="320040"/>
          </a:xfrm>
          <a:prstGeom prst="rect">
            <a:avLst/>
          </a:prstGeom>
          <a:noFill/>
          <a:ln/>
        </p:spPr>
        <p:txBody>
          <a:bodyPr wrap="square" rtlCol="0" anchor="ctr"/>
          <a:lstStyle/>
          <a:p>
            <a:pPr indent="0" marL="0">
              <a:buNone/>
            </a:pPr>
            <a:r>
              <a:rPr lang="en-US" sz="1400" dirty="0">
                <a:solidFill>
                  <a:srgbClr val="000000"/>
                </a:solidFill>
                <a:latin typeface="Inter" pitchFamily="34" charset="0"/>
                <a:ea typeface="Inter" pitchFamily="34" charset="-122"/>
                <a:cs typeface="Inter" pitchFamily="34" charset="-120"/>
              </a:rPr>
              <a:t>🎯</a:t>
            </a:r>
            <a:endParaRPr lang="en-US" sz="1400" dirty="0"/>
          </a:p>
        </p:txBody>
      </p:sp>
      <p:sp>
        <p:nvSpPr>
          <p:cNvPr id="7" name="Text 5"/>
          <p:cNvSpPr/>
          <p:nvPr/>
        </p:nvSpPr>
        <p:spPr>
          <a:xfrm>
            <a:off x="1005840" y="2011680"/>
            <a:ext cx="3291840" cy="822960"/>
          </a:xfrm>
          <a:prstGeom prst="rect">
            <a:avLst/>
          </a:prstGeom>
          <a:noFill/>
          <a:ln/>
        </p:spPr>
        <p:txBody>
          <a:bodyPr wrap="square" rtlCol="0" anchor="ctr"/>
          <a:lstStyle/>
          <a:p>
            <a:pPr indent="0" marL="0">
              <a:buNone/>
            </a:pPr>
            <a:r>
              <a:rPr lang="en-US" sz="1000" dirty="0">
                <a:solidFill>
                  <a:srgbClr val="D1D5DB"/>
                </a:solidFill>
                <a:latin typeface="Inter" pitchFamily="34" charset="0"/>
                <a:ea typeface="Inter" pitchFamily="34" charset="-122"/>
                <a:cs typeface="Inter" pitchFamily="34" charset="-120"/>
              </a:rPr>
              <a:t>Built dynamic cart incentivisation engine for Pincode (quick commerce) — context-aware triggers (cart value × user intent × time of day) → 35% AOV uplift, 60% cart abandonment reduction, 20% D30 retention uplift</a:t>
            </a:r>
            <a:endParaRPr lang="en-US" sz="1000" dirty="0"/>
          </a:p>
        </p:txBody>
      </p:sp>
      <p:sp>
        <p:nvSpPr>
          <p:cNvPr id="8" name="Text 6"/>
          <p:cNvSpPr/>
          <p:nvPr/>
        </p:nvSpPr>
        <p:spPr>
          <a:xfrm>
            <a:off x="548640" y="3108960"/>
            <a:ext cx="365760" cy="320040"/>
          </a:xfrm>
          <a:prstGeom prst="rect">
            <a:avLst/>
          </a:prstGeom>
          <a:noFill/>
          <a:ln/>
        </p:spPr>
        <p:txBody>
          <a:bodyPr wrap="square" rtlCol="0" anchor="ctr"/>
          <a:lstStyle/>
          <a:p>
            <a:pPr indent="0" marL="0">
              <a:buNone/>
            </a:pPr>
            <a:r>
              <a:rPr lang="en-US" sz="1400" dirty="0">
                <a:solidFill>
                  <a:srgbClr val="000000"/>
                </a:solidFill>
                <a:latin typeface="Inter" pitchFamily="34" charset="0"/>
                <a:ea typeface="Inter" pitchFamily="34" charset="-122"/>
                <a:cs typeface="Inter" pitchFamily="34" charset="-120"/>
              </a:rPr>
              <a:t>🔄</a:t>
            </a:r>
            <a:endParaRPr lang="en-US" sz="1400" dirty="0"/>
          </a:p>
        </p:txBody>
      </p:sp>
      <p:sp>
        <p:nvSpPr>
          <p:cNvPr id="9" name="Text 7"/>
          <p:cNvSpPr/>
          <p:nvPr/>
        </p:nvSpPr>
        <p:spPr>
          <a:xfrm>
            <a:off x="1005840" y="3063240"/>
            <a:ext cx="3291840" cy="822960"/>
          </a:xfrm>
          <a:prstGeom prst="rect">
            <a:avLst/>
          </a:prstGeom>
          <a:noFill/>
          <a:ln/>
        </p:spPr>
        <p:txBody>
          <a:bodyPr wrap="square" rtlCol="0" anchor="ctr"/>
          <a:lstStyle/>
          <a:p>
            <a:pPr indent="0" marL="0">
              <a:buNone/>
            </a:pPr>
            <a:r>
              <a:rPr lang="en-US" sz="1000" dirty="0">
                <a:solidFill>
                  <a:srgbClr val="D1D5DB"/>
                </a:solidFill>
                <a:latin typeface="Inter" pitchFamily="34" charset="0"/>
                <a:ea typeface="Inter" pitchFamily="34" charset="-122"/>
                <a:cs typeface="Inter" pitchFamily="34" charset="-120"/>
              </a:rPr>
              <a:t>Identified cart abandonment as the core acquisition-to-retention problem (not PMF) — ran 3 successive A/B experiments, killed 2 underperforming variants, scaled the winner based on D7/D30 cohort retention curves</a:t>
            </a:r>
            <a:endParaRPr lang="en-US" sz="1000" dirty="0"/>
          </a:p>
        </p:txBody>
      </p:sp>
      <p:sp>
        <p:nvSpPr>
          <p:cNvPr id="10" name="Text 8"/>
          <p:cNvSpPr/>
          <p:nvPr/>
        </p:nvSpPr>
        <p:spPr>
          <a:xfrm>
            <a:off x="548640" y="4160520"/>
            <a:ext cx="365760" cy="320040"/>
          </a:xfrm>
          <a:prstGeom prst="rect">
            <a:avLst/>
          </a:prstGeom>
          <a:noFill/>
          <a:ln/>
        </p:spPr>
        <p:txBody>
          <a:bodyPr wrap="square" rtlCol="0" anchor="ctr"/>
          <a:lstStyle/>
          <a:p>
            <a:pPr indent="0" marL="0">
              <a:buNone/>
            </a:pPr>
            <a:r>
              <a:rPr lang="en-US" sz="1400" dirty="0">
                <a:solidFill>
                  <a:srgbClr val="000000"/>
                </a:solidFill>
                <a:latin typeface="Inter" pitchFamily="34" charset="0"/>
                <a:ea typeface="Inter" pitchFamily="34" charset="-122"/>
                <a:cs typeface="Inter" pitchFamily="34" charset="-120"/>
              </a:rPr>
              <a:t>📊</a:t>
            </a:r>
            <a:endParaRPr lang="en-US" sz="1400" dirty="0"/>
          </a:p>
        </p:txBody>
      </p:sp>
      <p:sp>
        <p:nvSpPr>
          <p:cNvPr id="11" name="Text 9"/>
          <p:cNvSpPr/>
          <p:nvPr/>
        </p:nvSpPr>
        <p:spPr>
          <a:xfrm>
            <a:off x="1005840" y="4114800"/>
            <a:ext cx="3291840" cy="822960"/>
          </a:xfrm>
          <a:prstGeom prst="rect">
            <a:avLst/>
          </a:prstGeom>
          <a:noFill/>
          <a:ln/>
        </p:spPr>
        <p:txBody>
          <a:bodyPr wrap="square" rtlCol="0" anchor="ctr"/>
          <a:lstStyle/>
          <a:p>
            <a:pPr indent="0" marL="0">
              <a:buNone/>
            </a:pPr>
            <a:r>
              <a:rPr lang="en-US" sz="1000" dirty="0">
                <a:solidFill>
                  <a:srgbClr val="D1D5DB"/>
                </a:solidFill>
                <a:latin typeface="Inter" pitchFamily="34" charset="0"/>
                <a:ea typeface="Inter" pitchFamily="34" charset="-122"/>
                <a:cs typeface="Inter" pitchFamily="34" charset="-120"/>
              </a:rPr>
              <a:t>Built D30 retention lifecycle: 7-day activation cliff identification → incentivized onboarding → journey-progress bar → CRM intervention at right segment state → +15% D30 retention across new-user cohort</a:t>
            </a:r>
            <a:endParaRPr lang="en-US" sz="1000" dirty="0"/>
          </a:p>
        </p:txBody>
      </p:sp>
      <p:sp>
        <p:nvSpPr>
          <p:cNvPr id="12" name="Text 10"/>
          <p:cNvSpPr/>
          <p:nvPr/>
        </p:nvSpPr>
        <p:spPr>
          <a:xfrm>
            <a:off x="548640" y="5212080"/>
            <a:ext cx="365760" cy="320040"/>
          </a:xfrm>
          <a:prstGeom prst="rect">
            <a:avLst/>
          </a:prstGeom>
          <a:noFill/>
          <a:ln/>
        </p:spPr>
        <p:txBody>
          <a:bodyPr wrap="square" rtlCol="0" anchor="ctr"/>
          <a:lstStyle/>
          <a:p>
            <a:pPr indent="0" marL="0">
              <a:buNone/>
            </a:pPr>
            <a:r>
              <a:rPr lang="en-US" sz="1400" dirty="0">
                <a:solidFill>
                  <a:srgbClr val="000000"/>
                </a:solidFill>
                <a:latin typeface="Inter" pitchFamily="34" charset="0"/>
                <a:ea typeface="Inter" pitchFamily="34" charset="-122"/>
                <a:cs typeface="Inter" pitchFamily="34" charset="-120"/>
              </a:rPr>
              <a:t>⚡</a:t>
            </a:r>
            <a:endParaRPr lang="en-US" sz="1400" dirty="0"/>
          </a:p>
        </p:txBody>
      </p:sp>
      <p:sp>
        <p:nvSpPr>
          <p:cNvPr id="13" name="Text 11"/>
          <p:cNvSpPr/>
          <p:nvPr/>
        </p:nvSpPr>
        <p:spPr>
          <a:xfrm>
            <a:off x="1005840" y="5166360"/>
            <a:ext cx="3291840" cy="822960"/>
          </a:xfrm>
          <a:prstGeom prst="rect">
            <a:avLst/>
          </a:prstGeom>
          <a:noFill/>
          <a:ln/>
        </p:spPr>
        <p:txBody>
          <a:bodyPr wrap="square" rtlCol="0" anchor="ctr"/>
          <a:lstStyle/>
          <a:p>
            <a:pPr indent="0" marL="0">
              <a:buNone/>
            </a:pPr>
            <a:r>
              <a:rPr lang="en-US" sz="1000" dirty="0">
                <a:solidFill>
                  <a:srgbClr val="D1D5DB"/>
                </a:solidFill>
                <a:latin typeface="Inter" pitchFamily="34" charset="0"/>
                <a:ea typeface="Inter" pitchFamily="34" charset="-122"/>
                <a:cs typeface="Inter" pitchFamily="34" charset="-120"/>
              </a:rPr>
              <a:t>Negotiated a 7-day masthead ad moratorium with the ads team (backed by CLTV model) — replaced ads with journey-progress bar for new users. Same "right content at right moment" logic as BetweenTrips proactive card</a:t>
            </a:r>
            <a:endParaRPr lang="en-US" sz="1000" dirty="0"/>
          </a:p>
        </p:txBody>
      </p:sp>
      <p:sp>
        <p:nvSpPr>
          <p:cNvPr id="14" name="Shape 12"/>
          <p:cNvSpPr/>
          <p:nvPr/>
        </p:nvSpPr>
        <p:spPr>
          <a:xfrm>
            <a:off x="4663440" y="1371600"/>
            <a:ext cx="4114800" cy="4937760"/>
          </a:xfrm>
          <a:prstGeom prst="rect">
            <a:avLst/>
          </a:prstGeom>
          <a:solidFill>
            <a:srgbClr val="FFFFFF"/>
          </a:solidFill>
          <a:ln/>
          <a:effectLst>
            <a:outerShdw sx="100000" sy="100000" kx="0" ky="0" algn="bl" rotWithShape="0" blurRad="76200" dist="25400" dir="2700000">
              <a:srgbClr val="000000">
                <a:alpha val="18000"/>
              </a:srgbClr>
            </a:outerShdw>
          </a:effectLst>
        </p:spPr>
      </p:sp>
      <p:sp>
        <p:nvSpPr>
          <p:cNvPr id="15" name="Text 13"/>
          <p:cNvSpPr/>
          <p:nvPr/>
        </p:nvSpPr>
        <p:spPr>
          <a:xfrm>
            <a:off x="4846320" y="1554480"/>
            <a:ext cx="3749040" cy="320040"/>
          </a:xfrm>
          <a:prstGeom prst="rect">
            <a:avLst/>
          </a:prstGeom>
          <a:noFill/>
          <a:ln/>
        </p:spPr>
        <p:txBody>
          <a:bodyPr wrap="square" rtlCol="0" anchor="ctr"/>
          <a:lstStyle/>
          <a:p>
            <a:pPr indent="0" marL="0">
              <a:buNone/>
            </a:pPr>
            <a:r>
              <a:rPr lang="en-US" sz="1200" b="1" dirty="0">
                <a:solidFill>
                  <a:srgbClr val="F59E0B"/>
                </a:solidFill>
                <a:latin typeface="Inter" pitchFamily="34" charset="0"/>
                <a:ea typeface="Inter" pitchFamily="34" charset="-122"/>
                <a:cs typeface="Inter" pitchFamily="34" charset="-120"/>
              </a:rPr>
              <a:t>How It Maps to BetweenTrips</a:t>
            </a:r>
            <a:endParaRPr lang="en-US" sz="1200" dirty="0"/>
          </a:p>
        </p:txBody>
      </p:sp>
      <p:sp>
        <p:nvSpPr>
          <p:cNvPr id="16" name="Text 14"/>
          <p:cNvSpPr/>
          <p:nvPr/>
        </p:nvSpPr>
        <p:spPr>
          <a:xfrm>
            <a:off x="4846320" y="2011680"/>
            <a:ext cx="3749040" cy="822960"/>
          </a:xfrm>
          <a:prstGeom prst="rect">
            <a:avLst/>
          </a:prstGeom>
          <a:noFill/>
          <a:ln/>
        </p:spPr>
        <p:txBody>
          <a:bodyPr wrap="square" rtlCol="0" anchor="ctr"/>
          <a:lstStyle/>
          <a:p>
            <a:pPr indent="0" marL="0">
              <a:buNone/>
            </a:pPr>
            <a:r>
              <a:rPr lang="en-US" sz="1000" dirty="0">
                <a:solidFill>
                  <a:srgbClr val="374151"/>
                </a:solidFill>
                <a:latin typeface="Inter" pitchFamily="34" charset="0"/>
                <a:ea typeface="Inter" pitchFamily="34" charset="-122"/>
                <a:cs typeface="Inter" pitchFamily="34" charset="-120"/>
              </a:rPr>
              <a:t>→ "Planning Dubai?" proactive card: search intent (3 Dubai searches) × time signal → right card at right moment. Same trigger architecture as cart incentivisation</a:t>
            </a:r>
            <a:endParaRPr lang="en-US" sz="1000" dirty="0"/>
          </a:p>
        </p:txBody>
      </p:sp>
      <p:sp>
        <p:nvSpPr>
          <p:cNvPr id="17" name="Text 15"/>
          <p:cNvSpPr/>
          <p:nvPr/>
        </p:nvSpPr>
        <p:spPr>
          <a:xfrm>
            <a:off x="4846320" y="3063240"/>
            <a:ext cx="3749040" cy="822960"/>
          </a:xfrm>
          <a:prstGeom prst="rect">
            <a:avLst/>
          </a:prstGeom>
          <a:noFill/>
          <a:ln/>
        </p:spPr>
        <p:txBody>
          <a:bodyPr wrap="square" rtlCol="0" anchor="ctr"/>
          <a:lstStyle/>
          <a:p>
            <a:pPr indent="0" marL="0">
              <a:buNone/>
            </a:pPr>
            <a:r>
              <a:rPr lang="en-US" sz="1000" dirty="0">
                <a:solidFill>
                  <a:srgbClr val="374151"/>
                </a:solidFill>
                <a:latin typeface="Inter" pitchFamily="34" charset="0"/>
                <a:ea typeface="Inter" pitchFamily="34" charset="-122"/>
                <a:cs typeface="Inter" pitchFamily="34" charset="-120"/>
              </a:rPr>
              <a:t>→ Same A/B methodology: Memory feed vs control, peer feed vs control, intent card vs no card. Kill/scale decisions based on session frequency and booking rate delta</a:t>
            </a:r>
            <a:endParaRPr lang="en-US" sz="1000" dirty="0"/>
          </a:p>
        </p:txBody>
      </p:sp>
      <p:sp>
        <p:nvSpPr>
          <p:cNvPr id="18" name="Text 16"/>
          <p:cNvSpPr/>
          <p:nvPr/>
        </p:nvSpPr>
        <p:spPr>
          <a:xfrm>
            <a:off x="4846320" y="4114800"/>
            <a:ext cx="3749040" cy="822960"/>
          </a:xfrm>
          <a:prstGeom prst="rect">
            <a:avLst/>
          </a:prstGeom>
          <a:noFill/>
          <a:ln/>
        </p:spPr>
        <p:txBody>
          <a:bodyPr wrap="square" rtlCol="0" anchor="ctr"/>
          <a:lstStyle/>
          <a:p>
            <a:pPr indent="0" marL="0">
              <a:buNone/>
            </a:pPr>
            <a:r>
              <a:rPr lang="en-US" sz="1000" dirty="0">
                <a:solidFill>
                  <a:srgbClr val="374151"/>
                </a:solidFill>
                <a:latin typeface="Inter" pitchFamily="34" charset="0"/>
                <a:ea typeface="Inter" pitchFamily="34" charset="-122"/>
                <a:cs typeface="Inter" pitchFamily="34" charset="-120"/>
              </a:rPr>
              <a:t>→ BetweenTrips engagement loop = travel version of D30 retention lifecycle. Memory journal replaces journey-progress bar. Peer feed replaces ads. Intent card = CRM intervention</a:t>
            </a:r>
            <a:endParaRPr lang="en-US" sz="1000" dirty="0"/>
          </a:p>
        </p:txBody>
      </p:sp>
      <p:sp>
        <p:nvSpPr>
          <p:cNvPr id="19" name="Text 17"/>
          <p:cNvSpPr/>
          <p:nvPr/>
        </p:nvSpPr>
        <p:spPr>
          <a:xfrm>
            <a:off x="4846320" y="5166360"/>
            <a:ext cx="3749040" cy="822960"/>
          </a:xfrm>
          <a:prstGeom prst="rect">
            <a:avLst/>
          </a:prstGeom>
          <a:noFill/>
          <a:ln/>
        </p:spPr>
        <p:txBody>
          <a:bodyPr wrap="square" rtlCol="0" anchor="ctr"/>
          <a:lstStyle/>
          <a:p>
            <a:pPr indent="0" marL="0">
              <a:buNone/>
            </a:pPr>
            <a:r>
              <a:rPr lang="en-US" sz="1000" dirty="0">
                <a:solidFill>
                  <a:srgbClr val="374151"/>
                </a:solidFill>
                <a:latin typeface="Inter" pitchFamily="34" charset="0"/>
                <a:ea typeface="Inter" pitchFamily="34" charset="-122"/>
                <a:cs typeface="Inter" pitchFamily="34" charset="-120"/>
              </a:rPr>
              <a:t>→ Wishlist availability nudge ("3 slots left tomorrow") = same urgency mechanic as cart composition × time signal. Converts saved intent to booked trip</a:t>
            </a:r>
            <a:endParaRPr lang="en-US" sz="1000" dirty="0"/>
          </a:p>
        </p:txBody>
      </p:sp>
      <p:sp>
        <p:nvSpPr>
          <p:cNvPr id="20" name="Text 18"/>
          <p:cNvSpPr/>
          <p:nvPr/>
        </p:nvSpPr>
        <p:spPr>
          <a:xfrm>
            <a:off x="365760" y="6446520"/>
            <a:ext cx="8412480" cy="320040"/>
          </a:xfrm>
          <a:prstGeom prst="rect">
            <a:avLst/>
          </a:prstGeom>
          <a:noFill/>
          <a:ln/>
        </p:spPr>
        <p:txBody>
          <a:bodyPr wrap="square" rtlCol="0" anchor="ctr"/>
          <a:lstStyle/>
          <a:p>
            <a:pPr indent="0" marL="0">
              <a:buNone/>
            </a:pPr>
            <a:r>
              <a:rPr lang="en-US" sz="1000" i="1" dirty="0">
                <a:solidFill>
                  <a:srgbClr val="888880"/>
                </a:solidFill>
                <a:latin typeface="Inter" pitchFamily="34" charset="0"/>
                <a:ea typeface="Inter" pitchFamily="34" charset="-122"/>
                <a:cs typeface="Inter" pitchFamily="34" charset="-120"/>
              </a:rPr>
              <a:t>The cart incentivisation system is in production at PhonePe — 350M MAU, shipped and measured. BetweenTrips applies the same context-aware trigger architecture to travel planning intent.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F59E0B"/>
          </a:solidFill>
          <a:ln/>
        </p:spPr>
      </p:sp>
      <p:sp>
        <p:nvSpPr>
          <p:cNvPr id="3" name="Text 1"/>
          <p:cNvSpPr/>
          <p:nvPr/>
        </p:nvSpPr>
        <p:spPr>
          <a:xfrm>
            <a:off x="365760" y="228600"/>
            <a:ext cx="8412480" cy="228600"/>
          </a:xfrm>
          <a:prstGeom prst="rect">
            <a:avLst/>
          </a:prstGeom>
          <a:noFill/>
          <a:ln/>
        </p:spPr>
        <p:txBody>
          <a:bodyPr wrap="square" rtlCol="0" anchor="ctr"/>
          <a:lstStyle/>
          <a:p>
            <a:pPr indent="0" marL="0">
              <a:buNone/>
            </a:pPr>
            <a:r>
              <a:rPr lang="en-US" sz="1000" b="1" spc="300" kern="0" dirty="0">
                <a:solidFill>
                  <a:srgbClr val="F59E0B"/>
                </a:solidFill>
                <a:latin typeface="Inter" pitchFamily="34" charset="0"/>
                <a:ea typeface="Inter" pitchFamily="34" charset="-122"/>
                <a:cs typeface="Inter" pitchFamily="34" charset="-120"/>
              </a:rPr>
              <a:t>ROLLOUT PLAN</a:t>
            </a:r>
            <a:endParaRPr lang="en-US" sz="10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500" b="1" dirty="0">
                <a:solidFill>
                  <a:srgbClr val="FFFFFF"/>
                </a:solidFill>
                <a:latin typeface="Outfit" pitchFamily="34" charset="0"/>
                <a:ea typeface="Outfit" pitchFamily="34" charset="-122"/>
                <a:cs typeface="Outfit" pitchFamily="34" charset="-120"/>
              </a:rPr>
              <a:t>Three Phases — Memory Layer to Full Between-Trip Engagement Platform</a:t>
            </a:r>
            <a:endParaRPr lang="en-US" sz="2500" dirty="0"/>
          </a:p>
        </p:txBody>
      </p:sp>
      <p:sp>
        <p:nvSpPr>
          <p:cNvPr id="5" name="Shape 3"/>
          <p:cNvSpPr/>
          <p:nvPr/>
        </p:nvSpPr>
        <p:spPr>
          <a:xfrm>
            <a:off x="365760" y="1371600"/>
            <a:ext cx="2743200" cy="45720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6" name="Shape 4"/>
          <p:cNvSpPr/>
          <p:nvPr/>
        </p:nvSpPr>
        <p:spPr>
          <a:xfrm>
            <a:off x="365760" y="1371600"/>
            <a:ext cx="2743200" cy="45720"/>
          </a:xfrm>
          <a:prstGeom prst="rect">
            <a:avLst/>
          </a:prstGeom>
          <a:solidFill>
            <a:srgbClr val="F59E0B"/>
          </a:solidFill>
          <a:ln/>
        </p:spPr>
      </p:sp>
      <p:sp>
        <p:nvSpPr>
          <p:cNvPr id="7" name="Text 5"/>
          <p:cNvSpPr/>
          <p:nvPr/>
        </p:nvSpPr>
        <p:spPr>
          <a:xfrm>
            <a:off x="502920" y="1508760"/>
            <a:ext cx="2468880" cy="320040"/>
          </a:xfrm>
          <a:prstGeom prst="rect">
            <a:avLst/>
          </a:prstGeom>
          <a:noFill/>
          <a:ln/>
        </p:spPr>
        <p:txBody>
          <a:bodyPr wrap="square" rtlCol="0" anchor="ctr"/>
          <a:lstStyle/>
          <a:p>
            <a:pPr indent="0" marL="0">
              <a:buNone/>
            </a:pPr>
            <a:r>
              <a:rPr lang="en-US" sz="1200" b="1" dirty="0">
                <a:solidFill>
                  <a:srgbClr val="F59E0B"/>
                </a:solidFill>
                <a:latin typeface="Outfit" pitchFamily="34" charset="0"/>
                <a:ea typeface="Outfit" pitchFamily="34" charset="-122"/>
                <a:cs typeface="Outfit" pitchFamily="34" charset="-120"/>
              </a:rPr>
              <a:t>Phase 1</a:t>
            </a:r>
            <a:endParaRPr lang="en-US" sz="1200" dirty="0"/>
          </a:p>
        </p:txBody>
      </p:sp>
      <p:sp>
        <p:nvSpPr>
          <p:cNvPr id="8" name="Text 6"/>
          <p:cNvSpPr/>
          <p:nvPr/>
        </p:nvSpPr>
        <p:spPr>
          <a:xfrm>
            <a:off x="502920" y="1828800"/>
            <a:ext cx="2468880" cy="27432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Month 1–2 · Memory Layer (Journal)</a:t>
            </a:r>
            <a:endParaRPr lang="en-US" sz="1000" dirty="0"/>
          </a:p>
        </p:txBody>
      </p:sp>
      <p:sp>
        <p:nvSpPr>
          <p:cNvPr id="9" name="Text 7"/>
          <p:cNvSpPr/>
          <p:nvPr/>
        </p:nvSpPr>
        <p:spPr>
          <a:xfrm>
            <a:off x="502920" y="2240280"/>
            <a:ext cx="2468880" cy="3474720"/>
          </a:xfrm>
          <a:prstGeom prst="rect">
            <a:avLst/>
          </a:prstGeom>
          <a:noFill/>
          <a:ln/>
        </p:spPr>
        <p:txBody>
          <a:bodyPr wrap="square" rtlCol="0" anchor="ctr"/>
          <a:lstStyle/>
          <a:p>
            <a:pPr indent="0" marL="0">
              <a:buNone/>
            </a:pPr>
            <a:r>
              <a:rPr lang="en-US" sz="1050" dirty="0">
                <a:solidFill>
                  <a:srgbClr val="D1D5DB"/>
                </a:solidFill>
                <a:latin typeface="Inter" pitchFamily="34" charset="0"/>
                <a:ea typeface="Inter" pitchFamily="34" charset="-122"/>
                <a:cs typeface="Inter" pitchFamily="34" charset="-120"/>
              </a:rPr>
              <a:t>Auto-build trip journal from booking data for all past trips. A/B test: BetweenTrips home (with journey card) vs standard home. Measure: 30-day app open rate, session length, D30 retention delta. Low engineering cost — purely reads existing booking data.</a:t>
            </a:r>
            <a:endParaRPr lang="en-US" sz="1050" dirty="0"/>
          </a:p>
        </p:txBody>
      </p:sp>
      <p:sp>
        <p:nvSpPr>
          <p:cNvPr id="10" name="Shape 8"/>
          <p:cNvSpPr/>
          <p:nvPr/>
        </p:nvSpPr>
        <p:spPr>
          <a:xfrm>
            <a:off x="3291840" y="1371600"/>
            <a:ext cx="2743200" cy="45720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1" name="Shape 9"/>
          <p:cNvSpPr/>
          <p:nvPr/>
        </p:nvSpPr>
        <p:spPr>
          <a:xfrm>
            <a:off x="3291840" y="1371600"/>
            <a:ext cx="2743200" cy="45720"/>
          </a:xfrm>
          <a:prstGeom prst="rect">
            <a:avLst/>
          </a:prstGeom>
          <a:solidFill>
            <a:srgbClr val="22C55E"/>
          </a:solidFill>
          <a:ln/>
        </p:spPr>
      </p:sp>
      <p:sp>
        <p:nvSpPr>
          <p:cNvPr id="12" name="Text 10"/>
          <p:cNvSpPr/>
          <p:nvPr/>
        </p:nvSpPr>
        <p:spPr>
          <a:xfrm>
            <a:off x="3429000" y="1508760"/>
            <a:ext cx="2468880" cy="320040"/>
          </a:xfrm>
          <a:prstGeom prst="rect">
            <a:avLst/>
          </a:prstGeom>
          <a:noFill/>
          <a:ln/>
        </p:spPr>
        <p:txBody>
          <a:bodyPr wrap="square" rtlCol="0" anchor="ctr"/>
          <a:lstStyle/>
          <a:p>
            <a:pPr indent="0" marL="0">
              <a:buNone/>
            </a:pPr>
            <a:r>
              <a:rPr lang="en-US" sz="1200" b="1" dirty="0">
                <a:solidFill>
                  <a:srgbClr val="22C55E"/>
                </a:solidFill>
                <a:latin typeface="Outfit" pitchFamily="34" charset="0"/>
                <a:ea typeface="Outfit" pitchFamily="34" charset="-122"/>
                <a:cs typeface="Outfit" pitchFamily="34" charset="-120"/>
              </a:rPr>
              <a:t>Phase 2</a:t>
            </a:r>
            <a:endParaRPr lang="en-US" sz="1200" dirty="0"/>
          </a:p>
        </p:txBody>
      </p:sp>
      <p:sp>
        <p:nvSpPr>
          <p:cNvPr id="13" name="Text 11"/>
          <p:cNvSpPr/>
          <p:nvPr/>
        </p:nvSpPr>
        <p:spPr>
          <a:xfrm>
            <a:off x="3429000" y="1828800"/>
            <a:ext cx="2468880" cy="27432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Month 3–4 · Social Layer + Intent Card</a:t>
            </a:r>
            <a:endParaRPr lang="en-US" sz="1000" dirty="0"/>
          </a:p>
        </p:txBody>
      </p:sp>
      <p:sp>
        <p:nvSpPr>
          <p:cNvPr id="14" name="Text 12"/>
          <p:cNvSpPr/>
          <p:nvPr/>
        </p:nvSpPr>
        <p:spPr>
          <a:xfrm>
            <a:off x="3429000" y="2240280"/>
            <a:ext cx="2468880" cy="3474720"/>
          </a:xfrm>
          <a:prstGeom prst="rect">
            <a:avLst/>
          </a:prstGeom>
          <a:noFill/>
          <a:ln/>
        </p:spPr>
        <p:txBody>
          <a:bodyPr wrap="square" rtlCol="0" anchor="ctr"/>
          <a:lstStyle/>
          <a:p>
            <a:pPr indent="0" marL="0">
              <a:buNone/>
            </a:pPr>
            <a:r>
              <a:rPr lang="en-US" sz="1050" dirty="0">
                <a:solidFill>
                  <a:srgbClr val="D1D5DB"/>
                </a:solidFill>
                <a:latin typeface="Inter" pitchFamily="34" charset="0"/>
                <a:ea typeface="Inter" pitchFamily="34" charset="-122"/>
                <a:cs typeface="Inter" pitchFamily="34" charset="-120"/>
              </a:rPr>
              <a:t>Launch opt-in peer activity feed (friends' bookings). Ship "Planning [City]?" intent trigger based on search history (3+ searches = fire card). A/B: intent card vs no card → measure search-to-book conversion rate. Instrument peer-activity click-to-wishlist and wishlist-to-book.</a:t>
            </a:r>
            <a:endParaRPr lang="en-US" sz="1050" dirty="0"/>
          </a:p>
        </p:txBody>
      </p:sp>
      <p:sp>
        <p:nvSpPr>
          <p:cNvPr id="15" name="Shape 13"/>
          <p:cNvSpPr/>
          <p:nvPr/>
        </p:nvSpPr>
        <p:spPr>
          <a:xfrm>
            <a:off x="6217920" y="1371600"/>
            <a:ext cx="2743200" cy="4572000"/>
          </a:xfrm>
          <a:prstGeom prst="rect">
            <a:avLst/>
          </a:prstGeom>
          <a:solidFill>
            <a:srgbClr val="1A1200"/>
          </a:solidFill>
          <a:ln/>
          <a:effectLst>
            <a:outerShdw sx="100000" sy="100000" kx="0" ky="0" algn="bl" rotWithShape="0" blurRad="76200" dist="25400" dir="2700000">
              <a:srgbClr val="000000">
                <a:alpha val="18000"/>
              </a:srgbClr>
            </a:outerShdw>
          </a:effectLst>
        </p:spPr>
      </p:sp>
      <p:sp>
        <p:nvSpPr>
          <p:cNvPr id="16" name="Shape 14"/>
          <p:cNvSpPr/>
          <p:nvPr/>
        </p:nvSpPr>
        <p:spPr>
          <a:xfrm>
            <a:off x="6217920" y="1371600"/>
            <a:ext cx="2743200" cy="45720"/>
          </a:xfrm>
          <a:prstGeom prst="rect">
            <a:avLst/>
          </a:prstGeom>
          <a:solidFill>
            <a:srgbClr val="8B5CF6"/>
          </a:solidFill>
          <a:ln/>
        </p:spPr>
      </p:sp>
      <p:sp>
        <p:nvSpPr>
          <p:cNvPr id="17" name="Text 15"/>
          <p:cNvSpPr/>
          <p:nvPr/>
        </p:nvSpPr>
        <p:spPr>
          <a:xfrm>
            <a:off x="6355080" y="1508760"/>
            <a:ext cx="2468880" cy="320040"/>
          </a:xfrm>
          <a:prstGeom prst="rect">
            <a:avLst/>
          </a:prstGeom>
          <a:noFill/>
          <a:ln/>
        </p:spPr>
        <p:txBody>
          <a:bodyPr wrap="square" rtlCol="0" anchor="ctr"/>
          <a:lstStyle/>
          <a:p>
            <a:pPr indent="0" marL="0">
              <a:buNone/>
            </a:pPr>
            <a:r>
              <a:rPr lang="en-US" sz="1200" b="1" dirty="0">
                <a:solidFill>
                  <a:srgbClr val="8B5CF6"/>
                </a:solidFill>
                <a:latin typeface="Outfit" pitchFamily="34" charset="0"/>
                <a:ea typeface="Outfit" pitchFamily="34" charset="-122"/>
                <a:cs typeface="Outfit" pitchFamily="34" charset="-120"/>
              </a:rPr>
              <a:t>Phase 3</a:t>
            </a:r>
            <a:endParaRPr lang="en-US" sz="1200" dirty="0"/>
          </a:p>
        </p:txBody>
      </p:sp>
      <p:sp>
        <p:nvSpPr>
          <p:cNvPr id="18" name="Text 16"/>
          <p:cNvSpPr/>
          <p:nvPr/>
        </p:nvSpPr>
        <p:spPr>
          <a:xfrm>
            <a:off x="6355080" y="1828800"/>
            <a:ext cx="2468880" cy="274320"/>
          </a:xfrm>
          <a:prstGeom prst="rect">
            <a:avLst/>
          </a:prstGeom>
          <a:noFill/>
          <a:ln/>
        </p:spPr>
        <p:txBody>
          <a:bodyPr wrap="square" rtlCol="0" anchor="ctr"/>
          <a:lstStyle/>
          <a:p>
            <a:pPr indent="0" marL="0">
              <a:buNone/>
            </a:pPr>
            <a:r>
              <a:rPr lang="en-US" sz="1000" dirty="0">
                <a:solidFill>
                  <a:srgbClr val="888880"/>
                </a:solidFill>
                <a:latin typeface="Inter" pitchFamily="34" charset="0"/>
                <a:ea typeface="Inter" pitchFamily="34" charset="-122"/>
                <a:cs typeface="Inter" pitchFamily="34" charset="-120"/>
              </a:rPr>
              <a:t>Month 5–6 · Full Loop + Wishlist Intelligence</a:t>
            </a:r>
            <a:endParaRPr lang="en-US" sz="1000" dirty="0"/>
          </a:p>
        </p:txBody>
      </p:sp>
      <p:sp>
        <p:nvSpPr>
          <p:cNvPr id="19" name="Text 17"/>
          <p:cNvSpPr/>
          <p:nvPr/>
        </p:nvSpPr>
        <p:spPr>
          <a:xfrm>
            <a:off x="6355080" y="2240280"/>
            <a:ext cx="2468880" cy="3474720"/>
          </a:xfrm>
          <a:prstGeom prst="rect">
            <a:avLst/>
          </a:prstGeom>
          <a:noFill/>
          <a:ln/>
        </p:spPr>
        <p:txBody>
          <a:bodyPr wrap="square" rtlCol="0" anchor="ctr"/>
          <a:lstStyle/>
          <a:p>
            <a:pPr indent="0" marL="0">
              <a:buNone/>
            </a:pPr>
            <a:r>
              <a:rPr lang="en-US" sz="1050" dirty="0">
                <a:solidFill>
                  <a:srgbClr val="D1D5DB"/>
                </a:solidFill>
                <a:latin typeface="Inter" pitchFamily="34" charset="0"/>
                <a:ea typeface="Inter" pitchFamily="34" charset="-122"/>
                <a:cs typeface="Inter" pitchFamily="34" charset="-120"/>
              </a:rPr>
              <a:t>Wishlist real-time availability nudges ("3 slots left tomorrow"). BetweenTrips home tab becomes default between-trip surface. Cross-city intent detection (Rome user searching Paris → trigger Paris card). Track CLTV curve: BetweenTrips vs control at D30/D90/D180.</a:t>
            </a:r>
            <a:endParaRPr lang="en-US" sz="1050" dirty="0"/>
          </a:p>
        </p:txBody>
      </p:sp>
      <p:sp>
        <p:nvSpPr>
          <p:cNvPr id="20" name="Shape 18"/>
          <p:cNvSpPr/>
          <p:nvPr/>
        </p:nvSpPr>
        <p:spPr>
          <a:xfrm>
            <a:off x="365760" y="6172200"/>
            <a:ext cx="8412480" cy="502920"/>
          </a:xfrm>
          <a:prstGeom prst="rect">
            <a:avLst/>
          </a:prstGeom>
          <a:solidFill>
            <a:srgbClr val="1A1200"/>
          </a:solidFill>
          <a:ln/>
        </p:spPr>
      </p:sp>
      <p:sp>
        <p:nvSpPr>
          <p:cNvPr id="21" name="Text 19"/>
          <p:cNvSpPr/>
          <p:nvPr/>
        </p:nvSpPr>
        <p:spPr>
          <a:xfrm>
            <a:off x="548640" y="6263640"/>
            <a:ext cx="8046720" cy="320040"/>
          </a:xfrm>
          <a:prstGeom prst="rect">
            <a:avLst/>
          </a:prstGeom>
          <a:noFill/>
          <a:ln/>
        </p:spPr>
        <p:txBody>
          <a:bodyPr wrap="square" rtlCol="0" anchor="ctr"/>
          <a:lstStyle/>
          <a:p>
            <a:pPr indent="0" marL="0">
              <a:buNone/>
            </a:pPr>
            <a:r>
              <a:rPr lang="en-US" sz="1000" dirty="0">
                <a:solidFill>
                  <a:srgbClr val="FFFFFF"/>
                </a:solidFill>
                <a:latin typeface="Inter" pitchFamily="34" charset="0"/>
                <a:ea typeface="Inter" pitchFamily="34" charset="-122"/>
                <a:cs typeface="Inter" pitchFamily="34" charset="-120"/>
              </a:rPr>
              <a:t>What I need to start: past booking data access (Phase 1 reads existing data only) · push notification infrastructure · 1 FE engineer · Design partner for journal card</a:t>
            </a:r>
            <a:endParaRPr lang="en-US" sz="1000" dirty="0"/>
          </a:p>
        </p:txBody>
      </p:sp>
      <p:sp>
        <p:nvSpPr>
          <p:cNvPr id="22" name="Text 20"/>
          <p:cNvSpPr/>
          <p:nvPr/>
        </p:nvSpPr>
        <p:spPr>
          <a:xfrm>
            <a:off x="365760" y="6629400"/>
            <a:ext cx="8412480" cy="182880"/>
          </a:xfrm>
          <a:prstGeom prst="rect">
            <a:avLst/>
          </a:prstGeom>
          <a:noFill/>
          <a:ln/>
        </p:spPr>
        <p:txBody>
          <a:bodyPr wrap="square" rtlCol="0" anchor="ctr"/>
          <a:lstStyle/>
          <a:p>
            <a:pPr algn="r" indent="0" marL="0">
              <a:buNone/>
            </a:pPr>
            <a:r>
              <a:rPr lang="en-US" sz="900" dirty="0">
                <a:solidFill>
                  <a:srgbClr val="888880"/>
                </a:solidFill>
                <a:latin typeface="Inter" pitchFamily="34" charset="0"/>
                <a:ea typeface="Inter" pitchFamily="34" charset="-122"/>
                <a:cs typeface="Inter" pitchFamily="34" charset="-120"/>
              </a:rPr>
              <a:t>Ajay Avaghade  ·  avaghadeajay009@gmail.com  ·  +91 9561558439  ·  ajay-avaghade.github.io/Portfolio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Headout BetweenTrips — Between-Trip Engagement Engine</dc:title>
  <dc:subject>PptxGenJS Presentation</dc:subject>
  <dc:creator>PptxGenJS</dc:creator>
  <cp:lastModifiedBy>PptxGenJS</cp:lastModifiedBy>
  <cp:revision>1</cp:revision>
  <dcterms:created xsi:type="dcterms:W3CDTF">2026-07-15T12:50:08Z</dcterms:created>
  <dcterms:modified xsi:type="dcterms:W3CDTF">2026-07-15T12:50:08Z</dcterms:modified>
</cp:coreProperties>
</file>