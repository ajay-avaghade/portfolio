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0"/>
            <a:ext cx="0" cy="6858000"/>
          </a:xfrm>
          <a:prstGeom prst="line">
            <a:avLst/>
          </a:prstGeom>
          <a:noFill/>
          <a:ln w="508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508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508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MULTIBANK GROUP  ·  GROWTH MARKETING PM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TradeCircle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Guilt Problem in Trading Referrals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28016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Growth &amp; Monetization PM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754880"/>
            <a:ext cx="2468880" cy="1645920"/>
          </a:xfrm>
          <a:prstGeom prst="rect">
            <a:avLst/>
          </a:prstGeom>
          <a:solidFill>
            <a:srgbClr val="1628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4846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~0×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400800" y="5486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coefficient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trading platforms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Trading Referrals Fail Because of Guilt.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Wants to Be Responsible for a Friend's Loss.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743200"/>
          </a:xfrm>
          <a:prstGeom prst="rect">
            <a:avLst/>
          </a:prstGeom>
          <a:solidFill>
            <a:srgbClr val="162840"/>
          </a:solidFill>
          <a:ln w="6350">
            <a:solidFill>
              <a:srgbClr val="F5A623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😬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coefficient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platforms have near-zero organic referrals. Nobody shares financial products with friends.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743200"/>
          </a:xfrm>
          <a:prstGeom prst="rect">
            <a:avLst/>
          </a:prstGeom>
          <a:solidFill>
            <a:srgbClr val="162840"/>
          </a:solidFill>
          <a:ln w="6350">
            <a:solidFill>
              <a:srgbClr val="F5A623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 (paid only)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viral growth, every user is acquired through expensive paid channels — a structural ceiling.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2743200"/>
          </a:xfrm>
          <a:prstGeom prst="rect">
            <a:avLst/>
          </a:prstGeom>
          <a:solidFill>
            <a:srgbClr val="162840"/>
          </a:solidFill>
          <a:ln w="6350">
            <a:solidFill>
              <a:srgbClr val="F5A623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🤫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377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hide trading activity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429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shows most retail traders do not tell friends or family they trade CFDs or forex.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22960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92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166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refer a friend to a CFD trading platform and they lose money, that guilt falls on me. Standard referral mechanics ("share this link, get $50") completely ignore this psychological barrier. No wonder viral coefficient is near-zero.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Guilt. Make Rewards Success-Linked.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Only Win When the Friend Profits.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840480" cy="3108960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Current: Link Referral ($50 bonus)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Bonus paid on signup — before any trading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Friend loses money → referrer feels guilty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Referrer goes silent, stops sharing the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alignment: referrer earns even if friend loses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2697480"/>
            <a:ext cx="822960" cy="822960"/>
          </a:xfrm>
          <a:prstGeom prst="ellipse">
            <a:avLst/>
          </a:prstGeom>
          <a:solidFill>
            <a:srgbClr val="0B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272491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4023360" cy="3108960"/>
          </a:xfrm>
          <a:prstGeom prst="rect">
            <a:avLst/>
          </a:prstGeom>
          <a:solidFill>
            <a:srgbClr val="FFFBF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TradeCircle: Performance Referral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an anonymised % return card — no dollar P&amp;L exposed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880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Reward only triggers when the referred friend profits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sides win together — guilt is structurally removed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977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Referrer is incentivised to share advice, not just a link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8229600" cy="128016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1206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By making rewards success-linked, we eliminate the guilt that kills trading referrals. The viral unit is not a link — it is a beautifully designed performance card that the referrer is proud to share.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Win. Build a Circle. Earn Together.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7589520" cy="0"/>
          </a:xfrm>
          <a:prstGeom prst="line">
            <a:avLst/>
          </a:prstGeom>
          <a:noFill/>
          <a:ln w="12700">
            <a:solidFill>
              <a:srgbClr val="F5A623">
                <a:alpha val="40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ends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posted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1005840" cy="64008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1363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auto-generates a performance card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94560" y="20116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shares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3886200"/>
            <a:ext cx="1005840" cy="64008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91363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Instagram, or direct link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0" y="20116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0332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👀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sees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3886200"/>
            <a:ext cx="1005840" cy="64008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91363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% return, instrument, style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0" y="20116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0352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joins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3886200"/>
            <a:ext cx="1005840" cy="64008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91363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account using referral code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32320" y="20116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20299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2834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🎉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49440" y="3246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profits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earn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40880" y="3886200"/>
            <a:ext cx="1005840" cy="640080"/>
          </a:xfrm>
          <a:prstGeom prst="rect">
            <a:avLst/>
          </a:prstGeom>
          <a:solidFill>
            <a:srgbClr val="16284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91363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rebates trigger on first profitable trade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5120640"/>
            <a:ext cx="8229600" cy="1188720"/>
          </a:xfrm>
          <a:prstGeom prst="rect">
            <a:avLst/>
          </a:prstGeom>
          <a:solidFill>
            <a:srgbClr val="0D2040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2303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viral unit: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5532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card is designed to be shared — anonymised % return (never dollar P&amp;L), top instrument, and trading style. It signals success without exposing vulnerability. Network effects compound: as circles grow, platform stickiness and DAU both increase.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 — Built Around the Referral Psychology Insight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21031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+ Circle Card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MultiBank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$ 12,450.00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🔵 TRADECIRCLE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week: +4.2%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Best: XAU/USD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members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[📤 Share Card]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Earn rebates when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circle profits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XAU/USD 2,341.50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TradeCircle card shows week return (+4.2%), top instrument, 0 current members, and one-tap share CTA. Visible on home screen — no buried menu.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325880"/>
            <a:ext cx="21031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78608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78608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MultiBank TradeCircle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@TradeMaster_AK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WEEK RETURN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+4.2%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[XAU/USD][Swing]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[Dubai][14-mo]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my circle: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CIRCLE-AK42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gains · Not advice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shareable viral unit. Anonymised username, % return (not $ P&amp;L), top instrument, trading style badge. Referral code embedded. Designed to feel like a win worth sharing.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0016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1325880"/>
            <a:ext cx="21031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700016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91456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Onboarding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91456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🔵 CIRCLE INVITE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You're joining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@TradeMaster_AK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7 days: +4.2%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Top: XAU/USD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You profit = both earn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Rewards on profit only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[Join Circle]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91456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friend sees leader stats, how rewards work, and a suggested first trade matching the circle leader's instrument. No guilt framing — only "earn together" messaging.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12864" y="1325880"/>
            <a:ext cx="21031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12864" y="1325880"/>
            <a:ext cx="210312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6912864" y="1371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4304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Ops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04304" y="2057400"/>
            <a:ext cx="1920240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2084832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TradeCircle Ops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1.8× Viral Coeff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12.4K Circles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$18 CAC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Funnel: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   100%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Clicked    45%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     28%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Traded     14%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Rebate      6%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Insight: &gt;5% return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3.2× conversion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004304" y="40690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coefficient live tracker (1.8×, target 2.5×). Referral funnel by step. Insight: circles where leader made +5%+ convert 3.2× better. Enables growth team to surface high-performers.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Built on PhonePe Referral Engine Proof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89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IMPACT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914400"/>
          </a:xfrm>
          <a:prstGeom prst="rect">
            <a:avLst/>
          </a:prstGeom>
          <a:solidFill>
            <a:srgbClr val="1628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92024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coefficient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near-zero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914400"/>
          </a:xfrm>
          <a:prstGeom prst="rect">
            <a:avLst/>
          </a:prstGeom>
          <a:solidFill>
            <a:srgbClr val="1628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9202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paid-only acquisition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931920" cy="914400"/>
          </a:xfrm>
          <a:prstGeom prst="rect">
            <a:avLst/>
          </a:prstGeom>
          <a:solidFill>
            <a:srgbClr val="1628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92024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retention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users vs organic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3931920" cy="914400"/>
          </a:xfrm>
          <a:prstGeom prst="rect">
            <a:avLst/>
          </a:prstGeom>
          <a:solidFill>
            <a:srgbClr val="162840"/>
          </a:solidFill>
          <a:ln w="63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983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92024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Card-to-click 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anonymised performance cards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solidFill>
            <a:srgbClr val="0D20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89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920240"/>
            <a:ext cx="3931920" cy="914400"/>
          </a:xfrm>
          <a:prstGeom prst="rect">
            <a:avLst/>
          </a:prstGeom>
          <a:solidFill>
            <a:srgbClr val="0D204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65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 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user (vs $100+ paid)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3931920" cy="914400"/>
          </a:xfrm>
          <a:prstGeom prst="rect">
            <a:avLst/>
          </a:prstGeom>
          <a:solidFill>
            <a:srgbClr val="0D204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718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21792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for circle members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solo-acquired users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931920"/>
            <a:ext cx="3931920" cy="914400"/>
          </a:xfrm>
          <a:prstGeom prst="rect">
            <a:avLst/>
          </a:prstGeom>
          <a:solidFill>
            <a:srgbClr val="0D204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9776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12.4K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21792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circles growing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1.8× viral coefficient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937760"/>
            <a:ext cx="3931920" cy="914400"/>
          </a:xfrm>
          <a:prstGeom prst="rect">
            <a:avLst/>
          </a:prstGeom>
          <a:solidFill>
            <a:srgbClr val="0D2040"/>
          </a:solidFill>
          <a:ln w="635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9834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+14pt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217920" y="5029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improvement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"earning together" network effect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Referral Engine at Scale. Here Is What I Shipped.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402336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Built zero-to-one multi-tenant referral engine for B2B merchant acquisition — 5Mn+ new users/month at 23% lower CAC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Designed performance-linked incentive structure: rewards tied to actual business outcome (transactions), not just sign-up event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Built audience segmentation and cohort tooling for 500+ brand partners — same segmentation logic as TradeCircle circle analytics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Owned the full funnel: share → click → sign-up → first transaction → rebate trigger — measured at each drop-off step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Rebuilt a static rewards portfolio into an ML-driven engagement system with personalised offer matching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393192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This Role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"Proven track record in designing and scaling referral programs" → Shipped a referral engine driving 5Mn+ users/month at 23% lower CAC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"Identify growth loops, viral mechanics, and network effects" → TradeCircle's "earn together" loop is a compounding network effect by design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"Understanding gamification and reward systems" → A/B tested reward mechanics, chose performance-linked over flat bonus based on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"Analyze funnel metrics: CAC, LTV, conversion rates" → Owned full funnel attribution from share event to rebate trigger at PhonePe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4709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JD: "Marketing automation and CRM strategies" → Built automated nudge sequences keyed to milestone completion rates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8229600" cy="914400"/>
          </a:xfrm>
          <a:prstGeom prst="rect">
            <a:avLst/>
          </a:prstGeom>
          <a:solidFill>
            <a:srgbClr val="0B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623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built a referral platform that turned a 2-day manual process into a 30-minute self-serve flow for 5,000+ merchants. TradeCircle applies the same performance-linked incentive logic to a consumer trading context."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Launch — From Pilot Circle to Viral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3749040"/>
          </a:xfrm>
          <a:prstGeom prst="rect">
            <a:avLst/>
          </a:prstGeom>
          <a:solidFill>
            <a:srgbClr val="1628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(500 Users)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to 500 active traders — measure share rate, click rate, and referred signup conversion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 card designs: % return only vs % return + instrument badge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guilt metric proxy: do referrers share more on winning weeks?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743200" cy="3749040"/>
          </a:xfrm>
          <a:prstGeom prst="rect">
            <a:avLst/>
          </a:prstGeom>
          <a:solidFill>
            <a:srgbClr val="1628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71600"/>
            <a:ext cx="27432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737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Mechanic Test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success-linked rebate vs flat sign-up bonus for both referrer and referred user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 viral coefficient at each funnel step (share → click → KYC → trade → rebate)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top circle leaders — build a leaderboard to surface high-performing traders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2743200" cy="3749040"/>
          </a:xfrm>
          <a:prstGeom prst="rect">
            <a:avLst/>
          </a:prstGeom>
          <a:solidFill>
            <a:srgbClr val="1628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37160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1737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Scale + Network Effect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2606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 out to all active traders globally as a standard in-app feature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weekly performance card push notification to all users — drive sharing cadence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4160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circle leaderboard and social proof mechanics to compound network effect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5303520"/>
            <a:ext cx="5852160" cy="1234440"/>
          </a:xfrm>
          <a:prstGeom prst="rect">
            <a:avLst/>
          </a:prstGeom>
          <a:solidFill>
            <a:srgbClr val="0D2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422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this: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5715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user trading P&amp;L data (anonymised for card)  ·  Push notification / social share infrastructure  ·  1 engineer for referral tracking &amp; rebate trigger API  ·  Compliance sign-off on performance card disclosure copy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46520" y="5303520"/>
            <a:ext cx="2286000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440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5760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avaghadeajay009@gmail.com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6035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2026-05-23T05:59:30Z</dcterms:created>
  <dcterms:modified xsi:type="dcterms:W3CDTF">2026-05-23T05:59:30Z</dcterms:modified>
</cp:coreProperties>
</file>