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0E0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21424"/>
            <a:ext cx="9144000" cy="3657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6350">
            <a:solidFill>
              <a:srgbClr val="D97706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0"/>
            <a:ext cx="0" cy="6858000"/>
          </a:xfrm>
          <a:prstGeom prst="line">
            <a:avLst/>
          </a:prstGeom>
          <a:noFill/>
          <a:ln w="6350">
            <a:solidFill>
              <a:srgbClr val="D97706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0" y="0"/>
            <a:ext cx="0" cy="6858000"/>
          </a:xfrm>
          <a:prstGeom prst="line">
            <a:avLst/>
          </a:prstGeom>
          <a:noFill/>
          <a:ln w="6350">
            <a:solidFill>
              <a:srgbClr val="D97706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78040" y="0"/>
            <a:ext cx="0" cy="6858000"/>
          </a:xfrm>
          <a:prstGeom prst="line">
            <a:avLst/>
          </a:prstGeom>
          <a:noFill/>
          <a:ln w="6350">
            <a:solidFill>
              <a:srgbClr val="D97706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0"/>
            <a:ext cx="0" cy="6858000"/>
          </a:xfrm>
          <a:prstGeom prst="line">
            <a:avLst/>
          </a:prstGeom>
          <a:noFill/>
          <a:ln w="6350">
            <a:solidFill>
              <a:srgbClr val="D97706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0"/>
            <a:ext cx="0" cy="6858000"/>
          </a:xfrm>
          <a:prstGeom prst="line">
            <a:avLst/>
          </a:prstGeom>
          <a:noFill/>
          <a:ln w="6350">
            <a:solidFill>
              <a:srgbClr val="D97706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4A3B8"/>
                </a:solidFill>
              </a:rPr>
              <a:t>DREAMPASS · TREVOLUTION · CASE STUDY 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DreamTier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Freemium-to-Paid Upgrade Engine — Converting Free Members at the Moment of Travel Intent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Ajay Avaghade · Product Manager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645920"/>
            <a:ext cx="2560320" cy="1280160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737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2.8×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21792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</a:rPr>
              <a:t>ARPU lift: paid vs free member over 12 months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0E0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0292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Members Experience the App, Book Trips, and Leave Without Ever Upgrading to Paid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2377440"/>
          </a:xfrm>
          <a:prstGeom prst="rect">
            <a:avLst/>
          </a:prstGeom>
          <a:solidFill>
            <a:srgbClr val="291A04"/>
          </a:solidFill>
          <a:ln w="12700">
            <a:solidFill>
              <a:srgbClr val="D97706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4 of 6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Benefits locked on free tier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Lounge access, eSIM, hotel cashback, and insurance are invisible until the user actively seeks an upgrade page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2377440"/>
          </a:xfrm>
          <a:prstGeom prst="rect">
            <a:avLst/>
          </a:prstGeom>
          <a:solidFill>
            <a:srgbClr val="291A04"/>
          </a:solidFill>
          <a:ln w="12700">
            <a:solidFill>
              <a:srgbClr val="D97706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0040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1×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Coin earn rate on free tier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Free members earn at half the rate of paid members — but they don't know this until they're deep in the app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2377440"/>
          </a:xfrm>
          <a:prstGeom prst="rect">
            <a:avLst/>
          </a:prstGeom>
          <a:solidFill>
            <a:srgbClr val="291A04"/>
          </a:solidFill>
          <a:ln w="12700">
            <a:solidFill>
              <a:srgbClr val="D97706">
                <a:alpha val="4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600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🕳️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26480" y="20116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</a:rPr>
              <a:t>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2514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Contextual upgrade prompts today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28346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No upgrade surface at the highest-intent moment: the booking confirmation page where lounge access is most relevant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4023360"/>
            <a:ext cx="8595360" cy="822960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Root cause: The upgrade pitch is generic and untimed. Free members get a static upgrade page with a feature list — not a contextual "you are about to fly and your lounge is waiting" moment at peak intent.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0E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Upgrade Moment Is Not a Settings Page. It's the Second After a Booking Is Confirmed.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0175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508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</a:rPr>
              <a:t>❌  Without DreamTier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Generic "Upgrade" button buried in account settings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Feature list paywall with no contextual relevance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883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Free member books Dubai flight — no lounge mention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30723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1× coin earn rate — member doesn't know they're missing half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1D1D"/>
                </a:solidFill>
              </a:rPr>
              <a:t>• No in-destination benefit reinforcement after upgrade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206240" cy="301752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508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✅  With DreamTier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9202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</a:rPr>
              <a:t>• Booking confirmed → "DXB lounge is available on your departure — unlock with Dreampass Paid"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3042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</a:rPr>
              <a:t>• Value-at-stake paywall: pay AED 499 / get AED 1,320 back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68833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</a:rPr>
              <a:t>• 2× coin earn applied immediately — visible on booking screen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3072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</a:rPr>
              <a:t>• eSIM for destination auto-teased on booking confirmation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34564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</a:rPr>
              <a:t>• In-destination use of lounge → 76% renewal rate (vs 38% no-use)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572000"/>
            <a:ext cx="8412480" cy="640080"/>
          </a:xfrm>
          <a:prstGeom prst="rect">
            <a:avLst/>
          </a:prstGeom>
          <a:solidFill>
            <a:srgbClr val="D97706">
              <a:alpha val="15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451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30E01"/>
                </a:solidFill>
              </a:rPr>
              <a:t>Key insight: Paywalls that show "pay AED 499, get back AED 1,320" outperform feature-list paywalls by 31% on conversion. The ROI frame eliminates price anchoring — the user isn't paying for a subscription, they're making a 2.6× return investment.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1A0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D34D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Behavioural Triggers + Value-at-Stake Paywall Design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2011680" cy="3200400"/>
          </a:xfrm>
          <a:prstGeom prst="rect">
            <a:avLst/>
          </a:prstGeom>
          <a:solidFill>
            <a:srgbClr val="130E01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20116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✈️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Trip Booking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" y="2121408"/>
            <a:ext cx="1828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 books trip → immediate: locked lounge tease on confirmation page with "upgrade to access on your departure." Highest-intent upgrade moment — 14% CVR.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23160" y="1188720"/>
            <a:ext cx="2011680" cy="3200400"/>
          </a:xfrm>
          <a:prstGeom prst="rect">
            <a:avLst/>
          </a:prstGeom>
          <a:solidFill>
            <a:srgbClr val="130E01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188720"/>
            <a:ext cx="20116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42316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Browse Signal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32888" y="2121408"/>
            <a:ext cx="1828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 opens app 3+ times in 7 days without booking → "Your next trip is closer than you think — unlock lounge, eSIM, and 2× coins when you're ready."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188720"/>
            <a:ext cx="2011680" cy="3200400"/>
          </a:xfrm>
          <a:prstGeom prst="rect">
            <a:avLst/>
          </a:prstGeom>
          <a:solidFill>
            <a:srgbClr val="130E01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1188720"/>
            <a:ext cx="20116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Coin Threshold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2121408"/>
            <a:ext cx="1828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User hits 500 coins on free tier → "You're earning at half speed. Upgrade to 2× and watch your balance grow." Shows side-by-side coin balance projection.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1188720"/>
            <a:ext cx="2011680" cy="3200400"/>
          </a:xfrm>
          <a:prstGeom prst="rect">
            <a:avLst/>
          </a:prstGeom>
          <a:solidFill>
            <a:srgbClr val="130E01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188720"/>
            <a:ext cx="2011680" cy="411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12280" y="1691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Seasonal Trigger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22008" y="2121408"/>
            <a:ext cx="182880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D-30 before summer/winter peak → "Your lounge is waiting for peak season." Time-bound upgrade prompt with seasonal travel imagery and benefit preview.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" y="4572000"/>
            <a:ext cx="8686800" cy="640080"/>
          </a:xfrm>
          <a:prstGeom prst="rect">
            <a:avLst/>
          </a:prstGeom>
          <a:solidFill>
            <a:srgbClr val="130E01"/>
          </a:solidFill>
          <a:ln w="12700">
            <a:solidFill>
              <a:srgbClr val="FCD34D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63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CD34D"/>
                </a:solidFill>
              </a:rPr>
              <a:t>Benchmark: PhonePe checkout redesign drove 22% conversion lift by surfacing the right offer at the right moment (cart value × user intent × time signals). DreamTier applies the same contextual trigger model to subscription upgrade timing.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0E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 States — Free Member to Paid Welcome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88720"/>
            <a:ext cx="1627632" cy="365760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0E01"/>
                </a:solidFill>
              </a:rPr>
              <a:t>Freemium Home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Active: coin earn, exclusive deals. Locked (grayed): lounge, eSIM, hotel cashback, insurance. Upgrade banner: "AED 499 — unlock everything." 420 coins balance.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188720"/>
            <a:ext cx="1627632" cy="365760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93392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066544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0E01"/>
                </a:solidFill>
              </a:rPr>
              <a:t>Booking Paywall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66544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Flight confirmed. Lounge tease: DXB Terminal 3 available on departure. Lock badge. eSIM teased below. "2× coins on this booking" note. Book button still active.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58184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58184" y="1188720"/>
            <a:ext cx="1627632" cy="365760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758184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1336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0E01"/>
                </a:solidFill>
              </a:rPr>
              <a:t>Tier Comparison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31336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Free vs Paid feature table. Value-at-stake: pay AED 499 / get AED 1,320 in benefits. Normal price AED 699 shown with strikethrough. Upgrade CTA. Skip link.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22976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22976" y="1188720"/>
            <a:ext cx="1627632" cy="365760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522976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0E01"/>
                </a:solidFill>
              </a:rPr>
              <a:t>Welcome Paid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96128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Confetti. 4 unlock cards: lounge 6 visits / eSIM 5GB / hotel AED 600 / insurance all trips. Billing summary. 2× coin bonus on previous booking applied.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287768" y="1188720"/>
            <a:ext cx="162763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287768" y="1188720"/>
            <a:ext cx="1627632" cy="365760"/>
          </a:xfrm>
          <a:prstGeom prst="rect">
            <a:avLst/>
          </a:prstGeom>
          <a:solidFill>
            <a:srgbClr val="D97706">
              <a:alpha val="15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287768" y="123444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0920" y="164592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0E01"/>
                </a:solidFill>
              </a:rPr>
              <a:t>PM Upgrade View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2084832"/>
            <a:ext cx="148132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Dark PM screen. Trigger logic table (4 triggers + tags). Conversion funnel (100% → 14% complete upgrade). 4-metric outcome grid.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5029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Prototype: dreampass-tier-prototype.html · All 5 states interactive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0E0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Conversion as a Revenue Multiplier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0" cy="3566160"/>
          </a:xfrm>
          <a:prstGeom prst="rect">
            <a:avLst/>
          </a:prstGeom>
          <a:solidFill>
            <a:srgbClr val="291A04"/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</a:rPr>
              <a:t>Growth Impact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</a:rPr>
              <a:t>14%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167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Free-to-paid CVR at booking moment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3–5% from generic account-settings upgrade pages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</a:rPr>
              <a:t>2.8×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0292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ARPU lift: paid vs free member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Paid members generate 2.5–3.2× annual revenue of free members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7706"/>
                </a:solidFill>
              </a:rPr>
              <a:t>+22%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Trip frequency post-upgrade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Activated paid members book 1.4 more trips/yr — lounge reinforces value in-destination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188720"/>
            <a:ext cx="4114800" cy="3566160"/>
          </a:xfrm>
          <a:prstGeom prst="rect">
            <a:avLst/>
          </a:prstGeom>
          <a:solidFill>
            <a:srgbClr val="291A04"/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D97706"/>
                </a:solidFill>
              </a:rPr>
              <a:t>Unit Economics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16916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</a:rPr>
              <a:t>AED 499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800600" y="2167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Annual paid subscription price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404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AED 1,320+ in benefits delivered — 2.6× ROI frame for member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0600" y="2697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</a:rPr>
              <a:t>76%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800600" y="3172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Renewal rate: member who used lounge on first trip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vs 38% for upgraded member who used zero benefits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00600" y="3703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D34D"/>
                </a:solidFill>
              </a:rPr>
              <a:t>31%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80060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Value-at-stake paywall lift vs feature-list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4416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ROI-framed paywall outperforms feature comparison on conversion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9834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(Source: Recurly Subscription Benchmarks 2024; Product-Led Growth Collective 2023; CXL Institute Subscription Conversion 2023; Bond Brand Loyalty 2023)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130E0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97706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5486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the Conversion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at PhonePe.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3749040" cy="868680"/>
          </a:xfrm>
          <a:prstGeom prst="rect">
            <a:avLst/>
          </a:prstGeom>
          <a:solidFill>
            <a:srgbClr val="291A04"/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7276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Checkout conversion redesign: context-aware offer placement (cart value × user intent × time signals) → 22% checkout conversion lift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3749040" cy="868680"/>
          </a:xfrm>
          <a:prstGeom prst="rect">
            <a:avLst/>
          </a:prstGeom>
          <a:solidFill>
            <a:srgbClr val="291A04"/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7860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Pincode Q-commerce: dynamic cart incentivization engine → 35% AOV uplift, 60% cart abandonment reduction, 20% improvement in 30-day retention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3749040" cy="868680"/>
          </a:xfrm>
          <a:prstGeom prst="rect">
            <a:avLst/>
          </a:prstGeom>
          <a:solidFill>
            <a:srgbClr val="291A04"/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58444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ML propensity-to-transact models replacing static rule-based targeting — real-time user-level scoring → 32% marketing burn reduction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4526280"/>
            <a:ext cx="3749040" cy="868680"/>
          </a:xfrm>
          <a:prstGeom prst="rect">
            <a:avLst/>
          </a:prstGeom>
          <a:solidFill>
            <a:srgbClr val="291A04"/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590288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Kotak Cherry freemium-to-premium upsell design — WealthTech app MVP with tiered feature access and upgrade moment design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57276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→ DreamTier booking-moment paywall trigger design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5146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57860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→ DreamTier contextual lounge/eSIM tease at cart/booking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52044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358444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→ DreamTier value-at-stake framing (AED 499 / AED 1,320)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45262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4590288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</a:rPr>
              <a:t>→ DreamTier freemium lock UX + tier comparison page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983480"/>
            <a:ext cx="8595360" cy="502920"/>
          </a:xfrm>
          <a:prstGeom prst="rect">
            <a:avLst/>
          </a:prstGeom>
          <a:solidFill>
            <a:srgbClr val="D97706">
              <a:alpha val="1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50474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30E01"/>
                </a:solidFill>
              </a:rPr>
              <a:t>22% checkout conversion lift and 35% AOV uplift at PhonePe are the direct proof of contextual trigger design. DreamTier is the same architecture applied to subscription upgrade conversion.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30E0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CD34D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Instrument Intent, Prove CVR, Scale Paywall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291A04"/>
          </a:solidFill>
          <a:ln w="12700">
            <a:solidFill>
              <a:srgbClr val="FCD34D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347472"/>
          </a:xfrm>
          <a:prstGeom prst="rect">
            <a:avLst/>
          </a:prstGeom>
          <a:solidFill>
            <a:srgbClr val="FCD34D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Month 1–2: Instrument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Surface lounge tease card on booking confirmation for all free members flying from DXB/AUH/SHJ. Instrument: lounge tease seen, upgrade CTA clicked, paywall viewed, upgrade completed. Control: no tease card (existing flow).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4206240"/>
            <a:ext cx="2560320" cy="502920"/>
          </a:xfrm>
          <a:prstGeom prst="rect">
            <a:avLst/>
          </a:prstGeom>
          <a:solidFill>
            <a:srgbClr val="130E01"/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</a:rPr>
              <a:t>Need: Data: booking events for free members, flight departure airports, upgrade events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43200" cy="3657600"/>
          </a:xfrm>
          <a:prstGeom prst="rect">
            <a:avLst/>
          </a:prstGeom>
          <a:solidFill>
            <a:srgbClr val="291A04"/>
          </a:solidFill>
          <a:ln w="12700">
            <a:solidFill>
              <a:srgbClr val="FCD34D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88720"/>
            <a:ext cx="2743200" cy="347472"/>
          </a:xfrm>
          <a:prstGeom prst="rect">
            <a:avLst/>
          </a:prstGeom>
          <a:solidFill>
            <a:srgbClr val="FCD34D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Phase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Month 3–4: Prove CVR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A/B test paywall framing: Value-at-stake (AED 499 / AED 1,320 value) vs Feature-list (Free vs Paid columns). A/B test trigger timing: immediate post-booking vs D+1 CRM follow-up. Target: 14% CVR at booking trigger. Tune coin earn messaging.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4206240"/>
            <a:ext cx="2560320" cy="502920"/>
          </a:xfrm>
          <a:prstGeom prst="rect">
            <a:avLst/>
          </a:prstGeom>
          <a:solidFill>
            <a:srgbClr val="130E01"/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</a:rPr>
              <a:t>Need: 1 engineer: paywall A/B test framework + upgrade event tracking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743200" cy="3657600"/>
          </a:xfrm>
          <a:prstGeom prst="rect">
            <a:avLst/>
          </a:prstGeom>
          <a:solidFill>
            <a:srgbClr val="291A04"/>
          </a:solidFill>
          <a:ln w="12700">
            <a:solidFill>
              <a:srgbClr val="FCD34D">
                <a:alpha val="30000"/>
              </a:srgbClr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88720"/>
            <a:ext cx="2743200" cy="347472"/>
          </a:xfrm>
          <a:prstGeom prst="rect">
            <a:avLst/>
          </a:prstGeom>
          <a:solidFill>
            <a:srgbClr val="FCD34D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Phase 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1609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Month 5–6: Scale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1993392"/>
            <a:ext cx="2560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Roll DreamTier paywall surface to all 4 trigger types globally. Integrate in-destination benefit reinforcement: first lounge use → renewal pre-sell notification. Connect DreamActivate for new paid members (activation ladder starts at upgrade). Seasonal campaign: summer upgrade push.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4206240"/>
            <a:ext cx="2560320" cy="502920"/>
          </a:xfrm>
          <a:prstGeom prst="rect">
            <a:avLst/>
          </a:prstGeom>
          <a:solidFill>
            <a:srgbClr val="130E01"/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251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D97706"/>
                </a:solidFill>
              </a:rPr>
              <a:t>Need: Alignment: design (paywall UX), growth marketing (seasonal push), finance (freemium tier economics approval)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65760" y="50474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Ajay Avaghade  |  avaghadeajay009@gmail.com  |  +91 9561558439  |  ajay-avaghade.github.io/Portfolio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2026-07-10T16:11:26Z</dcterms:created>
  <dcterms:modified xsi:type="dcterms:W3CDTF">2026-07-10T16:11:26Z</dcterms:modified>
</cp:coreProperties>
</file>