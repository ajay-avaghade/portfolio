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-45720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4" name="Shape 2"/>
          <p:cNvSpPr/>
          <p:nvPr/>
        </p:nvSpPr>
        <p:spPr>
          <a:xfrm rot="720000">
            <a:off x="32004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5" name="Shape 3"/>
          <p:cNvSpPr/>
          <p:nvPr/>
        </p:nvSpPr>
        <p:spPr>
          <a:xfrm rot="720000">
            <a:off x="109728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 rot="720000">
            <a:off x="187452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Shape 5"/>
          <p:cNvSpPr/>
          <p:nvPr/>
        </p:nvSpPr>
        <p:spPr>
          <a:xfrm rot="720000">
            <a:off x="265176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8" name="Shape 6"/>
          <p:cNvSpPr/>
          <p:nvPr/>
        </p:nvSpPr>
        <p:spPr>
          <a:xfrm rot="720000">
            <a:off x="342900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Shape 7"/>
          <p:cNvSpPr/>
          <p:nvPr/>
        </p:nvSpPr>
        <p:spPr>
          <a:xfrm rot="720000">
            <a:off x="420624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0" name="Shape 8"/>
          <p:cNvSpPr/>
          <p:nvPr/>
        </p:nvSpPr>
        <p:spPr>
          <a:xfrm rot="720000">
            <a:off x="498348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Shape 9"/>
          <p:cNvSpPr/>
          <p:nvPr/>
        </p:nvSpPr>
        <p:spPr>
          <a:xfrm rot="720000">
            <a:off x="576072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2" name="Shape 10"/>
          <p:cNvSpPr/>
          <p:nvPr/>
        </p:nvSpPr>
        <p:spPr>
          <a:xfrm rot="720000">
            <a:off x="653796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Shape 11"/>
          <p:cNvSpPr/>
          <p:nvPr/>
        </p:nvSpPr>
        <p:spPr>
          <a:xfrm rot="720000">
            <a:off x="731520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4" name="Shape 12"/>
          <p:cNvSpPr/>
          <p:nvPr/>
        </p:nvSpPr>
        <p:spPr>
          <a:xfrm rot="720000">
            <a:off x="809244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5" name="Shape 13"/>
          <p:cNvSpPr/>
          <p:nvPr/>
        </p:nvSpPr>
        <p:spPr>
          <a:xfrm rot="720000">
            <a:off x="886968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Shape 14"/>
          <p:cNvSpPr/>
          <p:nvPr/>
        </p:nvSpPr>
        <p:spPr>
          <a:xfrm rot="720000">
            <a:off x="964692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7" name="Shape 15"/>
          <p:cNvSpPr/>
          <p:nvPr/>
        </p:nvSpPr>
        <p:spPr>
          <a:xfrm>
            <a:off x="6949440" y="0"/>
            <a:ext cx="2194560" cy="1005840"/>
          </a:xfrm>
          <a:prstGeom prst="rect">
            <a:avLst/>
          </a:prstGeom>
          <a:solidFill>
            <a:srgbClr val="00A8E1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914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amazon.ae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95160" y="4754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&amp; LEISURE · MENA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128016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InstallMatch</a:t>
            </a:r>
            <a:endParaRPr lang="en-US" sz="5200" dirty="0"/>
          </a:p>
        </p:txBody>
      </p:sp>
      <p:sp>
        <p:nvSpPr>
          <p:cNvPr id="21" name="Shape 19"/>
          <p:cNvSpPr/>
          <p:nvPr/>
        </p:nvSpPr>
        <p:spPr>
          <a:xfrm>
            <a:off x="457200" y="2377440"/>
            <a:ext cx="1280160" cy="73152"/>
          </a:xfrm>
          <a:prstGeom prst="rect">
            <a:avLst/>
          </a:prstGeom>
          <a:solidFill>
            <a:srgbClr val="00A8E1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514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In-flow installation marketplace — verified UAE technicians booked alongside the order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03 of 03  ·  Amazon MENA Senior PM, Home &amp; Leisure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257800"/>
            <a:ext cx="4572000" cy="54864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3949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Ajay Avaghade  ·  Growth &amp; Category PM  ·  PhonePe → Amazon MENA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49440" y="4663440"/>
            <a:ext cx="1920240" cy="18288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47548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6949440" y="5440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lost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Google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Sells the AC — Then Sends the Customer to Google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36576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627632"/>
            <a:ext cx="2651760" cy="3200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75564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23591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312724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thing after checkout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AC, dishwasher, ceiling fan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immediately searches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 installation Dubai" on Google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1627632"/>
            <a:ext cx="2651760" cy="3200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1840" y="175564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⚠️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23591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383280" y="312724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Technicians they find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5204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background checks, no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insurance, no accountability 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product gets damaged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627632"/>
            <a:ext cx="2651760" cy="3200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26480" y="175564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126480" y="23591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217920" y="312724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rate on large H&amp;L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35204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returned because customer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not get installation — lost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+ reverse logistics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010912"/>
            <a:ext cx="8229600" cy="1645920"/>
          </a:xfrm>
          <a:prstGeom prst="rect">
            <a:avLst/>
          </a:prstGeom>
          <a:solidFill>
            <a:srgbClr val="1A2332"/>
          </a:solidFill>
          <a:ln w="19050">
            <a:solidFill>
              <a:srgbClr val="00A8E1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51389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468112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closes the sale and immediately loses the customer relationship. They search for a technician, find one from a WhatsApp group, the installation goes wrong, the product gets damaged, and the return lands back at Amazon. InstallMatch keeps that entire post-purchase journey inside Amazon — and monetizes it.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Install Is Part of the Product. Amazon Just Does Not Sell It Yet.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8229600" cy="36576"/>
          </a:xfrm>
          <a:prstGeom prst="rect">
            <a:avLst/>
          </a:prstGeom>
          <a:solidFill>
            <a:srgbClr val="00A8E1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72768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73736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The Status Quo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267712"/>
            <a:ext cx="201168" cy="201168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26771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2231136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confirmed. No installation path offered.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201168" cy="201168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96265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29260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searches "AC installation Dubai" — leaves Amazon ecosystem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657600"/>
            <a:ext cx="201168" cy="201168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6576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3621024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uninsured technician from WhatsApp group — product gets damaged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4352544"/>
            <a:ext cx="201168" cy="201168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35254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" y="4315968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unit to Amazon. 15% of H&amp;L large-ticket orders follow this path.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60520" y="3291840"/>
            <a:ext cx="822960" cy="822960"/>
          </a:xfrm>
          <a:prstGeom prst="ellipse">
            <a:avLst/>
          </a:prstGeom>
          <a:solidFill>
            <a:srgbClr val="00A8E1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3291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46320" y="1572768"/>
            <a:ext cx="3840480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E1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83480" y="173736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InstallMatch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983480" y="2267712"/>
            <a:ext cx="201168" cy="201168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226771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E1"/>
                </a:solidFill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257800" y="2231136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verified, insured, background-checked UAE technicians — embedded on the PDP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983480" y="2962656"/>
            <a:ext cx="201168" cy="201168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8" name="Text 26"/>
          <p:cNvSpPr/>
          <p:nvPr/>
        </p:nvSpPr>
        <p:spPr>
          <a:xfrm>
            <a:off x="4983480" y="296265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E1"/>
                </a:solidFill>
              </a:rPr>
              <a:t>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7800" y="29260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books Mohammed Al Rashidi (4.9★, 2.1km) in the same checkout flow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983480" y="3657600"/>
            <a:ext cx="201168" cy="201168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1" name="Text 29"/>
          <p:cNvSpPr/>
          <p:nvPr/>
        </p:nvSpPr>
        <p:spPr>
          <a:xfrm>
            <a:off x="4983480" y="36576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E1"/>
                </a:solidFill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257800" y="3621024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tracked live on install day. 30-day workmanship guarantee.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83480" y="4352544"/>
            <a:ext cx="201168" cy="201168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4" name="Text 32"/>
          <p:cNvSpPr/>
          <p:nvPr/>
        </p:nvSpPr>
        <p:spPr>
          <a:xfrm>
            <a:off x="4983480" y="435254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E1"/>
                </a:solidFill>
              </a:rPr>
              <a:t>✓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57800" y="4315968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149 added to order. Amazon earns commission. Returns drop 32%.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solidFill>
            <a:srgbClr val="EFF8FF"/>
          </a:solidFill>
          <a:ln w="19050">
            <a:solidFill>
              <a:srgbClr val="00A8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" y="6464808"/>
            <a:ext cx="7955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The customer has AED 2,499 committed to the AC. AED 149 for verified install is not a spend decision — it is a relief decision.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Marketplace × In-Flow Booking × Live Tracking = InstallMatch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481328"/>
            <a:ext cx="658368" cy="658368"/>
          </a:xfrm>
          <a:prstGeom prst="ellipse">
            <a:avLst/>
          </a:prstGeom>
          <a:solidFill>
            <a:srgbClr val="00A8E1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481328" y="1810512"/>
            <a:ext cx="585216" cy="0"/>
          </a:xfrm>
          <a:prstGeom prst="line">
            <a:avLst/>
          </a:prstGeom>
          <a:noFill/>
          <a:ln w="19050">
            <a:solidFill>
              <a:srgbClr val="00A8E1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347472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93192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 Trigger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category triggers InstallMatch card. "36 verified technicians near Dubai Marina." Appears below Buy Now.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42032" y="1481328"/>
            <a:ext cx="658368" cy="658368"/>
          </a:xfrm>
          <a:prstGeom prst="ellipse">
            <a:avLst/>
          </a:prstGeom>
          <a:solidFill>
            <a:srgbClr val="00A8E1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42032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1810512"/>
            <a:ext cx="585216" cy="0"/>
          </a:xfrm>
          <a:prstGeom prst="line">
            <a:avLst/>
          </a:prstGeom>
          <a:noFill/>
          <a:ln w="19050">
            <a:solidFill>
              <a:srgbClr val="00A8E1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066544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112264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Listing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112264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by: rating, distance, availability. Each card: name, stars, reviews, distance, languages, jobs done.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61104" y="1481328"/>
            <a:ext cx="658368" cy="658368"/>
          </a:xfrm>
          <a:prstGeom prst="ellipse">
            <a:avLst/>
          </a:prstGeom>
          <a:solidFill>
            <a:srgbClr val="00A8E1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261104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919472" y="1810512"/>
            <a:ext cx="585216" cy="0"/>
          </a:xfrm>
          <a:prstGeom prst="line">
            <a:avLst/>
          </a:prstGeom>
          <a:noFill/>
          <a:ln w="19050">
            <a:solidFill>
              <a:srgbClr val="00A8E1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785616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831336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Booking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31336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picker + time grid. Installer calendar synced in real-time. Address auto-filled from delivery address.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80176" y="1481328"/>
            <a:ext cx="658368" cy="658368"/>
          </a:xfrm>
          <a:prstGeom prst="ellipse">
            <a:avLst/>
          </a:prstGeom>
          <a:solidFill>
            <a:srgbClr val="00A8E1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80176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638544" y="1810512"/>
            <a:ext cx="585216" cy="0"/>
          </a:xfrm>
          <a:prstGeom prst="line">
            <a:avLst/>
          </a:prstGeom>
          <a:noFill/>
          <a:ln w="19050">
            <a:solidFill>
              <a:srgbClr val="00A8E1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504688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550408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Checkout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550408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+ install as single order. AED 149 line item. Delivery and install dates shown. One payment, one confirmation.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99248" y="1481328"/>
            <a:ext cx="658368" cy="658368"/>
          </a:xfrm>
          <a:prstGeom prst="ellipse">
            <a:avLst/>
          </a:prstGeom>
          <a:solidFill>
            <a:srgbClr val="00A8E1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699248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223760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269480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Tracking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69480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day: technician live on map. ETA shown. Progress steps (ordered → delivered → en route → installing → done).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5779008"/>
            <a:ext cx="8229600" cy="868680"/>
          </a:xfrm>
          <a:prstGeom prst="rect">
            <a:avLst/>
          </a:prstGeom>
          <a:solidFill>
            <a:srgbClr val="1A2332"/>
          </a:solidFill>
          <a:ln w="12700">
            <a:solidFill>
              <a:srgbClr val="00A8E1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40080" y="5907024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Design  ·  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743200" y="5888736"/>
            <a:ext cx="5760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PhonePe, I built a B2B marketplace onboarding 5,000+ merchants with self-serve eligibility, pricing, and ops tools. InstallMatch applies the same architecture to a services marketplace — technicians as the supply side, homeowners as demand.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Screens — AC Order to Installation Day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00A8E1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PDP + Install Card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2918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InstallMatch card below Buy Now. "36 verified technicians near Dubai Marina." Bullet: AED 149+, same-day slots, 30-day guarantee.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918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Daikin 1.5T Inverter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AED 2,499 22% off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✦ prime | Free delivery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INSTALLMATCH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36 installers nearby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AED 149+, insured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[Choose Installer]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01168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01168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14" name="Text 12"/>
          <p:cNvSpPr/>
          <p:nvPr/>
        </p:nvSpPr>
        <p:spPr>
          <a:xfrm>
            <a:off x="206654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Installer Selection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06654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cards sorted by rating + distance. Mohammed Al Rashidi: 4.9★, 847 reviews, Amazon Certified Pro, today slots.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06654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Choose Installer (36)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⭐ TOP MATCH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Mohammed Al Rashidi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★★★★★ 4.9 (847)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✓ Amazon Certified Pro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2.1km | Today slots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AED 149 [Select →]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Ahmed Hassan 4.7★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4904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4904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20" name="Text 18"/>
          <p:cNvSpPr/>
          <p:nvPr/>
        </p:nvSpPr>
        <p:spPr>
          <a:xfrm>
            <a:off x="380390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Slot Booking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0390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chips + time grid. Booked slots greyed out. Address pre-filled. Room type selector. Confirm sticky bar.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80390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Pick a Time Slot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Mohammed · AED 149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TUE 24 | WED 25 | FRI 27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9-11am [BOOKED]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2-5pm [SELECT] ◉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5-8pm [ 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Living Room ◉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48640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26" name="Text 24"/>
          <p:cNvSpPr/>
          <p:nvPr/>
        </p:nvSpPr>
        <p:spPr>
          <a:xfrm>
            <a:off x="554126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Order Confirmed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54126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Confetti. AC delivery date + installer appointment in one confirmation. Total: AED 2,648. Track both in one view.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54126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7784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Order + Install ✓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#406-7920341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Daikin AC → Thu 26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Mohammed → Tue 24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2:00–5:00 PM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Total: AED 2,648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[Track →]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22376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22376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2" name="Text 30"/>
          <p:cNvSpPr/>
          <p:nvPr/>
        </p:nvSpPr>
        <p:spPr>
          <a:xfrm>
            <a:off x="727862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Live Tracking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27862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day. Mohammed on live map, ETA 18 min. Progress steps. "Call" and "Message" buttons. Arrival notification.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27862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Live Tracking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Mohammed on way!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ETA ~18 min | 3.2km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✓ Order confirmed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✓ AC delivered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 Mohammed en route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○ Installation pending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ROI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the Demand Leak — Monetize the Full H&amp;L Journey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26464"/>
            <a:ext cx="3931920" cy="3657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26464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VALUE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83664"/>
            <a:ext cx="393192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94767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149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48640" y="240487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cost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4048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AED 250-400 for unverified technician found on Google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935224"/>
            <a:ext cx="393192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299923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48640" y="345643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Workmanship guarantee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45643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rebooking if install has any defect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986784"/>
            <a:ext cx="393192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8640" y="405079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&lt;24hr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48640" y="45079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slots available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5079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ordered before 12 PM on working days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5038344"/>
            <a:ext cx="393192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" y="510235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48640" y="555955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Technician tracking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55595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map view + ETA + call/message buttons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26280" y="1426464"/>
            <a:ext cx="0" cy="5212080"/>
          </a:xfrm>
          <a:prstGeom prst="line">
            <a:avLst/>
          </a:prstGeom>
          <a:noFill/>
          <a:ln w="12700">
            <a:solidFill>
              <a:srgbClr val="232F3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663440" y="1426464"/>
            <a:ext cx="4023360" cy="3657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1426464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H&amp;L ROI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1883664"/>
            <a:ext cx="402336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194767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4754880" y="240487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attach rate (target)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0" y="240487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appliances requiring installation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2935224"/>
            <a:ext cx="402336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54880" y="299923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149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4754880" y="345643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install revenue per order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54880" y="34564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Commission-based — Amazon takes 15-25%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3986784"/>
            <a:ext cx="402336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54880" y="405079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4754880" y="45079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reduction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754880" y="45079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products have 32% lower return rate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5038344"/>
            <a:ext cx="402336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754880" y="510235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+12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4754880" y="55595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Post-purchase NPS lift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754880" y="55595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with successful install rate higher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6163056"/>
            <a:ext cx="8229600" cy="548640"/>
          </a:xfrm>
          <a:prstGeom prst="rect">
            <a:avLst/>
          </a:prstGeom>
          <a:solidFill>
            <a:srgbClr val="1A2332"/>
          </a:solidFill>
          <a:ln w="12700">
            <a:solidFill>
              <a:srgbClr val="00A8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" y="623620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InstallMatch turns a post-purchase pain point into a structured revenue stream — and stops 15% of H&amp;L orders from becoming returns.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WORK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B2B Marketplace at Scale. InstallMatch Is the Same Architecture.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00A8E1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26464"/>
            <a:ext cx="3931920" cy="4663440"/>
          </a:xfrm>
          <a:prstGeom prst="rect">
            <a:avLst/>
          </a:prstGeom>
          <a:solidFill>
            <a:srgbClr val="131921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BUILT AT PHONEPE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75104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0→1 self-serve PG integration platform: 5,000+ B2B merchants acquired, 23% lower CAC, 5M+ new users/month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688336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2651760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marketplace onboarding: merchant discovery, eligibility check, pricing, legal sign-off, go-live — all self-serve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3364992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328416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ops intelligence layer replacing 6 siloed workflows — TAT from 2 days to 4 hours for merchant support tickets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" y="4041648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005072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Onboarded 500+ brand partners to ML-driven rewards marketplace — same multi-sided platform problem as InstallMatch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4718304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4681728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full BRD-to-launch across payment, merchant, and partner tracks simultaneously — cross-functional at scale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426464"/>
            <a:ext cx="402336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00600" y="15544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MAPS TO INSTALLMATCH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00600" y="2011680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206654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B2B marketplace, 5K merchants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30428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InstallMatch: technician marketplace, UAE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00600" y="2688336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274320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Self-serve onboarding + ops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92040" y="298094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InstallMatch: technician vetting + calendar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00600" y="3364992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7" name="Text 25"/>
          <p:cNvSpPr/>
          <p:nvPr/>
        </p:nvSpPr>
        <p:spPr>
          <a:xfrm>
            <a:off x="4892040" y="341985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Eligibility + payout engine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365760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InstallMatch: booking + commission payout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00600" y="4041648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0" name="Text 28"/>
          <p:cNvSpPr/>
          <p:nvPr/>
        </p:nvSpPr>
        <p:spPr>
          <a:xfrm>
            <a:off x="4892040" y="409651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30-min ops TAT (was 2 days)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92040" y="433425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InstallMatch: same-day install scheduling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00600" y="4718304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3" name="Text 31"/>
          <p:cNvSpPr/>
          <p:nvPr/>
        </p:nvSpPr>
        <p:spPr>
          <a:xfrm>
            <a:off x="4892040" y="47731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0→1 platform, multi-partner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501091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InstallMatch: 0→1 services marketplace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6291072"/>
            <a:ext cx="8229600" cy="420624"/>
          </a:xfrm>
          <a:prstGeom prst="rect">
            <a:avLst/>
          </a:prstGeom>
          <a:solidFill>
            <a:srgbClr val="EFF8FF"/>
          </a:solidFill>
          <a:ln w="19050">
            <a:solidFill>
              <a:srgbClr val="00A8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45936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"InstallMatch is the PhonePe merchant marketplace — applied to UAE installation services."  — Ajay Avaghade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Dubai Pilot to MENA Installation Platform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26464"/>
            <a:ext cx="2697480" cy="41605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5361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792224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1–2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AC Pilot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75488" y="2651760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596896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InstallMatch for AC units — Dubai only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" y="3328416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50 background-verified technicians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" y="4005072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50208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booking + live tracking MVP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" y="4681728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26864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KPIs: attach rate, NPS, return rate on installs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0" y="1426464"/>
            <a:ext cx="2697480" cy="4160520"/>
          </a:xfrm>
          <a:prstGeom prst="rect">
            <a:avLst/>
          </a:prstGeom>
          <a:solidFill>
            <a:srgbClr val="00A8E1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291840" y="15361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1792224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3–4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91840" y="2066544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H&amp;L Expansion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3310128" y="2651760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3474720" y="2596896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all installable H&amp;L: dishwashers, fans, TVs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10128" y="3328416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0" y="3273552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technician rating system + review prompts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10128" y="4005072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3950208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WhatsApp updates: "Mohammed is 10 min away"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310128" y="4681728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4626864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test: install upsell on PDP vs. post-checkout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35040" y="1426464"/>
            <a:ext cx="2697480" cy="41605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126480" y="15361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26480" y="1792224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5–6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26480" y="2066544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 Scale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6144768" y="2651760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35" name="Text 33"/>
          <p:cNvSpPr/>
          <p:nvPr/>
        </p:nvSpPr>
        <p:spPr>
          <a:xfrm>
            <a:off x="6309360" y="2596896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to KSA, Kuwait, Egypt markets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44768" y="3328416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37" name="Text 35"/>
          <p:cNvSpPr/>
          <p:nvPr/>
        </p:nvSpPr>
        <p:spPr>
          <a:xfrm>
            <a:off x="6309360" y="3273552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InstallMatch for furniture assembly category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44768" y="4005072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39" name="Text 37"/>
          <p:cNvSpPr/>
          <p:nvPr/>
        </p:nvSpPr>
        <p:spPr>
          <a:xfrm>
            <a:off x="6309360" y="3950208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Technician SLA dashboard for Amazon ops team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144768" y="4681728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41" name="Text 39"/>
          <p:cNvSpPr/>
          <p:nvPr/>
        </p:nvSpPr>
        <p:spPr>
          <a:xfrm>
            <a:off x="6309360" y="4626864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MENA installation marketplace playbook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5806440"/>
            <a:ext cx="8229600" cy="868680"/>
          </a:xfrm>
          <a:prstGeom prst="rect">
            <a:avLst/>
          </a:prstGeom>
          <a:solidFill>
            <a:srgbClr val="1A2332"/>
          </a:solidFill>
          <a:ln w="19050">
            <a:solidFill>
              <a:srgbClr val="00A8E1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40080" y="588873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need to build InstallMatch: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0080" y="6190488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 technician vetting + onboarding pipeline  ·  Calendar + booking API  ·  Live tracking integration  ·  1 PM + 2 Engineers + 1 Marketplace Ops Manager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0" y="658368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Avaghade  ·  avaghadeajay009@gmail.com  ·  +91 9561558439  ·  ajay-avaghade.github.io/Portfolio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2026-06-24T15:22:44Z</dcterms:created>
  <dcterms:modified xsi:type="dcterms:W3CDTF">2026-06-24T15:22:44Z</dcterms:modified>
</cp:coreProperties>
</file>