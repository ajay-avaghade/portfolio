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sp>
      <p:sp>
        <p:nvSpPr>
          <p:cNvPr id="3" name="Shape 1"/>
          <p:cNvSpPr/>
          <p:nvPr/>
        </p:nvSpPr>
        <p:spPr>
          <a:xfrm>
            <a:off x="-457200" y="0"/>
            <a:ext cx="2194560" cy="6858000"/>
          </a:xfrm>
          <a:prstGeom prst="line">
            <a:avLst/>
          </a:prstGeom>
          <a:noFill/>
          <a:ln w="6350">
            <a:solidFill>
              <a:srgbClr val="00539F">
                <a:alpha val="15000"/>
              </a:srgbClr>
            </a:solidFill>
            <a:prstDash val="solid"/>
          </a:ln>
        </p:spPr>
      </p:sp>
      <p:sp>
        <p:nvSpPr>
          <p:cNvPr id="4" name="Shape 2"/>
          <p:cNvSpPr/>
          <p:nvPr/>
        </p:nvSpPr>
        <p:spPr>
          <a:xfrm>
            <a:off x="1188720" y="0"/>
            <a:ext cx="2194560" cy="6858000"/>
          </a:xfrm>
          <a:prstGeom prst="line">
            <a:avLst/>
          </a:prstGeom>
          <a:noFill/>
          <a:ln w="6350">
            <a:solidFill>
              <a:srgbClr val="00539F">
                <a:alpha val="15000"/>
              </a:srgbClr>
            </a:solidFill>
            <a:prstDash val="solid"/>
          </a:ln>
        </p:spPr>
      </p:sp>
      <p:sp>
        <p:nvSpPr>
          <p:cNvPr id="5" name="Shape 3"/>
          <p:cNvSpPr/>
          <p:nvPr/>
        </p:nvSpPr>
        <p:spPr>
          <a:xfrm>
            <a:off x="2834640" y="0"/>
            <a:ext cx="2194560" cy="6858000"/>
          </a:xfrm>
          <a:prstGeom prst="line">
            <a:avLst/>
          </a:prstGeom>
          <a:noFill/>
          <a:ln w="6350">
            <a:solidFill>
              <a:srgbClr val="00539F">
                <a:alpha val="15000"/>
              </a:srgbClr>
            </a:solidFill>
            <a:prstDash val="solid"/>
          </a:ln>
        </p:spPr>
      </p:sp>
      <p:sp>
        <p:nvSpPr>
          <p:cNvPr id="6" name="Shape 4"/>
          <p:cNvSpPr/>
          <p:nvPr/>
        </p:nvSpPr>
        <p:spPr>
          <a:xfrm>
            <a:off x="4480560" y="0"/>
            <a:ext cx="2194560" cy="6858000"/>
          </a:xfrm>
          <a:prstGeom prst="line">
            <a:avLst/>
          </a:prstGeom>
          <a:noFill/>
          <a:ln w="6350">
            <a:solidFill>
              <a:srgbClr val="00539F">
                <a:alpha val="15000"/>
              </a:srgbClr>
            </a:solidFill>
            <a:prstDash val="solid"/>
          </a:ln>
        </p:spPr>
      </p:sp>
      <p:sp>
        <p:nvSpPr>
          <p:cNvPr id="7" name="Shape 5"/>
          <p:cNvSpPr/>
          <p:nvPr/>
        </p:nvSpPr>
        <p:spPr>
          <a:xfrm>
            <a:off x="6126480" y="0"/>
            <a:ext cx="2194560" cy="6858000"/>
          </a:xfrm>
          <a:prstGeom prst="line">
            <a:avLst/>
          </a:prstGeom>
          <a:noFill/>
          <a:ln w="6350">
            <a:solidFill>
              <a:srgbClr val="00539F">
                <a:alpha val="15000"/>
              </a:srgbClr>
            </a:solidFill>
            <a:prstDash val="solid"/>
          </a:ln>
        </p:spPr>
      </p:sp>
      <p:sp>
        <p:nvSpPr>
          <p:cNvPr id="8" name="Shape 6"/>
          <p:cNvSpPr/>
          <p:nvPr/>
        </p:nvSpPr>
        <p:spPr>
          <a:xfrm>
            <a:off x="7772400" y="0"/>
            <a:ext cx="2194560" cy="6858000"/>
          </a:xfrm>
          <a:prstGeom prst="line">
            <a:avLst/>
          </a:prstGeom>
          <a:noFill/>
          <a:ln w="6350">
            <a:solidFill>
              <a:srgbClr val="00539F">
                <a:alpha val="15000"/>
              </a:srgbClr>
            </a:solidFill>
            <a:prstDash val="solid"/>
          </a:ln>
        </p:spPr>
      </p:sp>
      <p:sp>
        <p:nvSpPr>
          <p:cNvPr id="9" name="Shape 7"/>
          <p:cNvSpPr/>
          <p:nvPr/>
        </p:nvSpPr>
        <p:spPr>
          <a:xfrm>
            <a:off x="0" y="0"/>
            <a:ext cx="164592" cy="5143500"/>
          </a:xfrm>
          <a:prstGeom prst="rect">
            <a:avLst/>
          </a:prstGeom>
          <a:solidFill>
            <a:srgbClr val="00539F"/>
          </a:solidFill>
          <a:ln/>
        </p:spPr>
      </p:sp>
      <p:sp>
        <p:nvSpPr>
          <p:cNvPr id="10" name="Text 8"/>
          <p:cNvSpPr/>
          <p:nvPr/>
        </p:nvSpPr>
        <p:spPr>
          <a:xfrm>
            <a:off x="320040" y="201168"/>
            <a:ext cx="8229600" cy="228600"/>
          </a:xfrm>
          <a:prstGeom prst="rect">
            <a:avLst/>
          </a:prstGeom>
          <a:noFill/>
          <a:ln/>
        </p:spPr>
        <p:txBody>
          <a:bodyPr wrap="square" rtlCol="0" anchor="ctr"/>
          <a:lstStyle/>
          <a:p>
            <a:pPr indent="0" marL="0">
              <a:buNone/>
            </a:pPr>
            <a:r>
              <a:rPr lang="en-US" sz="800" b="1" spc="300" kern="0" dirty="0">
                <a:solidFill>
                  <a:srgbClr val="6B7A99"/>
                </a:solidFill>
                <a:latin typeface="Calibri" pitchFamily="34" charset="0"/>
                <a:ea typeface="Calibri" pitchFamily="34" charset="-122"/>
                <a:cs typeface="Calibri" pitchFamily="34" charset="-120"/>
              </a:rPr>
              <a:t>TESCO TECHNOLOGY · PAYMENTS PLATFORM · CASE STUDY 02</a:t>
            </a:r>
            <a:endParaRPr lang="en-US" sz="800" dirty="0"/>
          </a:p>
        </p:txBody>
      </p:sp>
      <p:sp>
        <p:nvSpPr>
          <p:cNvPr id="11" name="Text 9"/>
          <p:cNvSpPr/>
          <p:nvPr/>
        </p:nvSpPr>
        <p:spPr>
          <a:xfrm>
            <a:off x="320040" y="640080"/>
            <a:ext cx="6400800" cy="1097280"/>
          </a:xfrm>
          <a:prstGeom prst="rect">
            <a:avLst/>
          </a:prstGeom>
          <a:noFill/>
          <a:ln/>
        </p:spPr>
        <p:txBody>
          <a:bodyPr wrap="square"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WalletBridge</a:t>
            </a:r>
            <a:endParaRPr lang="en-US" sz="5200" dirty="0"/>
          </a:p>
        </p:txBody>
      </p:sp>
      <p:sp>
        <p:nvSpPr>
          <p:cNvPr id="12" name="Text 10"/>
          <p:cNvSpPr/>
          <p:nvPr/>
        </p:nvSpPr>
        <p:spPr>
          <a:xfrm>
            <a:off x="320040" y="1691640"/>
            <a:ext cx="6858000" cy="457200"/>
          </a:xfrm>
          <a:prstGeom prst="rect">
            <a:avLst/>
          </a:prstGeom>
          <a:noFill/>
          <a:ln/>
        </p:spPr>
        <p:txBody>
          <a:bodyPr wrap="square" rtlCol="0" anchor="ctr"/>
          <a:lstStyle/>
          <a:p>
            <a:pPr indent="0" marL="0">
              <a:buNone/>
            </a:pPr>
            <a:r>
              <a:rPr lang="en-US" sz="1800" i="1" dirty="0">
                <a:solidFill>
                  <a:srgbClr val="F59E0B"/>
                </a:solidFill>
                <a:latin typeface="Calibri" pitchFamily="34" charset="0"/>
                <a:ea typeface="Calibri" pitchFamily="34" charset="-122"/>
                <a:cs typeface="Calibri" pitchFamily="34" charset="-120"/>
              </a:rPr>
              <a:t>Self-Serve Payment Method Integration — 6 Weeks to 10 Days</a:t>
            </a:r>
            <a:endParaRPr lang="en-US" sz="1800" dirty="0"/>
          </a:p>
        </p:txBody>
      </p:sp>
      <p:sp>
        <p:nvSpPr>
          <p:cNvPr id="13" name="Text 11"/>
          <p:cNvSpPr/>
          <p:nvPr/>
        </p:nvSpPr>
        <p:spPr>
          <a:xfrm>
            <a:off x="320040" y="2286000"/>
            <a:ext cx="4572000" cy="274320"/>
          </a:xfrm>
          <a:prstGeom prst="rect">
            <a:avLst/>
          </a:prstGeom>
          <a:noFill/>
          <a:ln/>
        </p:spPr>
        <p:txBody>
          <a:bodyPr wrap="square" rtlCol="0" anchor="ctr"/>
          <a:lstStyle/>
          <a:p>
            <a:pPr indent="0" marL="0">
              <a:buNone/>
            </a:pPr>
            <a:r>
              <a:rPr lang="en-US" sz="1100" dirty="0">
                <a:solidFill>
                  <a:srgbClr val="6B7A99"/>
                </a:solidFill>
                <a:latin typeface="Calibri" pitchFamily="34" charset="0"/>
                <a:ea typeface="Calibri" pitchFamily="34" charset="-122"/>
                <a:cs typeface="Calibri" pitchFamily="34" charset="-120"/>
              </a:rPr>
              <a:t>Ajay Avaghade · Product Manager</a:t>
            </a:r>
            <a:endParaRPr lang="en-US" sz="1100" dirty="0"/>
          </a:p>
        </p:txBody>
      </p:sp>
      <p:sp>
        <p:nvSpPr>
          <p:cNvPr id="14" name="Shape 12"/>
          <p:cNvSpPr/>
          <p:nvPr/>
        </p:nvSpPr>
        <p:spPr>
          <a:xfrm>
            <a:off x="6583680" y="5120640"/>
            <a:ext cx="2286000" cy="1371600"/>
          </a:xfrm>
          <a:prstGeom prst="roundRect">
            <a:avLst>
              <a:gd name="adj" fmla="val 6667"/>
            </a:avLst>
          </a:prstGeom>
          <a:solidFill>
            <a:srgbClr val="00539F"/>
          </a:solidFill>
          <a:ln/>
          <a:effectLst>
            <a:outerShdw sx="100000" sy="100000" kx="0" ky="0" algn="bl" rotWithShape="0" blurRad="50800" dist="25400" dir="2700000">
              <a:srgbClr val="000000">
                <a:alpha val="13000"/>
              </a:srgbClr>
            </a:outerShdw>
          </a:effectLst>
        </p:spPr>
      </p:sp>
      <p:sp>
        <p:nvSpPr>
          <p:cNvPr id="15" name="Text 13"/>
          <p:cNvSpPr/>
          <p:nvPr/>
        </p:nvSpPr>
        <p:spPr>
          <a:xfrm>
            <a:off x="6583680" y="5166360"/>
            <a:ext cx="2286000" cy="6858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−75%</a:t>
            </a:r>
            <a:endParaRPr lang="en-US" sz="3600" dirty="0"/>
          </a:p>
        </p:txBody>
      </p:sp>
      <p:sp>
        <p:nvSpPr>
          <p:cNvPr id="16" name="Text 14"/>
          <p:cNvSpPr/>
          <p:nvPr/>
        </p:nvSpPr>
        <p:spPr>
          <a:xfrm>
            <a:off x="6583680" y="5779008"/>
            <a:ext cx="2286000" cy="502920"/>
          </a:xfrm>
          <a:prstGeom prst="rect">
            <a:avLst/>
          </a:prstGeom>
          <a:noFill/>
          <a:ln/>
        </p:spPr>
        <p:txBody>
          <a:bodyPr wrap="square" rtlCol="0" anchor="ctr"/>
          <a:lstStyle/>
          <a:p>
            <a:pPr algn="ctr" indent="0" marL="0">
              <a:buNone/>
            </a:pPr>
            <a:r>
              <a:rPr lang="en-US" sz="900" dirty="0">
                <a:solidFill>
                  <a:srgbClr val="A8C4E0"/>
                </a:solidFill>
                <a:latin typeface="Calibri" pitchFamily="34" charset="0"/>
                <a:ea typeface="Calibri" pitchFamily="34" charset="-122"/>
                <a:cs typeface="Calibri" pitchFamily="34" charset="-120"/>
              </a:rPr>
              <a:t>integration time per</a:t>
            </a:r>
            <a:endParaRPr lang="en-US" sz="900" dirty="0"/>
          </a:p>
          <a:p>
            <a:pPr algn="ctr" indent="0" marL="0">
              <a:buNone/>
            </a:pPr>
            <a:r>
              <a:rPr lang="en-US" sz="900" dirty="0">
                <a:solidFill>
                  <a:srgbClr val="A8C4E0"/>
                </a:solidFill>
                <a:latin typeface="Calibri" pitchFamily="34" charset="0"/>
                <a:ea typeface="Calibri" pitchFamily="34" charset="-122"/>
                <a:cs typeface="Calibri" pitchFamily="34" charset="-120"/>
              </a:rPr>
              <a:t>new payment method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sp>
      <p:sp>
        <p:nvSpPr>
          <p:cNvPr id="3" name="Shape 1"/>
          <p:cNvSpPr/>
          <p:nvPr/>
        </p:nvSpPr>
        <p:spPr>
          <a:xfrm>
            <a:off x="0" y="0"/>
            <a:ext cx="109728" cy="5143500"/>
          </a:xfrm>
          <a:prstGeom prst="rect">
            <a:avLst/>
          </a:prstGeom>
          <a:solidFill>
            <a:srgbClr val="E2001A"/>
          </a:solidFill>
          <a:ln/>
        </p:spPr>
      </p:sp>
      <p:sp>
        <p:nvSpPr>
          <p:cNvPr id="4" name="Text 2"/>
          <p:cNvSpPr/>
          <p:nvPr/>
        </p:nvSpPr>
        <p:spPr>
          <a:xfrm>
            <a:off x="274320" y="201168"/>
            <a:ext cx="3657600" cy="201168"/>
          </a:xfrm>
          <a:prstGeom prst="rect">
            <a:avLst/>
          </a:prstGeom>
          <a:noFill/>
          <a:ln/>
        </p:spPr>
        <p:txBody>
          <a:bodyPr wrap="square" rtlCol="0" anchor="ctr"/>
          <a:lstStyle/>
          <a:p>
            <a:pPr indent="0" marL="0">
              <a:buNone/>
            </a:pPr>
            <a:r>
              <a:rPr lang="en-US" sz="900" b="1" spc="300" kern="0" dirty="0">
                <a:solidFill>
                  <a:srgbClr val="E2001A"/>
                </a:solidFill>
                <a:latin typeface="Calibri" pitchFamily="34" charset="0"/>
                <a:ea typeface="Calibri" pitchFamily="34" charset="-122"/>
                <a:cs typeface="Calibri" pitchFamily="34" charset="-120"/>
              </a:rPr>
              <a:t>THE PROBLEM</a:t>
            </a:r>
            <a:endParaRPr lang="en-US" sz="900" dirty="0"/>
          </a:p>
        </p:txBody>
      </p:sp>
      <p:sp>
        <p:nvSpPr>
          <p:cNvPr id="5" name="Text 3"/>
          <p:cNvSpPr/>
          <p:nvPr/>
        </p:nvSpPr>
        <p:spPr>
          <a:xfrm>
            <a:off x="274320" y="457200"/>
            <a:ext cx="8595360" cy="10058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Every New Payment Method Requires a Full Engineering Sprint — Leaving BNPL, New Wallets, and Revenue Sitting in the Backlog</a:t>
            </a:r>
            <a:endParaRPr lang="en-US" sz="2200" dirty="0"/>
          </a:p>
        </p:txBody>
      </p:sp>
      <p:sp>
        <p:nvSpPr>
          <p:cNvPr id="6" name="Shape 4"/>
          <p:cNvSpPr/>
          <p:nvPr/>
        </p:nvSpPr>
        <p:spPr>
          <a:xfrm>
            <a:off x="274320" y="1737360"/>
            <a:ext cx="2743200" cy="2743200"/>
          </a:xfrm>
          <a:prstGeom prst="roundRect">
            <a:avLst>
              <a:gd name="adj" fmla="val 3333"/>
            </a:avLst>
          </a:prstGeom>
          <a:solidFill>
            <a:srgbClr val="102040"/>
          </a:solidFill>
          <a:ln/>
          <a:effectLst>
            <a:outerShdw sx="100000" sy="100000" kx="0" ky="0" algn="bl" rotWithShape="0" blurRad="50800" dist="25400" dir="2700000">
              <a:srgbClr val="000000">
                <a:alpha val="13000"/>
              </a:srgbClr>
            </a:outerShdw>
          </a:effectLst>
        </p:spPr>
      </p:sp>
      <p:sp>
        <p:nvSpPr>
          <p:cNvPr id="7" name="Text 5"/>
          <p:cNvSpPr/>
          <p:nvPr/>
        </p:nvSpPr>
        <p:spPr>
          <a:xfrm>
            <a:off x="274320" y="1828800"/>
            <a:ext cx="27432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8" name="Text 6"/>
          <p:cNvSpPr/>
          <p:nvPr/>
        </p:nvSpPr>
        <p:spPr>
          <a:xfrm>
            <a:off x="274320" y="2331720"/>
            <a:ext cx="2743200" cy="502920"/>
          </a:xfrm>
          <a:prstGeom prst="rect">
            <a:avLst/>
          </a:prstGeom>
          <a:noFill/>
          <a:ln/>
        </p:spPr>
        <p:txBody>
          <a:bodyPr wrap="square" rtlCol="0" anchor="ctr"/>
          <a:lstStyle/>
          <a:p>
            <a:pPr algn="ctr" indent="0" marL="0">
              <a:buNone/>
            </a:pPr>
            <a:r>
              <a:rPr lang="en-US" sz="2600" b="1" dirty="0">
                <a:solidFill>
                  <a:srgbClr val="00539F"/>
                </a:solidFill>
                <a:latin typeface="Calibri" pitchFamily="34" charset="0"/>
                <a:ea typeface="Calibri" pitchFamily="34" charset="-122"/>
                <a:cs typeface="Calibri" pitchFamily="34" charset="-120"/>
              </a:rPr>
              <a:t>6–8 Weeks</a:t>
            </a:r>
            <a:endParaRPr lang="en-US" sz="2600" dirty="0"/>
          </a:p>
        </p:txBody>
      </p:sp>
      <p:sp>
        <p:nvSpPr>
          <p:cNvPr id="9" name="Text 7"/>
          <p:cNvSpPr/>
          <p:nvPr/>
        </p:nvSpPr>
        <p:spPr>
          <a:xfrm>
            <a:off x="274320" y="2834640"/>
            <a:ext cx="2743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 Integration</a:t>
            </a:r>
            <a:endParaRPr lang="en-US" sz="1100" dirty="0"/>
          </a:p>
        </p:txBody>
      </p:sp>
      <p:sp>
        <p:nvSpPr>
          <p:cNvPr id="10" name="Text 8"/>
          <p:cNvSpPr/>
          <p:nvPr/>
        </p:nvSpPr>
        <p:spPr>
          <a:xfrm>
            <a:off x="384048" y="3127248"/>
            <a:ext cx="2523744" cy="1005840"/>
          </a:xfrm>
          <a:prstGeom prst="rect">
            <a:avLst/>
          </a:prstGeom>
          <a:noFill/>
          <a:ln/>
        </p:spPr>
        <p:txBody>
          <a:bodyPr wrap="square" rtlCol="0" anchor="t"/>
          <a:lstStyle/>
          <a:p>
            <a:pPr algn="ctr" indent="0" marL="0">
              <a:buNone/>
            </a:pPr>
            <a:r>
              <a:rPr lang="en-US" sz="1000" dirty="0">
                <a:solidFill>
                  <a:srgbClr val="6B7A99"/>
                </a:solidFill>
                <a:latin typeface="Calibri" pitchFamily="34" charset="0"/>
                <a:ea typeface="Calibri" pitchFamily="34" charset="-122"/>
                <a:cs typeface="Calibri" pitchFamily="34" charset="-120"/>
              </a:rPr>
              <a:t>Separate auth flows, webhook schemas, and settlement formats for every PSP/wallet</a:t>
            </a:r>
            <a:endParaRPr lang="en-US" sz="1000" dirty="0"/>
          </a:p>
        </p:txBody>
      </p:sp>
      <p:sp>
        <p:nvSpPr>
          <p:cNvPr id="11" name="Shape 9"/>
          <p:cNvSpPr/>
          <p:nvPr/>
        </p:nvSpPr>
        <p:spPr>
          <a:xfrm>
            <a:off x="3246120" y="1737360"/>
            <a:ext cx="2743200" cy="2743200"/>
          </a:xfrm>
          <a:prstGeom prst="roundRect">
            <a:avLst>
              <a:gd name="adj" fmla="val 3333"/>
            </a:avLst>
          </a:prstGeom>
          <a:solidFill>
            <a:srgbClr val="102040"/>
          </a:solidFill>
          <a:ln/>
          <a:effectLst>
            <a:outerShdw sx="100000" sy="100000" kx="0" ky="0" algn="bl" rotWithShape="0" blurRad="50800" dist="25400" dir="2700000">
              <a:srgbClr val="000000">
                <a:alpha val="13000"/>
              </a:srgbClr>
            </a:outerShdw>
          </a:effectLst>
        </p:spPr>
      </p:sp>
      <p:sp>
        <p:nvSpPr>
          <p:cNvPr id="12" name="Text 10"/>
          <p:cNvSpPr/>
          <p:nvPr/>
        </p:nvSpPr>
        <p:spPr>
          <a:xfrm>
            <a:off x="3246120" y="1828800"/>
            <a:ext cx="27432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3" name="Text 11"/>
          <p:cNvSpPr/>
          <p:nvPr/>
        </p:nvSpPr>
        <p:spPr>
          <a:xfrm>
            <a:off x="3246120" y="2331720"/>
            <a:ext cx="2743200" cy="502920"/>
          </a:xfrm>
          <a:prstGeom prst="rect">
            <a:avLst/>
          </a:prstGeom>
          <a:noFill/>
          <a:ln/>
        </p:spPr>
        <p:txBody>
          <a:bodyPr wrap="square" rtlCol="0" anchor="ctr"/>
          <a:lstStyle/>
          <a:p>
            <a:pPr algn="ctr" indent="0" marL="0">
              <a:buNone/>
            </a:pPr>
            <a:r>
              <a:rPr lang="en-US" sz="2600" b="1" dirty="0">
                <a:solidFill>
                  <a:srgbClr val="00539F"/>
                </a:solidFill>
                <a:latin typeface="Calibri" pitchFamily="34" charset="0"/>
                <a:ea typeface="Calibri" pitchFamily="34" charset="-122"/>
                <a:cs typeface="Calibri" pitchFamily="34" charset="-120"/>
              </a:rPr>
              <a:t>4 Months</a:t>
            </a:r>
            <a:endParaRPr lang="en-US" sz="2600" dirty="0"/>
          </a:p>
        </p:txBody>
      </p:sp>
      <p:sp>
        <p:nvSpPr>
          <p:cNvPr id="14" name="Text 12"/>
          <p:cNvSpPr/>
          <p:nvPr/>
        </p:nvSpPr>
        <p:spPr>
          <a:xfrm>
            <a:off x="3246120" y="2834640"/>
            <a:ext cx="2743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Klarna in Backlog</a:t>
            </a:r>
            <a:endParaRPr lang="en-US" sz="1100" dirty="0"/>
          </a:p>
        </p:txBody>
      </p:sp>
      <p:sp>
        <p:nvSpPr>
          <p:cNvPr id="15" name="Text 13"/>
          <p:cNvSpPr/>
          <p:nvPr/>
        </p:nvSpPr>
        <p:spPr>
          <a:xfrm>
            <a:off x="3355848" y="3127248"/>
            <a:ext cx="2523744" cy="1005840"/>
          </a:xfrm>
          <a:prstGeom prst="rect">
            <a:avLst/>
          </a:prstGeom>
          <a:noFill/>
          <a:ln/>
        </p:spPr>
        <p:txBody>
          <a:bodyPr wrap="square" rtlCol="0" anchor="t"/>
          <a:lstStyle/>
          <a:p>
            <a:pPr algn="ctr" indent="0" marL="0">
              <a:buNone/>
            </a:pPr>
            <a:r>
              <a:rPr lang="en-US" sz="1000" dirty="0">
                <a:solidFill>
                  <a:srgbClr val="6B7A99"/>
                </a:solidFill>
                <a:latin typeface="Calibri" pitchFamily="34" charset="0"/>
                <a:ea typeface="Calibri" pitchFamily="34" charset="-122"/>
                <a:cs typeface="Calibri" pitchFamily="34" charset="-120"/>
              </a:rPr>
              <a:t>BNPL unlocks +23% conversion at £150+ baskets. Queued for engineering for 4 months</a:t>
            </a:r>
            <a:endParaRPr lang="en-US" sz="1000" dirty="0"/>
          </a:p>
        </p:txBody>
      </p:sp>
      <p:sp>
        <p:nvSpPr>
          <p:cNvPr id="16" name="Shape 14"/>
          <p:cNvSpPr/>
          <p:nvPr/>
        </p:nvSpPr>
        <p:spPr>
          <a:xfrm>
            <a:off x="6217920" y="1737360"/>
            <a:ext cx="2743200" cy="2743200"/>
          </a:xfrm>
          <a:prstGeom prst="roundRect">
            <a:avLst>
              <a:gd name="adj" fmla="val 3333"/>
            </a:avLst>
          </a:prstGeom>
          <a:solidFill>
            <a:srgbClr val="102040"/>
          </a:solidFill>
          <a:ln/>
          <a:effectLst>
            <a:outerShdw sx="100000" sy="100000" kx="0" ky="0" algn="bl" rotWithShape="0" blurRad="50800" dist="25400" dir="2700000">
              <a:srgbClr val="000000">
                <a:alpha val="13000"/>
              </a:srgbClr>
            </a:outerShdw>
          </a:effectLst>
        </p:spPr>
      </p:sp>
      <p:sp>
        <p:nvSpPr>
          <p:cNvPr id="17" name="Text 15"/>
          <p:cNvSpPr/>
          <p:nvPr/>
        </p:nvSpPr>
        <p:spPr>
          <a:xfrm>
            <a:off x="6217920" y="1828800"/>
            <a:ext cx="27432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8" name="Text 16"/>
          <p:cNvSpPr/>
          <p:nvPr/>
        </p:nvSpPr>
        <p:spPr>
          <a:xfrm>
            <a:off x="6217920" y="2331720"/>
            <a:ext cx="2743200" cy="502920"/>
          </a:xfrm>
          <a:prstGeom prst="rect">
            <a:avLst/>
          </a:prstGeom>
          <a:noFill/>
          <a:ln/>
        </p:spPr>
        <p:txBody>
          <a:bodyPr wrap="square" rtlCol="0" anchor="ctr"/>
          <a:lstStyle/>
          <a:p>
            <a:pPr algn="ctr" indent="0" marL="0">
              <a:buNone/>
            </a:pPr>
            <a:r>
              <a:rPr lang="en-US" sz="2600" b="1" dirty="0">
                <a:solidFill>
                  <a:srgbClr val="00539F"/>
                </a:solidFill>
                <a:latin typeface="Calibri" pitchFamily="34" charset="0"/>
                <a:ea typeface="Calibri" pitchFamily="34" charset="-122"/>
                <a:cs typeface="Calibri" pitchFamily="34" charset="-120"/>
              </a:rPr>
              <a:t>5 Portals</a:t>
            </a:r>
            <a:endParaRPr lang="en-US" sz="2600" dirty="0"/>
          </a:p>
        </p:txBody>
      </p:sp>
      <p:sp>
        <p:nvSpPr>
          <p:cNvPr id="19" name="Text 17"/>
          <p:cNvSpPr/>
          <p:nvPr/>
        </p:nvSpPr>
        <p:spPr>
          <a:xfrm>
            <a:off x="6217920" y="2834640"/>
            <a:ext cx="2743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Zero Shared Health View</a:t>
            </a:r>
            <a:endParaRPr lang="en-US" sz="1100" dirty="0"/>
          </a:p>
        </p:txBody>
      </p:sp>
      <p:sp>
        <p:nvSpPr>
          <p:cNvPr id="20" name="Text 18"/>
          <p:cNvSpPr/>
          <p:nvPr/>
        </p:nvSpPr>
        <p:spPr>
          <a:xfrm>
            <a:off x="6327648" y="3127248"/>
            <a:ext cx="2523744" cy="1005840"/>
          </a:xfrm>
          <a:prstGeom prst="rect">
            <a:avLst/>
          </a:prstGeom>
          <a:noFill/>
          <a:ln/>
        </p:spPr>
        <p:txBody>
          <a:bodyPr wrap="square" rtlCol="0" anchor="t"/>
          <a:lstStyle/>
          <a:p>
            <a:pPr algn="ctr" indent="0" marL="0">
              <a:buNone/>
            </a:pPr>
            <a:r>
              <a:rPr lang="en-US" sz="1000" dirty="0">
                <a:solidFill>
                  <a:srgbClr val="6B7A99"/>
                </a:solidFill>
                <a:latin typeface="Calibri" pitchFamily="34" charset="0"/>
                <a:ea typeface="Calibri" pitchFamily="34" charset="-122"/>
                <a:cs typeface="Calibri" pitchFamily="34" charset="-120"/>
              </a:rPr>
              <a:t>Ops monitors each payment method via separate PSP portals. No consolidated status page</a:t>
            </a:r>
            <a:endParaRPr lang="en-US" sz="1000" dirty="0"/>
          </a:p>
        </p:txBody>
      </p:sp>
      <p:sp>
        <p:nvSpPr>
          <p:cNvPr id="21" name="Shape 19"/>
          <p:cNvSpPr/>
          <p:nvPr/>
        </p:nvSpPr>
        <p:spPr>
          <a:xfrm>
            <a:off x="274320" y="4709160"/>
            <a:ext cx="8595360" cy="868680"/>
          </a:xfrm>
          <a:prstGeom prst="roundRect">
            <a:avLst>
              <a:gd name="adj" fmla="val 6316"/>
            </a:avLst>
          </a:prstGeom>
          <a:solidFill>
            <a:srgbClr val="0D2040"/>
          </a:solidFill>
          <a:ln/>
        </p:spPr>
      </p:sp>
      <p:sp>
        <p:nvSpPr>
          <p:cNvPr id="22" name="Text 20"/>
          <p:cNvSpPr/>
          <p:nvPr/>
        </p:nvSpPr>
        <p:spPr>
          <a:xfrm>
            <a:off x="457200" y="4773168"/>
            <a:ext cx="8229600" cy="731520"/>
          </a:xfrm>
          <a:prstGeom prst="rect">
            <a:avLst/>
          </a:prstGeom>
          <a:noFill/>
          <a:ln/>
        </p:spPr>
        <p:txBody>
          <a:bodyPr wrap="square" rtlCol="0" anchor="ctr"/>
          <a:lstStyle/>
          <a:p>
            <a:pPr indent="0" marL="0">
              <a:buNone/>
            </a:pPr>
            <a:r>
              <a:rPr lang="en-US" sz="1000" i="1" dirty="0">
                <a:solidFill>
                  <a:srgbClr val="6B7A99"/>
                </a:solidFill>
                <a:latin typeface="Calibri" pitchFamily="34" charset="0"/>
                <a:ea typeface="Calibri" pitchFamily="34" charset="-122"/>
                <a:cs typeface="Calibri" pitchFamily="34" charset="-120"/>
              </a:rPr>
              <a:t>Root cause: Each payment method is treated as a bespoke engineering project. No abstraction layer. No self-serve. No shared health monitoring. The Payments API team spends weeks on integrations it should take days to ship.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109728" cy="5143500"/>
          </a:xfrm>
          <a:prstGeom prst="rect">
            <a:avLst/>
          </a:prstGeom>
          <a:solidFill>
            <a:srgbClr val="00539F"/>
          </a:solidFill>
          <a:ln/>
        </p:spPr>
      </p:sp>
      <p:sp>
        <p:nvSpPr>
          <p:cNvPr id="4" name="Text 2"/>
          <p:cNvSpPr/>
          <p:nvPr/>
        </p:nvSpPr>
        <p:spPr>
          <a:xfrm>
            <a:off x="274320" y="201168"/>
            <a:ext cx="3657600" cy="201168"/>
          </a:xfrm>
          <a:prstGeom prst="rect">
            <a:avLst/>
          </a:prstGeom>
          <a:noFill/>
          <a:ln/>
        </p:spPr>
        <p:txBody>
          <a:bodyPr wrap="square" rtlCol="0" anchor="ctr"/>
          <a:lstStyle/>
          <a:p>
            <a:pPr indent="0" marL="0">
              <a:buNone/>
            </a:pPr>
            <a:r>
              <a:rPr lang="en-US" sz="900" b="1" spc="300" kern="0" dirty="0">
                <a:solidFill>
                  <a:srgbClr val="00539F"/>
                </a:solidFill>
                <a:latin typeface="Calibri" pitchFamily="34" charset="0"/>
                <a:ea typeface="Calibri" pitchFamily="34" charset="-122"/>
                <a:cs typeface="Calibri" pitchFamily="34" charset="-120"/>
              </a:rPr>
              <a:t>THE INSIGHT</a:t>
            </a:r>
            <a:endParaRPr lang="en-US" sz="900" dirty="0"/>
          </a:p>
        </p:txBody>
      </p:sp>
      <p:sp>
        <p:nvSpPr>
          <p:cNvPr id="5" name="Text 3"/>
          <p:cNvSpPr/>
          <p:nvPr/>
        </p:nvSpPr>
        <p:spPr>
          <a:xfrm>
            <a:off x="274320" y="457200"/>
            <a:ext cx="8595360" cy="822960"/>
          </a:xfrm>
          <a:prstGeom prst="rect">
            <a:avLst/>
          </a:prstGeom>
          <a:noFill/>
          <a:ln/>
        </p:spPr>
        <p:txBody>
          <a:bodyPr wrap="square" rtlCol="0" anchor="ctr"/>
          <a:lstStyle/>
          <a:p>
            <a:pPr indent="0" marL="0">
              <a:buNone/>
            </a:pPr>
            <a:r>
              <a:rPr lang="en-US" sz="2600" b="1" dirty="0">
                <a:solidFill>
                  <a:srgbClr val="0A1628"/>
                </a:solidFill>
                <a:latin typeface="Calibri" pitchFamily="34" charset="0"/>
                <a:ea typeface="Calibri" pitchFamily="34" charset="-122"/>
                <a:cs typeface="Calibri" pitchFamily="34" charset="-120"/>
              </a:rPr>
              <a:t>Payment Methods Are Config, Not Code — Treat Them That Way</a:t>
            </a:r>
            <a:endParaRPr lang="en-US" sz="2600" dirty="0"/>
          </a:p>
        </p:txBody>
      </p:sp>
      <p:sp>
        <p:nvSpPr>
          <p:cNvPr id="6" name="Shape 4"/>
          <p:cNvSpPr/>
          <p:nvPr/>
        </p:nvSpPr>
        <p:spPr>
          <a:xfrm>
            <a:off x="274320" y="1508760"/>
            <a:ext cx="4114800" cy="3474720"/>
          </a:xfrm>
          <a:prstGeom prst="roundRect">
            <a:avLst>
              <a:gd name="adj" fmla="val 2632"/>
            </a:avLst>
          </a:prstGeom>
          <a:solidFill>
            <a:srgbClr val="F8F9FA"/>
          </a:solidFill>
          <a:ln w="6350">
            <a:solidFill>
              <a:srgbClr val="E5E7EB"/>
            </a:solidFill>
            <a:prstDash val="solid"/>
          </a:ln>
        </p:spPr>
      </p:sp>
      <p:sp>
        <p:nvSpPr>
          <p:cNvPr id="7" name="Text 5"/>
          <p:cNvSpPr/>
          <p:nvPr/>
        </p:nvSpPr>
        <p:spPr>
          <a:xfrm>
            <a:off x="457200" y="1645920"/>
            <a:ext cx="3749040" cy="320040"/>
          </a:xfrm>
          <a:prstGeom prst="rect">
            <a:avLst/>
          </a:prstGeom>
          <a:noFill/>
          <a:ln/>
        </p:spPr>
        <p:txBody>
          <a:bodyPr wrap="square" rtlCol="0" anchor="ctr"/>
          <a:lstStyle/>
          <a:p>
            <a:pPr indent="0" marL="0">
              <a:buNone/>
            </a:pPr>
            <a:r>
              <a:rPr lang="en-US" sz="1300" b="1" dirty="0">
                <a:solidFill>
                  <a:srgbClr val="991B1B"/>
                </a:solidFill>
                <a:latin typeface="Calibri" pitchFamily="34" charset="0"/>
                <a:ea typeface="Calibri" pitchFamily="34" charset="-122"/>
                <a:cs typeface="Calibri" pitchFamily="34" charset="-120"/>
              </a:rPr>
              <a:t>❌  Today</a:t>
            </a:r>
            <a:endParaRPr lang="en-US" sz="1300" dirty="0"/>
          </a:p>
        </p:txBody>
      </p:sp>
      <p:sp>
        <p:nvSpPr>
          <p:cNvPr id="8" name="Text 6"/>
          <p:cNvSpPr/>
          <p:nvPr/>
        </p:nvSpPr>
        <p:spPr>
          <a:xfrm>
            <a:off x="457200" y="2057400"/>
            <a:ext cx="374904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Engineering sprint per method (6–8 weeks)</a:t>
            </a:r>
            <a:endParaRPr lang="en-US" sz="1100" dirty="0"/>
          </a:p>
        </p:txBody>
      </p:sp>
      <p:sp>
        <p:nvSpPr>
          <p:cNvPr id="9" name="Text 7"/>
          <p:cNvSpPr/>
          <p:nvPr/>
        </p:nvSpPr>
        <p:spPr>
          <a:xfrm>
            <a:off x="457200" y="2560320"/>
            <a:ext cx="374904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No sandbox — test in staging or production</a:t>
            </a:r>
            <a:endParaRPr lang="en-US" sz="1100" dirty="0"/>
          </a:p>
        </p:txBody>
      </p:sp>
      <p:sp>
        <p:nvSpPr>
          <p:cNvPr id="10" name="Text 8"/>
          <p:cNvSpPr/>
          <p:nvPr/>
        </p:nvSpPr>
        <p:spPr>
          <a:xfrm>
            <a:off x="457200" y="3063240"/>
            <a:ext cx="374904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PSP health checked via 5 separate portals</a:t>
            </a:r>
            <a:endParaRPr lang="en-US" sz="1100" dirty="0"/>
          </a:p>
        </p:txBody>
      </p:sp>
      <p:sp>
        <p:nvSpPr>
          <p:cNvPr id="11" name="Text 9"/>
          <p:cNvSpPr/>
          <p:nvPr/>
        </p:nvSpPr>
        <p:spPr>
          <a:xfrm>
            <a:off x="457200" y="3566160"/>
            <a:ext cx="374904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New method = queued behind feature work</a:t>
            </a:r>
            <a:endParaRPr lang="en-US" sz="1100" dirty="0"/>
          </a:p>
        </p:txBody>
      </p:sp>
      <p:sp>
        <p:nvSpPr>
          <p:cNvPr id="12" name="Text 10"/>
          <p:cNvSpPr/>
          <p:nvPr/>
        </p:nvSpPr>
        <p:spPr>
          <a:xfrm>
            <a:off x="457200" y="4069080"/>
            <a:ext cx="374904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Auth rate degradation detected via complaints</a:t>
            </a:r>
            <a:endParaRPr lang="en-US" sz="1100" dirty="0"/>
          </a:p>
        </p:txBody>
      </p:sp>
      <p:sp>
        <p:nvSpPr>
          <p:cNvPr id="13" name="Shape 11"/>
          <p:cNvSpPr/>
          <p:nvPr/>
        </p:nvSpPr>
        <p:spPr>
          <a:xfrm>
            <a:off x="4224528" y="2926080"/>
            <a:ext cx="512064" cy="512064"/>
          </a:xfrm>
          <a:prstGeom prst="ellipse">
            <a:avLst/>
          </a:prstGeom>
          <a:solidFill>
            <a:srgbClr val="00539F"/>
          </a:solidFill>
          <a:ln/>
        </p:spPr>
      </p:sp>
      <p:sp>
        <p:nvSpPr>
          <p:cNvPr id="14" name="Text 12"/>
          <p:cNvSpPr/>
          <p:nvPr/>
        </p:nvSpPr>
        <p:spPr>
          <a:xfrm>
            <a:off x="4224528" y="2926080"/>
            <a:ext cx="512064" cy="51206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VS</a:t>
            </a:r>
            <a:endParaRPr lang="en-US" sz="900" dirty="0"/>
          </a:p>
        </p:txBody>
      </p:sp>
      <p:sp>
        <p:nvSpPr>
          <p:cNvPr id="15" name="Shape 13"/>
          <p:cNvSpPr/>
          <p:nvPr/>
        </p:nvSpPr>
        <p:spPr>
          <a:xfrm>
            <a:off x="4572000" y="1508760"/>
            <a:ext cx="4297680" cy="3474720"/>
          </a:xfrm>
          <a:prstGeom prst="roundRect">
            <a:avLst>
              <a:gd name="adj" fmla="val 2632"/>
            </a:avLst>
          </a:prstGeom>
          <a:solidFill>
            <a:srgbClr val="EFF6FF"/>
          </a:solidFill>
          <a:ln w="9525">
            <a:solidFill>
              <a:srgbClr val="00539F"/>
            </a:solidFill>
            <a:prstDash val="solid"/>
          </a:ln>
        </p:spPr>
      </p:sp>
      <p:sp>
        <p:nvSpPr>
          <p:cNvPr id="16" name="Text 14"/>
          <p:cNvSpPr/>
          <p:nvPr/>
        </p:nvSpPr>
        <p:spPr>
          <a:xfrm>
            <a:off x="4709160" y="1645920"/>
            <a:ext cx="3931920" cy="320040"/>
          </a:xfrm>
          <a:prstGeom prst="rect">
            <a:avLst/>
          </a:prstGeom>
          <a:noFill/>
          <a:ln/>
        </p:spPr>
        <p:txBody>
          <a:bodyPr wrap="square" rtlCol="0" anchor="ctr"/>
          <a:lstStyle/>
          <a:p>
            <a:pPr indent="0" marL="0">
              <a:buNone/>
            </a:pPr>
            <a:r>
              <a:rPr lang="en-US" sz="1300" b="1" dirty="0">
                <a:solidFill>
                  <a:srgbClr val="00539F"/>
                </a:solidFill>
                <a:latin typeface="Calibri" pitchFamily="34" charset="0"/>
                <a:ea typeface="Calibri" pitchFamily="34" charset="-122"/>
                <a:cs typeface="Calibri" pitchFamily="34" charset="-120"/>
              </a:rPr>
              <a:t>✅  WalletBridge</a:t>
            </a:r>
            <a:endParaRPr lang="en-US" sz="1300" dirty="0"/>
          </a:p>
        </p:txBody>
      </p:sp>
      <p:sp>
        <p:nvSpPr>
          <p:cNvPr id="17" name="Text 15"/>
          <p:cNvSpPr/>
          <p:nvPr/>
        </p:nvSpPr>
        <p:spPr>
          <a:xfrm>
            <a:off x="4709160" y="2057400"/>
            <a:ext cx="3977640" cy="411480"/>
          </a:xfrm>
          <a:prstGeom prst="rect">
            <a:avLst/>
          </a:prstGeom>
          <a:noFill/>
          <a:ln/>
        </p:spPr>
        <p:txBody>
          <a:bodyPr wrap="square" rtlCol="0" anchor="ctr"/>
          <a:lstStyle/>
          <a:p>
            <a:pPr indent="0" marL="0">
              <a:buNone/>
            </a:pPr>
            <a:r>
              <a:rPr lang="en-US" sz="1100" dirty="0">
                <a:solidFill>
                  <a:srgbClr val="1E3A5F"/>
                </a:solidFill>
                <a:latin typeface="Calibri" pitchFamily="34" charset="0"/>
                <a:ea typeface="Calibri" pitchFamily="34" charset="-122"/>
                <a:cs typeface="Calibri" pitchFamily="34" charset="-120"/>
              </a:rPr>
              <a:t>• Guided wizard: API creds → webhook → sandbox → live</a:t>
            </a:r>
            <a:endParaRPr lang="en-US" sz="1100" dirty="0"/>
          </a:p>
        </p:txBody>
      </p:sp>
      <p:sp>
        <p:nvSpPr>
          <p:cNvPr id="18" name="Text 16"/>
          <p:cNvSpPr/>
          <p:nvPr/>
        </p:nvSpPr>
        <p:spPr>
          <a:xfrm>
            <a:off x="4709160" y="2560320"/>
            <a:ext cx="3977640" cy="411480"/>
          </a:xfrm>
          <a:prstGeom prst="rect">
            <a:avLst/>
          </a:prstGeom>
          <a:noFill/>
          <a:ln/>
        </p:spPr>
        <p:txBody>
          <a:bodyPr wrap="square" rtlCol="0" anchor="ctr"/>
          <a:lstStyle/>
          <a:p>
            <a:pPr indent="0" marL="0">
              <a:buNone/>
            </a:pPr>
            <a:r>
              <a:rPr lang="en-US" sz="1100" dirty="0">
                <a:solidFill>
                  <a:srgbClr val="1E3A5F"/>
                </a:solidFill>
                <a:latin typeface="Calibri" pitchFamily="34" charset="0"/>
                <a:ea typeface="Calibri" pitchFamily="34" charset="-122"/>
                <a:cs typeface="Calibri" pitchFamily="34" charset="-120"/>
              </a:rPr>
              <a:t>• Built-in sandbox — test all 5 scenarios before go-live</a:t>
            </a:r>
            <a:endParaRPr lang="en-US" sz="1100" dirty="0"/>
          </a:p>
        </p:txBody>
      </p:sp>
      <p:sp>
        <p:nvSpPr>
          <p:cNvPr id="19" name="Text 17"/>
          <p:cNvSpPr/>
          <p:nvPr/>
        </p:nvSpPr>
        <p:spPr>
          <a:xfrm>
            <a:off x="4709160" y="3063240"/>
            <a:ext cx="3977640" cy="411480"/>
          </a:xfrm>
          <a:prstGeom prst="rect">
            <a:avLst/>
          </a:prstGeom>
          <a:noFill/>
          <a:ln/>
        </p:spPr>
        <p:txBody>
          <a:bodyPr wrap="square" rtlCol="0" anchor="ctr"/>
          <a:lstStyle/>
          <a:p>
            <a:pPr indent="0" marL="0">
              <a:buNone/>
            </a:pPr>
            <a:r>
              <a:rPr lang="en-US" sz="1100" dirty="0">
                <a:solidFill>
                  <a:srgbClr val="1E3A5F"/>
                </a:solidFill>
                <a:latin typeface="Calibri" pitchFamily="34" charset="0"/>
                <a:ea typeface="Calibri" pitchFamily="34" charset="-122"/>
                <a:cs typeface="Calibri" pitchFamily="34" charset="-120"/>
              </a:rPr>
              <a:t>• One health dashboard — all methods, all PSPs</a:t>
            </a:r>
            <a:endParaRPr lang="en-US" sz="1100" dirty="0"/>
          </a:p>
        </p:txBody>
      </p:sp>
      <p:sp>
        <p:nvSpPr>
          <p:cNvPr id="20" name="Text 18"/>
          <p:cNvSpPr/>
          <p:nvPr/>
        </p:nvSpPr>
        <p:spPr>
          <a:xfrm>
            <a:off x="4709160" y="3566160"/>
            <a:ext cx="3977640" cy="411480"/>
          </a:xfrm>
          <a:prstGeom prst="rect">
            <a:avLst/>
          </a:prstGeom>
          <a:noFill/>
          <a:ln/>
        </p:spPr>
        <p:txBody>
          <a:bodyPr wrap="square" rtlCol="0" anchor="ctr"/>
          <a:lstStyle/>
          <a:p>
            <a:pPr indent="0" marL="0">
              <a:buNone/>
            </a:pPr>
            <a:r>
              <a:rPr lang="en-US" sz="1100" dirty="0">
                <a:solidFill>
                  <a:srgbClr val="1E3A5F"/>
                </a:solidFill>
                <a:latin typeface="Calibri" pitchFamily="34" charset="0"/>
                <a:ea typeface="Calibri" pitchFamily="34" charset="-122"/>
                <a:cs typeface="Calibri" pitchFamily="34" charset="-120"/>
              </a:rPr>
              <a:t>• New method in 10 days. No sprint. No queue.</a:t>
            </a:r>
            <a:endParaRPr lang="en-US" sz="1100" dirty="0"/>
          </a:p>
        </p:txBody>
      </p:sp>
      <p:sp>
        <p:nvSpPr>
          <p:cNvPr id="21" name="Text 19"/>
          <p:cNvSpPr/>
          <p:nvPr/>
        </p:nvSpPr>
        <p:spPr>
          <a:xfrm>
            <a:off x="4709160" y="4069080"/>
            <a:ext cx="3977640" cy="411480"/>
          </a:xfrm>
          <a:prstGeom prst="rect">
            <a:avLst/>
          </a:prstGeom>
          <a:noFill/>
          <a:ln/>
        </p:spPr>
        <p:txBody>
          <a:bodyPr wrap="square" rtlCol="0" anchor="ctr"/>
          <a:lstStyle/>
          <a:p>
            <a:pPr indent="0" marL="0">
              <a:buNone/>
            </a:pPr>
            <a:r>
              <a:rPr lang="en-US" sz="1100" dirty="0">
                <a:solidFill>
                  <a:srgbClr val="1E3A5F"/>
                </a:solidFill>
                <a:latin typeface="Calibri" pitchFamily="34" charset="0"/>
                <a:ea typeface="Calibri" pitchFamily="34" charset="-122"/>
                <a:cs typeface="Calibri" pitchFamily="34" charset="-120"/>
              </a:rPr>
              <a:t>• 3σ anomaly detection — 12-min detection lag</a:t>
            </a:r>
            <a:endParaRPr lang="en-US" sz="1100" dirty="0"/>
          </a:p>
        </p:txBody>
      </p:sp>
      <p:sp>
        <p:nvSpPr>
          <p:cNvPr id="22" name="Shape 20"/>
          <p:cNvSpPr/>
          <p:nvPr/>
        </p:nvSpPr>
        <p:spPr>
          <a:xfrm>
            <a:off x="274320" y="5166360"/>
            <a:ext cx="8595360" cy="594360"/>
          </a:xfrm>
          <a:prstGeom prst="roundRect">
            <a:avLst>
              <a:gd name="adj" fmla="val 9231"/>
            </a:avLst>
          </a:prstGeom>
          <a:solidFill>
            <a:srgbClr val="EFF6FF"/>
          </a:solidFill>
          <a:ln/>
        </p:spPr>
      </p:sp>
      <p:sp>
        <p:nvSpPr>
          <p:cNvPr id="23" name="Text 21"/>
          <p:cNvSpPr/>
          <p:nvPr/>
        </p:nvSpPr>
        <p:spPr>
          <a:xfrm>
            <a:off x="457200" y="5212080"/>
            <a:ext cx="8229600" cy="502920"/>
          </a:xfrm>
          <a:prstGeom prst="rect">
            <a:avLst/>
          </a:prstGeom>
          <a:noFill/>
          <a:ln/>
        </p:spPr>
        <p:txBody>
          <a:bodyPr wrap="square" rtlCol="0" anchor="ctr"/>
          <a:lstStyle/>
          <a:p>
            <a:pPr indent="0" marL="0">
              <a:buNone/>
            </a:pPr>
            <a:r>
              <a:rPr lang="en-US" sz="1000" i="1" dirty="0">
                <a:solidFill>
                  <a:srgbClr val="00539F"/>
                </a:solidFill>
                <a:latin typeface="Calibri" pitchFamily="34" charset="0"/>
                <a:ea typeface="Calibri" pitchFamily="34" charset="-122"/>
                <a:cs typeface="Calibri" pitchFamily="34" charset="-120"/>
              </a:rPr>
              <a:t>Key insight: WalletBridge is architecturally identical to the self-serve PG integration platform built at PhonePe — which onboarded 5,000+ B2B merchants with zero engineering dependency per integration.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2040"/>
          </a:solidFill>
          <a:ln/>
        </p:spPr>
      </p:sp>
      <p:sp>
        <p:nvSpPr>
          <p:cNvPr id="3" name="Shape 1"/>
          <p:cNvSpPr/>
          <p:nvPr/>
        </p:nvSpPr>
        <p:spPr>
          <a:xfrm>
            <a:off x="0" y="0"/>
            <a:ext cx="109728" cy="5143500"/>
          </a:xfrm>
          <a:prstGeom prst="rect">
            <a:avLst/>
          </a:prstGeom>
          <a:solidFill>
            <a:srgbClr val="F59E0B"/>
          </a:solidFill>
          <a:ln/>
        </p:spPr>
      </p:sp>
      <p:sp>
        <p:nvSpPr>
          <p:cNvPr id="4" name="Text 2"/>
          <p:cNvSpPr/>
          <p:nvPr/>
        </p:nvSpPr>
        <p:spPr>
          <a:xfrm>
            <a:off x="274320" y="201168"/>
            <a:ext cx="3657600" cy="201168"/>
          </a:xfrm>
          <a:prstGeom prst="rect">
            <a:avLst/>
          </a:prstGeom>
          <a:noFill/>
          <a:ln/>
        </p:spPr>
        <p:txBody>
          <a:bodyPr wrap="square" rtlCol="0" anchor="ctr"/>
          <a:lstStyle/>
          <a:p>
            <a:pPr indent="0" marL="0">
              <a:buNone/>
            </a:pPr>
            <a:r>
              <a:rPr lang="en-US" sz="900" b="1" spc="300" kern="0" dirty="0">
                <a:solidFill>
                  <a:srgbClr val="F59E0B"/>
                </a:solidFill>
                <a:latin typeface="Calibri" pitchFamily="34" charset="0"/>
                <a:ea typeface="Calibri" pitchFamily="34" charset="-122"/>
                <a:cs typeface="Calibri" pitchFamily="34" charset="-120"/>
              </a:rPr>
              <a:t>THE MECHANIC</a:t>
            </a:r>
            <a:endParaRPr lang="en-US" sz="900" dirty="0"/>
          </a:p>
        </p:txBody>
      </p:sp>
      <p:sp>
        <p:nvSpPr>
          <p:cNvPr id="5" name="Text 3"/>
          <p:cNvSpPr/>
          <p:nvPr/>
        </p:nvSpPr>
        <p:spPr>
          <a:xfrm>
            <a:off x="274320" y="457200"/>
            <a:ext cx="859536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Four Steps. Zero Engineering Sprints.</a:t>
            </a:r>
            <a:endParaRPr lang="en-US" sz="2800" dirty="0"/>
          </a:p>
        </p:txBody>
      </p:sp>
      <p:sp>
        <p:nvSpPr>
          <p:cNvPr id="6" name="Shape 4"/>
          <p:cNvSpPr/>
          <p:nvPr/>
        </p:nvSpPr>
        <p:spPr>
          <a:xfrm>
            <a:off x="228600" y="1280160"/>
            <a:ext cx="2057400" cy="3931920"/>
          </a:xfrm>
          <a:prstGeom prst="roundRect">
            <a:avLst>
              <a:gd name="adj" fmla="val 4444"/>
            </a:avLst>
          </a:prstGeom>
          <a:solidFill>
            <a:srgbClr val="0A1628"/>
          </a:solidFill>
          <a:ln/>
          <a:effectLst>
            <a:outerShdw sx="100000" sy="100000" kx="0" ky="0" algn="bl" rotWithShape="0" blurRad="50800" dist="25400" dir="2700000">
              <a:srgbClr val="000000">
                <a:alpha val="13000"/>
              </a:srgbClr>
            </a:outerShdw>
          </a:effectLst>
        </p:spPr>
      </p:sp>
      <p:sp>
        <p:nvSpPr>
          <p:cNvPr id="7" name="Shape 5"/>
          <p:cNvSpPr/>
          <p:nvPr/>
        </p:nvSpPr>
        <p:spPr>
          <a:xfrm>
            <a:off x="941832" y="1389888"/>
            <a:ext cx="621792" cy="621792"/>
          </a:xfrm>
          <a:prstGeom prst="ellipse">
            <a:avLst/>
          </a:prstGeom>
          <a:solidFill>
            <a:srgbClr val="00539F"/>
          </a:solidFill>
          <a:ln/>
        </p:spPr>
      </p:sp>
      <p:sp>
        <p:nvSpPr>
          <p:cNvPr id="8" name="Text 6"/>
          <p:cNvSpPr/>
          <p:nvPr/>
        </p:nvSpPr>
        <p:spPr>
          <a:xfrm>
            <a:off x="941832" y="1389888"/>
            <a:ext cx="621792" cy="62179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320040" y="2121408"/>
            <a:ext cx="1874520" cy="411480"/>
          </a:xfrm>
          <a:prstGeom prst="rect">
            <a:avLst/>
          </a:prstGeom>
          <a:noFill/>
          <a:ln/>
        </p:spPr>
        <p:txBody>
          <a:bodyPr wrap="square"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Method Library</a:t>
            </a:r>
            <a:endParaRPr lang="en-US" sz="1200" dirty="0"/>
          </a:p>
        </p:txBody>
      </p:sp>
      <p:sp>
        <p:nvSpPr>
          <p:cNvPr id="10" name="Text 8"/>
          <p:cNvSpPr/>
          <p:nvPr/>
        </p:nvSpPr>
        <p:spPr>
          <a:xfrm>
            <a:off x="320040" y="2578608"/>
            <a:ext cx="1874520" cy="2286000"/>
          </a:xfrm>
          <a:prstGeom prst="rect">
            <a:avLst/>
          </a:prstGeom>
          <a:noFill/>
          <a:ln/>
        </p:spPr>
        <p:txBody>
          <a:bodyPr wrap="square" rtlCol="0" anchor="t"/>
          <a:lstStyle/>
          <a:p>
            <a:pPr indent="0" marL="0">
              <a:buNone/>
            </a:pPr>
            <a:r>
              <a:rPr lang="en-US" sz="1000" dirty="0">
                <a:solidFill>
                  <a:srgbClr val="6B7A99"/>
                </a:solidFill>
                <a:latin typeface="Calibri" pitchFamily="34" charset="0"/>
                <a:ea typeface="Calibri" pitchFamily="34" charset="-122"/>
                <a:cs typeface="Calibri" pitchFamily="34" charset="-120"/>
              </a:rPr>
              <a:t>PM or Ops selects payment method from curated library (Klarna, Clearpay, Revolut Pay, etc.). Integration type auto-detected. Estimated completion time shown upfront.</a:t>
            </a:r>
            <a:endParaRPr lang="en-US" sz="1000" dirty="0"/>
          </a:p>
        </p:txBody>
      </p:sp>
      <p:sp>
        <p:nvSpPr>
          <p:cNvPr id="11" name="Text 9"/>
          <p:cNvSpPr/>
          <p:nvPr/>
        </p:nvSpPr>
        <p:spPr>
          <a:xfrm>
            <a:off x="2221992" y="3017520"/>
            <a:ext cx="274320" cy="365760"/>
          </a:xfrm>
          <a:prstGeom prst="rect">
            <a:avLst/>
          </a:prstGeom>
          <a:noFill/>
          <a:ln/>
        </p:spPr>
        <p:txBody>
          <a:bodyPr wrap="square" rtlCol="0" anchor="ctr"/>
          <a:lstStyle/>
          <a:p>
            <a:pPr algn="ctr" indent="0" marL="0">
              <a:buNone/>
            </a:pPr>
            <a:r>
              <a:rPr lang="en-US" sz="1400" b="1" dirty="0">
                <a:solidFill>
                  <a:srgbClr val="00539F"/>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441448" y="1280160"/>
            <a:ext cx="2057400" cy="3931920"/>
          </a:xfrm>
          <a:prstGeom prst="roundRect">
            <a:avLst>
              <a:gd name="adj" fmla="val 4444"/>
            </a:avLst>
          </a:prstGeom>
          <a:solidFill>
            <a:srgbClr val="0A1628"/>
          </a:solidFill>
          <a:ln/>
          <a:effectLst>
            <a:outerShdw sx="100000" sy="100000" kx="0" ky="0" algn="bl" rotWithShape="0" blurRad="50800" dist="25400" dir="2700000">
              <a:srgbClr val="000000">
                <a:alpha val="13000"/>
              </a:srgbClr>
            </a:outerShdw>
          </a:effectLst>
        </p:spPr>
      </p:sp>
      <p:sp>
        <p:nvSpPr>
          <p:cNvPr id="13" name="Shape 11"/>
          <p:cNvSpPr/>
          <p:nvPr/>
        </p:nvSpPr>
        <p:spPr>
          <a:xfrm>
            <a:off x="3154680" y="1389888"/>
            <a:ext cx="621792" cy="621792"/>
          </a:xfrm>
          <a:prstGeom prst="ellipse">
            <a:avLst/>
          </a:prstGeom>
          <a:solidFill>
            <a:srgbClr val="00539F"/>
          </a:solidFill>
          <a:ln/>
        </p:spPr>
      </p:sp>
      <p:sp>
        <p:nvSpPr>
          <p:cNvPr id="14" name="Text 12"/>
          <p:cNvSpPr/>
          <p:nvPr/>
        </p:nvSpPr>
        <p:spPr>
          <a:xfrm>
            <a:off x="3154680" y="1389888"/>
            <a:ext cx="621792" cy="62179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2532888" y="2121408"/>
            <a:ext cx="1874520" cy="411480"/>
          </a:xfrm>
          <a:prstGeom prst="rect">
            <a:avLst/>
          </a:prstGeom>
          <a:noFill/>
          <a:ln/>
        </p:spPr>
        <p:txBody>
          <a:bodyPr wrap="square"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Integration Wizard</a:t>
            </a:r>
            <a:endParaRPr lang="en-US" sz="1200" dirty="0"/>
          </a:p>
        </p:txBody>
      </p:sp>
      <p:sp>
        <p:nvSpPr>
          <p:cNvPr id="16" name="Text 14"/>
          <p:cNvSpPr/>
          <p:nvPr/>
        </p:nvSpPr>
        <p:spPr>
          <a:xfrm>
            <a:off x="2532888" y="2578608"/>
            <a:ext cx="1874520" cy="2286000"/>
          </a:xfrm>
          <a:prstGeom prst="rect">
            <a:avLst/>
          </a:prstGeom>
          <a:noFill/>
          <a:ln/>
        </p:spPr>
        <p:txBody>
          <a:bodyPr wrap="square" rtlCol="0" anchor="t"/>
          <a:lstStyle/>
          <a:p>
            <a:pPr indent="0" marL="0">
              <a:buNone/>
            </a:pPr>
            <a:r>
              <a:rPr lang="en-US" sz="1000" dirty="0">
                <a:solidFill>
                  <a:srgbClr val="6B7A99"/>
                </a:solidFill>
                <a:latin typeface="Calibri" pitchFamily="34" charset="0"/>
                <a:ea typeface="Calibri" pitchFamily="34" charset="-122"/>
                <a:cs typeface="Calibri" pitchFamily="34" charset="-120"/>
              </a:rPr>
              <a:t>4-step guided wizard: API credentials → webhook endpoint config → event mapping → go-live checklist. Each step validates before next unlocks. No PSP documentation required.</a:t>
            </a:r>
            <a:endParaRPr lang="en-US" sz="1000" dirty="0"/>
          </a:p>
        </p:txBody>
      </p:sp>
      <p:sp>
        <p:nvSpPr>
          <p:cNvPr id="17" name="Text 15"/>
          <p:cNvSpPr/>
          <p:nvPr/>
        </p:nvSpPr>
        <p:spPr>
          <a:xfrm>
            <a:off x="4434840" y="3017520"/>
            <a:ext cx="274320" cy="365760"/>
          </a:xfrm>
          <a:prstGeom prst="rect">
            <a:avLst/>
          </a:prstGeom>
          <a:noFill/>
          <a:ln/>
        </p:spPr>
        <p:txBody>
          <a:bodyPr wrap="square" rtlCol="0" anchor="ctr"/>
          <a:lstStyle/>
          <a:p>
            <a:pPr algn="ctr" indent="0" marL="0">
              <a:buNone/>
            </a:pPr>
            <a:r>
              <a:rPr lang="en-US" sz="1400" b="1" dirty="0">
                <a:solidFill>
                  <a:srgbClr val="00539F"/>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4654296" y="1280160"/>
            <a:ext cx="2057400" cy="3931920"/>
          </a:xfrm>
          <a:prstGeom prst="roundRect">
            <a:avLst>
              <a:gd name="adj" fmla="val 4444"/>
            </a:avLst>
          </a:prstGeom>
          <a:solidFill>
            <a:srgbClr val="0A1628"/>
          </a:solidFill>
          <a:ln/>
          <a:effectLst>
            <a:outerShdw sx="100000" sy="100000" kx="0" ky="0" algn="bl" rotWithShape="0" blurRad="50800" dist="25400" dir="2700000">
              <a:srgbClr val="000000">
                <a:alpha val="13000"/>
              </a:srgbClr>
            </a:outerShdw>
          </a:effectLst>
        </p:spPr>
      </p:sp>
      <p:sp>
        <p:nvSpPr>
          <p:cNvPr id="19" name="Shape 17"/>
          <p:cNvSpPr/>
          <p:nvPr/>
        </p:nvSpPr>
        <p:spPr>
          <a:xfrm>
            <a:off x="5367528" y="1389888"/>
            <a:ext cx="621792" cy="621792"/>
          </a:xfrm>
          <a:prstGeom prst="ellipse">
            <a:avLst/>
          </a:prstGeom>
          <a:solidFill>
            <a:srgbClr val="00539F"/>
          </a:solidFill>
          <a:ln/>
        </p:spPr>
      </p:sp>
      <p:sp>
        <p:nvSpPr>
          <p:cNvPr id="20" name="Text 18"/>
          <p:cNvSpPr/>
          <p:nvPr/>
        </p:nvSpPr>
        <p:spPr>
          <a:xfrm>
            <a:off x="5367528" y="1389888"/>
            <a:ext cx="621792" cy="62179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4745736" y="2121408"/>
            <a:ext cx="1874520" cy="411480"/>
          </a:xfrm>
          <a:prstGeom prst="rect">
            <a:avLst/>
          </a:prstGeom>
          <a:noFill/>
          <a:ln/>
        </p:spPr>
        <p:txBody>
          <a:bodyPr wrap="square"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Sandbox Gate</a:t>
            </a:r>
            <a:endParaRPr lang="en-US" sz="1200" dirty="0"/>
          </a:p>
        </p:txBody>
      </p:sp>
      <p:sp>
        <p:nvSpPr>
          <p:cNvPr id="22" name="Text 20"/>
          <p:cNvSpPr/>
          <p:nvPr/>
        </p:nvSpPr>
        <p:spPr>
          <a:xfrm>
            <a:off x="4745736" y="2578608"/>
            <a:ext cx="1874520" cy="2286000"/>
          </a:xfrm>
          <a:prstGeom prst="rect">
            <a:avLst/>
          </a:prstGeom>
          <a:noFill/>
          <a:ln/>
        </p:spPr>
        <p:txBody>
          <a:bodyPr wrap="square" rtlCol="0" anchor="t"/>
          <a:lstStyle/>
          <a:p>
            <a:pPr indent="0" marL="0">
              <a:buNone/>
            </a:pPr>
            <a:r>
              <a:rPr lang="en-US" sz="1000" dirty="0">
                <a:solidFill>
                  <a:srgbClr val="6B7A99"/>
                </a:solidFill>
                <a:latin typeface="Calibri" pitchFamily="34" charset="0"/>
                <a:ea typeface="Calibri" pitchFamily="34" charset="-122"/>
                <a:cs typeface="Calibri" pitchFamily="34" charset="-120"/>
              </a:rPr>
              <a:t>Mandatory 5-scenario test suite before any method reaches production: Auth Approved, Soft Decline, Hard Decline, Network Timeout, Refund. 100% test log retained for compliance audit.</a:t>
            </a:r>
            <a:endParaRPr lang="en-US" sz="1000" dirty="0"/>
          </a:p>
        </p:txBody>
      </p:sp>
      <p:sp>
        <p:nvSpPr>
          <p:cNvPr id="23" name="Text 21"/>
          <p:cNvSpPr/>
          <p:nvPr/>
        </p:nvSpPr>
        <p:spPr>
          <a:xfrm>
            <a:off x="6647688" y="3017520"/>
            <a:ext cx="274320" cy="365760"/>
          </a:xfrm>
          <a:prstGeom prst="rect">
            <a:avLst/>
          </a:prstGeom>
          <a:noFill/>
          <a:ln/>
        </p:spPr>
        <p:txBody>
          <a:bodyPr wrap="square" rtlCol="0" anchor="ctr"/>
          <a:lstStyle/>
          <a:p>
            <a:pPr algn="ctr" indent="0" marL="0">
              <a:buNone/>
            </a:pPr>
            <a:r>
              <a:rPr lang="en-US" sz="1400" b="1" dirty="0">
                <a:solidFill>
                  <a:srgbClr val="00539F"/>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6867144" y="1280160"/>
            <a:ext cx="2057400" cy="3931920"/>
          </a:xfrm>
          <a:prstGeom prst="roundRect">
            <a:avLst>
              <a:gd name="adj" fmla="val 4444"/>
            </a:avLst>
          </a:prstGeom>
          <a:solidFill>
            <a:srgbClr val="0A1628"/>
          </a:solidFill>
          <a:ln/>
          <a:effectLst>
            <a:outerShdw sx="100000" sy="100000" kx="0" ky="0" algn="bl" rotWithShape="0" blurRad="50800" dist="25400" dir="2700000">
              <a:srgbClr val="000000">
                <a:alpha val="13000"/>
              </a:srgbClr>
            </a:outerShdw>
          </a:effectLst>
        </p:spPr>
      </p:sp>
      <p:sp>
        <p:nvSpPr>
          <p:cNvPr id="25" name="Shape 23"/>
          <p:cNvSpPr/>
          <p:nvPr/>
        </p:nvSpPr>
        <p:spPr>
          <a:xfrm>
            <a:off x="7580376" y="1389888"/>
            <a:ext cx="621792" cy="621792"/>
          </a:xfrm>
          <a:prstGeom prst="ellipse">
            <a:avLst/>
          </a:prstGeom>
          <a:solidFill>
            <a:srgbClr val="00539F"/>
          </a:solidFill>
          <a:ln/>
        </p:spPr>
      </p:sp>
      <p:sp>
        <p:nvSpPr>
          <p:cNvPr id="26" name="Text 24"/>
          <p:cNvSpPr/>
          <p:nvPr/>
        </p:nvSpPr>
        <p:spPr>
          <a:xfrm>
            <a:off x="7580376" y="1389888"/>
            <a:ext cx="621792" cy="62179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6958584" y="2121408"/>
            <a:ext cx="1874520" cy="411480"/>
          </a:xfrm>
          <a:prstGeom prst="rect">
            <a:avLst/>
          </a:prstGeom>
          <a:noFill/>
          <a:ln/>
        </p:spPr>
        <p:txBody>
          <a:bodyPr wrap="square"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Health Monitoring Auto-Enabled</a:t>
            </a:r>
            <a:endParaRPr lang="en-US" sz="1200" dirty="0"/>
          </a:p>
        </p:txBody>
      </p:sp>
      <p:sp>
        <p:nvSpPr>
          <p:cNvPr id="28" name="Text 26"/>
          <p:cNvSpPr/>
          <p:nvPr/>
        </p:nvSpPr>
        <p:spPr>
          <a:xfrm>
            <a:off x="6958584" y="2578608"/>
            <a:ext cx="1874520" cy="2286000"/>
          </a:xfrm>
          <a:prstGeom prst="rect">
            <a:avLst/>
          </a:prstGeom>
          <a:noFill/>
          <a:ln/>
        </p:spPr>
        <p:txBody>
          <a:bodyPr wrap="square" rtlCol="0" anchor="t"/>
          <a:lstStyle/>
          <a:p>
            <a:pPr indent="0" marL="0">
              <a:buNone/>
            </a:pPr>
            <a:r>
              <a:rPr lang="en-US" sz="1000" dirty="0">
                <a:solidFill>
                  <a:srgbClr val="6B7A99"/>
                </a:solidFill>
                <a:latin typeface="Calibri" pitchFamily="34" charset="0"/>
                <a:ea typeface="Calibri" pitchFamily="34" charset="-122"/>
                <a:cs typeface="Calibri" pitchFamily="34" charset="-120"/>
              </a:rPr>
              <a:t>On go-live, the method auto-appears in the health dashboard with per-method alert thresholds. Auth rate, latency, and volume tracked in real-time. 3σ anomaly detection active immediately.</a:t>
            </a:r>
            <a:endParaRPr lang="en-US" sz="1000" dirty="0"/>
          </a:p>
        </p:txBody>
      </p:sp>
      <p:sp>
        <p:nvSpPr>
          <p:cNvPr id="29" name="Shape 27"/>
          <p:cNvSpPr/>
          <p:nvPr/>
        </p:nvSpPr>
        <p:spPr>
          <a:xfrm>
            <a:off x="228600" y="5376672"/>
            <a:ext cx="8686800" cy="594360"/>
          </a:xfrm>
          <a:prstGeom prst="roundRect">
            <a:avLst>
              <a:gd name="adj" fmla="val 9231"/>
            </a:avLst>
          </a:prstGeom>
          <a:solidFill>
            <a:srgbClr val="0D2040"/>
          </a:solidFill>
          <a:ln/>
        </p:spPr>
      </p:sp>
      <p:sp>
        <p:nvSpPr>
          <p:cNvPr id="30" name="Text 28"/>
          <p:cNvSpPr/>
          <p:nvPr/>
        </p:nvSpPr>
        <p:spPr>
          <a:xfrm>
            <a:off x="411480" y="5422392"/>
            <a:ext cx="8321040" cy="502920"/>
          </a:xfrm>
          <a:prstGeom prst="rect">
            <a:avLst/>
          </a:prstGeom>
          <a:noFill/>
          <a:ln/>
        </p:spPr>
        <p:txBody>
          <a:bodyPr wrap="square" rtlCol="0" anchor="ctr"/>
          <a:lstStyle/>
          <a:p>
            <a:pPr indent="0" marL="0">
              <a:buNone/>
            </a:pPr>
            <a:r>
              <a:rPr lang="en-US" sz="1000" i="1" dirty="0">
                <a:solidFill>
                  <a:srgbClr val="6B7A99"/>
                </a:solidFill>
                <a:latin typeface="Calibri" pitchFamily="34" charset="0"/>
                <a:ea typeface="Calibri" pitchFamily="34" charset="-122"/>
                <a:cs typeface="Calibri" pitchFamily="34" charset="-120"/>
              </a:rPr>
              <a:t>PhonePe proof: Self-serve PG integration platform used this identical 4-step pattern to onboard 5,000+ B2B merchants — 23% lower CAC, zero engineering dependency per merchant.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109728" cy="5143500"/>
          </a:xfrm>
          <a:prstGeom prst="rect">
            <a:avLst/>
          </a:prstGeom>
          <a:solidFill>
            <a:srgbClr val="00539F"/>
          </a:solidFill>
          <a:ln/>
        </p:spPr>
      </p:sp>
      <p:sp>
        <p:nvSpPr>
          <p:cNvPr id="4" name="Text 2"/>
          <p:cNvSpPr/>
          <p:nvPr/>
        </p:nvSpPr>
        <p:spPr>
          <a:xfrm>
            <a:off x="274320" y="201168"/>
            <a:ext cx="3657600" cy="201168"/>
          </a:xfrm>
          <a:prstGeom prst="rect">
            <a:avLst/>
          </a:prstGeom>
          <a:noFill/>
          <a:ln/>
        </p:spPr>
        <p:txBody>
          <a:bodyPr wrap="square" rtlCol="0" anchor="ctr"/>
          <a:lstStyle/>
          <a:p>
            <a:pPr indent="0" marL="0">
              <a:buNone/>
            </a:pPr>
            <a:r>
              <a:rPr lang="en-US" sz="900" b="1" spc="300" kern="0" dirty="0">
                <a:solidFill>
                  <a:srgbClr val="00539F"/>
                </a:solidFill>
                <a:latin typeface="Calibri" pitchFamily="34" charset="0"/>
                <a:ea typeface="Calibri" pitchFamily="34" charset="-122"/>
                <a:cs typeface="Calibri" pitchFamily="34" charset="-120"/>
              </a:rPr>
              <a:t>THE PRODUCT</a:t>
            </a:r>
            <a:endParaRPr lang="en-US" sz="900" dirty="0"/>
          </a:p>
        </p:txBody>
      </p:sp>
      <p:sp>
        <p:nvSpPr>
          <p:cNvPr id="5" name="Text 3"/>
          <p:cNvSpPr/>
          <p:nvPr/>
        </p:nvSpPr>
        <p:spPr>
          <a:xfrm>
            <a:off x="274320" y="457200"/>
            <a:ext cx="8595360" cy="594360"/>
          </a:xfrm>
          <a:prstGeom prst="rect">
            <a:avLst/>
          </a:prstGeom>
          <a:noFill/>
          <a:ln/>
        </p:spPr>
        <p:txBody>
          <a:bodyPr wrap="square" rtlCol="0" anchor="ctr"/>
          <a:lstStyle/>
          <a:p>
            <a:pPr indent="0" marL="0">
              <a:buNone/>
            </a:pPr>
            <a:r>
              <a:rPr lang="en-US" sz="2400" b="1" dirty="0">
                <a:solidFill>
                  <a:srgbClr val="0A1628"/>
                </a:solidFill>
                <a:latin typeface="Calibri" pitchFamily="34" charset="0"/>
                <a:ea typeface="Calibri" pitchFamily="34" charset="-122"/>
                <a:cs typeface="Calibri" pitchFamily="34" charset="-120"/>
              </a:rPr>
              <a:t>4 Screens — From Method Discovery to Live Health Monitoring</a:t>
            </a:r>
            <a:endParaRPr lang="en-US" sz="2400" dirty="0"/>
          </a:p>
        </p:txBody>
      </p:sp>
      <p:sp>
        <p:nvSpPr>
          <p:cNvPr id="6" name="Shape 4"/>
          <p:cNvSpPr/>
          <p:nvPr/>
        </p:nvSpPr>
        <p:spPr>
          <a:xfrm>
            <a:off x="228600" y="1261872"/>
            <a:ext cx="2084832" cy="4526280"/>
          </a:xfrm>
          <a:prstGeom prst="roundRect">
            <a:avLst>
              <a:gd name="adj" fmla="val 4386"/>
            </a:avLst>
          </a:prstGeom>
          <a:solidFill>
            <a:srgbClr val="F0F4FF"/>
          </a:solidFill>
          <a:ln w="6350">
            <a:solidFill>
              <a:srgbClr val="D0D8E8"/>
            </a:solidFill>
            <a:prstDash val="solid"/>
          </a:ln>
          <a:effectLst>
            <a:outerShdw sx="100000" sy="100000" kx="0" ky="0" algn="bl" rotWithShape="0" blurRad="50800" dist="25400" dir="2700000">
              <a:srgbClr val="000000">
                <a:alpha val="13000"/>
              </a:srgbClr>
            </a:outerShdw>
          </a:effectLst>
        </p:spPr>
      </p:sp>
      <p:sp>
        <p:nvSpPr>
          <p:cNvPr id="7" name="Shape 5"/>
          <p:cNvSpPr/>
          <p:nvPr/>
        </p:nvSpPr>
        <p:spPr>
          <a:xfrm>
            <a:off x="283464" y="1325880"/>
            <a:ext cx="1975104" cy="274320"/>
          </a:xfrm>
          <a:prstGeom prst="roundRect">
            <a:avLst>
              <a:gd name="adj" fmla="val 16667"/>
            </a:avLst>
          </a:prstGeom>
          <a:solidFill>
            <a:srgbClr val="00539F"/>
          </a:solidFill>
          <a:ln/>
        </p:spPr>
      </p:sp>
      <p:sp>
        <p:nvSpPr>
          <p:cNvPr id="8" name="Text 6"/>
          <p:cNvSpPr/>
          <p:nvPr/>
        </p:nvSpPr>
        <p:spPr>
          <a:xfrm>
            <a:off x="283464" y="1325880"/>
            <a:ext cx="1975104"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01 · Method Library</a:t>
            </a:r>
            <a:endParaRPr lang="en-US" sz="900" dirty="0"/>
          </a:p>
        </p:txBody>
      </p:sp>
      <p:sp>
        <p:nvSpPr>
          <p:cNvPr id="9" name="Text 7"/>
          <p:cNvSpPr/>
          <p:nvPr/>
        </p:nvSpPr>
        <p:spPr>
          <a:xfrm>
            <a:off x="320040" y="1691640"/>
            <a:ext cx="1901952" cy="14630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Active/pending/available payment methods in one view. Success rate per method. Real-time status. One-click to start new integration.</a:t>
            </a:r>
            <a:endParaRPr lang="en-US" sz="1000" dirty="0"/>
          </a:p>
        </p:txBody>
      </p:sp>
      <p:sp>
        <p:nvSpPr>
          <p:cNvPr id="10" name="Shape 8"/>
          <p:cNvSpPr/>
          <p:nvPr/>
        </p:nvSpPr>
        <p:spPr>
          <a:xfrm>
            <a:off x="320040" y="3200400"/>
            <a:ext cx="1901952" cy="914400"/>
          </a:xfrm>
          <a:prstGeom prst="roundRect">
            <a:avLst>
              <a:gd name="adj" fmla="val 6000"/>
            </a:avLst>
          </a:prstGeom>
          <a:solidFill>
            <a:srgbClr val="0A1628"/>
          </a:solidFill>
          <a:ln/>
        </p:spPr>
      </p:sp>
      <p:sp>
        <p:nvSpPr>
          <p:cNvPr id="11" name="Text 9"/>
          <p:cNvSpPr/>
          <p:nvPr/>
        </p:nvSpPr>
        <p:spPr>
          <a:xfrm>
            <a:off x="356616" y="3246120"/>
            <a:ext cx="1828800" cy="822960"/>
          </a:xfrm>
          <a:prstGeom prst="rect">
            <a:avLst/>
          </a:prstGeom>
          <a:noFill/>
          <a:ln/>
        </p:spPr>
        <p:txBody>
          <a:bodyPr wrap="square" rtlCol="0" anchor="t"/>
          <a:lstStyle/>
          <a:p>
            <a:pPr indent="0" marL="0">
              <a:buNone/>
            </a:pPr>
            <a:r>
              <a:rPr lang="en-US" sz="900" dirty="0">
                <a:solidFill>
                  <a:srgbClr val="7DD3A8"/>
                </a:solidFill>
                <a:latin typeface="Courier New" pitchFamily="34" charset="0"/>
                <a:ea typeface="Courier New" pitchFamily="34" charset="-122"/>
                <a:cs typeface="Courier New" pitchFamily="34" charset="-120"/>
              </a:rPr>
              <a:t>Visa 99.1% ✓</a:t>
            </a:r>
            <a:endParaRPr lang="en-US" sz="900" dirty="0"/>
          </a:p>
          <a:p>
            <a:pPr indent="0" marL="0">
              <a:buNone/>
            </a:pPr>
            <a:r>
              <a:rPr lang="en-US" sz="900" dirty="0">
                <a:solidFill>
                  <a:srgbClr val="7DD3A8"/>
                </a:solidFill>
                <a:latin typeface="Courier New" pitchFamily="34" charset="0"/>
                <a:ea typeface="Courier New" pitchFamily="34" charset="-122"/>
                <a:cs typeface="Courier New" pitchFamily="34" charset="-120"/>
              </a:rPr>
              <a:t>Apple Pay 98.9% ✓</a:t>
            </a:r>
            <a:endParaRPr lang="en-US" sz="900" dirty="0"/>
          </a:p>
          <a:p>
            <a:pPr indent="0" marL="0">
              <a:buNone/>
            </a:pPr>
            <a:r>
              <a:rPr lang="en-US" sz="900" dirty="0">
                <a:solidFill>
                  <a:srgbClr val="7DD3A8"/>
                </a:solidFill>
                <a:latin typeface="Courier New" pitchFamily="34" charset="0"/>
                <a:ea typeface="Courier New" pitchFamily="34" charset="-122"/>
                <a:cs typeface="Courier New" pitchFamily="34" charset="-120"/>
              </a:rPr>
              <a:t>Klarna BNPL 60% →</a:t>
            </a:r>
            <a:endParaRPr lang="en-US" sz="900" dirty="0"/>
          </a:p>
        </p:txBody>
      </p:sp>
      <p:sp>
        <p:nvSpPr>
          <p:cNvPr id="12" name="Shape 10"/>
          <p:cNvSpPr/>
          <p:nvPr/>
        </p:nvSpPr>
        <p:spPr>
          <a:xfrm>
            <a:off x="2459736" y="1261872"/>
            <a:ext cx="2084832" cy="4526280"/>
          </a:xfrm>
          <a:prstGeom prst="roundRect">
            <a:avLst>
              <a:gd name="adj" fmla="val 4386"/>
            </a:avLst>
          </a:prstGeom>
          <a:solidFill>
            <a:srgbClr val="F0F4FF"/>
          </a:solidFill>
          <a:ln w="6350">
            <a:solidFill>
              <a:srgbClr val="D0D8E8"/>
            </a:solidFill>
            <a:prstDash val="solid"/>
          </a:ln>
          <a:effectLst>
            <a:outerShdw sx="100000" sy="100000" kx="0" ky="0" algn="bl" rotWithShape="0" blurRad="50800" dist="25400" dir="2700000">
              <a:srgbClr val="000000">
                <a:alpha val="13000"/>
              </a:srgbClr>
            </a:outerShdw>
          </a:effectLst>
        </p:spPr>
      </p:sp>
      <p:sp>
        <p:nvSpPr>
          <p:cNvPr id="13" name="Shape 11"/>
          <p:cNvSpPr/>
          <p:nvPr/>
        </p:nvSpPr>
        <p:spPr>
          <a:xfrm>
            <a:off x="2514600" y="1325880"/>
            <a:ext cx="1975104" cy="274320"/>
          </a:xfrm>
          <a:prstGeom prst="roundRect">
            <a:avLst>
              <a:gd name="adj" fmla="val 16667"/>
            </a:avLst>
          </a:prstGeom>
          <a:solidFill>
            <a:srgbClr val="00539F"/>
          </a:solidFill>
          <a:ln/>
        </p:spPr>
      </p:sp>
      <p:sp>
        <p:nvSpPr>
          <p:cNvPr id="14" name="Text 12"/>
          <p:cNvSpPr/>
          <p:nvPr/>
        </p:nvSpPr>
        <p:spPr>
          <a:xfrm>
            <a:off x="2514600" y="1325880"/>
            <a:ext cx="1975104"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 · Integration Wizard</a:t>
            </a:r>
            <a:endParaRPr lang="en-US" sz="900" dirty="0"/>
          </a:p>
        </p:txBody>
      </p:sp>
      <p:sp>
        <p:nvSpPr>
          <p:cNvPr id="15" name="Text 13"/>
          <p:cNvSpPr/>
          <p:nvPr/>
        </p:nvSpPr>
        <p:spPr>
          <a:xfrm>
            <a:off x="2551176" y="1691640"/>
            <a:ext cx="1901952" cy="14630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Step-locked 4-stage onboarding: credentials → webhooks → sandbox → go-live. Each gate validates before next unlocks. No PSP docs needed.</a:t>
            </a:r>
            <a:endParaRPr lang="en-US" sz="1000" dirty="0"/>
          </a:p>
        </p:txBody>
      </p:sp>
      <p:sp>
        <p:nvSpPr>
          <p:cNvPr id="16" name="Shape 14"/>
          <p:cNvSpPr/>
          <p:nvPr/>
        </p:nvSpPr>
        <p:spPr>
          <a:xfrm>
            <a:off x="2551176" y="3200400"/>
            <a:ext cx="1901952" cy="914400"/>
          </a:xfrm>
          <a:prstGeom prst="roundRect">
            <a:avLst>
              <a:gd name="adj" fmla="val 6000"/>
            </a:avLst>
          </a:prstGeom>
          <a:solidFill>
            <a:srgbClr val="0A1628"/>
          </a:solidFill>
          <a:ln/>
        </p:spPr>
      </p:sp>
      <p:sp>
        <p:nvSpPr>
          <p:cNvPr id="17" name="Text 15"/>
          <p:cNvSpPr/>
          <p:nvPr/>
        </p:nvSpPr>
        <p:spPr>
          <a:xfrm>
            <a:off x="2587752" y="3246120"/>
            <a:ext cx="1828800" cy="822960"/>
          </a:xfrm>
          <a:prstGeom prst="rect">
            <a:avLst/>
          </a:prstGeom>
          <a:noFill/>
          <a:ln/>
        </p:spPr>
        <p:txBody>
          <a:bodyPr wrap="square" rtlCol="0" anchor="t"/>
          <a:lstStyle/>
          <a:p>
            <a:pPr indent="0" marL="0">
              <a:buNone/>
            </a:pPr>
            <a:r>
              <a:rPr lang="en-US" sz="900" dirty="0">
                <a:solidFill>
                  <a:srgbClr val="7DD3A8"/>
                </a:solidFill>
                <a:latin typeface="Courier New" pitchFamily="34" charset="0"/>
                <a:ea typeface="Courier New" pitchFamily="34" charset="-122"/>
                <a:cs typeface="Courier New" pitchFamily="34" charset="-120"/>
              </a:rPr>
              <a:t>Step 1 ✓ Credentials</a:t>
            </a:r>
            <a:endParaRPr lang="en-US" sz="900" dirty="0"/>
          </a:p>
          <a:p>
            <a:pPr indent="0" marL="0">
              <a:buNone/>
            </a:pPr>
            <a:r>
              <a:rPr lang="en-US" sz="900" dirty="0">
                <a:solidFill>
                  <a:srgbClr val="7DD3A8"/>
                </a:solidFill>
                <a:latin typeface="Courier New" pitchFamily="34" charset="0"/>
                <a:ea typeface="Courier New" pitchFamily="34" charset="-122"/>
                <a:cs typeface="Courier New" pitchFamily="34" charset="-120"/>
              </a:rPr>
              <a:t>Step 2 ✓ Webhooks</a:t>
            </a:r>
            <a:endParaRPr lang="en-US" sz="900" dirty="0"/>
          </a:p>
          <a:p>
            <a:pPr indent="0" marL="0">
              <a:buNone/>
            </a:pPr>
            <a:r>
              <a:rPr lang="en-US" sz="900" dirty="0">
                <a:solidFill>
                  <a:srgbClr val="7DD3A8"/>
                </a:solidFill>
                <a:latin typeface="Courier New" pitchFamily="34" charset="0"/>
                <a:ea typeface="Courier New" pitchFamily="34" charset="-122"/>
                <a:cs typeface="Courier New" pitchFamily="34" charset="-120"/>
              </a:rPr>
              <a:t>Step 3 → Sandbox</a:t>
            </a:r>
            <a:endParaRPr lang="en-US" sz="900" dirty="0"/>
          </a:p>
        </p:txBody>
      </p:sp>
      <p:sp>
        <p:nvSpPr>
          <p:cNvPr id="18" name="Shape 16"/>
          <p:cNvSpPr/>
          <p:nvPr/>
        </p:nvSpPr>
        <p:spPr>
          <a:xfrm>
            <a:off x="4690872" y="1261872"/>
            <a:ext cx="2084832" cy="4526280"/>
          </a:xfrm>
          <a:prstGeom prst="roundRect">
            <a:avLst>
              <a:gd name="adj" fmla="val 4386"/>
            </a:avLst>
          </a:prstGeom>
          <a:solidFill>
            <a:srgbClr val="F0F4FF"/>
          </a:solidFill>
          <a:ln w="6350">
            <a:solidFill>
              <a:srgbClr val="D0D8E8"/>
            </a:solidFill>
            <a:prstDash val="solid"/>
          </a:ln>
          <a:effectLst>
            <a:outerShdw sx="100000" sy="100000" kx="0" ky="0" algn="bl" rotWithShape="0" blurRad="50800" dist="25400" dir="2700000">
              <a:srgbClr val="000000">
                <a:alpha val="13000"/>
              </a:srgbClr>
            </a:outerShdw>
          </a:effectLst>
        </p:spPr>
      </p:sp>
      <p:sp>
        <p:nvSpPr>
          <p:cNvPr id="19" name="Shape 17"/>
          <p:cNvSpPr/>
          <p:nvPr/>
        </p:nvSpPr>
        <p:spPr>
          <a:xfrm>
            <a:off x="4745736" y="1325880"/>
            <a:ext cx="1975104" cy="274320"/>
          </a:xfrm>
          <a:prstGeom prst="roundRect">
            <a:avLst>
              <a:gd name="adj" fmla="val 16667"/>
            </a:avLst>
          </a:prstGeom>
          <a:solidFill>
            <a:srgbClr val="00539F"/>
          </a:solidFill>
          <a:ln/>
        </p:spPr>
      </p:sp>
      <p:sp>
        <p:nvSpPr>
          <p:cNvPr id="20" name="Text 18"/>
          <p:cNvSpPr/>
          <p:nvPr/>
        </p:nvSpPr>
        <p:spPr>
          <a:xfrm>
            <a:off x="4745736" y="1325880"/>
            <a:ext cx="1975104"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 · Sandbox Environment</a:t>
            </a:r>
            <a:endParaRPr lang="en-US" sz="900" dirty="0"/>
          </a:p>
        </p:txBody>
      </p:sp>
      <p:sp>
        <p:nvSpPr>
          <p:cNvPr id="21" name="Text 19"/>
          <p:cNvSpPr/>
          <p:nvPr/>
        </p:nvSpPr>
        <p:spPr>
          <a:xfrm>
            <a:off x="4782312" y="1691640"/>
            <a:ext cx="1901952" cy="14630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Test any method × any scenario (5 types). Uses production API in test mode. Full transaction log as compliance audit trail.</a:t>
            </a:r>
            <a:endParaRPr lang="en-US" sz="1000" dirty="0"/>
          </a:p>
        </p:txBody>
      </p:sp>
      <p:sp>
        <p:nvSpPr>
          <p:cNvPr id="22" name="Shape 20"/>
          <p:cNvSpPr/>
          <p:nvPr/>
        </p:nvSpPr>
        <p:spPr>
          <a:xfrm>
            <a:off x="4782312" y="3200400"/>
            <a:ext cx="1901952" cy="914400"/>
          </a:xfrm>
          <a:prstGeom prst="roundRect">
            <a:avLst>
              <a:gd name="adj" fmla="val 6000"/>
            </a:avLst>
          </a:prstGeom>
          <a:solidFill>
            <a:srgbClr val="0A1628"/>
          </a:solidFill>
          <a:ln/>
        </p:spPr>
      </p:sp>
      <p:sp>
        <p:nvSpPr>
          <p:cNvPr id="23" name="Text 21"/>
          <p:cNvSpPr/>
          <p:nvPr/>
        </p:nvSpPr>
        <p:spPr>
          <a:xfrm>
            <a:off x="4818888" y="3246120"/>
            <a:ext cx="1828800" cy="822960"/>
          </a:xfrm>
          <a:prstGeom prst="rect">
            <a:avLst/>
          </a:prstGeom>
          <a:noFill/>
          <a:ln/>
        </p:spPr>
        <p:txBody>
          <a:bodyPr wrap="square" rtlCol="0" anchor="t"/>
          <a:lstStyle/>
          <a:p>
            <a:pPr indent="0" marL="0">
              <a:buNone/>
            </a:pPr>
            <a:r>
              <a:rPr lang="en-US" sz="900" dirty="0">
                <a:solidFill>
                  <a:srgbClr val="7DD3A8"/>
                </a:solidFill>
                <a:latin typeface="Courier New" pitchFamily="34" charset="0"/>
                <a:ea typeface="Courier New" pitchFamily="34" charset="-122"/>
                <a:cs typeface="Courier New" pitchFamily="34" charset="-120"/>
              </a:rPr>
              <a:t>Klarna · Approved ✓</a:t>
            </a:r>
            <a:endParaRPr lang="en-US" sz="900" dirty="0"/>
          </a:p>
          <a:p>
            <a:pPr indent="0" marL="0">
              <a:buNone/>
            </a:pPr>
            <a:r>
              <a:rPr lang="en-US" sz="900" dirty="0">
                <a:solidFill>
                  <a:srgbClr val="7DD3A8"/>
                </a:solidFill>
                <a:latin typeface="Courier New" pitchFamily="34" charset="0"/>
                <a:ea typeface="Courier New" pitchFamily="34" charset="-122"/>
                <a:cs typeface="Courier New" pitchFamily="34" charset="-120"/>
              </a:rPr>
              <a:t>Klarna · Hard Dec. ✗</a:t>
            </a:r>
            <a:endParaRPr lang="en-US" sz="900" dirty="0"/>
          </a:p>
          <a:p>
            <a:pPr indent="0" marL="0">
              <a:buNone/>
            </a:pPr>
            <a:r>
              <a:rPr lang="en-US" sz="900" dirty="0">
                <a:solidFill>
                  <a:srgbClr val="7DD3A8"/>
                </a:solidFill>
                <a:latin typeface="Courier New" pitchFamily="34" charset="0"/>
                <a:ea typeface="Courier New" pitchFamily="34" charset="-122"/>
                <a:cs typeface="Courier New" pitchFamily="34" charset="-120"/>
              </a:rPr>
              <a:t>Visa · Approved ✓</a:t>
            </a:r>
            <a:endParaRPr lang="en-US" sz="900" dirty="0"/>
          </a:p>
        </p:txBody>
      </p:sp>
      <p:sp>
        <p:nvSpPr>
          <p:cNvPr id="24" name="Shape 22"/>
          <p:cNvSpPr/>
          <p:nvPr/>
        </p:nvSpPr>
        <p:spPr>
          <a:xfrm>
            <a:off x="6922008" y="1261872"/>
            <a:ext cx="2084832" cy="4526280"/>
          </a:xfrm>
          <a:prstGeom prst="roundRect">
            <a:avLst>
              <a:gd name="adj" fmla="val 4386"/>
            </a:avLst>
          </a:prstGeom>
          <a:solidFill>
            <a:srgbClr val="F0F4FF"/>
          </a:solidFill>
          <a:ln w="6350">
            <a:solidFill>
              <a:srgbClr val="D0D8E8"/>
            </a:solidFill>
            <a:prstDash val="solid"/>
          </a:ln>
          <a:effectLst>
            <a:outerShdw sx="100000" sy="100000" kx="0" ky="0" algn="bl" rotWithShape="0" blurRad="50800" dist="25400" dir="2700000">
              <a:srgbClr val="000000">
                <a:alpha val="13000"/>
              </a:srgbClr>
            </a:outerShdw>
          </a:effectLst>
        </p:spPr>
      </p:sp>
      <p:sp>
        <p:nvSpPr>
          <p:cNvPr id="25" name="Shape 23"/>
          <p:cNvSpPr/>
          <p:nvPr/>
        </p:nvSpPr>
        <p:spPr>
          <a:xfrm>
            <a:off x="6976872" y="1325880"/>
            <a:ext cx="1975104" cy="274320"/>
          </a:xfrm>
          <a:prstGeom prst="roundRect">
            <a:avLst>
              <a:gd name="adj" fmla="val 16667"/>
            </a:avLst>
          </a:prstGeom>
          <a:solidFill>
            <a:srgbClr val="00539F"/>
          </a:solidFill>
          <a:ln/>
        </p:spPr>
      </p:sp>
      <p:sp>
        <p:nvSpPr>
          <p:cNvPr id="26" name="Text 24"/>
          <p:cNvSpPr/>
          <p:nvPr/>
        </p:nvSpPr>
        <p:spPr>
          <a:xfrm>
            <a:off x="6976872" y="1325880"/>
            <a:ext cx="1975104"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 · Health Dashboard</a:t>
            </a:r>
            <a:endParaRPr lang="en-US" sz="900" dirty="0"/>
          </a:p>
        </p:txBody>
      </p:sp>
      <p:sp>
        <p:nvSpPr>
          <p:cNvPr id="27" name="Text 25"/>
          <p:cNvSpPr/>
          <p:nvPr/>
        </p:nvSpPr>
        <p:spPr>
          <a:xfrm>
            <a:off x="7013448" y="1691640"/>
            <a:ext cx="1901952" cy="14630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Live auth rate, p95 latency, volume per method. Per-method alert thresholds. 3σ anomaly detection auto-enabled on go-live.</a:t>
            </a:r>
            <a:endParaRPr lang="en-US" sz="1000" dirty="0"/>
          </a:p>
        </p:txBody>
      </p:sp>
      <p:sp>
        <p:nvSpPr>
          <p:cNvPr id="28" name="Shape 26"/>
          <p:cNvSpPr/>
          <p:nvPr/>
        </p:nvSpPr>
        <p:spPr>
          <a:xfrm>
            <a:off x="7013448" y="3200400"/>
            <a:ext cx="1901952" cy="914400"/>
          </a:xfrm>
          <a:prstGeom prst="roundRect">
            <a:avLst>
              <a:gd name="adj" fmla="val 6000"/>
            </a:avLst>
          </a:prstGeom>
          <a:solidFill>
            <a:srgbClr val="0A1628"/>
          </a:solidFill>
          <a:ln/>
        </p:spPr>
      </p:sp>
      <p:sp>
        <p:nvSpPr>
          <p:cNvPr id="29" name="Text 27"/>
          <p:cNvSpPr/>
          <p:nvPr/>
        </p:nvSpPr>
        <p:spPr>
          <a:xfrm>
            <a:off x="7050024" y="3246120"/>
            <a:ext cx="1828800" cy="822960"/>
          </a:xfrm>
          <a:prstGeom prst="rect">
            <a:avLst/>
          </a:prstGeom>
          <a:noFill/>
          <a:ln/>
        </p:spPr>
        <p:txBody>
          <a:bodyPr wrap="square" rtlCol="0" anchor="t"/>
          <a:lstStyle/>
          <a:p>
            <a:pPr indent="0" marL="0">
              <a:buNone/>
            </a:pPr>
            <a:r>
              <a:rPr lang="en-US" sz="900" dirty="0">
                <a:solidFill>
                  <a:srgbClr val="7DD3A8"/>
                </a:solidFill>
                <a:latin typeface="Courier New" pitchFamily="34" charset="0"/>
                <a:ea typeface="Courier New" pitchFamily="34" charset="-122"/>
                <a:cs typeface="Courier New" pitchFamily="34" charset="-120"/>
              </a:rPr>
              <a:t>Visa   99.1% ● ok</a:t>
            </a:r>
            <a:endParaRPr lang="en-US" sz="900" dirty="0"/>
          </a:p>
          <a:p>
            <a:pPr indent="0" marL="0">
              <a:buNone/>
            </a:pPr>
            <a:r>
              <a:rPr lang="en-US" sz="900" dirty="0">
                <a:solidFill>
                  <a:srgbClr val="7DD3A8"/>
                </a:solidFill>
                <a:latin typeface="Courier New" pitchFamily="34" charset="0"/>
                <a:ea typeface="Courier New" pitchFamily="34" charset="-122"/>
                <a:cs typeface="Courier New" pitchFamily="34" charset="-120"/>
              </a:rPr>
              <a:t>APay  98.9% ● ok</a:t>
            </a:r>
            <a:endParaRPr lang="en-US" sz="900" dirty="0"/>
          </a:p>
          <a:p>
            <a:pPr indent="0" marL="0">
              <a:buNone/>
            </a:pPr>
            <a:r>
              <a:rPr lang="en-US" sz="900" dirty="0">
                <a:solidFill>
                  <a:srgbClr val="7DD3A8"/>
                </a:solidFill>
                <a:latin typeface="Courier New" pitchFamily="34" charset="0"/>
                <a:ea typeface="Courier New" pitchFamily="34" charset="-122"/>
                <a:cs typeface="Courier New" pitchFamily="34" charset="-120"/>
              </a:rPr>
              <a:t>Klarna 97.0% ● ok</a:t>
            </a:r>
            <a:endParaRPr lang="en-US" sz="900" dirty="0"/>
          </a:p>
        </p:txBody>
      </p:sp>
      <p:sp>
        <p:nvSpPr>
          <p:cNvPr id="30" name="Text 28"/>
          <p:cNvSpPr/>
          <p:nvPr/>
        </p:nvSpPr>
        <p:spPr>
          <a:xfrm>
            <a:off x="274320" y="6108192"/>
            <a:ext cx="8595360" cy="274320"/>
          </a:xfrm>
          <a:prstGeom prst="rect">
            <a:avLst/>
          </a:prstGeom>
          <a:noFill/>
          <a:ln/>
        </p:spPr>
        <p:txBody>
          <a:bodyPr wrap="square" rtlCol="0" anchor="ctr"/>
          <a:lstStyle/>
          <a:p>
            <a:pPr algn="ctr" indent="0" marL="0">
              <a:buNone/>
            </a:pPr>
            <a:r>
              <a:rPr lang="en-US" sz="900" i="1" dirty="0">
                <a:solidFill>
                  <a:srgbClr val="6B7A99"/>
                </a:solidFill>
                <a:latin typeface="Calibri" pitchFamily="34" charset="0"/>
                <a:ea typeface="Calibri" pitchFamily="34" charset="-122"/>
                <a:cs typeface="Calibri" pitchFamily="34" charset="-120"/>
              </a:rPr>
              <a:t>Prototype: tesco-walletbridge-prototype.html · All 4 screens interactive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sp>
      <p:sp>
        <p:nvSpPr>
          <p:cNvPr id="3" name="Shape 1"/>
          <p:cNvSpPr/>
          <p:nvPr/>
        </p:nvSpPr>
        <p:spPr>
          <a:xfrm>
            <a:off x="0" y="0"/>
            <a:ext cx="109728" cy="5143500"/>
          </a:xfrm>
          <a:prstGeom prst="rect">
            <a:avLst/>
          </a:prstGeom>
          <a:solidFill>
            <a:srgbClr val="E2001A"/>
          </a:solidFill>
          <a:ln/>
        </p:spPr>
      </p:sp>
      <p:sp>
        <p:nvSpPr>
          <p:cNvPr id="4" name="Text 2"/>
          <p:cNvSpPr/>
          <p:nvPr/>
        </p:nvSpPr>
        <p:spPr>
          <a:xfrm>
            <a:off x="274320" y="201168"/>
            <a:ext cx="3657600" cy="201168"/>
          </a:xfrm>
          <a:prstGeom prst="rect">
            <a:avLst/>
          </a:prstGeom>
          <a:noFill/>
          <a:ln/>
        </p:spPr>
        <p:txBody>
          <a:bodyPr wrap="square" rtlCol="0" anchor="ctr"/>
          <a:lstStyle/>
          <a:p>
            <a:pPr indent="0" marL="0">
              <a:buNone/>
            </a:pPr>
            <a:r>
              <a:rPr lang="en-US" sz="900" b="1" spc="300" kern="0" dirty="0">
                <a:solidFill>
                  <a:srgbClr val="E2001A"/>
                </a:solidFill>
                <a:latin typeface="Calibri" pitchFamily="34" charset="0"/>
                <a:ea typeface="Calibri" pitchFamily="34" charset="-122"/>
                <a:cs typeface="Calibri" pitchFamily="34" charset="-120"/>
              </a:rPr>
              <a:t>IMPACT &amp; ROI</a:t>
            </a:r>
            <a:endParaRPr lang="en-US" sz="900" dirty="0"/>
          </a:p>
        </p:txBody>
      </p:sp>
      <p:sp>
        <p:nvSpPr>
          <p:cNvPr id="5" name="Text 3"/>
          <p:cNvSpPr/>
          <p:nvPr/>
        </p:nvSpPr>
        <p:spPr>
          <a:xfrm>
            <a:off x="274320" y="457200"/>
            <a:ext cx="8595360" cy="5943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Faster Integration. More Methods. Better Payment Health.</a:t>
            </a:r>
            <a:endParaRPr lang="en-US" sz="2400" dirty="0"/>
          </a:p>
        </p:txBody>
      </p:sp>
      <p:sp>
        <p:nvSpPr>
          <p:cNvPr id="6" name="Text 4"/>
          <p:cNvSpPr/>
          <p:nvPr/>
        </p:nvSpPr>
        <p:spPr>
          <a:xfrm>
            <a:off x="274320" y="1234440"/>
            <a:ext cx="4114800" cy="256032"/>
          </a:xfrm>
          <a:prstGeom prst="rect">
            <a:avLst/>
          </a:prstGeom>
          <a:noFill/>
          <a:ln/>
        </p:spPr>
        <p:txBody>
          <a:bodyPr wrap="square" rtlCol="0" anchor="ctr"/>
          <a:lstStyle/>
          <a:p>
            <a:pPr indent="0" marL="0">
              <a:buNone/>
            </a:pPr>
            <a:r>
              <a:rPr lang="en-US" sz="1000" b="1" spc="200" kern="0" dirty="0">
                <a:solidFill>
                  <a:srgbClr val="00539F"/>
                </a:solidFill>
                <a:latin typeface="Calibri" pitchFamily="34" charset="0"/>
                <a:ea typeface="Calibri" pitchFamily="34" charset="-122"/>
                <a:cs typeface="Calibri" pitchFamily="34" charset="-120"/>
              </a:rPr>
              <a:t>Integration Velocity</a:t>
            </a:r>
            <a:endParaRPr lang="en-US" sz="1000" dirty="0"/>
          </a:p>
        </p:txBody>
      </p:sp>
      <p:sp>
        <p:nvSpPr>
          <p:cNvPr id="7" name="Shape 5"/>
          <p:cNvSpPr/>
          <p:nvPr/>
        </p:nvSpPr>
        <p:spPr>
          <a:xfrm>
            <a:off x="274320" y="1572768"/>
            <a:ext cx="4160520" cy="749808"/>
          </a:xfrm>
          <a:prstGeom prst="roundRect">
            <a:avLst>
              <a:gd name="adj" fmla="val 7317"/>
            </a:avLst>
          </a:prstGeom>
          <a:solidFill>
            <a:srgbClr val="102040"/>
          </a:solidFill>
          <a:ln/>
          <a:effectLst>
            <a:outerShdw sx="100000" sy="100000" kx="0" ky="0" algn="bl" rotWithShape="0" blurRad="50800" dist="25400" dir="2700000">
              <a:srgbClr val="000000">
                <a:alpha val="13000"/>
              </a:srgbClr>
            </a:outerShdw>
          </a:effectLst>
        </p:spPr>
      </p:sp>
      <p:sp>
        <p:nvSpPr>
          <p:cNvPr id="8" name="Text 6"/>
          <p:cNvSpPr/>
          <p:nvPr/>
        </p:nvSpPr>
        <p:spPr>
          <a:xfrm>
            <a:off x="384048" y="1627632"/>
            <a:ext cx="1463040" cy="457200"/>
          </a:xfrm>
          <a:prstGeom prst="rect">
            <a:avLst/>
          </a:prstGeom>
          <a:noFill/>
          <a:ln/>
        </p:spPr>
        <p:txBody>
          <a:bodyPr wrap="square" rtlCol="0" anchor="ctr"/>
          <a:lstStyle/>
          <a:p>
            <a:pPr indent="0" marL="0">
              <a:buNone/>
            </a:pPr>
            <a:r>
              <a:rPr lang="en-US" sz="2200" b="1" dirty="0">
                <a:solidFill>
                  <a:srgbClr val="00539F"/>
                </a:solidFill>
                <a:latin typeface="Calibri" pitchFamily="34" charset="0"/>
                <a:ea typeface="Calibri" pitchFamily="34" charset="-122"/>
                <a:cs typeface="Calibri" pitchFamily="34" charset="-120"/>
              </a:rPr>
              <a:t>−75%</a:t>
            </a:r>
            <a:endParaRPr lang="en-US" sz="2200" dirty="0"/>
          </a:p>
        </p:txBody>
      </p:sp>
      <p:sp>
        <p:nvSpPr>
          <p:cNvPr id="9" name="Text 7"/>
          <p:cNvSpPr/>
          <p:nvPr/>
        </p:nvSpPr>
        <p:spPr>
          <a:xfrm>
            <a:off x="1828800" y="1627632"/>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Integration time</a:t>
            </a:r>
            <a:endParaRPr lang="en-US" sz="1100" dirty="0"/>
          </a:p>
        </p:txBody>
      </p:sp>
      <p:sp>
        <p:nvSpPr>
          <p:cNvPr id="10" name="Text 8"/>
          <p:cNvSpPr/>
          <p:nvPr/>
        </p:nvSpPr>
        <p:spPr>
          <a:xfrm>
            <a:off x="1828800" y="1901952"/>
            <a:ext cx="2468880" cy="329184"/>
          </a:xfrm>
          <a:prstGeom prst="rect">
            <a:avLst/>
          </a:prstGeom>
          <a:noFill/>
          <a:ln/>
        </p:spPr>
        <p:txBody>
          <a:bodyPr wrap="square" rtlCol="0" anchor="t"/>
          <a:lstStyle/>
          <a:p>
            <a:pPr indent="0" marL="0">
              <a:buNone/>
            </a:pPr>
            <a:r>
              <a:rPr lang="en-US" sz="900" dirty="0">
                <a:solidFill>
                  <a:srgbClr val="6B7A99"/>
                </a:solidFill>
                <a:latin typeface="Calibri" pitchFamily="34" charset="0"/>
                <a:ea typeface="Calibri" pitchFamily="34" charset="-122"/>
                <a:cs typeface="Calibri" pitchFamily="34" charset="-120"/>
              </a:rPr>
              <a:t>6–8 weeks → 10 days per new payment method</a:t>
            </a:r>
            <a:endParaRPr lang="en-US" sz="900" dirty="0"/>
          </a:p>
        </p:txBody>
      </p:sp>
      <p:sp>
        <p:nvSpPr>
          <p:cNvPr id="11" name="Shape 9"/>
          <p:cNvSpPr/>
          <p:nvPr/>
        </p:nvSpPr>
        <p:spPr>
          <a:xfrm>
            <a:off x="274320" y="2414016"/>
            <a:ext cx="4160520" cy="749808"/>
          </a:xfrm>
          <a:prstGeom prst="roundRect">
            <a:avLst>
              <a:gd name="adj" fmla="val 7317"/>
            </a:avLst>
          </a:prstGeom>
          <a:solidFill>
            <a:srgbClr val="102040"/>
          </a:solidFill>
          <a:ln/>
          <a:effectLst>
            <a:outerShdw sx="100000" sy="100000" kx="0" ky="0" algn="bl" rotWithShape="0" blurRad="50800" dist="25400" dir="2700000">
              <a:srgbClr val="000000">
                <a:alpha val="13000"/>
              </a:srgbClr>
            </a:outerShdw>
          </a:effectLst>
        </p:spPr>
      </p:sp>
      <p:sp>
        <p:nvSpPr>
          <p:cNvPr id="12" name="Text 10"/>
          <p:cNvSpPr/>
          <p:nvPr/>
        </p:nvSpPr>
        <p:spPr>
          <a:xfrm>
            <a:off x="384048" y="2468880"/>
            <a:ext cx="1463040" cy="457200"/>
          </a:xfrm>
          <a:prstGeom prst="rect">
            <a:avLst/>
          </a:prstGeom>
          <a:noFill/>
          <a:ln/>
        </p:spPr>
        <p:txBody>
          <a:bodyPr wrap="square" rtlCol="0" anchor="ctr"/>
          <a:lstStyle/>
          <a:p>
            <a:pPr indent="0" marL="0">
              <a:buNone/>
            </a:pPr>
            <a:r>
              <a:rPr lang="en-US" sz="2200" b="1" dirty="0">
                <a:solidFill>
                  <a:srgbClr val="00539F"/>
                </a:solidFill>
                <a:latin typeface="Calibri" pitchFamily="34" charset="0"/>
                <a:ea typeface="Calibri" pitchFamily="34" charset="-122"/>
                <a:cs typeface="Calibri" pitchFamily="34" charset="-120"/>
              </a:rPr>
              <a:t>+4</a:t>
            </a:r>
            <a:endParaRPr lang="en-US" sz="2200" dirty="0"/>
          </a:p>
        </p:txBody>
      </p:sp>
      <p:sp>
        <p:nvSpPr>
          <p:cNvPr id="13" name="Text 11"/>
          <p:cNvSpPr/>
          <p:nvPr/>
        </p:nvSpPr>
        <p:spPr>
          <a:xfrm>
            <a:off x="1828800" y="2468880"/>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New methods/year</a:t>
            </a:r>
            <a:endParaRPr lang="en-US" sz="1100" dirty="0"/>
          </a:p>
        </p:txBody>
      </p:sp>
      <p:sp>
        <p:nvSpPr>
          <p:cNvPr id="14" name="Text 12"/>
          <p:cNvSpPr/>
          <p:nvPr/>
        </p:nvSpPr>
        <p:spPr>
          <a:xfrm>
            <a:off x="1828800" y="2743200"/>
            <a:ext cx="2468880" cy="329184"/>
          </a:xfrm>
          <a:prstGeom prst="rect">
            <a:avLst/>
          </a:prstGeom>
          <a:noFill/>
          <a:ln/>
        </p:spPr>
        <p:txBody>
          <a:bodyPr wrap="square" rtlCol="0" anchor="t"/>
          <a:lstStyle/>
          <a:p>
            <a:pPr indent="0" marL="0">
              <a:buNone/>
            </a:pPr>
            <a:r>
              <a:rPr lang="en-US" sz="900" dirty="0">
                <a:solidFill>
                  <a:srgbClr val="6B7A99"/>
                </a:solidFill>
                <a:latin typeface="Calibri" pitchFamily="34" charset="0"/>
                <a:ea typeface="Calibri" pitchFamily="34" charset="-122"/>
                <a:cs typeface="Calibri" pitchFamily="34" charset="-120"/>
              </a:rPr>
              <a:t>Without adding engineering headcount</a:t>
            </a:r>
            <a:endParaRPr lang="en-US" sz="900" dirty="0"/>
          </a:p>
        </p:txBody>
      </p:sp>
      <p:sp>
        <p:nvSpPr>
          <p:cNvPr id="15" name="Shape 13"/>
          <p:cNvSpPr/>
          <p:nvPr/>
        </p:nvSpPr>
        <p:spPr>
          <a:xfrm>
            <a:off x="274320" y="3255264"/>
            <a:ext cx="4160520" cy="749808"/>
          </a:xfrm>
          <a:prstGeom prst="roundRect">
            <a:avLst>
              <a:gd name="adj" fmla="val 7317"/>
            </a:avLst>
          </a:prstGeom>
          <a:solidFill>
            <a:srgbClr val="102040"/>
          </a:solidFill>
          <a:ln/>
          <a:effectLst>
            <a:outerShdw sx="100000" sy="100000" kx="0" ky="0" algn="bl" rotWithShape="0" blurRad="50800" dist="25400" dir="2700000">
              <a:srgbClr val="000000">
                <a:alpha val="13000"/>
              </a:srgbClr>
            </a:outerShdw>
          </a:effectLst>
        </p:spPr>
      </p:sp>
      <p:sp>
        <p:nvSpPr>
          <p:cNvPr id="16" name="Text 14"/>
          <p:cNvSpPr/>
          <p:nvPr/>
        </p:nvSpPr>
        <p:spPr>
          <a:xfrm>
            <a:off x="384048" y="3310128"/>
            <a:ext cx="1463040" cy="457200"/>
          </a:xfrm>
          <a:prstGeom prst="rect">
            <a:avLst/>
          </a:prstGeom>
          <a:noFill/>
          <a:ln/>
        </p:spPr>
        <p:txBody>
          <a:bodyPr wrap="square" rtlCol="0" anchor="ctr"/>
          <a:lstStyle/>
          <a:p>
            <a:pPr indent="0" marL="0">
              <a:buNone/>
            </a:pPr>
            <a:r>
              <a:rPr lang="en-US" sz="2200" b="1" dirty="0">
                <a:solidFill>
                  <a:srgbClr val="00539F"/>
                </a:solidFill>
                <a:latin typeface="Calibri" pitchFamily="34" charset="0"/>
                <a:ea typeface="Calibri" pitchFamily="34" charset="-122"/>
                <a:cs typeface="Calibri" pitchFamily="34" charset="-120"/>
              </a:rPr>
              <a:t>99.2%</a:t>
            </a:r>
            <a:endParaRPr lang="en-US" sz="2200" dirty="0"/>
          </a:p>
        </p:txBody>
      </p:sp>
      <p:sp>
        <p:nvSpPr>
          <p:cNvPr id="17" name="Text 15"/>
          <p:cNvSpPr/>
          <p:nvPr/>
        </p:nvSpPr>
        <p:spPr>
          <a:xfrm>
            <a:off x="1828800" y="3310128"/>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Integration SLA target</a:t>
            </a:r>
            <a:endParaRPr lang="en-US" sz="1100" dirty="0"/>
          </a:p>
        </p:txBody>
      </p:sp>
      <p:sp>
        <p:nvSpPr>
          <p:cNvPr id="18" name="Text 16"/>
          <p:cNvSpPr/>
          <p:nvPr/>
        </p:nvSpPr>
        <p:spPr>
          <a:xfrm>
            <a:off x="1828800" y="3584448"/>
            <a:ext cx="2468880" cy="329184"/>
          </a:xfrm>
          <a:prstGeom prst="rect">
            <a:avLst/>
          </a:prstGeom>
          <a:noFill/>
          <a:ln/>
        </p:spPr>
        <p:txBody>
          <a:bodyPr wrap="square" rtlCol="0" anchor="t"/>
          <a:lstStyle/>
          <a:p>
            <a:pPr indent="0" marL="0">
              <a:buNone/>
            </a:pPr>
            <a:r>
              <a:rPr lang="en-US" sz="900" dirty="0">
                <a:solidFill>
                  <a:srgbClr val="6B7A99"/>
                </a:solidFill>
                <a:latin typeface="Calibri" pitchFamily="34" charset="0"/>
                <a:ea typeface="Calibri" pitchFamily="34" charset="-122"/>
                <a:cs typeface="Calibri" pitchFamily="34" charset="-120"/>
              </a:rPr>
              <a:t>Per active method, monitored in real-time</a:t>
            </a:r>
            <a:endParaRPr lang="en-US" sz="900" dirty="0"/>
          </a:p>
        </p:txBody>
      </p:sp>
      <p:sp>
        <p:nvSpPr>
          <p:cNvPr id="19" name="Shape 17"/>
          <p:cNvSpPr/>
          <p:nvPr/>
        </p:nvSpPr>
        <p:spPr>
          <a:xfrm>
            <a:off x="274320" y="4096512"/>
            <a:ext cx="4160520" cy="749808"/>
          </a:xfrm>
          <a:prstGeom prst="roundRect">
            <a:avLst>
              <a:gd name="adj" fmla="val 7317"/>
            </a:avLst>
          </a:prstGeom>
          <a:solidFill>
            <a:srgbClr val="102040"/>
          </a:solidFill>
          <a:ln/>
          <a:effectLst>
            <a:outerShdw sx="100000" sy="100000" kx="0" ky="0" algn="bl" rotWithShape="0" blurRad="50800" dist="25400" dir="2700000">
              <a:srgbClr val="000000">
                <a:alpha val="13000"/>
              </a:srgbClr>
            </a:outerShdw>
          </a:effectLst>
        </p:spPr>
      </p:sp>
      <p:sp>
        <p:nvSpPr>
          <p:cNvPr id="20" name="Text 18"/>
          <p:cNvSpPr/>
          <p:nvPr/>
        </p:nvSpPr>
        <p:spPr>
          <a:xfrm>
            <a:off x="384048" y="4151376"/>
            <a:ext cx="1463040" cy="457200"/>
          </a:xfrm>
          <a:prstGeom prst="rect">
            <a:avLst/>
          </a:prstGeom>
          <a:noFill/>
          <a:ln/>
        </p:spPr>
        <p:txBody>
          <a:bodyPr wrap="square" rtlCol="0" anchor="ctr"/>
          <a:lstStyle/>
          <a:p>
            <a:pPr indent="0" marL="0">
              <a:buNone/>
            </a:pPr>
            <a:r>
              <a:rPr lang="en-US" sz="2200" b="1" dirty="0">
                <a:solidFill>
                  <a:srgbClr val="00539F"/>
                </a:solidFill>
                <a:latin typeface="Calibri" pitchFamily="34" charset="0"/>
                <a:ea typeface="Calibri" pitchFamily="34" charset="-122"/>
                <a:cs typeface="Calibri" pitchFamily="34" charset="-120"/>
              </a:rPr>
              <a:t>0</a:t>
            </a:r>
            <a:endParaRPr lang="en-US" sz="2200" dirty="0"/>
          </a:p>
        </p:txBody>
      </p:sp>
      <p:sp>
        <p:nvSpPr>
          <p:cNvPr id="21" name="Text 19"/>
          <p:cNvSpPr/>
          <p:nvPr/>
        </p:nvSpPr>
        <p:spPr>
          <a:xfrm>
            <a:off x="1828800" y="4151376"/>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Regressions on go-live</a:t>
            </a:r>
            <a:endParaRPr lang="en-US" sz="1100" dirty="0"/>
          </a:p>
        </p:txBody>
      </p:sp>
      <p:sp>
        <p:nvSpPr>
          <p:cNvPr id="22" name="Text 20"/>
          <p:cNvSpPr/>
          <p:nvPr/>
        </p:nvSpPr>
        <p:spPr>
          <a:xfrm>
            <a:off x="1828800" y="4425696"/>
            <a:ext cx="2468880" cy="329184"/>
          </a:xfrm>
          <a:prstGeom prst="rect">
            <a:avLst/>
          </a:prstGeom>
          <a:noFill/>
          <a:ln/>
        </p:spPr>
        <p:txBody>
          <a:bodyPr wrap="square" rtlCol="0" anchor="t"/>
          <a:lstStyle/>
          <a:p>
            <a:pPr indent="0" marL="0">
              <a:buNone/>
            </a:pPr>
            <a:r>
              <a:rPr lang="en-US" sz="900" dirty="0">
                <a:solidFill>
                  <a:srgbClr val="6B7A99"/>
                </a:solidFill>
                <a:latin typeface="Calibri" pitchFamily="34" charset="0"/>
                <a:ea typeface="Calibri" pitchFamily="34" charset="-122"/>
                <a:cs typeface="Calibri" pitchFamily="34" charset="-120"/>
              </a:rPr>
              <a:t>5-scenario sandbox gate prevents all preventable failures</a:t>
            </a:r>
            <a:endParaRPr lang="en-US" sz="900" dirty="0"/>
          </a:p>
        </p:txBody>
      </p:sp>
      <p:sp>
        <p:nvSpPr>
          <p:cNvPr id="23" name="Text 21"/>
          <p:cNvSpPr/>
          <p:nvPr/>
        </p:nvSpPr>
        <p:spPr>
          <a:xfrm>
            <a:off x="4663440" y="1234440"/>
            <a:ext cx="4114800" cy="256032"/>
          </a:xfrm>
          <a:prstGeom prst="rect">
            <a:avLst/>
          </a:prstGeom>
          <a:noFill/>
          <a:ln/>
        </p:spPr>
        <p:txBody>
          <a:bodyPr wrap="square"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Payment Health</a:t>
            </a:r>
            <a:endParaRPr lang="en-US" sz="1000" dirty="0"/>
          </a:p>
        </p:txBody>
      </p:sp>
      <p:sp>
        <p:nvSpPr>
          <p:cNvPr id="24" name="Shape 22"/>
          <p:cNvSpPr/>
          <p:nvPr/>
        </p:nvSpPr>
        <p:spPr>
          <a:xfrm>
            <a:off x="4663440" y="1572768"/>
            <a:ext cx="4160520" cy="749808"/>
          </a:xfrm>
          <a:prstGeom prst="roundRect">
            <a:avLst>
              <a:gd name="adj" fmla="val 7317"/>
            </a:avLst>
          </a:prstGeom>
          <a:solidFill>
            <a:srgbClr val="102040"/>
          </a:solidFill>
          <a:ln/>
          <a:effectLst>
            <a:outerShdw sx="100000" sy="100000" kx="0" ky="0" algn="bl" rotWithShape="0" blurRad="50800" dist="25400" dir="2700000">
              <a:srgbClr val="000000">
                <a:alpha val="13000"/>
              </a:srgbClr>
            </a:outerShdw>
          </a:effectLst>
        </p:spPr>
      </p:sp>
      <p:sp>
        <p:nvSpPr>
          <p:cNvPr id="25" name="Text 23"/>
          <p:cNvSpPr/>
          <p:nvPr/>
        </p:nvSpPr>
        <p:spPr>
          <a:xfrm>
            <a:off x="4773168" y="1627632"/>
            <a:ext cx="1463040" cy="45720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23%</a:t>
            </a:r>
            <a:endParaRPr lang="en-US" sz="2200" dirty="0"/>
          </a:p>
        </p:txBody>
      </p:sp>
      <p:sp>
        <p:nvSpPr>
          <p:cNvPr id="26" name="Text 24"/>
          <p:cNvSpPr/>
          <p:nvPr/>
        </p:nvSpPr>
        <p:spPr>
          <a:xfrm>
            <a:off x="6217920" y="1627632"/>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BNPL conversion uplift</a:t>
            </a:r>
            <a:endParaRPr lang="en-US" sz="1100" dirty="0"/>
          </a:p>
        </p:txBody>
      </p:sp>
      <p:sp>
        <p:nvSpPr>
          <p:cNvPr id="27" name="Text 25"/>
          <p:cNvSpPr/>
          <p:nvPr/>
        </p:nvSpPr>
        <p:spPr>
          <a:xfrm>
            <a:off x="6217920" y="1901952"/>
            <a:ext cx="2468880" cy="329184"/>
          </a:xfrm>
          <a:prstGeom prst="rect">
            <a:avLst/>
          </a:prstGeom>
          <a:noFill/>
          <a:ln/>
        </p:spPr>
        <p:txBody>
          <a:bodyPr wrap="square" rtlCol="0" anchor="t"/>
          <a:lstStyle/>
          <a:p>
            <a:pPr indent="0" marL="0">
              <a:buNone/>
            </a:pPr>
            <a:r>
              <a:rPr lang="en-US" sz="900" dirty="0">
                <a:solidFill>
                  <a:srgbClr val="6B7A99"/>
                </a:solidFill>
                <a:latin typeface="Calibri" pitchFamily="34" charset="0"/>
                <a:ea typeface="Calibri" pitchFamily="34" charset="-122"/>
                <a:cs typeface="Calibri" pitchFamily="34" charset="-120"/>
              </a:rPr>
              <a:t>At £150+ basket — Klarna live in 10 days, not 4 months</a:t>
            </a:r>
            <a:endParaRPr lang="en-US" sz="900" dirty="0"/>
          </a:p>
        </p:txBody>
      </p:sp>
      <p:sp>
        <p:nvSpPr>
          <p:cNvPr id="28" name="Shape 26"/>
          <p:cNvSpPr/>
          <p:nvPr/>
        </p:nvSpPr>
        <p:spPr>
          <a:xfrm>
            <a:off x="4663440" y="2414016"/>
            <a:ext cx="4160520" cy="749808"/>
          </a:xfrm>
          <a:prstGeom prst="roundRect">
            <a:avLst>
              <a:gd name="adj" fmla="val 7317"/>
            </a:avLst>
          </a:prstGeom>
          <a:solidFill>
            <a:srgbClr val="102040"/>
          </a:solidFill>
          <a:ln/>
          <a:effectLst>
            <a:outerShdw sx="100000" sy="100000" kx="0" ky="0" algn="bl" rotWithShape="0" blurRad="50800" dist="25400" dir="2700000">
              <a:srgbClr val="000000">
                <a:alpha val="13000"/>
              </a:srgbClr>
            </a:outerShdw>
          </a:effectLst>
        </p:spPr>
      </p:sp>
      <p:sp>
        <p:nvSpPr>
          <p:cNvPr id="29" name="Text 27"/>
          <p:cNvSpPr/>
          <p:nvPr/>
        </p:nvSpPr>
        <p:spPr>
          <a:xfrm>
            <a:off x="4773168" y="2468880"/>
            <a:ext cx="1463040" cy="45720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−60%</a:t>
            </a:r>
            <a:endParaRPr lang="en-US" sz="2200" dirty="0"/>
          </a:p>
        </p:txBody>
      </p:sp>
      <p:sp>
        <p:nvSpPr>
          <p:cNvPr id="30" name="Text 28"/>
          <p:cNvSpPr/>
          <p:nvPr/>
        </p:nvSpPr>
        <p:spPr>
          <a:xfrm>
            <a:off x="6217920" y="2468880"/>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False positive alerts</a:t>
            </a:r>
            <a:endParaRPr lang="en-US" sz="1100" dirty="0"/>
          </a:p>
        </p:txBody>
      </p:sp>
      <p:sp>
        <p:nvSpPr>
          <p:cNvPr id="31" name="Text 29"/>
          <p:cNvSpPr/>
          <p:nvPr/>
        </p:nvSpPr>
        <p:spPr>
          <a:xfrm>
            <a:off x="6217920" y="2743200"/>
            <a:ext cx="2468880" cy="329184"/>
          </a:xfrm>
          <a:prstGeom prst="rect">
            <a:avLst/>
          </a:prstGeom>
          <a:noFill/>
          <a:ln/>
        </p:spPr>
        <p:txBody>
          <a:bodyPr wrap="square" rtlCol="0" anchor="t"/>
          <a:lstStyle/>
          <a:p>
            <a:pPr indent="0" marL="0">
              <a:buNone/>
            </a:pPr>
            <a:r>
              <a:rPr lang="en-US" sz="900" dirty="0">
                <a:solidFill>
                  <a:srgbClr val="6B7A99"/>
                </a:solidFill>
                <a:latin typeface="Calibri" pitchFamily="34" charset="0"/>
                <a:ea typeface="Calibri" pitchFamily="34" charset="-122"/>
                <a:cs typeface="Calibri" pitchFamily="34" charset="-120"/>
              </a:rPr>
              <a:t>Per-method thresholds vs global aggregate monitoring</a:t>
            </a:r>
            <a:endParaRPr lang="en-US" sz="900" dirty="0"/>
          </a:p>
        </p:txBody>
      </p:sp>
      <p:sp>
        <p:nvSpPr>
          <p:cNvPr id="32" name="Shape 30"/>
          <p:cNvSpPr/>
          <p:nvPr/>
        </p:nvSpPr>
        <p:spPr>
          <a:xfrm>
            <a:off x="4663440" y="3255264"/>
            <a:ext cx="4160520" cy="749808"/>
          </a:xfrm>
          <a:prstGeom prst="roundRect">
            <a:avLst>
              <a:gd name="adj" fmla="val 7317"/>
            </a:avLst>
          </a:prstGeom>
          <a:solidFill>
            <a:srgbClr val="102040"/>
          </a:solidFill>
          <a:ln/>
          <a:effectLst>
            <a:outerShdw sx="100000" sy="100000" kx="0" ky="0" algn="bl" rotWithShape="0" blurRad="50800" dist="25400" dir="2700000">
              <a:srgbClr val="000000">
                <a:alpha val="13000"/>
              </a:srgbClr>
            </a:outerShdw>
          </a:effectLst>
        </p:spPr>
      </p:sp>
      <p:sp>
        <p:nvSpPr>
          <p:cNvPr id="33" name="Text 31"/>
          <p:cNvSpPr/>
          <p:nvPr/>
        </p:nvSpPr>
        <p:spPr>
          <a:xfrm>
            <a:off x="4773168" y="3310128"/>
            <a:ext cx="1463040" cy="45720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&lt;5 min</a:t>
            </a:r>
            <a:endParaRPr lang="en-US" sz="2200" dirty="0"/>
          </a:p>
        </p:txBody>
      </p:sp>
      <p:sp>
        <p:nvSpPr>
          <p:cNvPr id="34" name="Text 32"/>
          <p:cNvSpPr/>
          <p:nvPr/>
        </p:nvSpPr>
        <p:spPr>
          <a:xfrm>
            <a:off x="6217920" y="3310128"/>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From alert to root cause</a:t>
            </a:r>
            <a:endParaRPr lang="en-US" sz="1100" dirty="0"/>
          </a:p>
        </p:txBody>
      </p:sp>
      <p:sp>
        <p:nvSpPr>
          <p:cNvPr id="35" name="Text 33"/>
          <p:cNvSpPr/>
          <p:nvPr/>
        </p:nvSpPr>
        <p:spPr>
          <a:xfrm>
            <a:off x="6217920" y="3584448"/>
            <a:ext cx="2468880" cy="329184"/>
          </a:xfrm>
          <a:prstGeom prst="rect">
            <a:avLst/>
          </a:prstGeom>
          <a:noFill/>
          <a:ln/>
        </p:spPr>
        <p:txBody>
          <a:bodyPr wrap="square" rtlCol="0" anchor="t"/>
          <a:lstStyle/>
          <a:p>
            <a:pPr indent="0" marL="0">
              <a:buNone/>
            </a:pPr>
            <a:r>
              <a:rPr lang="en-US" sz="900" dirty="0">
                <a:solidFill>
                  <a:srgbClr val="6B7A99"/>
                </a:solidFill>
                <a:latin typeface="Calibri" pitchFamily="34" charset="0"/>
                <a:ea typeface="Calibri" pitchFamily="34" charset="-122"/>
                <a:cs typeface="Calibri" pitchFamily="34" charset="-120"/>
              </a:rPr>
              <a:t>3-dimension breakdown: PSP × method × issuer</a:t>
            </a:r>
            <a:endParaRPr lang="en-US" sz="900" dirty="0"/>
          </a:p>
        </p:txBody>
      </p:sp>
      <p:sp>
        <p:nvSpPr>
          <p:cNvPr id="36" name="Shape 34"/>
          <p:cNvSpPr/>
          <p:nvPr/>
        </p:nvSpPr>
        <p:spPr>
          <a:xfrm>
            <a:off x="4663440" y="4096512"/>
            <a:ext cx="4160520" cy="749808"/>
          </a:xfrm>
          <a:prstGeom prst="roundRect">
            <a:avLst>
              <a:gd name="adj" fmla="val 7317"/>
            </a:avLst>
          </a:prstGeom>
          <a:solidFill>
            <a:srgbClr val="102040"/>
          </a:solidFill>
          <a:ln/>
          <a:effectLst>
            <a:outerShdw sx="100000" sy="100000" kx="0" ky="0" algn="bl" rotWithShape="0" blurRad="50800" dist="25400" dir="2700000">
              <a:srgbClr val="000000">
                <a:alpha val="13000"/>
              </a:srgbClr>
            </a:outerShdw>
          </a:effectLst>
        </p:spPr>
      </p:sp>
      <p:sp>
        <p:nvSpPr>
          <p:cNvPr id="37" name="Text 35"/>
          <p:cNvSpPr/>
          <p:nvPr/>
        </p:nvSpPr>
        <p:spPr>
          <a:xfrm>
            <a:off x="4773168" y="4151376"/>
            <a:ext cx="1463040" cy="457200"/>
          </a:xfrm>
          <a:prstGeom prst="rect">
            <a:avLst/>
          </a:prstGeom>
          <a:noFill/>
          <a:ln/>
        </p:spPr>
        <p:txBody>
          <a:bodyPr wrap="square"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5 portals → 1</a:t>
            </a:r>
            <a:endParaRPr lang="en-US" sz="2200" dirty="0"/>
          </a:p>
        </p:txBody>
      </p:sp>
      <p:sp>
        <p:nvSpPr>
          <p:cNvPr id="38" name="Text 36"/>
          <p:cNvSpPr/>
          <p:nvPr/>
        </p:nvSpPr>
        <p:spPr>
          <a:xfrm>
            <a:off x="6217920" y="4151376"/>
            <a:ext cx="246888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Ops monitoring consolidation</a:t>
            </a:r>
            <a:endParaRPr lang="en-US" sz="1100" dirty="0"/>
          </a:p>
        </p:txBody>
      </p:sp>
      <p:sp>
        <p:nvSpPr>
          <p:cNvPr id="39" name="Text 37"/>
          <p:cNvSpPr/>
          <p:nvPr/>
        </p:nvSpPr>
        <p:spPr>
          <a:xfrm>
            <a:off x="6217920" y="4425696"/>
            <a:ext cx="2468880" cy="329184"/>
          </a:xfrm>
          <a:prstGeom prst="rect">
            <a:avLst/>
          </a:prstGeom>
          <a:noFill/>
          <a:ln/>
        </p:spPr>
        <p:txBody>
          <a:bodyPr wrap="square" rtlCol="0" anchor="t"/>
          <a:lstStyle/>
          <a:p>
            <a:pPr indent="0" marL="0">
              <a:buNone/>
            </a:pPr>
            <a:r>
              <a:rPr lang="en-US" sz="900" dirty="0">
                <a:solidFill>
                  <a:srgbClr val="6B7A99"/>
                </a:solidFill>
                <a:latin typeface="Calibri" pitchFamily="34" charset="0"/>
                <a:ea typeface="Calibri" pitchFamily="34" charset="-122"/>
                <a:cs typeface="Calibri" pitchFamily="34" charset="-120"/>
              </a:rPr>
              <a:t>Single health dashboard replaces all PSP portal logins</a:t>
            </a:r>
            <a:endParaRPr lang="en-US" sz="900" dirty="0"/>
          </a:p>
        </p:txBody>
      </p:sp>
      <p:sp>
        <p:nvSpPr>
          <p:cNvPr id="40" name="Shape 38"/>
          <p:cNvSpPr/>
          <p:nvPr/>
        </p:nvSpPr>
        <p:spPr>
          <a:xfrm>
            <a:off x="4462272" y="1234440"/>
            <a:ext cx="18288" cy="4892040"/>
          </a:xfrm>
          <a:prstGeom prst="rect">
            <a:avLst/>
          </a:prstGeom>
          <a:solidFill>
            <a:srgbClr val="1E3A5F"/>
          </a:solidFill>
          <a:ln/>
        </p:spPr>
      </p:sp>
      <p:sp>
        <p:nvSpPr>
          <p:cNvPr id="41" name="Shape 39"/>
          <p:cNvSpPr/>
          <p:nvPr/>
        </p:nvSpPr>
        <p:spPr>
          <a:xfrm>
            <a:off x="274320" y="5943600"/>
            <a:ext cx="8595360" cy="685800"/>
          </a:xfrm>
          <a:prstGeom prst="roundRect">
            <a:avLst>
              <a:gd name="adj" fmla="val 8000"/>
            </a:avLst>
          </a:prstGeom>
          <a:solidFill>
            <a:srgbClr val="0D2040"/>
          </a:solidFill>
          <a:ln/>
        </p:spPr>
      </p:sp>
      <p:sp>
        <p:nvSpPr>
          <p:cNvPr id="42" name="Text 40"/>
          <p:cNvSpPr/>
          <p:nvPr/>
        </p:nvSpPr>
        <p:spPr>
          <a:xfrm>
            <a:off x="457200" y="5998464"/>
            <a:ext cx="8229600" cy="548640"/>
          </a:xfrm>
          <a:prstGeom prst="rect">
            <a:avLst/>
          </a:prstGeom>
          <a:noFill/>
          <a:ln/>
        </p:spPr>
        <p:txBody>
          <a:bodyPr wrap="square" rtlCol="0" anchor="ctr"/>
          <a:lstStyle/>
          <a:p>
            <a:pPr indent="0" marL="0">
              <a:buNone/>
            </a:pPr>
            <a:r>
              <a:rPr lang="en-US" sz="1000" i="1" dirty="0">
                <a:solidFill>
                  <a:srgbClr val="6B7A99"/>
                </a:solidFill>
                <a:latin typeface="Calibri" pitchFamily="34" charset="0"/>
                <a:ea typeface="Calibri" pitchFamily="34" charset="-122"/>
                <a:cs typeface="Calibri" pitchFamily="34" charset="-120"/>
              </a:rPr>
              <a:t>WalletBridge turns payment method integration from a recurring engineering cost into a once-built platform. Every future method is 10 days and zero engineering dependency.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4480560" cy="5143500"/>
          </a:xfrm>
          <a:prstGeom prst="rect">
            <a:avLst/>
          </a:prstGeom>
          <a:solidFill>
            <a:srgbClr val="0A1628"/>
          </a:solidFill>
          <a:ln/>
        </p:spPr>
      </p:sp>
      <p:sp>
        <p:nvSpPr>
          <p:cNvPr id="3" name="Shape 1"/>
          <p:cNvSpPr/>
          <p:nvPr/>
        </p:nvSpPr>
        <p:spPr>
          <a:xfrm>
            <a:off x="4480560" y="0"/>
            <a:ext cx="4663440" cy="5143500"/>
          </a:xfrm>
          <a:prstGeom prst="rect">
            <a:avLst/>
          </a:prstGeom>
          <a:solidFill>
            <a:srgbClr val="F0F4FF"/>
          </a:solidFill>
          <a:ln/>
        </p:spPr>
      </p:sp>
      <p:sp>
        <p:nvSpPr>
          <p:cNvPr id="4" name="Shape 2"/>
          <p:cNvSpPr/>
          <p:nvPr/>
        </p:nvSpPr>
        <p:spPr>
          <a:xfrm>
            <a:off x="0" y="0"/>
            <a:ext cx="109728" cy="5143500"/>
          </a:xfrm>
          <a:prstGeom prst="rect">
            <a:avLst/>
          </a:prstGeom>
          <a:solidFill>
            <a:srgbClr val="00539F"/>
          </a:solidFill>
          <a:ln/>
        </p:spPr>
      </p:sp>
      <p:sp>
        <p:nvSpPr>
          <p:cNvPr id="5" name="Text 3"/>
          <p:cNvSpPr/>
          <p:nvPr/>
        </p:nvSpPr>
        <p:spPr>
          <a:xfrm>
            <a:off x="274320" y="201168"/>
            <a:ext cx="4023360" cy="201168"/>
          </a:xfrm>
          <a:prstGeom prst="rect">
            <a:avLst/>
          </a:prstGeom>
          <a:noFill/>
          <a:ln/>
        </p:spPr>
        <p:txBody>
          <a:bodyPr wrap="square" rtlCol="0" anchor="ctr"/>
          <a:lstStyle/>
          <a:p>
            <a:pPr indent="0" marL="0">
              <a:buNone/>
            </a:pPr>
            <a:r>
              <a:rPr lang="en-US" sz="900" b="1" spc="300" kern="0" dirty="0">
                <a:solidFill>
                  <a:srgbClr val="00539F"/>
                </a:solidFill>
                <a:latin typeface="Calibri" pitchFamily="34" charset="0"/>
                <a:ea typeface="Calibri" pitchFamily="34" charset="-122"/>
                <a:cs typeface="Calibri" pitchFamily="34" charset="-120"/>
              </a:rPr>
              <a:t>PROOF OF WORK</a:t>
            </a:r>
            <a:endParaRPr lang="en-US" sz="900" dirty="0"/>
          </a:p>
        </p:txBody>
      </p:sp>
      <p:sp>
        <p:nvSpPr>
          <p:cNvPr id="6" name="Text 4"/>
          <p:cNvSpPr/>
          <p:nvPr/>
        </p:nvSpPr>
        <p:spPr>
          <a:xfrm>
            <a:off x="274320" y="457200"/>
            <a:ext cx="8595360" cy="5943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 Built This Architecture at PhonePe</a:t>
            </a:r>
            <a:endParaRPr lang="en-US" sz="2200" dirty="0"/>
          </a:p>
        </p:txBody>
      </p:sp>
      <p:sp>
        <p:nvSpPr>
          <p:cNvPr id="7" name="Shape 5"/>
          <p:cNvSpPr/>
          <p:nvPr/>
        </p:nvSpPr>
        <p:spPr>
          <a:xfrm>
            <a:off x="228600" y="1280160"/>
            <a:ext cx="4069080" cy="1005840"/>
          </a:xfrm>
          <a:prstGeom prst="roundRect">
            <a:avLst>
              <a:gd name="adj" fmla="val 6364"/>
            </a:avLst>
          </a:prstGeom>
          <a:solidFill>
            <a:srgbClr val="102040"/>
          </a:solidFill>
          <a:ln/>
          <a:effectLst>
            <a:outerShdw sx="100000" sy="100000" kx="0" ky="0" algn="bl" rotWithShape="0" blurRad="50800" dist="25400" dir="2700000">
              <a:srgbClr val="000000">
                <a:alpha val="13000"/>
              </a:srgbClr>
            </a:outerShdw>
          </a:effectLst>
        </p:spPr>
      </p:sp>
      <p:sp>
        <p:nvSpPr>
          <p:cNvPr id="8" name="Text 6"/>
          <p:cNvSpPr/>
          <p:nvPr/>
        </p:nvSpPr>
        <p:spPr>
          <a:xfrm>
            <a:off x="365760" y="1335024"/>
            <a:ext cx="3794760" cy="896112"/>
          </a:xfrm>
          <a:prstGeom prst="rect">
            <a:avLst/>
          </a:prstGeom>
          <a:noFill/>
          <a:ln/>
        </p:spPr>
        <p:txBody>
          <a:bodyPr wrap="square" rtlCol="0" anchor="ctr"/>
          <a:lstStyle/>
          <a:p>
            <a:pPr indent="0" marL="0">
              <a:buNone/>
            </a:pPr>
            <a:r>
              <a:rPr lang="en-US" sz="950" dirty="0">
                <a:solidFill>
                  <a:srgbClr val="6B7A99"/>
                </a:solidFill>
                <a:latin typeface="Calibri" pitchFamily="34" charset="0"/>
                <a:ea typeface="Calibri" pitchFamily="34" charset="-122"/>
                <a:cs typeface="Calibri" pitchFamily="34" charset="-120"/>
              </a:rPr>
              <a:t>Built zero-to-one self-serve PG integration platform with guided merchant onboarding wizard → 5,000+ B2B merchants acquired, 23% lower CAC</a:t>
            </a:r>
            <a:endParaRPr lang="en-US" sz="950" dirty="0"/>
          </a:p>
        </p:txBody>
      </p:sp>
      <p:sp>
        <p:nvSpPr>
          <p:cNvPr id="9" name="Shape 7"/>
          <p:cNvSpPr/>
          <p:nvPr/>
        </p:nvSpPr>
        <p:spPr>
          <a:xfrm>
            <a:off x="228600" y="2377440"/>
            <a:ext cx="4069080" cy="1005840"/>
          </a:xfrm>
          <a:prstGeom prst="roundRect">
            <a:avLst>
              <a:gd name="adj" fmla="val 6364"/>
            </a:avLst>
          </a:prstGeom>
          <a:solidFill>
            <a:srgbClr val="102040"/>
          </a:solidFill>
          <a:ln/>
          <a:effectLst>
            <a:outerShdw sx="100000" sy="100000" kx="0" ky="0" algn="bl" rotWithShape="0" blurRad="50800" dist="25400" dir="2700000">
              <a:srgbClr val="000000">
                <a:alpha val="13000"/>
              </a:srgbClr>
            </a:outerShdw>
          </a:effectLst>
        </p:spPr>
      </p:sp>
      <p:sp>
        <p:nvSpPr>
          <p:cNvPr id="10" name="Text 8"/>
          <p:cNvSpPr/>
          <p:nvPr/>
        </p:nvSpPr>
        <p:spPr>
          <a:xfrm>
            <a:off x="365760" y="2432304"/>
            <a:ext cx="3794760" cy="896112"/>
          </a:xfrm>
          <a:prstGeom prst="rect">
            <a:avLst/>
          </a:prstGeom>
          <a:noFill/>
          <a:ln/>
        </p:spPr>
        <p:txBody>
          <a:bodyPr wrap="square" rtlCol="0" anchor="ctr"/>
          <a:lstStyle/>
          <a:p>
            <a:pPr indent="0" marL="0">
              <a:buNone/>
            </a:pPr>
            <a:r>
              <a:rPr lang="en-US" sz="950" dirty="0">
                <a:solidFill>
                  <a:srgbClr val="6B7A99"/>
                </a:solidFill>
                <a:latin typeface="Calibri" pitchFamily="34" charset="0"/>
                <a:ea typeface="Calibri" pitchFamily="34" charset="-122"/>
                <a:cs typeface="Calibri" pitchFamily="34" charset="-120"/>
              </a:rPr>
              <a:t>Platform abstracted Instant Discount + EMI subvention config into self-serve steps → zero engineering dependency per merchant integration</a:t>
            </a:r>
            <a:endParaRPr lang="en-US" sz="950" dirty="0"/>
          </a:p>
        </p:txBody>
      </p:sp>
      <p:sp>
        <p:nvSpPr>
          <p:cNvPr id="11" name="Shape 9"/>
          <p:cNvSpPr/>
          <p:nvPr/>
        </p:nvSpPr>
        <p:spPr>
          <a:xfrm>
            <a:off x="228600" y="3474720"/>
            <a:ext cx="4069080" cy="1005840"/>
          </a:xfrm>
          <a:prstGeom prst="roundRect">
            <a:avLst>
              <a:gd name="adj" fmla="val 6364"/>
            </a:avLst>
          </a:prstGeom>
          <a:solidFill>
            <a:srgbClr val="102040"/>
          </a:solidFill>
          <a:ln/>
          <a:effectLst>
            <a:outerShdw sx="100000" sy="100000" kx="0" ky="0" algn="bl" rotWithShape="0" blurRad="50800" dist="25400" dir="2700000">
              <a:srgbClr val="000000">
                <a:alpha val="13000"/>
              </a:srgbClr>
            </a:outerShdw>
          </a:effectLst>
        </p:spPr>
      </p:sp>
      <p:sp>
        <p:nvSpPr>
          <p:cNvPr id="12" name="Text 10"/>
          <p:cNvSpPr/>
          <p:nvPr/>
        </p:nvSpPr>
        <p:spPr>
          <a:xfrm>
            <a:off x="365760" y="3529584"/>
            <a:ext cx="3794760" cy="896112"/>
          </a:xfrm>
          <a:prstGeom prst="rect">
            <a:avLst/>
          </a:prstGeom>
          <a:noFill/>
          <a:ln/>
        </p:spPr>
        <p:txBody>
          <a:bodyPr wrap="square" rtlCol="0" anchor="ctr"/>
          <a:lstStyle/>
          <a:p>
            <a:pPr indent="0" marL="0">
              <a:buNone/>
            </a:pPr>
            <a:r>
              <a:rPr lang="en-US" sz="950" dirty="0">
                <a:solidFill>
                  <a:srgbClr val="6B7A99"/>
                </a:solidFill>
                <a:latin typeface="Calibri" pitchFamily="34" charset="0"/>
                <a:ea typeface="Calibri" pitchFamily="34" charset="-122"/>
                <a:cs typeface="Calibri" pitchFamily="34" charset="-120"/>
              </a:rPr>
              <a:t>Rebuilt 6 siloed ops workflows into unified intelligence console → TAT 2 days → 4 hours, −68% escalation tickets</a:t>
            </a:r>
            <a:endParaRPr lang="en-US" sz="950" dirty="0"/>
          </a:p>
        </p:txBody>
      </p:sp>
      <p:sp>
        <p:nvSpPr>
          <p:cNvPr id="13" name="Shape 11"/>
          <p:cNvSpPr/>
          <p:nvPr/>
        </p:nvSpPr>
        <p:spPr>
          <a:xfrm>
            <a:off x="228600" y="4572000"/>
            <a:ext cx="4069080" cy="1005840"/>
          </a:xfrm>
          <a:prstGeom prst="roundRect">
            <a:avLst>
              <a:gd name="adj" fmla="val 6364"/>
            </a:avLst>
          </a:prstGeom>
          <a:solidFill>
            <a:srgbClr val="102040"/>
          </a:solidFill>
          <a:ln/>
          <a:effectLst>
            <a:outerShdw sx="100000" sy="100000" kx="0" ky="0" algn="bl" rotWithShape="0" blurRad="50800" dist="25400" dir="2700000">
              <a:srgbClr val="000000">
                <a:alpha val="13000"/>
              </a:srgbClr>
            </a:outerShdw>
          </a:effectLst>
        </p:spPr>
      </p:sp>
      <p:sp>
        <p:nvSpPr>
          <p:cNvPr id="14" name="Text 12"/>
          <p:cNvSpPr/>
          <p:nvPr/>
        </p:nvSpPr>
        <p:spPr>
          <a:xfrm>
            <a:off x="365760" y="4626864"/>
            <a:ext cx="3794760" cy="896112"/>
          </a:xfrm>
          <a:prstGeom prst="rect">
            <a:avLst/>
          </a:prstGeom>
          <a:noFill/>
          <a:ln/>
        </p:spPr>
        <p:txBody>
          <a:bodyPr wrap="square" rtlCol="0" anchor="ctr"/>
          <a:lstStyle/>
          <a:p>
            <a:pPr indent="0" marL="0">
              <a:buNone/>
            </a:pPr>
            <a:r>
              <a:rPr lang="en-US" sz="950" dirty="0">
                <a:solidFill>
                  <a:srgbClr val="6B7A99"/>
                </a:solidFill>
                <a:latin typeface="Calibri" pitchFamily="34" charset="0"/>
                <a:ea typeface="Calibri" pitchFamily="34" charset="-122"/>
                <a:cs typeface="Calibri" pitchFamily="34" charset="-120"/>
              </a:rPr>
              <a:t>Deployed Propensity-to-Transact ML with real-time scoring layer → 32% marketing burn reduction, sustained GMV across all markets</a:t>
            </a:r>
            <a:endParaRPr lang="en-US" sz="950" dirty="0"/>
          </a:p>
        </p:txBody>
      </p:sp>
      <p:sp>
        <p:nvSpPr>
          <p:cNvPr id="15" name="Shape 13"/>
          <p:cNvSpPr/>
          <p:nvPr/>
        </p:nvSpPr>
        <p:spPr>
          <a:xfrm>
            <a:off x="4617720" y="1280160"/>
            <a:ext cx="4251960" cy="1005840"/>
          </a:xfrm>
          <a:prstGeom prst="roundRect">
            <a:avLst>
              <a:gd name="adj" fmla="val 6364"/>
            </a:avLst>
          </a:prstGeom>
          <a:solidFill>
            <a:srgbClr val="FFFFFF"/>
          </a:solidFill>
          <a:ln/>
          <a:effectLst>
            <a:outerShdw sx="100000" sy="100000" kx="0" ky="0" algn="bl" rotWithShape="0" blurRad="50800" dist="25400" dir="2700000">
              <a:srgbClr val="000000">
                <a:alpha val="13000"/>
              </a:srgbClr>
            </a:outerShdw>
          </a:effectLst>
        </p:spPr>
      </p:sp>
      <p:sp>
        <p:nvSpPr>
          <p:cNvPr id="16" name="Text 14"/>
          <p:cNvSpPr/>
          <p:nvPr/>
        </p:nvSpPr>
        <p:spPr>
          <a:xfrm>
            <a:off x="4754880" y="1335024"/>
            <a:ext cx="3977640" cy="896112"/>
          </a:xfrm>
          <a:prstGeom prst="rect">
            <a:avLst/>
          </a:prstGeom>
          <a:noFill/>
          <a:ln/>
        </p:spPr>
        <p:txBody>
          <a:bodyPr wrap="square" rtlCol="0" anchor="ctr"/>
          <a:lstStyle/>
          <a:p>
            <a:pPr indent="0" marL="0">
              <a:buNone/>
            </a:pPr>
            <a:r>
              <a:rPr lang="en-US" sz="950" dirty="0">
                <a:solidFill>
                  <a:srgbClr val="1E3A5F"/>
                </a:solidFill>
                <a:latin typeface="Calibri" pitchFamily="34" charset="0"/>
                <a:ea typeface="Calibri" pitchFamily="34" charset="-122"/>
                <a:cs typeface="Calibri" pitchFamily="34" charset="-120"/>
              </a:rPr>
              <a:t>→ WalletBridge wizard — same self-serve onboarding architecture, payment methods instead of merchant capabilities</a:t>
            </a:r>
            <a:endParaRPr lang="en-US" sz="950" dirty="0"/>
          </a:p>
        </p:txBody>
      </p:sp>
      <p:sp>
        <p:nvSpPr>
          <p:cNvPr id="17" name="Shape 15"/>
          <p:cNvSpPr/>
          <p:nvPr/>
        </p:nvSpPr>
        <p:spPr>
          <a:xfrm>
            <a:off x="4617720" y="2377440"/>
            <a:ext cx="4251960" cy="1005840"/>
          </a:xfrm>
          <a:prstGeom prst="roundRect">
            <a:avLst>
              <a:gd name="adj" fmla="val 6364"/>
            </a:avLst>
          </a:prstGeom>
          <a:solidFill>
            <a:srgbClr val="FFFFFF"/>
          </a:solidFill>
          <a:ln/>
          <a:effectLst>
            <a:outerShdw sx="100000" sy="100000" kx="0" ky="0" algn="bl" rotWithShape="0" blurRad="50800" dist="25400" dir="2700000">
              <a:srgbClr val="000000">
                <a:alpha val="13000"/>
              </a:srgbClr>
            </a:outerShdw>
          </a:effectLst>
        </p:spPr>
      </p:sp>
      <p:sp>
        <p:nvSpPr>
          <p:cNvPr id="18" name="Text 16"/>
          <p:cNvSpPr/>
          <p:nvPr/>
        </p:nvSpPr>
        <p:spPr>
          <a:xfrm>
            <a:off x="4754880" y="2432304"/>
            <a:ext cx="3977640" cy="896112"/>
          </a:xfrm>
          <a:prstGeom prst="rect">
            <a:avLst/>
          </a:prstGeom>
          <a:noFill/>
          <a:ln/>
        </p:spPr>
        <p:txBody>
          <a:bodyPr wrap="square" rtlCol="0" anchor="ctr"/>
          <a:lstStyle/>
          <a:p>
            <a:pPr indent="0" marL="0">
              <a:buNone/>
            </a:pPr>
            <a:r>
              <a:rPr lang="en-US" sz="950" dirty="0">
                <a:solidFill>
                  <a:srgbClr val="1E3A5F"/>
                </a:solidFill>
                <a:latin typeface="Calibri" pitchFamily="34" charset="0"/>
                <a:ea typeface="Calibri" pitchFamily="34" charset="-122"/>
                <a:cs typeface="Calibri" pitchFamily="34" charset="-120"/>
              </a:rPr>
              <a:t>→ WalletBridge abstraction layer — PSP config, webhook normalisation, error mapping into guided config steps</a:t>
            </a:r>
            <a:endParaRPr lang="en-US" sz="950" dirty="0"/>
          </a:p>
        </p:txBody>
      </p:sp>
      <p:sp>
        <p:nvSpPr>
          <p:cNvPr id="19" name="Shape 17"/>
          <p:cNvSpPr/>
          <p:nvPr/>
        </p:nvSpPr>
        <p:spPr>
          <a:xfrm>
            <a:off x="4617720" y="3474720"/>
            <a:ext cx="4251960" cy="1005840"/>
          </a:xfrm>
          <a:prstGeom prst="roundRect">
            <a:avLst>
              <a:gd name="adj" fmla="val 6364"/>
            </a:avLst>
          </a:prstGeom>
          <a:solidFill>
            <a:srgbClr val="FFFFFF"/>
          </a:solidFill>
          <a:ln/>
          <a:effectLst>
            <a:outerShdw sx="100000" sy="100000" kx="0" ky="0" algn="bl" rotWithShape="0" blurRad="50800" dist="25400" dir="2700000">
              <a:srgbClr val="000000">
                <a:alpha val="13000"/>
              </a:srgbClr>
            </a:outerShdw>
          </a:effectLst>
        </p:spPr>
      </p:sp>
      <p:sp>
        <p:nvSpPr>
          <p:cNvPr id="20" name="Text 18"/>
          <p:cNvSpPr/>
          <p:nvPr/>
        </p:nvSpPr>
        <p:spPr>
          <a:xfrm>
            <a:off x="4754880" y="3529584"/>
            <a:ext cx="3977640" cy="896112"/>
          </a:xfrm>
          <a:prstGeom prst="rect">
            <a:avLst/>
          </a:prstGeom>
          <a:noFill/>
          <a:ln/>
        </p:spPr>
        <p:txBody>
          <a:bodyPr wrap="square" rtlCol="0" anchor="ctr"/>
          <a:lstStyle/>
          <a:p>
            <a:pPr indent="0" marL="0">
              <a:buNone/>
            </a:pPr>
            <a:r>
              <a:rPr lang="en-US" sz="950" dirty="0">
                <a:solidFill>
                  <a:srgbClr val="1E3A5F"/>
                </a:solidFill>
                <a:latin typeface="Calibri" pitchFamily="34" charset="0"/>
                <a:ea typeface="Calibri" pitchFamily="34" charset="-122"/>
                <a:cs typeface="Calibri" pitchFamily="34" charset="-120"/>
              </a:rPr>
              <a:t>→ WalletBridge health dashboard — same consolidation architecture, payment health instead of ops workflows</a:t>
            </a:r>
            <a:endParaRPr lang="en-US" sz="950" dirty="0"/>
          </a:p>
        </p:txBody>
      </p:sp>
      <p:sp>
        <p:nvSpPr>
          <p:cNvPr id="21" name="Shape 19"/>
          <p:cNvSpPr/>
          <p:nvPr/>
        </p:nvSpPr>
        <p:spPr>
          <a:xfrm>
            <a:off x="4617720" y="4572000"/>
            <a:ext cx="4251960" cy="1005840"/>
          </a:xfrm>
          <a:prstGeom prst="roundRect">
            <a:avLst>
              <a:gd name="adj" fmla="val 6364"/>
            </a:avLst>
          </a:prstGeom>
          <a:solidFill>
            <a:srgbClr val="FFFFFF"/>
          </a:solidFill>
          <a:ln/>
          <a:effectLst>
            <a:outerShdw sx="100000" sy="100000" kx="0" ky="0" algn="bl" rotWithShape="0" blurRad="50800" dist="25400" dir="2700000">
              <a:srgbClr val="000000">
                <a:alpha val="13000"/>
              </a:srgbClr>
            </a:outerShdw>
          </a:effectLst>
        </p:spPr>
      </p:sp>
      <p:sp>
        <p:nvSpPr>
          <p:cNvPr id="22" name="Text 20"/>
          <p:cNvSpPr/>
          <p:nvPr/>
        </p:nvSpPr>
        <p:spPr>
          <a:xfrm>
            <a:off x="4754880" y="4626864"/>
            <a:ext cx="3977640" cy="896112"/>
          </a:xfrm>
          <a:prstGeom prst="rect">
            <a:avLst/>
          </a:prstGeom>
          <a:noFill/>
          <a:ln/>
        </p:spPr>
        <p:txBody>
          <a:bodyPr wrap="square" rtlCol="0" anchor="ctr"/>
          <a:lstStyle/>
          <a:p>
            <a:pPr indent="0" marL="0">
              <a:buNone/>
            </a:pPr>
            <a:r>
              <a:rPr lang="en-US" sz="950" dirty="0">
                <a:solidFill>
                  <a:srgbClr val="1E3A5F"/>
                </a:solidFill>
                <a:latin typeface="Calibri" pitchFamily="34" charset="0"/>
                <a:ea typeface="Calibri" pitchFamily="34" charset="-122"/>
                <a:cs typeface="Calibri" pitchFamily="34" charset="-120"/>
              </a:rPr>
              <a:t>→ WalletBridge 3σ anomaly detection — same real-time scoring principle, auth rate instead of propensity</a:t>
            </a:r>
            <a:endParaRPr lang="en-US" sz="950" dirty="0"/>
          </a:p>
        </p:txBody>
      </p:sp>
      <p:sp>
        <p:nvSpPr>
          <p:cNvPr id="23" name="Shape 21"/>
          <p:cNvSpPr/>
          <p:nvPr/>
        </p:nvSpPr>
        <p:spPr>
          <a:xfrm>
            <a:off x="228600" y="5715000"/>
            <a:ext cx="8686800" cy="640080"/>
          </a:xfrm>
          <a:prstGeom prst="roundRect">
            <a:avLst>
              <a:gd name="adj" fmla="val 8571"/>
            </a:avLst>
          </a:prstGeom>
          <a:solidFill>
            <a:srgbClr val="00539F"/>
          </a:solidFill>
          <a:ln/>
        </p:spPr>
      </p:sp>
      <p:sp>
        <p:nvSpPr>
          <p:cNvPr id="24" name="Text 22"/>
          <p:cNvSpPr/>
          <p:nvPr/>
        </p:nvSpPr>
        <p:spPr>
          <a:xfrm>
            <a:off x="365760" y="5760720"/>
            <a:ext cx="8412480" cy="548640"/>
          </a:xfrm>
          <a:prstGeom prst="rect">
            <a:avLst/>
          </a:prstGeom>
          <a:noFill/>
          <a:ln/>
        </p:spPr>
        <p:txBody>
          <a:bodyPr wrap="square"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This is not a conceptual case study. WalletBridge is the exact same platform architecture I shipped at PhonePe — applied to Tesco's payment method problem.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sp>
      <p:sp>
        <p:nvSpPr>
          <p:cNvPr id="3" name="Shape 1"/>
          <p:cNvSpPr/>
          <p:nvPr/>
        </p:nvSpPr>
        <p:spPr>
          <a:xfrm>
            <a:off x="0" y="0"/>
            <a:ext cx="109728" cy="5143500"/>
          </a:xfrm>
          <a:prstGeom prst="rect">
            <a:avLst/>
          </a:prstGeom>
          <a:solidFill>
            <a:srgbClr val="F59E0B"/>
          </a:solidFill>
          <a:ln/>
        </p:spPr>
      </p:sp>
      <p:sp>
        <p:nvSpPr>
          <p:cNvPr id="4" name="Text 2"/>
          <p:cNvSpPr/>
          <p:nvPr/>
        </p:nvSpPr>
        <p:spPr>
          <a:xfrm>
            <a:off x="274320" y="201168"/>
            <a:ext cx="3657600" cy="201168"/>
          </a:xfrm>
          <a:prstGeom prst="rect">
            <a:avLst/>
          </a:prstGeom>
          <a:noFill/>
          <a:ln/>
        </p:spPr>
        <p:txBody>
          <a:bodyPr wrap="square" rtlCol="0" anchor="ctr"/>
          <a:lstStyle/>
          <a:p>
            <a:pPr indent="0" marL="0">
              <a:buNone/>
            </a:pPr>
            <a:r>
              <a:rPr lang="en-US" sz="900" b="1" spc="300" kern="0" dirty="0">
                <a:solidFill>
                  <a:srgbClr val="F59E0B"/>
                </a:solidFill>
                <a:latin typeface="Calibri" pitchFamily="34" charset="0"/>
                <a:ea typeface="Calibri" pitchFamily="34" charset="-122"/>
                <a:cs typeface="Calibri" pitchFamily="34" charset="-120"/>
              </a:rPr>
              <a:t>ROLLOUT PLAN</a:t>
            </a:r>
            <a:endParaRPr lang="en-US" sz="900" dirty="0"/>
          </a:p>
        </p:txBody>
      </p:sp>
      <p:sp>
        <p:nvSpPr>
          <p:cNvPr id="5" name="Text 3"/>
          <p:cNvSpPr/>
          <p:nvPr/>
        </p:nvSpPr>
        <p:spPr>
          <a:xfrm>
            <a:off x="274320" y="457200"/>
            <a:ext cx="8595360" cy="5943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Three Phases — Low Risk Migration to Full Platform</a:t>
            </a:r>
            <a:endParaRPr lang="en-US" sz="2600" dirty="0"/>
          </a:p>
        </p:txBody>
      </p:sp>
      <p:sp>
        <p:nvSpPr>
          <p:cNvPr id="6" name="Shape 4"/>
          <p:cNvSpPr/>
          <p:nvPr/>
        </p:nvSpPr>
        <p:spPr>
          <a:xfrm>
            <a:off x="228600" y="1261872"/>
            <a:ext cx="2816352" cy="3749040"/>
          </a:xfrm>
          <a:prstGeom prst="roundRect">
            <a:avLst>
              <a:gd name="adj" fmla="val 3247"/>
            </a:avLst>
          </a:prstGeom>
          <a:solidFill>
            <a:srgbClr val="102040"/>
          </a:solidFill>
          <a:ln/>
          <a:effectLst>
            <a:outerShdw sx="100000" sy="100000" kx="0" ky="0" algn="bl" rotWithShape="0" blurRad="50800" dist="25400" dir="2700000">
              <a:srgbClr val="000000">
                <a:alpha val="13000"/>
              </a:srgbClr>
            </a:outerShdw>
          </a:effectLst>
        </p:spPr>
      </p:sp>
      <p:sp>
        <p:nvSpPr>
          <p:cNvPr id="7" name="Shape 5"/>
          <p:cNvSpPr/>
          <p:nvPr/>
        </p:nvSpPr>
        <p:spPr>
          <a:xfrm>
            <a:off x="301752" y="1353312"/>
            <a:ext cx="2670048" cy="329184"/>
          </a:xfrm>
          <a:prstGeom prst="roundRect">
            <a:avLst>
              <a:gd name="adj" fmla="val 13889"/>
            </a:avLst>
          </a:prstGeom>
          <a:solidFill>
            <a:srgbClr val="00539F"/>
          </a:solidFill>
          <a:ln/>
        </p:spPr>
      </p:sp>
      <p:sp>
        <p:nvSpPr>
          <p:cNvPr id="8" name="Text 6"/>
          <p:cNvSpPr/>
          <p:nvPr/>
        </p:nvSpPr>
        <p:spPr>
          <a:xfrm>
            <a:off x="301752" y="1353312"/>
            <a:ext cx="2670048" cy="329184"/>
          </a:xfrm>
          <a:prstGeom prst="rect">
            <a:avLst/>
          </a:prstGeom>
          <a:noFill/>
          <a:ln/>
        </p:spPr>
        <p:txBody>
          <a:bodyPr wrap="square" rtlCol="0" anchor="ctr"/>
          <a:lstStyle/>
          <a:p>
            <a:pPr algn="ctr" indent="0" marL="0">
              <a:buNone/>
            </a:pPr>
            <a:r>
              <a:rPr lang="en-US" sz="1000" b="1" dirty="0">
                <a:solidFill>
                  <a:srgbClr val="0A1628"/>
                </a:solidFill>
                <a:latin typeface="Calibri" pitchFamily="34" charset="0"/>
                <a:ea typeface="Calibri" pitchFamily="34" charset="-122"/>
                <a:cs typeface="Calibri" pitchFamily="34" charset="-120"/>
              </a:rPr>
              <a:t>Phase 01</a:t>
            </a:r>
            <a:endParaRPr lang="en-US" sz="1000" dirty="0"/>
          </a:p>
        </p:txBody>
      </p:sp>
      <p:sp>
        <p:nvSpPr>
          <p:cNvPr id="9" name="Text 7"/>
          <p:cNvSpPr/>
          <p:nvPr/>
        </p:nvSpPr>
        <p:spPr>
          <a:xfrm>
            <a:off x="338328" y="1764792"/>
            <a:ext cx="2596896" cy="5029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Phase 1 — Month 1–2: Pilot (Klarna BNPL)</a:t>
            </a:r>
            <a:endParaRPr lang="en-US" sz="1100" dirty="0"/>
          </a:p>
        </p:txBody>
      </p:sp>
      <p:sp>
        <p:nvSpPr>
          <p:cNvPr id="10" name="Text 8"/>
          <p:cNvSpPr/>
          <p:nvPr/>
        </p:nvSpPr>
        <p:spPr>
          <a:xfrm>
            <a:off x="338328" y="2331720"/>
            <a:ext cx="2596896" cy="2560320"/>
          </a:xfrm>
          <a:prstGeom prst="rect">
            <a:avLst/>
          </a:prstGeom>
          <a:noFill/>
          <a:ln/>
        </p:spPr>
        <p:txBody>
          <a:bodyPr wrap="square" rtlCol="0" anchor="t"/>
          <a:lstStyle/>
          <a:p>
            <a:pPr indent="0" marL="0">
              <a:buNone/>
            </a:pPr>
            <a:r>
              <a:rPr lang="en-US" sz="1000" dirty="0">
                <a:solidFill>
                  <a:srgbClr val="6B7A99"/>
                </a:solidFill>
                <a:latin typeface="Calibri" pitchFamily="34" charset="0"/>
                <a:ea typeface="Calibri" pitchFamily="34" charset="-122"/>
                <a:cs typeface="Calibri" pitchFamily="34" charset="-120"/>
              </a:rPr>
              <a:t>Complete Klarna integration as first WalletBridge-managed method. Measure integration time vs historical baseline. Validate sandbox gate catches all real-world edge cases. Deploy health monitoring and tune alert thresholds.</a:t>
            </a:r>
            <a:endParaRPr lang="en-US" sz="1000" dirty="0"/>
          </a:p>
        </p:txBody>
      </p:sp>
      <p:sp>
        <p:nvSpPr>
          <p:cNvPr id="11" name="Shape 9"/>
          <p:cNvSpPr/>
          <p:nvPr/>
        </p:nvSpPr>
        <p:spPr>
          <a:xfrm>
            <a:off x="3227832" y="1261872"/>
            <a:ext cx="2816352" cy="3749040"/>
          </a:xfrm>
          <a:prstGeom prst="roundRect">
            <a:avLst>
              <a:gd name="adj" fmla="val 3247"/>
            </a:avLst>
          </a:prstGeom>
          <a:solidFill>
            <a:srgbClr val="102040"/>
          </a:solidFill>
          <a:ln/>
          <a:effectLst>
            <a:outerShdw sx="100000" sy="100000" kx="0" ky="0" algn="bl" rotWithShape="0" blurRad="50800" dist="25400" dir="2700000">
              <a:srgbClr val="000000">
                <a:alpha val="13000"/>
              </a:srgbClr>
            </a:outerShdw>
          </a:effectLst>
        </p:spPr>
      </p:sp>
      <p:sp>
        <p:nvSpPr>
          <p:cNvPr id="12" name="Shape 10"/>
          <p:cNvSpPr/>
          <p:nvPr/>
        </p:nvSpPr>
        <p:spPr>
          <a:xfrm>
            <a:off x="3300984" y="1353312"/>
            <a:ext cx="2670048" cy="329184"/>
          </a:xfrm>
          <a:prstGeom prst="roundRect">
            <a:avLst>
              <a:gd name="adj" fmla="val 13889"/>
            </a:avLst>
          </a:prstGeom>
          <a:solidFill>
            <a:srgbClr val="F59E0B"/>
          </a:solidFill>
          <a:ln/>
        </p:spPr>
      </p:sp>
      <p:sp>
        <p:nvSpPr>
          <p:cNvPr id="13" name="Text 11"/>
          <p:cNvSpPr/>
          <p:nvPr/>
        </p:nvSpPr>
        <p:spPr>
          <a:xfrm>
            <a:off x="3300984" y="1353312"/>
            <a:ext cx="2670048" cy="329184"/>
          </a:xfrm>
          <a:prstGeom prst="rect">
            <a:avLst/>
          </a:prstGeom>
          <a:noFill/>
          <a:ln/>
        </p:spPr>
        <p:txBody>
          <a:bodyPr wrap="square" rtlCol="0" anchor="ctr"/>
          <a:lstStyle/>
          <a:p>
            <a:pPr algn="ctr" indent="0" marL="0">
              <a:buNone/>
            </a:pPr>
            <a:r>
              <a:rPr lang="en-US" sz="1000" b="1" dirty="0">
                <a:solidFill>
                  <a:srgbClr val="0A1628"/>
                </a:solidFill>
                <a:latin typeface="Calibri" pitchFamily="34" charset="0"/>
                <a:ea typeface="Calibri" pitchFamily="34" charset="-122"/>
                <a:cs typeface="Calibri" pitchFamily="34" charset="-120"/>
              </a:rPr>
              <a:t>Phase 02</a:t>
            </a:r>
            <a:endParaRPr lang="en-US" sz="1000" dirty="0"/>
          </a:p>
        </p:txBody>
      </p:sp>
      <p:sp>
        <p:nvSpPr>
          <p:cNvPr id="14" name="Text 12"/>
          <p:cNvSpPr/>
          <p:nvPr/>
        </p:nvSpPr>
        <p:spPr>
          <a:xfrm>
            <a:off x="3337560" y="1764792"/>
            <a:ext cx="2596896" cy="5029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Phase 2 — Month 3–4: Platform &amp; 2 More Methods</a:t>
            </a:r>
            <a:endParaRPr lang="en-US" sz="1100" dirty="0"/>
          </a:p>
        </p:txBody>
      </p:sp>
      <p:sp>
        <p:nvSpPr>
          <p:cNvPr id="15" name="Text 13"/>
          <p:cNvSpPr/>
          <p:nvPr/>
        </p:nvSpPr>
        <p:spPr>
          <a:xfrm>
            <a:off x="3337560" y="2331720"/>
            <a:ext cx="2596896" cy="2560320"/>
          </a:xfrm>
          <a:prstGeom prst="rect">
            <a:avLst/>
          </a:prstGeom>
          <a:noFill/>
          <a:ln/>
        </p:spPr>
        <p:txBody>
          <a:bodyPr wrap="square" rtlCol="0" anchor="t"/>
          <a:lstStyle/>
          <a:p>
            <a:pPr indent="0" marL="0">
              <a:buNone/>
            </a:pPr>
            <a:r>
              <a:rPr lang="en-US" sz="1000" dirty="0">
                <a:solidFill>
                  <a:srgbClr val="6B7A99"/>
                </a:solidFill>
                <a:latin typeface="Calibri" pitchFamily="34" charset="0"/>
                <a:ea typeface="Calibri" pitchFamily="34" charset="-122"/>
                <a:cs typeface="Calibri" pitchFamily="34" charset="-120"/>
              </a:rPr>
              <a:t>Onboard 2 additional methods via wizard (Clearpay + Revolut Pay). Confirm sub-10-day integration time. A/B test per-method alert thresholds vs global baseline for false positive reduction. Publish integration time SLA.</a:t>
            </a:r>
            <a:endParaRPr lang="en-US" sz="1000" dirty="0"/>
          </a:p>
        </p:txBody>
      </p:sp>
      <p:sp>
        <p:nvSpPr>
          <p:cNvPr id="16" name="Shape 14"/>
          <p:cNvSpPr/>
          <p:nvPr/>
        </p:nvSpPr>
        <p:spPr>
          <a:xfrm>
            <a:off x="6227064" y="1261872"/>
            <a:ext cx="2816352" cy="3749040"/>
          </a:xfrm>
          <a:prstGeom prst="roundRect">
            <a:avLst>
              <a:gd name="adj" fmla="val 3247"/>
            </a:avLst>
          </a:prstGeom>
          <a:solidFill>
            <a:srgbClr val="102040"/>
          </a:solidFill>
          <a:ln/>
          <a:effectLst>
            <a:outerShdw sx="100000" sy="100000" kx="0" ky="0" algn="bl" rotWithShape="0" blurRad="50800" dist="25400" dir="2700000">
              <a:srgbClr val="000000">
                <a:alpha val="13000"/>
              </a:srgbClr>
            </a:outerShdw>
          </a:effectLst>
        </p:spPr>
      </p:sp>
      <p:sp>
        <p:nvSpPr>
          <p:cNvPr id="17" name="Shape 15"/>
          <p:cNvSpPr/>
          <p:nvPr/>
        </p:nvSpPr>
        <p:spPr>
          <a:xfrm>
            <a:off x="6300216" y="1353312"/>
            <a:ext cx="2670048" cy="329184"/>
          </a:xfrm>
          <a:prstGeom prst="roundRect">
            <a:avLst>
              <a:gd name="adj" fmla="val 13889"/>
            </a:avLst>
          </a:prstGeom>
          <a:solidFill>
            <a:srgbClr val="16A34A"/>
          </a:solidFill>
          <a:ln/>
        </p:spPr>
      </p:sp>
      <p:sp>
        <p:nvSpPr>
          <p:cNvPr id="18" name="Text 16"/>
          <p:cNvSpPr/>
          <p:nvPr/>
        </p:nvSpPr>
        <p:spPr>
          <a:xfrm>
            <a:off x="6300216" y="1353312"/>
            <a:ext cx="2670048" cy="329184"/>
          </a:xfrm>
          <a:prstGeom prst="rect">
            <a:avLst/>
          </a:prstGeom>
          <a:noFill/>
          <a:ln/>
        </p:spPr>
        <p:txBody>
          <a:bodyPr wrap="square" rtlCol="0" anchor="ctr"/>
          <a:lstStyle/>
          <a:p>
            <a:pPr algn="ctr" indent="0" marL="0">
              <a:buNone/>
            </a:pPr>
            <a:r>
              <a:rPr lang="en-US" sz="1000" b="1" dirty="0">
                <a:solidFill>
                  <a:srgbClr val="0A1628"/>
                </a:solidFill>
                <a:latin typeface="Calibri" pitchFamily="34" charset="0"/>
                <a:ea typeface="Calibri" pitchFamily="34" charset="-122"/>
                <a:cs typeface="Calibri" pitchFamily="34" charset="-120"/>
              </a:rPr>
              <a:t>Phase 03</a:t>
            </a:r>
            <a:endParaRPr lang="en-US" sz="1000" dirty="0"/>
          </a:p>
        </p:txBody>
      </p:sp>
      <p:sp>
        <p:nvSpPr>
          <p:cNvPr id="19" name="Text 17"/>
          <p:cNvSpPr/>
          <p:nvPr/>
        </p:nvSpPr>
        <p:spPr>
          <a:xfrm>
            <a:off x="6336792" y="1764792"/>
            <a:ext cx="2596896" cy="5029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Phase 3 — Month 5–6: Standard Onboarding Path</a:t>
            </a:r>
            <a:endParaRPr lang="en-US" sz="1100" dirty="0"/>
          </a:p>
        </p:txBody>
      </p:sp>
      <p:sp>
        <p:nvSpPr>
          <p:cNvPr id="20" name="Text 18"/>
          <p:cNvSpPr/>
          <p:nvPr/>
        </p:nvSpPr>
        <p:spPr>
          <a:xfrm>
            <a:off x="6336792" y="2331720"/>
            <a:ext cx="2596896" cy="2560320"/>
          </a:xfrm>
          <a:prstGeom prst="rect">
            <a:avLst/>
          </a:prstGeom>
          <a:noFill/>
          <a:ln/>
        </p:spPr>
        <p:txBody>
          <a:bodyPr wrap="square" rtlCol="0" anchor="t"/>
          <a:lstStyle/>
          <a:p>
            <a:pPr indent="0" marL="0">
              <a:buNone/>
            </a:pPr>
            <a:r>
              <a:rPr lang="en-US" sz="1000" dirty="0">
                <a:solidFill>
                  <a:srgbClr val="6B7A99"/>
                </a:solidFill>
                <a:latin typeface="Calibri" pitchFamily="34" charset="0"/>
                <a:ea typeface="Calibri" pitchFamily="34" charset="-122"/>
                <a:cs typeface="Calibri" pitchFamily="34" charset="-120"/>
              </a:rPr>
              <a:t>WalletBridge becomes the default path for all future payment method integrations. Engineering no longer assigned to integration sprints. PM team owns method onboarding end to end. Health dashboard becomes primary ops monitoring surface.</a:t>
            </a:r>
            <a:endParaRPr lang="en-US" sz="1000" dirty="0"/>
          </a:p>
        </p:txBody>
      </p:sp>
      <p:sp>
        <p:nvSpPr>
          <p:cNvPr id="21" name="Shape 19"/>
          <p:cNvSpPr/>
          <p:nvPr/>
        </p:nvSpPr>
        <p:spPr>
          <a:xfrm>
            <a:off x="228600" y="5193792"/>
            <a:ext cx="8686800" cy="1234440"/>
          </a:xfrm>
          <a:prstGeom prst="roundRect">
            <a:avLst>
              <a:gd name="adj" fmla="val 5926"/>
            </a:avLst>
          </a:prstGeom>
          <a:solidFill>
            <a:srgbClr val="0D2040"/>
          </a:solidFill>
          <a:ln/>
        </p:spPr>
      </p:sp>
      <p:sp>
        <p:nvSpPr>
          <p:cNvPr id="22" name="Text 20"/>
          <p:cNvSpPr/>
          <p:nvPr/>
        </p:nvSpPr>
        <p:spPr>
          <a:xfrm>
            <a:off x="411480" y="5266944"/>
            <a:ext cx="3657600" cy="256032"/>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What I Need to Ship This</a:t>
            </a:r>
            <a:endParaRPr lang="en-US" sz="1000" dirty="0"/>
          </a:p>
        </p:txBody>
      </p:sp>
      <p:sp>
        <p:nvSpPr>
          <p:cNvPr id="23" name="Text 21"/>
          <p:cNvSpPr/>
          <p:nvPr/>
        </p:nvSpPr>
        <p:spPr>
          <a:xfrm>
            <a:off x="411480" y="5541264"/>
            <a:ext cx="8321040" cy="777240"/>
          </a:xfrm>
          <a:prstGeom prst="rect">
            <a:avLst/>
          </a:prstGeom>
          <a:noFill/>
          <a:ln/>
        </p:spPr>
        <p:txBody>
          <a:bodyPr wrap="square" rtlCol="0" anchor="ctr"/>
          <a:lstStyle/>
          <a:p>
            <a:pPr indent="0" marL="0">
              <a:buNone/>
            </a:pPr>
            <a:r>
              <a:rPr lang="en-US" sz="950" dirty="0">
                <a:solidFill>
                  <a:srgbClr val="6B7A99"/>
                </a:solidFill>
                <a:latin typeface="Calibri" pitchFamily="34" charset="0"/>
                <a:ea typeface="Calibri" pitchFamily="34" charset="-122"/>
                <a:cs typeface="Calibri" pitchFamily="34" charset="-120"/>
              </a:rPr>
              <a:t>• Access to Tesco Payments API documentation and PSP contracts (Worldpay, Adyen, Stripe)</a:t>
            </a:r>
            <a:endParaRPr lang="en-US" sz="950" dirty="0"/>
          </a:p>
          <a:p>
            <a:pPr indent="0" marL="0">
              <a:buNone/>
            </a:pPr>
            <a:r>
              <a:rPr lang="en-US" sz="950" dirty="0">
                <a:solidFill>
                  <a:srgbClr val="6B7A99"/>
                </a:solidFill>
                <a:latin typeface="Calibri" pitchFamily="34" charset="0"/>
                <a:ea typeface="Calibri" pitchFamily="34" charset="-122"/>
                <a:cs typeface="Calibri" pitchFamily="34" charset="-120"/>
              </a:rPr>
              <a:t>• 1 backend engineer for webhook abstraction layer (weeks 2–6)</a:t>
            </a:r>
            <a:endParaRPr lang="en-US" sz="950" dirty="0"/>
          </a:p>
          <a:p>
            <a:pPr indent="0" marL="0">
              <a:buNone/>
            </a:pPr>
            <a:r>
              <a:rPr lang="en-US" sz="950" dirty="0">
                <a:solidFill>
                  <a:srgbClr val="6B7A99"/>
                </a:solidFill>
                <a:latin typeface="Calibri" pitchFamily="34" charset="0"/>
                <a:ea typeface="Calibri" pitchFamily="34" charset="-122"/>
                <a:cs typeface="Calibri" pitchFamily="34" charset="-120"/>
              </a:rPr>
              <a:t>• Alignment with PSP account managers on test credentials for sandbox environment</a:t>
            </a:r>
            <a:endParaRPr lang="en-US" sz="950" dirty="0"/>
          </a:p>
        </p:txBody>
      </p:sp>
      <p:sp>
        <p:nvSpPr>
          <p:cNvPr id="24" name="Text 22"/>
          <p:cNvSpPr/>
          <p:nvPr/>
        </p:nvSpPr>
        <p:spPr>
          <a:xfrm>
            <a:off x="0" y="6565392"/>
            <a:ext cx="9144000" cy="228600"/>
          </a:xfrm>
          <a:prstGeom prst="rect">
            <a:avLst/>
          </a:prstGeom>
          <a:noFill/>
          <a:ln/>
        </p:spPr>
        <p:txBody>
          <a:bodyPr wrap="square" rtlCol="0" anchor="ctr"/>
          <a:lstStyle/>
          <a:p>
            <a:pPr algn="ctr" indent="0" marL="0">
              <a:buNone/>
            </a:pPr>
            <a:r>
              <a:rPr lang="en-US" sz="900" dirty="0">
                <a:solidFill>
                  <a:srgbClr val="6B7A99"/>
                </a:solidFill>
                <a:latin typeface="Calibri" pitchFamily="34" charset="0"/>
                <a:ea typeface="Calibri" pitchFamily="34" charset="-122"/>
                <a:cs typeface="Calibri" pitchFamily="34" charset="-120"/>
              </a:rPr>
              <a:t>Ajay Avaghade  |  avaghadeajay009@gmail.com  |  +91 9561558439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WalletBridge — Tesco Payments Platform</dc:title>
  <dc:subject>PptxGenJS Presentation</dc:subject>
  <dc:creator>PptxGenJS</dc:creator>
  <cp:lastModifiedBy>PptxGenJS</cp:lastModifiedBy>
  <cp:revision>1</cp:revision>
  <dcterms:created xsi:type="dcterms:W3CDTF">2026-06-01T05:31:10Z</dcterms:created>
  <dcterms:modified xsi:type="dcterms:W3CDTF">2026-06-01T05:31:10Z</dcterms:modified>
</cp:coreProperties>
</file>