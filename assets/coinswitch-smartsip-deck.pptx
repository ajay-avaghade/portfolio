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00000">
            <a:off x="-457200" y="0"/>
            <a:ext cx="3200400" cy="5143500"/>
          </a:xfrm>
          <a:prstGeom prst="line">
            <a:avLst/>
          </a:prstGeom>
          <a:noFill/>
          <a:ln w="5080">
            <a:solidFill>
              <a:srgbClr val="22C5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800000">
            <a:off x="1554480" y="0"/>
            <a:ext cx="3200400" cy="5143500"/>
          </a:xfrm>
          <a:prstGeom prst="line">
            <a:avLst/>
          </a:prstGeom>
          <a:noFill/>
          <a:ln w="5080">
            <a:solidFill>
              <a:srgbClr val="22C5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3566160" y="0"/>
            <a:ext cx="3200400" cy="5143500"/>
          </a:xfrm>
          <a:prstGeom prst="line">
            <a:avLst/>
          </a:prstGeom>
          <a:noFill/>
          <a:ln w="508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800000">
            <a:off x="5577840" y="0"/>
            <a:ext cx="3200400" cy="5143500"/>
          </a:xfrm>
          <a:prstGeom prst="line">
            <a:avLst/>
          </a:prstGeom>
          <a:noFill/>
          <a:ln w="508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800000">
            <a:off x="7589520" y="0"/>
            <a:ext cx="1417320" cy="5143500"/>
          </a:xfrm>
          <a:prstGeom prst="line">
            <a:avLst/>
          </a:prstGeom>
          <a:noFill/>
          <a:ln w="508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774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22C55E">
              <a:alpha val="12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"/>
            <a:ext cx="3108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</a:rPr>
              <a:t>PEEPALCO · COINSWITCH GROWTH PM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658368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CoinSwitch SmartSIP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19072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ABBD0"/>
                </a:solidFill>
              </a:rPr>
              <a:t>AI-Powered Crypto SIP Optimizer: India's ₹15K Cr/mo MF Habit, Applied to Crypto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2157984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</a:rPr>
              <a:t>Presented by Ajay Avaghade  ·  Growth PM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0" y="34747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22C55E">
              <a:alpha val="14000"/>
            </a:srgbClr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3547872"/>
            <a:ext cx="2514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−52%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annual churn for active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SmartSIP users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India Does ₹15,000 Cr in MF SIPs Every Month. Zero in Crypto SIPs.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Crypto investors buy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 emotional spikes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FOMO buys at peaks,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panic sells at dips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👻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Of one-time buyers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never invest again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No systematic habit = no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engagement = churn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651760" cy="2560320"/>
          </a:xfrm>
          <a:prstGeom prst="roundRect">
            <a:avLst>
              <a:gd name="adj" fmla="val 4286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57276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26480" y="2267712"/>
            <a:ext cx="2651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Higher ARPU for active SIP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vs one-time buyer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2834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₹8,400 vs ₹1,200 avg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monthly trading volume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858768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2C55E">
              <a:alpha val="12000"/>
            </a:srgbClr>
          </a:solidFill>
          <a:ln w="762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913632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Root cause: CoinSwitch has no systematic investing product. Users trade emotionally, underperform, and churn. The most proven retention mechanic in Indian finance — the SIP — doesn't exist for crypto.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0E27"/>
                </a:solidFill>
              </a:rPr>
              <a:t>Systematic Investing Is India's Most Proven Retention Mechanic — Crypto Needs It.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5F0"/>
          </a:solidFill>
          <a:ln w="12700">
            <a:solidFill>
              <a:srgbClr val="EF4444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155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 Emotional Trading (Current)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Buy spike: "BTC is up 40%! Buy now!"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184708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Sell panic: "Market crashing — sell everything!"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Miss recovery: buys back higher than sell price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6151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Negative experience → churns and doesn't return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Platform loses a high-intent, KYC-verified user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40280"/>
            <a:ext cx="438912" cy="438912"/>
          </a:xfrm>
          <a:prstGeom prst="ellipse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22402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389120" y="1005840"/>
            <a:ext cx="4297680" cy="2743200"/>
          </a:xfrm>
          <a:prstGeom prst="roundRect">
            <a:avLst>
              <a:gd name="adj" fmla="val 3333"/>
            </a:avLst>
          </a:prstGeom>
          <a:solidFill>
            <a:srgbClr val="F0FFF4"/>
          </a:solidFill>
          <a:ln w="12700">
            <a:solidFill>
              <a:srgbClr val="22C55E">
                <a:alpha val="50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26280" y="11155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 SmartSIP: Systematic +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6280" y="14630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AI picks coin mix, amount, and frequency for user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26280" y="18470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SIP runs automatically — no login, no decision stress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26280" y="22311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Dip nudge reframes market drop as "buy on sale"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26280" y="2615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Compounding projection creates emotional investment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26280" y="29992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0E27"/>
                </a:solidFill>
              </a:rPr>
              <a:t>• D90 retention: 82% vs 48% for one-time buyers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0A0E27"/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50208"/>
            <a:ext cx="7955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Key insight: Indian users already have the SIP behaviour — 6.7 Cr MF SIP accounts in India. SmartSIP doesn't teach new behaviour; it ports familiar discipline to a new asset class.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MECHANIC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3-Step Setup → Auto-Execute → Dip-Buy Nudge → Compounding Dashboard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05840" y="1481328"/>
            <a:ext cx="493776" cy="27432"/>
          </a:xfrm>
          <a:prstGeom prst="rect">
            <a:avLst/>
          </a:prstGeom>
          <a:solidFill>
            <a:srgbClr val="22C55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3-Step Wizard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Select coins (chip grid), frequency (daily/weekly/monthly), amount (₹100–₹5K). AI scans current volatility regime and recommends optimal timing. 60-second setup.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F7B731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12848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61488" y="1481328"/>
            <a:ext cx="493776" cy="27432"/>
          </a:xfrm>
          <a:prstGeom prst="rect">
            <a:avLst/>
          </a:prstGeom>
          <a:solidFill>
            <a:srgbClr val="F7B731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212848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Auto-Execute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04288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SIP runs automatically on schedule. No login required. Fee-free execution (included in plan). User gets a push notification per execution with BTC/ETH units acquired.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68496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00D4AA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968496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17136" y="1481328"/>
            <a:ext cx="493776" cy="27432"/>
          </a:xfrm>
          <a:prstGeom prst="rect">
            <a:avLst/>
          </a:prstGeom>
          <a:solidFill>
            <a:srgbClr val="00D4AA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968496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Dip Nudge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59936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Market drops ≥ 15% → SmartSIP sends contextual notification: "Market dip = buying opportunity." Shows exact % more coin bought vs last week. Reframes emotion.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24144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3B82F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24144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272784" y="1481328"/>
            <a:ext cx="493776" cy="27432"/>
          </a:xfrm>
          <a:prstGeom prst="rect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724144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Compounding View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15584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Yearly projection chart (1/2/3/5yr). Running CAGR vs lump-sum comparison. "If you'd panic-sold in [month] you'd be down ₹X" — hold discipline reinforcement.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479792" y="1005840"/>
            <a:ext cx="1591056" cy="2743200"/>
          </a:xfrm>
          <a:prstGeom prst="roundRect">
            <a:avLst>
              <a:gd name="adj" fmla="val 5747"/>
            </a:avLst>
          </a:prstGeom>
          <a:solidFill>
            <a:srgbClr val="111432"/>
          </a:solidFill>
          <a:ln w="12700">
            <a:solidFill>
              <a:srgbClr val="F97316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1078992"/>
            <a:ext cx="15910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028432" y="1481328"/>
            <a:ext cx="493776" cy="27432"/>
          </a:xfrm>
          <a:prstGeom prst="rect">
            <a:avLst/>
          </a:prstGeom>
          <a:solidFill>
            <a:srgbClr val="F97316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479792" y="1536192"/>
            <a:ext cx="15910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SIP vs Non-SIP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571232" y="1901952"/>
            <a:ext cx="140817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Ops view: D30/D90 retention by cohort (SIP vs one-time vs inactive). ARPU differential. GMV contribution. Model retraining quarterly.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" y="3895344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11432"/>
          </a:solidFill>
          <a:ln w="6350">
            <a:solidFill>
              <a:srgbClr val="22C55E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95020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Proof of concept: PhonePe milestone incentive system for POS merchants — goal-based mechanics + periodic nudges → 60% improvement in 90-day device activation rate. Same behaviour-change architecture as SmartSIP's dip-nudge system.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THE PRODUCT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4 Screens — Setup to Discipline-Reinforcement Loop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56032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SIP Wizard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Up SmartSIP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Coins: BTC + ETH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Freq: Weekly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Amount: ₹500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AI scanning...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Good timing ✓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347472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Coin grid (BTC/ETH/SOL/MATIC chips). Daily/weekly/monthly selector. Amount (₹100–₹2K). AI volatility scan animates while processing.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32304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32304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32304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SIP 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42032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 SmartSIPs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₹12,000 → ₹14,800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+23.3%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BTC SIP ▓▓▓▓░ 68%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ETH SIP ▓▓▓▓░ 68%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Next: Mon ₹500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523744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Total invested vs current value. Per-coin SIP rows with progress bars. 1yr projection. Next execution date.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08576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08576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08576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Dip Nudge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18304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📉 → 📈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BTC −18.2%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+23% more BTC!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Invested ₹500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Saved ₹89 vs avg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Keep going ✓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4700016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"Market dip = buying opportunity." Bar chart showing more BTC bought vs normal week. Why SIP investors win dips. Context: hold, don't panic.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84848" y="987552"/>
            <a:ext cx="1993392" cy="3931920"/>
          </a:xfrm>
          <a:prstGeom prst="roundRect">
            <a:avLst>
              <a:gd name="adj" fmla="val 5505"/>
            </a:avLst>
          </a:prstGeom>
          <a:solidFill>
            <a:srgbClr val="0A0E27"/>
          </a:solidFill>
          <a:ln w="7620">
            <a:solidFill>
              <a:srgbClr val="22C55E">
                <a:alpha val="4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84848" y="106070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84848" y="1335024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94576" y="1664208"/>
            <a:ext cx="1773936" cy="1554480"/>
          </a:xfrm>
          <a:prstGeom prst="roundRect">
            <a:avLst>
              <a:gd name="adj" fmla="val 3529"/>
            </a:avLst>
          </a:prstGeom>
          <a:solidFill>
            <a:srgbClr val="111432"/>
          </a:solidFill>
          <a:ln w="3810">
            <a:solidFill>
              <a:srgbClr val="22C55E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31152" y="1709928"/>
            <a:ext cx="1700784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SmartSIP Ops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4.2M active SIPs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D90 SIP: 82%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D90 1-time: 48%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─────────────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GMV: ₹4,230Cr/yr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6876288" y="3291840"/>
            <a:ext cx="1810512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455"/>
                </a:solidFill>
              </a:rPr>
              <a:t>4.2M active SIPs. D90 retention: 82% (SIP) vs 48% (one-time). Annual GMV ₹4,230 Cr. Retention vs ARPU by cohort.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IMPACT &amp; ROI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On 4.2M Active SmartSIP Users — Projected from Pilot Cohort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292608"/>
          </a:xfrm>
          <a:prstGeom prst="roundRect">
            <a:avLst>
              <a:gd name="adj" fmla="val 15625"/>
            </a:avLst>
          </a:prstGeom>
          <a:solidFill>
            <a:srgbClr val="22C55E">
              <a:alpha val="18000"/>
            </a:srgbClr>
          </a:solidFill>
          <a:ln w="508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USER EXPERIENCE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26464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3080" y="1444752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D90 retention for active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SmartSIP users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66544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03120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+34 pts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83080" y="2121408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D90 retention uplift vs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one-time buyer cohort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00D4AA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79776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−52%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83080" y="2798064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churn reduction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vs non-SIP base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397764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56432"/>
            <a:ext cx="1280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83080" y="3474720"/>
            <a:ext cx="2423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Higher monthly ARPU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(₹8,400 vs ₹1,200)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292608"/>
          </a:xfrm>
          <a:prstGeom prst="roundRect">
            <a:avLst>
              <a:gd name="adj" fmla="val 15625"/>
            </a:avLst>
          </a:prstGeom>
          <a:solidFill>
            <a:srgbClr val="F7B731">
              <a:alpha val="18000"/>
            </a:srgbClr>
          </a:solidFill>
          <a:ln w="5080">
            <a:solidFill>
              <a:srgbClr val="F7B731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0058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PLATFORM ROI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389888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2646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₹4,230 Cr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144475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Annual SIP GMV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(4.2M users × ₹8,400/mo avg)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7B731">
                <a:alpha val="3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1031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B73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₹8,400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37960" y="212140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Avg monthly trading volume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per active SIP user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743200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22C55E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7977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0.25%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37960" y="2798064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Platform fee on SIP GMV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= ₹10.6 Cr annual revenue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3419856"/>
            <a:ext cx="4114800" cy="603504"/>
          </a:xfrm>
          <a:prstGeom prst="roundRect">
            <a:avLst>
              <a:gd name="adj" fmla="val 12121"/>
            </a:avLst>
          </a:prstGeom>
          <a:solidFill>
            <a:srgbClr val="111432"/>
          </a:solidFill>
          <a:ln w="381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5643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37960" y="3474720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Incremental CAC —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all from existing user base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24528"/>
            <a:ext cx="8412480" cy="640080"/>
          </a:xfrm>
          <a:prstGeom prst="roundRect">
            <a:avLst>
              <a:gd name="adj" fmla="val 11429"/>
            </a:avLst>
          </a:prstGeom>
          <a:solidFill>
            <a:srgbClr val="111432"/>
          </a:solidFill>
          <a:ln w="6350">
            <a:solidFill>
              <a:srgbClr val="22C55E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26110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FFFF"/>
                </a:solidFill>
              </a:rPr>
              <a:t>SmartSIP is the highest-ROI retention lever in the product: it converts one-time buyers into habitual investors. Habits don't churn. CoinSwitch's moat is users who invest every week, automatically.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F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PROOF OF WORK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E27"/>
                </a:solidFill>
              </a:rPr>
              <a:t>I Built the Behaviour-Change Engine. Here's What Maps.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A0E27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What I Shipped at PhonePe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Milestone incentive (POS merchants):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Goal-based mechanics + periodic nudges → 60% improvement in 90-day device activation — exact SmartSIP architecture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Dynamic incentivisation engine: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Context-aware triggers (cart × intent × time-of-day) → 35% AOV uplift. Dip nudge is the same context-aware design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Cart abandonment recovery: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7121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Diagnosed drop-off moment, deployed targeted re-engagement → 60% reduction. Same as SmartSIP's dip-nudge preventing churn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D30 retention improvement: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Incentivisation engine delivered 20% D30 retention improvement — direct parallel to SmartSIP's D90 lift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• Ops instrumentation: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0782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Built retention cohort dashboard with KPIs pre-defined — maps directly to SmartSIP's SIP vs non-SIP retention tracking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1148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E27"/>
                </a:solidFill>
              </a:rPr>
              <a:t>How It Maps to CoinSwitch JD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463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Identify and fill product gaps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16642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Crypto SIP is a clear gap vs MF ecosystem; SmartSIP fills it with proven Indian investor behaviour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00600" y="206654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Drive growth product roadmap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0060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SmartSIP is the retention anchor of the roadmap — habitual users are the platform's highest-value cohort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00600" y="26700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Actively measure conversion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87121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Pre-defined success metrics: D90 retention delta, ARPU lift, SIP continuation rate — all instrumented pre-launch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Use data for product refinement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34747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Dip-nudge timing and compounding framing both A/B tested with clear control vs variant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387705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0E27"/>
                </a:solidFill>
              </a:rPr>
              <a:t>→ Generate new ideas for growth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40782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  → SmartSIP creates a new GMV stream (recurring SIP volume) from users who otherwise buy irregularly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9CB6"/>
                </a:solidFill>
              </a:rPr>
              <a:t>ROLLOUT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3-Phase Deployment — First SIP Executions in 4 Weeks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22C55E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22C55E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Phase 1  ·  Week 1–2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Wizard + Basic SIP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3-step SIP setup wizard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Wire to trading engine for auto-execution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SmartSIP guided vs manual trade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Instrument: setup completion, D7/D30 execution 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F7B731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F7B73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7B731"/>
                </a:solidFill>
              </a:rPr>
              <a:t>Phase 2  ·  Week 3–4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9184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Nudge + Dashboard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Build dip-nudge notification (market drop trigger)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2900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Launch compounding projection dashboard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42900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Add D90 retention tracking by cohort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42900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A/B: dip-nudge copy variants (reframe vs neutral)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217920" y="1005840"/>
            <a:ext cx="2697480" cy="2670048"/>
          </a:xfrm>
          <a:prstGeom prst="roundRect">
            <a:avLst>
              <a:gd name="adj" fmla="val 3425"/>
            </a:avLst>
          </a:prstGeom>
          <a:solidFill>
            <a:srgbClr val="111432"/>
          </a:solidFill>
          <a:ln w="12700">
            <a:solidFill>
              <a:srgbClr val="00D4AA">
                <a:alpha val="55000"/>
              </a:srgbClr>
            </a:solidFill>
            <a:prstDash val="solid"/>
          </a:ln>
          <a:effectLst>
            <a:outerShdw sx="100000" sy="100000" kx="0" ky="0" algn="bl" rotWithShape="0" blurRad="50800" dist="127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05840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00D4A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33272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AA"/>
                </a:solidFill>
              </a:rPr>
              <a:t>Phase 3  ·  Week 5–8+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1234440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Scale + WealthBridge Link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15361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Roll out to all 25M users (post-KYC prompt)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55080" y="19933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Connect SmartSIP to WealthBridge for MF→SIP bridge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55080" y="24505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Quarterly AI model refresh for coin recommendations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355080" y="2907792"/>
            <a:ext cx="242316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B9CB6"/>
                </a:solidFill>
              </a:rPr>
              <a:t>• Expand to USDC stablecoin SIP for conservative users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111432"/>
          </a:solidFill>
          <a:ln w="8890">
            <a:solidFill>
              <a:srgbClr val="22C55E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953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What I need to build this: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Access to trading engine API for auto-execution  ·  Push notification pipeline  ·  Analytics for cohort D30/D90 tracking  ·  1 frontend + 1 backend engineer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864608"/>
            <a:ext cx="9144000" cy="256032"/>
          </a:xfrm>
          <a:prstGeom prst="rect">
            <a:avLst/>
          </a:prstGeom>
          <a:solidFill>
            <a:srgbClr val="1114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73752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</a:rPr>
              <a:t>Ajay Avaghade  ·  avaghadeajay009@gmail.com  ·  +91 9561558439  ·  ajay-avaghade.github.io/Portfolio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2026-05-26T15:21:17Z</dcterms:created>
  <dcterms:modified xsi:type="dcterms:W3CDTF">2026-05-26T15:21:17Z</dcterms:modified>
</cp:coreProperties>
</file>