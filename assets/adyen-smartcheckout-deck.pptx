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-182880"/>
            <a:ext cx="164592" cy="9144000"/>
          </a:xfrm>
          <a:prstGeom prst="rect">
            <a:avLst/>
          </a:prstGeom>
          <a:solidFill>
            <a:srgbClr val="00BB5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1554480" y="-182880"/>
            <a:ext cx="164592" cy="9144000"/>
          </a:xfrm>
          <a:prstGeom prst="rect">
            <a:avLst/>
          </a:prstGeom>
          <a:solidFill>
            <a:srgbClr val="00BB5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3566160" y="-182880"/>
            <a:ext cx="164592" cy="9144000"/>
          </a:xfrm>
          <a:prstGeom prst="rect">
            <a:avLst/>
          </a:prstGeom>
          <a:solidFill>
            <a:srgbClr val="00BB59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577840" y="-182880"/>
            <a:ext cx="164592" cy="9144000"/>
          </a:xfrm>
          <a:prstGeom prst="rect">
            <a:avLst/>
          </a:prstGeom>
          <a:solidFill>
            <a:srgbClr val="00BB59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900000">
            <a:off x="7589520" y="-182880"/>
            <a:ext cx="164592" cy="9144000"/>
          </a:xfrm>
          <a:prstGeom prst="rect">
            <a:avLst/>
          </a:prstGeom>
          <a:solidFill>
            <a:srgbClr val="00BB59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900000">
            <a:off x="9601200" y="-182880"/>
            <a:ext cx="164592" cy="9144000"/>
          </a:xfrm>
          <a:prstGeom prst="rect">
            <a:avLst/>
          </a:prstGeom>
          <a:solidFill>
            <a:srgbClr val="00BB59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B5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ADYEN — EMEA PAYMENTS PM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58368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SmartCheckout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EMEA payment method ranking engine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maximises checkout conversion across 14 markets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450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Product Manager — EMEA Payments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463040"/>
            <a:ext cx="2194560" cy="1737360"/>
          </a:xfrm>
          <a:prstGeom prst="rect">
            <a:avLst>
              <a:gd name="adj" fmla="val 5263"/>
            </a:avLst>
          </a:prstGeom>
          <a:solidFill>
            <a:srgbClr val="00BB59">
              <a:alpha val="85000"/>
            </a:srgbClr>
          </a:solidFill>
          <a:ln w="12700">
            <a:solidFill>
              <a:srgbClr val="00BB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7276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+12.4%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583680" y="223113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conversion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projected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EMEA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1A3323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Adyen — Proprietary &amp; Confidential  ·  Prepared by Ajay Avaghade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Checkout Is Losing Billions to Static Payment Method Rules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606040" cy="3108960"/>
          </a:xfrm>
          <a:prstGeom prst="rect">
            <a:avLst>
              <a:gd name="adj" fmla="val 3509"/>
            </a:avLst>
          </a:prstGeom>
          <a:solidFill>
            <a:srgbClr val="1A3323"/>
          </a:solidFill>
          <a:ln w="12700">
            <a:solidFill>
              <a:srgbClr val="00BB59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190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28529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abandonment in Germany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364992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89% conversion in the Netherlands — same PSP, different market rules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572768"/>
            <a:ext cx="2606040" cy="3108960"/>
          </a:xfrm>
          <a:prstGeom prst="rect">
            <a:avLst>
              <a:gd name="adj" fmla="val 3509"/>
            </a:avLst>
          </a:prstGeom>
          <a:solidFill>
            <a:srgbClr val="1A3323"/>
          </a:solidFill>
          <a:ln w="12700">
            <a:solidFill>
              <a:srgbClr val="00BB59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7190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215798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€1.8M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19856" y="28529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abandoned at H&amp;M Germany checkout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364992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ranked 4th by static rules — but converts 3× better than Visa for German users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572768"/>
            <a:ext cx="2606040" cy="3108960"/>
          </a:xfrm>
          <a:prstGeom prst="rect">
            <a:avLst>
              <a:gd name="adj" fmla="val 3509"/>
            </a:avLst>
          </a:prstGeom>
          <a:solidFill>
            <a:srgbClr val="1A3323"/>
          </a:solidFill>
          <a:ln w="12700">
            <a:solidFill>
              <a:srgbClr val="00BB59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7190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15798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54496" y="28529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markets, each with distinct LPM preferences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3364992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iDEAL, Bancontact, Bizum, Giropay — one static config cannot fit all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919472"/>
            <a:ext cx="8229600" cy="1078992"/>
          </a:xfrm>
          <a:prstGeom prst="rect">
            <a:avLst>
              <a:gd name="adj" fmla="val 8475"/>
            </a:avLst>
          </a:prstGeom>
          <a:solidFill>
            <a:srgbClr val="1A3323"/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029200"/>
            <a:ext cx="7863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Adyen routes EMEA checkout to payment methods using static merchant configuration rules — the same LPM stack regardless of user locale, device, cart value, or purchase intent. ML-ranked, session-aware LPM selection is the gap no competitor has closed at scale.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Maximise PSP Coverage. ML Ranking Maximises Conversion.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06240" y="2103120"/>
            <a:ext cx="731520" cy="731520"/>
          </a:xfrm>
          <a:prstGeom prst="ellipse">
            <a:avLst/>
          </a:prstGeom>
          <a:solidFill>
            <a:srgbClr val="0D1F12"/>
          </a:solidFill>
          <a:ln/>
        </p:spPr>
      </p:sp>
      <p:sp>
        <p:nvSpPr>
          <p:cNvPr id="5" name="Text 3"/>
          <p:cNvSpPr/>
          <p:nvPr/>
        </p:nvSpPr>
        <p:spPr>
          <a:xfrm>
            <a:off x="4206240" y="2157984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3840480"/>
          </a:xfrm>
          <a:prstGeom prst="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09344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Static Config (Today)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LPM stack per merchant — same order for every user in every market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596896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PayPal ranked below iDEAL in Germany even though PayPal converts 3× better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3163824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Configuration changes require merchant dev work and Adyen account manager approval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3730752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Merchants discover conversion gaps only through quarterly analytics reviews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4297680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signal on why users drop off — just that they 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3657600" cy="3840480"/>
          </a:xfrm>
          <a:prstGeom prst="rect">
            <a:avLst>
              <a:gd name="adj" fmla="val 2500"/>
            </a:avLst>
          </a:prstGeom>
          <a:solidFill>
            <a:srgbClr val="F0FDF4"/>
          </a:solidFill>
          <a:ln w="12700">
            <a:solidFill>
              <a:srgbClr val="00BB59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1609344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SmartCheckout (Proposed)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93792" y="2029968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ranks LPMs per session using 23 signals — locale, device, cart value, time, history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93792" y="2596896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German user gets PayPal first; Dutch user gets iDEAL first — automatically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93792" y="3163824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 happens in Adyen dashboard in real time — no merchant dev work required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93792" y="3730752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conversion analytics per method per market — see the gap and close it today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93792" y="4297680"/>
            <a:ext cx="3291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 any ranking hypothesis against baseline in 48 hours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5486400"/>
            <a:ext cx="8229600" cy="877824"/>
          </a:xfrm>
          <a:prstGeom prst="rect">
            <a:avLst>
              <a:gd name="adj" fmla="val 10417"/>
            </a:avLst>
          </a:prstGeom>
          <a:solidFill>
            <a:srgbClr val="0D1F1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5577840"/>
            <a:ext cx="7863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ranking cost to Adyen is near zero — SmartCheckout uses signals already collected per transaction. The uplift is pure incremental conversion. By the time a merchant sees the dashboard, the ML model has already outperformed their static config on day one.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SmartCheckout Works: 23 Signals, 1 Ranked LPM List, Real Time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38912" cy="438912"/>
          </a:xfrm>
          <a:prstGeom prst="ellipse">
            <a:avLst/>
          </a:prstGeom>
          <a:solidFill>
            <a:srgbClr val="00BB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901952"/>
            <a:ext cx="36576" cy="457200"/>
          </a:xfrm>
          <a:prstGeom prst="rect">
            <a:avLst/>
          </a:prstGeom>
          <a:solidFill>
            <a:srgbClr val="00BB59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46304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Signal 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71907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checkout load, Adyen collects 23 signals: browser locale, IP geolocation, device type, cart value, product category, time of day, user payment history, and 15 behavioural signals.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438912" cy="438912"/>
          </a:xfrm>
          <a:prstGeom prst="ellipse">
            <a:avLst/>
          </a:prstGeom>
          <a:solidFill>
            <a:srgbClr val="00BB5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798064"/>
            <a:ext cx="36576" cy="457200"/>
          </a:xfrm>
          <a:prstGeom prst="rect">
            <a:avLst/>
          </a:prstGeom>
          <a:solidFill>
            <a:srgbClr val="00BB59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23591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Corridor Scoring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615184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model scores each available LPM against the session vector. Output: ranked probability of successful payment completion per method. Model retrained weekly on 2B+ global Adyen transactions.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438912" cy="438912"/>
          </a:xfrm>
          <a:prstGeom prst="ellipse">
            <a:avLst/>
          </a:prstGeom>
          <a:solidFill>
            <a:srgbClr val="00BB5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73552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" y="3694176"/>
            <a:ext cx="36576" cy="457200"/>
          </a:xfrm>
          <a:prstGeom prst="rect">
            <a:avLst/>
          </a:prstGeom>
          <a:solidFill>
            <a:srgbClr val="00BB59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325526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LPM Ranking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51129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LPMs surface in ranked order at checkout. German session: PayPal 87%, Giropay 74%, Visa 68%. Dutch session: iDEAL 93%, Mastercard 71%, PayPal 52%. No merchant config change required.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151376"/>
            <a:ext cx="438912" cy="438912"/>
          </a:xfrm>
          <a:prstGeom prst="ellipse">
            <a:avLst/>
          </a:prstGeom>
          <a:solidFill>
            <a:srgbClr val="00BB5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69664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4590288"/>
            <a:ext cx="36576" cy="457200"/>
          </a:xfrm>
          <a:prstGeom prst="rect">
            <a:avLst/>
          </a:prstGeom>
          <a:solidFill>
            <a:srgbClr val="00BB59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415137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Dashboard + A/B Testing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440740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sees live conversion rate per LPM per market. A/B test any ranking hypothesis vs baseline in 48 hours. Override ML ranking for specific campaigns (e.g., promote new LPM launch).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5047488"/>
            <a:ext cx="438912" cy="438912"/>
          </a:xfrm>
          <a:prstGeom prst="ellipse">
            <a:avLst/>
          </a:prstGeom>
          <a:solidFill>
            <a:srgbClr val="00BB5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06577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" y="504748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Model Learning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530352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completed / abandoned payment feeds back into the model. Over 30 days the model improves conversion by an estimated +2–4pp as it learns merchant-specific user behaviour patterns.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5961888"/>
            <a:ext cx="8229600" cy="585216"/>
          </a:xfrm>
          <a:prstGeom prst="rect">
            <a:avLst>
              <a:gd name="adj" fmla="val 12500"/>
            </a:avLst>
          </a:prstGeom>
          <a:solidFill>
            <a:srgbClr val="1A3323"/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6035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Proof: Propensity-to-Transact ML model deployed across 350M users replaced static rule-based targeting — same multi-variable scoring architecture. Drove 32% marketing burn reduction while sustaining GMV growth.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Screen States — Merchant Portal + Consumer Checkout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0BB59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D1F12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Merchant Dashboard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4048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0FDF4"/>
          </a:solidFill>
          <a:ln w="12700">
            <a:solidFill>
              <a:srgbClr val="00BB59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EMEA Conversion Map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NL 89% ✓  DE 61% ⚠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 54% ⚠  BE 58% ⚠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[Enable SmartCheckout →]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conversion KPIs by market. SmartCheckout enable CTA. Benchmarks vs Adyen top quartile. Red flags on markets below 70% benchmark.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0BB59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D1F12"/>
          </a:solidFill>
          <a:ln/>
        </p:spPr>
      </p:sp>
      <p:sp>
        <p:nvSpPr>
          <p:cNvPr id="12" name="Text 10"/>
          <p:cNvSpPr/>
          <p:nvPr/>
        </p:nvSpPr>
        <p:spPr>
          <a:xfrm>
            <a:off x="2542032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Config + ML Ranking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42032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0FDF4"/>
          </a:solidFill>
          <a:ln w="12700">
            <a:solidFill>
              <a:srgbClr val="00BB59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Germany Config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PayPal    87%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Giropay   74%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Visa      68%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4. iDEAL     31%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[ML Confidence 94.2%]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42032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selector chips. Live ML LPM ranking per market. Confidence score (94.2%). Override toggle for campaign promotions.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08576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0BB59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D1F12"/>
          </a:solidFill>
          <a:ln/>
        </p:spPr>
      </p:sp>
      <p:sp>
        <p:nvSpPr>
          <p:cNvPr id="18" name="Text 16"/>
          <p:cNvSpPr/>
          <p:nvPr/>
        </p:nvSpPr>
        <p:spPr>
          <a:xfrm>
            <a:off x="4700016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Consumer Checkout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0016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0FDF4"/>
          </a:solidFill>
          <a:ln w="12700">
            <a:solidFill>
              <a:srgbClr val="00BB59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H&amp;M Checkout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Detected: German user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 PayPal     ← Ranked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Giropay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Visa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[Pay €189.00 →]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00016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user detects, PayPal ranked first. Frictionless payment. Success state with SmartCheckout attribution badge.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0BB59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D1F1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Analytics Dashboard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0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0FDF4"/>
          </a:solidFill>
          <a:ln w="12700">
            <a:solidFill>
              <a:srgbClr val="00BB59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SmartCheckout Impact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DE: +26% conversion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ES: +31% conversion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BE: +22% conversion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GMV recovered: €1.8M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58000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conversion by market. GMV recovered attribution. Network effect insight — improvement compounds across all merchants as model learns.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2910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prototype: adyen-smartcheckout-prototype.html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Built on PhonePe ML Proof Points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IMPACT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00BB59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6420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+12.4%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21408" y="16642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conversion lift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21408" y="195681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across DE, ES, BE in 90-day pilot window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688336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00BB59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7797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€1.8M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21408" y="27797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GMV recovered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21408" y="307238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H&amp;M Germany pilot extrapolated to full EMEA portfolio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803904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00BB59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89534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21408" y="38953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in Germany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21408" y="418795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Highest-gap market; PayPal moved from 4th to 1st rank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4919472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00BB59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501091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21408" y="50109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abandonment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21408" y="5303520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now see preferred LPM first, reducing friction at step 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ADYEN REVENUE IMPACT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1572768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66420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+€14M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27648" y="16642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incremental processing fee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195681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12.4% GMV uplift across 847 EMEA merchants at avg 0.3% Adyen take rate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688336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7797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×3.1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27648" y="27797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SmartCheckout investment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27648" y="307238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18-month engineering + data investment vs fee uplift at 12 months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803904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89534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327648" y="38953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churn in year 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27648" y="418795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with visible conversion attribution in dashboard renew at higher rates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4919472"/>
            <a:ext cx="3931920" cy="987552"/>
          </a:xfrm>
          <a:prstGeom prst="rect">
            <a:avLst>
              <a:gd name="adj" fmla="val 7407"/>
            </a:avLst>
          </a:prstGeom>
          <a:solidFill>
            <a:srgbClr val="1A3323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501091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327648" y="50109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rate maintained post-rollout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27648" y="5303520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ranking does not add checkout steps — conversion gain is frictionless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5998464"/>
            <a:ext cx="8229600" cy="548640"/>
          </a:xfrm>
          <a:prstGeom prst="rect">
            <a:avLst>
              <a:gd name="adj" fmla="val 13333"/>
            </a:avLst>
          </a:prstGeom>
          <a:solidFill>
            <a:srgbClr val="1A3323"/>
          </a:solidFill>
          <a:ln w="12700">
            <a:solidFill>
              <a:srgbClr val="00BB59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6071616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SmartCheckout is a zero-friction uplift — it runs entirely within the existing checkout flow. For Adyen, this is incremental revenue on infrastructure already deployed, with no additional merchant integration required.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Architecture. At PhonePe. At 350M Users.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931920" cy="4846320"/>
          </a:xfrm>
          <a:prstGeom prst="rect">
            <a:avLst>
              <a:gd name="adj" fmla="val 2326"/>
            </a:avLst>
          </a:prstGeom>
          <a:solidFill>
            <a:srgbClr val="0D1F1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264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Deployed Propensity-to-Transact ML model replacing ₹1,000+ Cr/yr of static rule-based marketing spend — same multi-variable scoring architecture as SmartCheckout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2816352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context-aware dynamic incentivisation engine using cart value, user intent, and time-of-day signals to trigger personalised offers — exact same trigger architecture as session-aware LPM ranking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3803904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 A/B testing framework across 350M MAU to validate ML vs rule-based targeting — sustained GMV growth while cutting marketing burn 32%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4791456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Owned cross-functional delivery across Technology, Data Science, Compliance, Finance — the same stakeholder map required for SmartCheckout EMEA rollout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3931920" cy="484632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00BB59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264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the Adyen JD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Product Management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084832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models at 350M scale → SmartCheckout EMEA LPM scoring engine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2816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Product Strategy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3072384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checkout conversion redesign end-to-end → EMEA LPM product ownership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38039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Delivery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59936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Data Science / Compliance / Finance → same map at Adyen EMEA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47914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Experimentation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504748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vs rule-based A/B at 350M MAU → SmartCheckout vs baseline per market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6236208"/>
            <a:ext cx="8229600" cy="0"/>
          </a:xfrm>
          <a:prstGeom prst="rect">
            <a:avLst/>
          </a:prstGeom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EMEA Rollout — Signal-First, Then Scale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33472" cy="4114800"/>
          </a:xfrm>
          <a:prstGeom prst="rect">
            <a:avLst>
              <a:gd name="adj" fmla="val 3472"/>
            </a:avLst>
          </a:prstGeom>
          <a:solidFill>
            <a:srgbClr val="1A3323"/>
          </a:solidFill>
          <a:ln w="12700">
            <a:solidFill>
              <a:srgbClr val="00BB59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44475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85216" y="17007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 · Pilot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5216" y="199339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+ Netherlands (3 merchants)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2450592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SmartCheckout to 3 EMEA merchants in DE + NL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3127248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LPM conversion tracking per session vector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" y="3803904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ML ranking vs static config A/B — 50/50 split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4480560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30-day conversion lift vs control group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298448"/>
            <a:ext cx="2633472" cy="4114800"/>
          </a:xfrm>
          <a:prstGeom prst="rect">
            <a:avLst>
              <a:gd name="adj" fmla="val 3472"/>
            </a:avLst>
          </a:prstGeom>
          <a:solidFill>
            <a:srgbClr val="1A3323"/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44475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19856" y="17007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 · Scale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19856" y="199339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Markets + A/B Hardening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9856" y="2450592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to ES, BE, FR, PL with market-specific LPM models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9856" y="3127248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Merchant Dashboard with live per-market 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19856" y="3803904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Tune signal weights based on pilot conversion data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9856" y="4480560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 top 50 EMEA merchants by GMV volume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298448"/>
            <a:ext cx="2633472" cy="4114800"/>
          </a:xfrm>
          <a:prstGeom prst="rect">
            <a:avLst>
              <a:gd name="adj" fmla="val 3472"/>
            </a:avLst>
          </a:prstGeom>
          <a:solidFill>
            <a:srgbClr val="1A3323"/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44475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54496" y="17007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 · Full Rollout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54496" y="199339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EMEA Markets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4496" y="2450592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 out winning ML configuration to all 847 EMEA merchants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54496" y="3127248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SmartCheckout into Adyen onboarding flow as default-on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54496" y="3803904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self-serve override controls for campaign promotions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54496" y="4480560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 EMEA Checkout Benchmark Report for press / merchant acquisition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5577840"/>
            <a:ext cx="8229600" cy="932688"/>
          </a:xfrm>
          <a:prstGeom prst="rect">
            <a:avLst>
              <a:gd name="adj" fmla="val 9804"/>
            </a:avLst>
          </a:prstGeom>
          <a:solidFill>
            <a:srgbClr val="1A3323"/>
          </a:solidFill>
          <a:ln w="12700">
            <a:solidFill>
              <a:srgbClr val="00BB59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5669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build this: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" y="5943600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EMEA checkout transaction data  ·  Alignment with Data Science team on signal schema  ·  1 backend engineer for ML inference API integration  ·  1 designer for merchant dashboard  ·  Adyen Issuing + Acquiring team for STP data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  ·  linkedin.com/in/ajay-avaghade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2026-05-23T14:21:57Z</dcterms:created>
  <dcterms:modified xsi:type="dcterms:W3CDTF">2026-05-23T14:21:57Z</dcterms:modified>
</cp:coreProperties>
</file>