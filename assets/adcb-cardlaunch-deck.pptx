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0"/>
            <a:ext cx="0" cy="6858000"/>
          </a:xfrm>
          <a:prstGeom prst="line">
            <a:avLst/>
          </a:prstGeom>
          <a:noFill/>
          <a:ln w="228600">
            <a:solidFill>
              <a:srgbClr val="0045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88720" y="0"/>
            <a:ext cx="0" cy="6858000"/>
          </a:xfrm>
          <a:prstGeom prst="line">
            <a:avLst/>
          </a:prstGeom>
          <a:noFill/>
          <a:ln w="228600">
            <a:solidFill>
              <a:srgbClr val="0045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228600">
            <a:solidFill>
              <a:srgbClr val="0045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480560" y="0"/>
            <a:ext cx="0" cy="6858000"/>
          </a:xfrm>
          <a:prstGeom prst="line">
            <a:avLst/>
          </a:prstGeom>
          <a:noFill/>
          <a:ln w="228600">
            <a:solidFill>
              <a:srgbClr val="00453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26480" y="0"/>
            <a:ext cx="0" cy="6858000"/>
          </a:xfrm>
          <a:prstGeom prst="line">
            <a:avLst/>
          </a:prstGeom>
          <a:noFill/>
          <a:ln w="228600">
            <a:solidFill>
              <a:srgbClr val="00453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0" y="0"/>
            <a:ext cx="0" cy="6858000"/>
          </a:xfrm>
          <a:prstGeom prst="line">
            <a:avLst/>
          </a:prstGeom>
          <a:noFill/>
          <a:ln w="228600">
            <a:solidFill>
              <a:srgbClr val="0045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1148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ADCB — CORPORATE CARDS PRODUCT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82296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ADCB CardLaunch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457200" y="187452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00B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3-Week Onboarding to 24 Minutes: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0B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Self-Serve Corporate Card Programme Launch Engine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278892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8B9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Presented by Ajay Avaghade · Growth &amp; Monetization PM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92240" y="5029200"/>
            <a:ext cx="2286000" cy="1554480"/>
          </a:xfrm>
          <a:prstGeom prst="roundRect">
            <a:avLst>
              <a:gd name="adj" fmla="val 7059"/>
            </a:avLst>
          </a:prstGeom>
          <a:solidFill>
            <a:srgbClr val="00453C"/>
          </a:solidFill>
          <a:ln w="25400">
            <a:solidFill>
              <a:srgbClr val="D4A8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50749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WKS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492240" y="5687568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onboarding time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B9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(current state)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92240" y="4754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0453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651052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8B9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  ·  CORPORATE BANKING PRODUCT  ·  ABU DHABI 2025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3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Card Onboarding Takes 3 Weeks.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Does Not Have To.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" y="1664208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00453C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" y="18288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47472" y="2377440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Weeks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47472" y="3063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onboarding time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" y="3456432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KYB, paper forms, relationship manager back-and-forth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55264" y="1664208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00453C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55264" y="18288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55264" y="2377440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Steps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3255264" y="3063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onboarding steps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92424" y="3456432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licence, KYB, credit assessment, card issuance — all disconnected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63056" y="1664208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00453C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63056" y="18288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163056" y="2377440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40–60%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6163056" y="3063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Drop-off before first swipe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00216" y="3456432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TAT kills momentum — finance teams lose interest before cards arrive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47472" y="5047488"/>
            <a:ext cx="8449056" cy="1280160"/>
          </a:xfrm>
          <a:prstGeom prst="roundRect">
            <a:avLst>
              <a:gd name="adj" fmla="val 7143"/>
            </a:avLst>
          </a:prstGeom>
          <a:solidFill>
            <a:srgbClr val="00453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5138928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0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cause: Corporate card onboarding is a relationship-manager-led manual process — no digital self-serve, no real-time KYB, no instant card issuance. Every delay is a lost activation.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B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INSIGHT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Corporate Onboarding Should Feel Like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Signing Up for a Consumer App.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1600200"/>
            <a:ext cx="3840480" cy="411480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755648"/>
            <a:ext cx="3529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33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Current State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30352" y="2212848"/>
            <a:ext cx="35112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RM-led: client must wait for a human at every step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30352" y="2743200"/>
            <a:ext cx="35112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Paper KYC/KYB submitted manually, verified days later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" y="3273552"/>
            <a:ext cx="35112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Credit assessment is a black box — no visibility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" y="3803904"/>
            <a:ext cx="35112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Cards take 5–7 business days to arrive physically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0352" y="4334256"/>
            <a:ext cx="35112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Finance admin has no dashboard — calls RM for updates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51960" y="3200400"/>
            <a:ext cx="640080" cy="64008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3200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56048" y="1600200"/>
            <a:ext cx="3840480" cy="4114800"/>
          </a:xfrm>
          <a:prstGeom prst="roundRect">
            <a:avLst>
              <a:gd name="adj" fmla="val 2381"/>
            </a:avLst>
          </a:prstGeom>
          <a:solidFill>
            <a:srgbClr val="00302A"/>
          </a:solidFill>
          <a:ln w="19050">
            <a:solidFill>
              <a:srgbClr val="00000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02352" y="1755648"/>
            <a:ext cx="35295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CardLaunch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02352" y="2212848"/>
            <a:ext cx="35295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Finance admin self-serves: 4-step wizard, no RM needed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102352" y="2743200"/>
            <a:ext cx="35295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Digital KYB in real time — trade licence OCR + eKYC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102352" y="3273552"/>
            <a:ext cx="35295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AI credit scoring: decision in under 2 minutes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102352" y="3803904"/>
            <a:ext cx="35295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Virtual cards issued instantly; physical cards in parallel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102352" y="4334256"/>
            <a:ext cx="35295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Live dashboard: spend, limits, compliance — all in one place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" y="5870448"/>
            <a:ext cx="8449056" cy="777240"/>
          </a:xfrm>
          <a:prstGeom prst="roundRect">
            <a:avLst>
              <a:gd name="adj" fmla="val 9412"/>
            </a:avLst>
          </a:prstGeom>
          <a:solidFill>
            <a:srgbClr val="000000"/>
          </a:solidFill>
          <a:ln w="19050">
            <a:solidFill>
              <a:srgbClr val="00BF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5961888"/>
            <a:ext cx="8083296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When a finance admin can onboard their entire team in 24 minutes — without calling the RM — activation rates compound. Every hour saved before first swipe is an hour closer to revenue.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3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MECHANIC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4-Step Self-Serve Wizard: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Trade Licence to 25 Virtual Cards in 24 Minutes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" y="1600200"/>
            <a:ext cx="1572768" cy="4206240"/>
          </a:xfrm>
          <a:prstGeom prst="roundRect">
            <a:avLst>
              <a:gd name="adj" fmla="val 5814"/>
            </a:avLst>
          </a:prstGeom>
          <a:solidFill>
            <a:srgbClr val="00453C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1719072"/>
            <a:ext cx="548640" cy="54864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7190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0624" y="2359152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Setup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38912" y="2907792"/>
            <a:ext cx="1389888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admin enters trade licence number. OCR auto-fills company details. Visa Commercial or Mastercard Corporate selected. Estimated credit limit surfaced instantly.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920240" y="1975104"/>
            <a:ext cx="164592" cy="3657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84832" y="1600200"/>
            <a:ext cx="1572768" cy="4206240"/>
          </a:xfrm>
          <a:prstGeom prst="roundRect">
            <a:avLst>
              <a:gd name="adj" fmla="val 5814"/>
            </a:avLst>
          </a:prstGeom>
          <a:solidFill>
            <a:srgbClr val="00453C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96896" y="1719072"/>
            <a:ext cx="548640" cy="54864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96896" y="17190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57984" y="2359152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KYB &amp; Credit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76272" y="2907792"/>
            <a:ext cx="1389888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eKYC documents uploaded directly (no physical submission). AI credit scoring completes in under 2 minutes. Programme limit confirmed. Admin receives instant approval email.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57600" y="1975104"/>
            <a:ext cx="164592" cy="3657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22192" y="1600200"/>
            <a:ext cx="1572768" cy="4206240"/>
          </a:xfrm>
          <a:prstGeom prst="roundRect">
            <a:avLst>
              <a:gd name="adj" fmla="val 5814"/>
            </a:avLst>
          </a:prstGeom>
          <a:solidFill>
            <a:srgbClr val="00453C"/>
          </a:solidFill>
          <a:ln w="25400">
            <a:solidFill>
              <a:srgbClr val="D4A843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34256" y="1719072"/>
            <a:ext cx="548640" cy="548640"/>
          </a:xfrm>
          <a:prstGeom prst="ellipse">
            <a:avLst/>
          </a:prstGeom>
          <a:solidFill>
            <a:srgbClr val="D4A84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34256" y="17190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95344" y="2359152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Upload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913632" y="2907792"/>
            <a:ext cx="1389888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upload or manual entry of employees. Role-based limits assigned per employee. Virtual cards issued in real time — available in Apple/Google Wallet within 60 seconds.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394960" y="1975104"/>
            <a:ext cx="164592" cy="3657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59552" y="1600200"/>
            <a:ext cx="1572768" cy="4206240"/>
          </a:xfrm>
          <a:prstGeom prst="roundRect">
            <a:avLst>
              <a:gd name="adj" fmla="val 5814"/>
            </a:avLst>
          </a:prstGeom>
          <a:solidFill>
            <a:srgbClr val="00453C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71616" y="1719072"/>
            <a:ext cx="548640" cy="54864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71616" y="17190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32704" y="2359152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Live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50992" y="2907792"/>
            <a:ext cx="1389888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admin receives live CorporateLens dashboard access. Spend tracking, limit controls, and MCC restrictions active from Day 1. RM notified automatically — no call needed.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132320" y="1975104"/>
            <a:ext cx="164592" cy="3657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96912" y="1600200"/>
            <a:ext cx="1572768" cy="4206240"/>
          </a:xfrm>
          <a:prstGeom prst="roundRect">
            <a:avLst>
              <a:gd name="adj" fmla="val 5814"/>
            </a:avLst>
          </a:prstGeom>
          <a:solidFill>
            <a:srgbClr val="00453C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808976" y="1719072"/>
            <a:ext cx="548640" cy="54864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08976" y="17190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70064" y="2359152"/>
            <a:ext cx="14264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ADCB Ops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88352" y="2907792"/>
            <a:ext cx="1389888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B9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and risk team sees new programme in real-time queue. KYB flags auto-escalated. Card issuance and scheme reporting auto-triggered. Zero manual data entry required.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47472" y="5989320"/>
            <a:ext cx="84490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9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Proof: B2B merchant onboarding at PhonePe reduced from 2 days to 30 minutes using the same self-serve principle — same architecture, new context.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B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Key Screen States — Built &amp; Validated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298448"/>
            <a:ext cx="2029968" cy="5166360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298448"/>
            <a:ext cx="2029968" cy="347472"/>
          </a:xfrm>
          <a:prstGeom prst="rect">
            <a:avLst/>
          </a:prstGeom>
          <a:solidFill>
            <a:srgbClr val="00BFA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316736"/>
            <a:ext cx="1883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Company Setup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719072"/>
            <a:ext cx="1847088" cy="2103120"/>
          </a:xfrm>
          <a:prstGeom prst="roundRect">
            <a:avLst>
              <a:gd name="adj" fmla="val 2970"/>
            </a:avLst>
          </a:prstGeom>
          <a:solidFill>
            <a:srgbClr val="00302A"/>
          </a:solidFill>
          <a:ln w="12700">
            <a:solidFill>
              <a:srgbClr val="0045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1755648"/>
            <a:ext cx="1773936" cy="2029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80" dirty="0">
                <a:solidFill>
                  <a:srgbClr val="F0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[ADCB CardLaunch Wizard]</a:t>
            </a:r>
            <a:endParaRPr lang="en-US" sz="580" dirty="0"/>
          </a:p>
          <a:p>
            <a:pPr indent="0" marL="0">
              <a:buNone/>
            </a:pP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0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1 of 4: Company Setup</a:t>
            </a:r>
            <a:endParaRPr lang="en-US" sz="580" dirty="0"/>
          </a:p>
          <a:p>
            <a:pPr indent="0" marL="0">
              <a:buNone/>
            </a:pP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0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🏢 Al Futtaim Group LLC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0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Trade Lic: DED-2024-44821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0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✅ Auto-verified</a:t>
            </a:r>
            <a:endParaRPr lang="en-US" sz="580" dirty="0"/>
          </a:p>
          <a:p>
            <a:pPr indent="0" marL="0">
              <a:buNone/>
            </a:pP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0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💳 Programme Limit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0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○ AED 250K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0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● AED 500K ← selected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0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○ AED 1M+</a:t>
            </a:r>
            <a:endParaRPr lang="en-US" sz="580" dirty="0"/>
          </a:p>
          <a:p>
            <a:pPr indent="0" marL="0">
              <a:buNone/>
            </a:pP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0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[Next: Employee Setup →]</a:t>
            </a:r>
            <a:endParaRPr lang="en-US" sz="580" dirty="0"/>
          </a:p>
        </p:txBody>
      </p:sp>
      <p:sp>
        <p:nvSpPr>
          <p:cNvPr id="9" name="Text 7"/>
          <p:cNvSpPr/>
          <p:nvPr/>
        </p:nvSpPr>
        <p:spPr>
          <a:xfrm>
            <a:off x="365760" y="3913632"/>
            <a:ext cx="184708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admin enters trade licence number — OCR auto-fills company name, registration number, and address. Credit limit options surfaced instantly based on revenue data.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87168" y="1298448"/>
            <a:ext cx="2029968" cy="5166360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87168" y="1298448"/>
            <a:ext cx="2029968" cy="347472"/>
          </a:xfrm>
          <a:prstGeom prst="rect">
            <a:avLst/>
          </a:prstGeom>
          <a:solidFill>
            <a:srgbClr val="D4A84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1316736"/>
            <a:ext cx="1883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Employee Upload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78608" y="1719072"/>
            <a:ext cx="1847088" cy="2103120"/>
          </a:xfrm>
          <a:prstGeom prst="roundRect">
            <a:avLst>
              <a:gd name="adj" fmla="val 2970"/>
            </a:avLst>
          </a:prstGeom>
          <a:solidFill>
            <a:srgbClr val="00302A"/>
          </a:solidFill>
          <a:ln w="12700">
            <a:solidFill>
              <a:srgbClr val="0045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15184" y="1755648"/>
            <a:ext cx="1773936" cy="2029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80" dirty="0">
                <a:solidFill>
                  <a:srgbClr val="F0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[Step 3 of 4: Employees]</a:t>
            </a:r>
            <a:endParaRPr lang="en-US" sz="580" dirty="0"/>
          </a:p>
          <a:p>
            <a:pPr indent="0" marL="0">
              <a:buNone/>
            </a:pP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0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total  18 uploaded  7 virtual ✅</a:t>
            </a:r>
            <a:endParaRPr lang="en-US" sz="580" dirty="0"/>
          </a:p>
          <a:p>
            <a:pPr indent="0" marL="0">
              <a:buNone/>
            </a:pP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0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📤 Drop CSV or add manually</a:t>
            </a:r>
            <a:endParaRPr lang="en-US" sz="580" dirty="0"/>
          </a:p>
          <a:p>
            <a:pPr indent="0" marL="0">
              <a:buNone/>
            </a:pP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0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Ahmad Al-Rashidi  AED 25K  ✅ Virtual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0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Fatima Al-Hashimi AED 15K  ✅ Virtual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0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Mohammed Al-Zaabi AED 20K  ✅ Virtual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0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Laila Hassan      AED 10K  🚚 Physical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0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Khalid Al-Nuaimi  AED 30K  ✅ Virtual</a:t>
            </a:r>
            <a:endParaRPr lang="en-US" sz="580" dirty="0"/>
          </a:p>
          <a:p>
            <a:pPr indent="0" marL="0">
              <a:buNone/>
            </a:pP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0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[Issue Cards to All 25 →]</a:t>
            </a:r>
            <a:endParaRPr lang="en-US" sz="580" dirty="0"/>
          </a:p>
        </p:txBody>
      </p:sp>
      <p:sp>
        <p:nvSpPr>
          <p:cNvPr id="15" name="Text 13"/>
          <p:cNvSpPr/>
          <p:nvPr/>
        </p:nvSpPr>
        <p:spPr>
          <a:xfrm>
            <a:off x="2578608" y="3913632"/>
            <a:ext cx="184708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bulk upload or manual entry. Role-based spending limits assigned per employee. Virtual cards issued instantly — physical cards dispatched in parallel within 24 hours.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700016" y="1298448"/>
            <a:ext cx="2029968" cy="5166360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0016" y="1298448"/>
            <a:ext cx="2029968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73168" y="1316736"/>
            <a:ext cx="1883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Programme Live!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91456" y="1719072"/>
            <a:ext cx="1847088" cy="2103120"/>
          </a:xfrm>
          <a:prstGeom prst="roundRect">
            <a:avLst>
              <a:gd name="adj" fmla="val 2970"/>
            </a:avLst>
          </a:prstGeom>
          <a:solidFill>
            <a:srgbClr val="00302A"/>
          </a:solidFill>
          <a:ln w="12700">
            <a:solidFill>
              <a:srgbClr val="0045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28032" y="1755648"/>
            <a:ext cx="1773936" cy="2029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80" dirty="0">
                <a:solidFill>
                  <a:srgbClr val="F0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[🎉 Programme Live!]</a:t>
            </a:r>
            <a:endParaRPr lang="en-US" sz="580" dirty="0"/>
          </a:p>
          <a:p>
            <a:pPr indent="0" marL="0">
              <a:buNone/>
            </a:pP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0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cards issued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0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virtual · active now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0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AED 500K limit live</a:t>
            </a:r>
            <a:endParaRPr lang="en-US" sz="580" dirty="0"/>
          </a:p>
          <a:p>
            <a:pPr indent="0" marL="0">
              <a:buNone/>
            </a:pP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0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⏱ 24 minutes total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0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(was 3 weeks)</a:t>
            </a:r>
            <a:endParaRPr lang="en-US" sz="580" dirty="0"/>
          </a:p>
          <a:p>
            <a:pPr indent="0" marL="0">
              <a:buNone/>
            </a:pP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0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📧 All employees notified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0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via email + SMS</a:t>
            </a:r>
            <a:endParaRPr lang="en-US" sz="580" dirty="0"/>
          </a:p>
          <a:p>
            <a:pPr indent="0" marL="0">
              <a:buNone/>
            </a:pP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0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[→ Go to CorporateLens]</a:t>
            </a:r>
            <a:endParaRPr lang="en-US" sz="580" dirty="0"/>
          </a:p>
        </p:txBody>
      </p:sp>
      <p:sp>
        <p:nvSpPr>
          <p:cNvPr id="21" name="Text 19"/>
          <p:cNvSpPr/>
          <p:nvPr/>
        </p:nvSpPr>
        <p:spPr>
          <a:xfrm>
            <a:off x="4791456" y="3913632"/>
            <a:ext cx="184708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Instant confirmation: all virtual cards active, employee notifications sent, CorporateLens dashboard access granted. RM notified automatically — zero call required.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912864" y="1298448"/>
            <a:ext cx="2029968" cy="5166360"/>
          </a:xfrm>
          <a:prstGeom prst="roundRect">
            <a:avLst>
              <a:gd name="adj" fmla="val 4505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12864" y="1298448"/>
            <a:ext cx="2029968" cy="347472"/>
          </a:xfrm>
          <a:prstGeom prst="rect">
            <a:avLst/>
          </a:prstGeom>
          <a:solidFill>
            <a:srgbClr val="00BFA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86016" y="1316736"/>
            <a:ext cx="188366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ADCB Ops View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004304" y="1719072"/>
            <a:ext cx="1847088" cy="2103120"/>
          </a:xfrm>
          <a:prstGeom prst="roundRect">
            <a:avLst>
              <a:gd name="adj" fmla="val 2970"/>
            </a:avLst>
          </a:prstGeom>
          <a:solidFill>
            <a:srgbClr val="00302A"/>
          </a:solidFill>
          <a:ln w="12700">
            <a:solidFill>
              <a:srgbClr val="0045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40880" y="1755648"/>
            <a:ext cx="1773936" cy="2029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80" dirty="0">
                <a:solidFill>
                  <a:srgbClr val="F0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[ADCB Ops — Onboarding]</a:t>
            </a:r>
            <a:endParaRPr lang="en-US" sz="580" dirty="0"/>
          </a:p>
          <a:p>
            <a:pPr indent="0" marL="0">
              <a:buNone/>
            </a:pP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0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Programmes MTD: 14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0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 Onboarding: 24 min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0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Cards Issued: 287</a:t>
            </a:r>
            <a:endParaRPr lang="en-US" sz="580" dirty="0"/>
          </a:p>
          <a:p>
            <a:pPr indent="0" marL="0">
              <a:buNone/>
            </a:pP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0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KYB Queue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0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Al Futtaim    — Live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0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Emaar Prop    — Live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0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⏳ DEWA          — KYB</a:t>
            </a: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0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DP World      — Live</a:t>
            </a:r>
            <a:endParaRPr lang="en-US" sz="580" dirty="0"/>
          </a:p>
          <a:p>
            <a:pPr indent="0" marL="0">
              <a:buNone/>
            </a:pPr>
            <a:endParaRPr lang="en-US" sz="580" dirty="0"/>
          </a:p>
          <a:p>
            <a:pPr indent="0" marL="0">
              <a:buNone/>
            </a:pPr>
            <a:r>
              <a:rPr lang="en-US" sz="580" dirty="0">
                <a:solidFill>
                  <a:srgbClr val="F0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[View Full Pipeline →]</a:t>
            </a:r>
            <a:endParaRPr lang="en-US" sz="580" dirty="0"/>
          </a:p>
        </p:txBody>
      </p:sp>
      <p:sp>
        <p:nvSpPr>
          <p:cNvPr id="27" name="Text 25"/>
          <p:cNvSpPr/>
          <p:nvPr/>
        </p:nvSpPr>
        <p:spPr>
          <a:xfrm>
            <a:off x="7004304" y="3913632"/>
            <a:ext cx="1847088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0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ops dashboard shows all new programmes in real time. KYB flags auto-escalated for review. Card issuance and scheme reporting auto-triggered — zero manual data entry.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B9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available: adcb-cardlaunch-prototype.html  ·  Interactive demo of all 4 states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3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&amp; ROI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Impact — Built on PhonePe B2B Onboarding Proof Points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47472" y="1280160"/>
            <a:ext cx="4114800" cy="4892040"/>
          </a:xfrm>
          <a:prstGeom prst="roundRect">
            <a:avLst>
              <a:gd name="adj" fmla="val 2222"/>
            </a:avLst>
          </a:prstGeom>
          <a:solidFill>
            <a:srgbClr val="00453C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417320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🏢  Corporate Client Impact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901952"/>
            <a:ext cx="3794760" cy="877824"/>
          </a:xfrm>
          <a:prstGeom prst="roundRect">
            <a:avLst>
              <a:gd name="adj" fmla="val 7292"/>
            </a:avLst>
          </a:prstGeom>
          <a:solidFill>
            <a:srgbClr val="0030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93852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min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901952" y="196596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time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01952" y="2231136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 from 3 weeks (97% reduction)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02920" y="2907792"/>
            <a:ext cx="3794760" cy="877824"/>
          </a:xfrm>
          <a:prstGeom prst="roundRect">
            <a:avLst>
              <a:gd name="adj" fmla="val 7292"/>
            </a:avLst>
          </a:prstGeom>
          <a:solidFill>
            <a:srgbClr val="0030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94436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60%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901952" y="297180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admin effort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01952" y="3236976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RM calls needed for setup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02920" y="3913632"/>
            <a:ext cx="3794760" cy="877824"/>
          </a:xfrm>
          <a:prstGeom prst="roundRect">
            <a:avLst>
              <a:gd name="adj" fmla="val 7292"/>
            </a:avLst>
          </a:prstGeom>
          <a:solidFill>
            <a:srgbClr val="0030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95020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901952" y="397764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Cards active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901952" y="4242816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cards live before first meeting ends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02920" y="4919472"/>
            <a:ext cx="3794760" cy="877824"/>
          </a:xfrm>
          <a:prstGeom prst="roundRect">
            <a:avLst>
              <a:gd name="adj" fmla="val 7292"/>
            </a:avLst>
          </a:prstGeom>
          <a:solidFill>
            <a:srgbClr val="0030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95604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screen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901952" y="498348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programme visibility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901952" y="5248656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+ limits + compliance in CorporateLens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81728" y="1280160"/>
            <a:ext cx="4114800" cy="4892040"/>
          </a:xfrm>
          <a:prstGeom prst="roundRect">
            <a:avLst>
              <a:gd name="adj" fmla="val 2222"/>
            </a:avLst>
          </a:prstGeom>
          <a:solidFill>
            <a:srgbClr val="00453C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28032" y="1417320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 ADCB Bank ROI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28032" y="1901952"/>
            <a:ext cx="3794760" cy="877824"/>
          </a:xfrm>
          <a:prstGeom prst="roundRect">
            <a:avLst>
              <a:gd name="adj" fmla="val 7292"/>
            </a:avLst>
          </a:prstGeom>
          <a:solidFill>
            <a:srgbClr val="0030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193852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40%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172200" y="196596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First-swipe activation rate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72200" y="2231136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onboarding means less drop-off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828032" y="2907792"/>
            <a:ext cx="3794760" cy="877824"/>
          </a:xfrm>
          <a:prstGeom prst="roundRect">
            <a:avLst>
              <a:gd name="adj" fmla="val 7292"/>
            </a:avLst>
          </a:prstGeom>
          <a:solidFill>
            <a:srgbClr val="0030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294436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3×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6172200" y="297180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Programmes per RM per month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72200" y="3236976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 freed from admin; focuses on sales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828032" y="3913632"/>
            <a:ext cx="3794760" cy="877824"/>
          </a:xfrm>
          <a:prstGeom prst="roundRect">
            <a:avLst>
              <a:gd name="adj" fmla="val 7292"/>
            </a:avLst>
          </a:prstGeom>
          <a:solidFill>
            <a:srgbClr val="0030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395020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50%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6172200" y="397764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cost per programme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72200" y="4242816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manual KYB, no paper, no callbacks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828032" y="4919472"/>
            <a:ext cx="3794760" cy="877824"/>
          </a:xfrm>
          <a:prstGeom prst="roundRect">
            <a:avLst>
              <a:gd name="adj" fmla="val 7292"/>
            </a:avLst>
          </a:prstGeom>
          <a:solidFill>
            <a:srgbClr val="00302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37760" y="4956048"/>
            <a:ext cx="1188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25%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6172200" y="498348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per programme (LTV)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172200" y="5248656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9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activation = more spend volume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47472" y="6327648"/>
            <a:ext cx="8449056" cy="365760"/>
          </a:xfrm>
          <a:prstGeom prst="roundRect">
            <a:avLst>
              <a:gd name="adj" fmla="val 17500"/>
            </a:avLst>
          </a:prstGeom>
          <a:solidFill>
            <a:srgbClr val="00453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0352" y="6364224"/>
            <a:ext cx="80832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RM hour saved on admin is an hour redirected to new corporate client acquisition — the same compounding effect I drove at PhonePe.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0B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OF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Built This. Here is the Proof.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47472" y="1298448"/>
            <a:ext cx="4023360" cy="4617720"/>
          </a:xfrm>
          <a:prstGeom prst="roundRect">
            <a:avLst>
              <a:gd name="adj" fmla="val 2273"/>
            </a:avLst>
          </a:prstGeom>
          <a:solidFill>
            <a:srgbClr val="00302A"/>
          </a:solidFill>
          <a:ln w="12700">
            <a:solidFill>
              <a:srgbClr val="00000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444752"/>
            <a:ext cx="3712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Built at PhonePe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920240"/>
            <a:ext cx="37124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Built zero-to-one multi-tenant referral engine + self-serve PG integration platform replacing a 2-day manual merchant onboarding process with a 30-minute automated self-serve flow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2670048"/>
            <a:ext cx="37124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Acquired 5,000+ B2B merchants and 5Mn+ new users/month with 23% lower CAC versus the prior manual acquisition funnel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3419856"/>
            <a:ext cx="37124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Deployed Propensity-to-Transact ML models cutting marketing burn by 32% while sustaining GMV growth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4169664"/>
            <a:ext cx="37124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Redesigned offers eligibility and redemption UX across 350M MAU driving a 22% checkout conversion lift through A/B experimentation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4919472"/>
            <a:ext cx="37124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Led founding team at Kotak Cherry: scoped MVP, owned GTM, drove 100K+ downloads in the launch window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73168" y="1298448"/>
            <a:ext cx="4023360" cy="461772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19472" y="1444752"/>
            <a:ext cx="3712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Maps to This ADCB Role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19472" y="1920240"/>
            <a:ext cx="3712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PhonePe: 2-day → 30-min B2B onboarding at PhonePe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919472" y="2194560"/>
            <a:ext cx="3712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ADCB: 3-week → 24-min corporate card launch (CardLaunch)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919472" y="2670048"/>
            <a:ext cx="3712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PhonePe: 5,000+ merchant self-serve acquisition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919472" y="2944368"/>
            <a:ext cx="3712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ADCB: Corporate client self-serve onboarding without RM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19472" y="3419856"/>
            <a:ext cx="3712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PhonePe: ML targeting and audience segmentation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919472" y="3694176"/>
            <a:ext cx="3712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ADCB: AI credit scoring and real-time KYB automation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19472" y="4169664"/>
            <a:ext cx="3712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PhonePe: Offers eligibility + redemption UX redesign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919472" y="4443984"/>
            <a:ext cx="3712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ADCB: CorporateLens control plane and spend dashboard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919472" y="4919472"/>
            <a:ext cx="3712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PhonePe: Kotak Cherry 0→1 WealthTech launch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919472" y="5193792"/>
            <a:ext cx="3712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ADCB: ADCB CardLaunch 0→1 self-serve programme build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47472" y="6080760"/>
            <a:ext cx="8449056" cy="868680"/>
          </a:xfrm>
          <a:prstGeom prst="roundRect">
            <a:avLst>
              <a:gd name="adj" fmla="val 8421"/>
            </a:avLst>
          </a:prstGeom>
          <a:solidFill>
            <a:srgbClr val="000000"/>
          </a:solidFill>
          <a:ln w="19050">
            <a:solidFill>
              <a:srgbClr val="00BF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6144768"/>
            <a:ext cx="808329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A1F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"CardLaunch is not a concept. It is the same self-serve onboarding architecture I shipped at PhonePe for B2B merchants — now applied to corporate card programme launch at a bank."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30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Rollout — 6 Months to Full Deployment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47472" y="1298448"/>
            <a:ext cx="2743200" cy="4023360"/>
          </a:xfrm>
          <a:prstGeom prst="roundRect">
            <a:avLst>
              <a:gd name="adj" fmla="val 3333"/>
            </a:avLst>
          </a:prstGeom>
          <a:solidFill>
            <a:srgbClr val="00453C"/>
          </a:solidFill>
          <a:ln w="19050">
            <a:solidFill>
              <a:srgbClr val="00000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1298448"/>
            <a:ext cx="2743200" cy="402336"/>
          </a:xfrm>
          <a:prstGeom prst="rect">
            <a:avLst/>
          </a:prstGeom>
          <a:solidFill>
            <a:srgbClr val="00BFA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131673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 ·  Month 1–2: Pilot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25237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Deploy CardLaunch wizard to 10 new SME corporate clients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7200" y="2487168"/>
            <a:ext cx="25237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Instrument all onboarding steps — measure TAT, drop-off, and first-swipe rate vs control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3145536"/>
            <a:ext cx="25237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Run wizard vs RM-assisted A/B test — isolate friction points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57200" y="3803904"/>
            <a:ext cx="25237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Align with Compliance and KYB team on eKYC document requirements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91840" y="1298448"/>
            <a:ext cx="2743200" cy="4023360"/>
          </a:xfrm>
          <a:prstGeom prst="roundRect">
            <a:avLst>
              <a:gd name="adj" fmla="val 3333"/>
            </a:avLst>
          </a:prstGeom>
          <a:solidFill>
            <a:srgbClr val="00453C"/>
          </a:solidFill>
          <a:ln w="19050">
            <a:solidFill>
              <a:srgbClr val="00000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298448"/>
            <a:ext cx="2743200" cy="402336"/>
          </a:xfrm>
          <a:prstGeom prst="rect">
            <a:avLst/>
          </a:prstGeom>
          <a:solidFill>
            <a:srgbClr val="D4A84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31673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 ·  Month 3–4: Scale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01568" y="1828800"/>
            <a:ext cx="25237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Roll out to all new corporate card applications with RM as optional fallback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401568" y="2487168"/>
            <a:ext cx="25237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Launch CorporateLens dashboard integration — spend controls go live from Day 1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401568" y="3145536"/>
            <a:ext cx="25237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Implement AI credit scoring API; reduce credit decision TAT from days to minutes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401568" y="3803904"/>
            <a:ext cx="25237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Tune wizard flow based on pilot drop-off data — expected 40%+ activation improvement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236208" y="1298448"/>
            <a:ext cx="2743200" cy="4023360"/>
          </a:xfrm>
          <a:prstGeom prst="roundRect">
            <a:avLst>
              <a:gd name="adj" fmla="val 3333"/>
            </a:avLst>
          </a:prstGeom>
          <a:solidFill>
            <a:srgbClr val="00453C"/>
          </a:solidFill>
          <a:ln w="19050">
            <a:solidFill>
              <a:srgbClr val="000000"/>
            </a:solidFill>
            <a:prstDash val="solid"/>
          </a:ln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36208" y="1298448"/>
            <a:ext cx="2743200" cy="402336"/>
          </a:xfrm>
          <a:prstGeom prst="rect">
            <a:avLst/>
          </a:prstGeom>
          <a:solidFill>
            <a:srgbClr val="22C55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27648" y="1316736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 ·  Month 5–6: Full Rollout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345936" y="1828800"/>
            <a:ext cx="25237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Migrate existing RM-onboarded clients to self-serve dashboard (CorporateLens)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6345936" y="2487168"/>
            <a:ext cx="25237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Automate Visa/Mastercard scheme reporting via CardLaunch data pipeline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345936" y="3145536"/>
            <a:ext cx="25237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Expand to new segments: government entities, large enterprise (AED 1M+ programmes)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345936" y="3803904"/>
            <a:ext cx="252374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0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Launch RM productivity dashboard — track portfolio growth freed from admin tasks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7472" y="5486400"/>
            <a:ext cx="8449056" cy="960120"/>
          </a:xfrm>
          <a:prstGeom prst="roundRect">
            <a:avLst>
              <a:gd name="adj" fmla="val 9524"/>
            </a:avLst>
          </a:prstGeom>
          <a:solidFill>
            <a:srgbClr val="00453C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555040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need to build this: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8640" y="5833872"/>
            <a:ext cx="80832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0F7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to KYB/KYC data flows  ·  Alignment with Credit Risk and Cards Ops team  ·  1 backend engineer for wizard API  ·  1 designer for onboarding UX  ·  Visa/Mastercard sandbox access for scheme testing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0453C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6528816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E9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Ajay Avaghade  ·  avaghadeajay009@gmail.com  ·  +91 9561558439  ·  linkedin.com/in/ajay-avaghade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2026-05-23T06:26:13Z</dcterms:created>
  <dcterms:modified xsi:type="dcterms:W3CDTF">2026-05-23T06:26:13Z</dcterms:modified>
</cp:coreProperties>
</file>