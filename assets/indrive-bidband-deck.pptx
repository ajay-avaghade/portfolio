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0"/>
            <a:ext cx="3657600" cy="6858000"/>
          </a:xfrm>
          <a:prstGeom prst="line">
            <a:avLst/>
          </a:prstGeom>
          <a:noFill/>
          <a:ln w="5080">
            <a:solidFill>
              <a:srgbClr val="B5E03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" y="0"/>
            <a:ext cx="3657600" cy="6858000"/>
          </a:xfrm>
          <a:prstGeom prst="line">
            <a:avLst/>
          </a:prstGeom>
          <a:noFill/>
          <a:ln w="5080">
            <a:solidFill>
              <a:srgbClr val="B5E033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0"/>
            <a:ext cx="3657600" cy="6858000"/>
          </a:xfrm>
          <a:prstGeom prst="line">
            <a:avLst/>
          </a:prstGeom>
          <a:noFill/>
          <a:ln w="5080">
            <a:solidFill>
              <a:srgbClr val="B5E033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0"/>
            <a:ext cx="3657600" cy="6858000"/>
          </a:xfrm>
          <a:prstGeom prst="line">
            <a:avLst/>
          </a:prstGeom>
          <a:noFill/>
          <a:ln w="5080">
            <a:solidFill>
              <a:srgbClr val="B5E033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0"/>
            <a:ext cx="3657600" cy="6858000"/>
          </a:xfrm>
          <a:prstGeom prst="line">
            <a:avLst/>
          </a:prstGeom>
          <a:noFill/>
          <a:ln w="5080">
            <a:solidFill>
              <a:srgbClr val="B5E033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0"/>
            <a:ext cx="3657600" cy="6858000"/>
          </a:xfrm>
          <a:prstGeom prst="line">
            <a:avLst/>
          </a:prstGeom>
          <a:noFill/>
          <a:ln w="5080">
            <a:solidFill>
              <a:srgbClr val="B5E033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0" y="0"/>
            <a:ext cx="3657600" cy="6858000"/>
          </a:xfrm>
          <a:prstGeom prst="line">
            <a:avLst/>
          </a:prstGeom>
          <a:noFill/>
          <a:ln w="5080">
            <a:solidFill>
              <a:srgbClr val="B5E033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0"/>
            <a:ext cx="3657600" cy="6858000"/>
          </a:xfrm>
          <a:prstGeom prst="line">
            <a:avLst/>
          </a:prstGeom>
          <a:noFill/>
          <a:ln w="5080">
            <a:solidFill>
              <a:srgbClr val="B5E033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0"/>
            <a:ext cx="3657600" cy="6858000"/>
          </a:xfrm>
          <a:prstGeom prst="line">
            <a:avLst/>
          </a:prstGeom>
          <a:noFill/>
          <a:ln w="5080">
            <a:solidFill>
              <a:srgbClr val="B5E033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0"/>
            <a:ext cx="3657600" cy="6858000"/>
          </a:xfrm>
          <a:prstGeom prst="line">
            <a:avLst/>
          </a:prstGeom>
          <a:noFill/>
          <a:ln w="5080">
            <a:solidFill>
              <a:srgbClr val="B5E033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3657600" cy="6858000"/>
          </a:xfrm>
          <a:prstGeom prst="line">
            <a:avLst/>
          </a:prstGeom>
          <a:noFill/>
          <a:ln w="5080">
            <a:solidFill>
              <a:srgbClr val="B5E033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0"/>
            <a:ext cx="3657600" cy="6858000"/>
          </a:xfrm>
          <a:prstGeom prst="line">
            <a:avLst/>
          </a:prstGeom>
          <a:noFill/>
          <a:ln w="5080">
            <a:solidFill>
              <a:srgbClr val="B5E033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0"/>
            <a:ext cx="3657600" cy="6858000"/>
          </a:xfrm>
          <a:prstGeom prst="line">
            <a:avLst/>
          </a:prstGeom>
          <a:noFill/>
          <a:ln w="5080">
            <a:solidFill>
              <a:srgbClr val="B5E033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0" y="0"/>
            <a:ext cx="3657600" cy="6858000"/>
          </a:xfrm>
          <a:prstGeom prst="line">
            <a:avLst/>
          </a:prstGeom>
          <a:noFill/>
          <a:ln w="5080">
            <a:solidFill>
              <a:srgbClr val="B5E033">
                <a:alpha val="1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36576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B5E033">
                    <a:alpha val="7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⟷</a:t>
            </a:r>
            <a:endParaRPr lang="en-US" sz="200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5E033"/>
                </a:solidFill>
              </a:rPr>
              <a:t>INDRIVE  ·  SENIOR PRODUCT MANAGER — GROWTH &amp; PERSONALIZATION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10058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inDrive BidBand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457200" y="201168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94A3B8"/>
                </a:solidFill>
              </a:rPr>
              <a:t>Fixing the worst UX in ride-hailing: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94A3B8"/>
                </a:solidFill>
              </a:rPr>
              <a:t>show 4 fare bands with match probabilities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94A3B8"/>
                </a:solidFill>
              </a:rPr>
              <a:t>before the passenger negotiates — not after failure.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C220"/>
                </a:solidFill>
              </a:rPr>
              <a:t>Presented by Ajay Avaghade  ·  Growth &amp; Personalization PM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4754880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B5E033">
              <a:alpha val="90000"/>
            </a:srgbClr>
          </a:solidFill>
          <a:ln w="12700">
            <a:solidFill>
              <a:srgbClr val="B5E0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892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0E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583680" y="5623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A00"/>
                </a:solidFill>
              </a:rPr>
              <a:t>match success rate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A00"/>
                </a:solidFill>
              </a:rPr>
              <a:t>vs single-price baseline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5E033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A Single Suggested Price Destroys Trust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At The Moment That Matters Most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1A1A1A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4444"/>
                </a:solidFill>
              </a:rPr>
              <a:t>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of fare offers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get no match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User hits a dead end with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zero useful information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78308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1A1A1A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9E0B"/>
                </a:solidFill>
              </a:rPr>
              <a:t>⏱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0" y="2331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sec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83280" y="2971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then a jarring new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price recommendation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3474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Gap feels manipulative — trust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break at the critical moment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78308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1A1A1A"/>
          </a:solidFill>
          <a:ln w="15240">
            <a:solidFill>
              <a:srgbClr val="FF6B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B35"/>
                </a:solidFill>
              </a:rPr>
              <a:t>📉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09360" y="2331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churn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309360" y="2971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users who fail once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often never return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3474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Competitor apps benefit from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every inDrive no-match event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A12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846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Root cause: The negotiation model — inDrive's biggest differentiator — becomes its biggest trust destroyer when it fails silently. The app gives passengers no information to make a better decision. The fix is not a higher default price. The fix is transparency before the bid.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C220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B0E13"/>
                </a:solidFill>
              </a:rPr>
              <a:t>The Problem Is Not The Price — It's The Missing Information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FFF0EE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  Single Price (Current)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4444"/>
                </a:solidFill>
              </a:rPr>
              <a:t>• One suggested fare shown with no context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57860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4444"/>
                </a:solidFill>
              </a:rPr>
              <a:t>• No indication of match probability before submitting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4444"/>
                </a:solidFill>
              </a:rPr>
              <a:t>• No-match = dead end UX with zero information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52958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4444"/>
                </a:solidFill>
              </a:rPr>
              <a:t>• After 60s a much higher price appears — feels like manipulation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00507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4444"/>
                </a:solidFill>
              </a:rPr>
              <a:t>• User churns to competitor app — lost GMV, lost trust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0520" y="2743200"/>
            <a:ext cx="822960" cy="822960"/>
          </a:xfrm>
          <a:prstGeom prst="ellipse">
            <a:avLst/>
          </a:prstGeom>
          <a:solidFill>
            <a:srgbClr val="0B0E13"/>
          </a:solidFill>
          <a:ln w="12700">
            <a:solidFill>
              <a:srgbClr val="0B0E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2743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50876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F0FFF4"/>
          </a:solidFill>
          <a:ln w="19050">
            <a:solidFill>
              <a:srgbClr val="8BC2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C220"/>
                </a:solidFill>
              </a:rPr>
              <a:t>✅  BidBand (Proposed)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103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3A00"/>
                </a:solidFill>
              </a:rPr>
              <a:t>• 4 fare bands shown before the passenger commits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57860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3A00"/>
                </a:solidFill>
              </a:rPr>
              <a:t>• Each band shows match probability (20% / 45% / 72% / 91%)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305409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3A00"/>
                </a:solidFill>
              </a:rPr>
              <a:t>• User self-selects their risk tolerance — informed choice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352958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3A00"/>
                </a:solidFill>
              </a:rPr>
              <a:t>• No-match triggers a one-tap nudge to the next band — not a jarring new suggestion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400507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3A00"/>
                </a:solidFill>
              </a:rPr>
              <a:t>• Recovers 43% of Band 1 failures via the progressive nudge flow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074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0B0E13"/>
          </a:solidFill>
          <a:ln w="12700">
            <a:solidFill>
              <a:srgbClr val="B5E0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166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Key insight: This is only possible at inDrive. Uber and Bolt cannot build BidBand because they have no negotiation layer. inDrive's unique counteroffer model is the moat — and BidBand converts that moat into a transparency advantage.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5E033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Four Bands, One Informed Decision — Then Progressive Recovery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463040" cy="3566160"/>
          </a:xfrm>
          <a:prstGeom prst="roundRect">
            <a:avLst>
              <a:gd name="adj" fmla="val 6250"/>
            </a:avLst>
          </a:prstGeom>
          <a:solidFill>
            <a:srgbClr val="141810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08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192024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Route Submitted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8912" y="2377440"/>
            <a:ext cx="131673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Passenger enters pickup + destination. BidBand ML queries real-time driver density, time of day, historical acceptance rates, and weather for this corridor.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0" y="1828800"/>
            <a:ext cx="219456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048256" y="1417320"/>
            <a:ext cx="1463040" cy="3566160"/>
          </a:xfrm>
          <a:prstGeom prst="roundRect">
            <a:avLst>
              <a:gd name="adj" fmla="val 6250"/>
            </a:avLst>
          </a:prstGeom>
          <a:solidFill>
            <a:srgbClr val="141810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48256" y="1508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21408" y="192024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4 Bands Rendered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21408" y="2377440"/>
            <a:ext cx="131673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Fare entry screen shows 4 bands with probability bars: Try Your Luck (20%), Fair Offer (45%), Good Chance (72%), Fast Match (91%). User taps to select.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11296" y="1828800"/>
            <a:ext cx="219456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730752" y="1417320"/>
            <a:ext cx="1463040" cy="3566160"/>
          </a:xfrm>
          <a:prstGeom prst="roundRect">
            <a:avLst>
              <a:gd name="adj" fmla="val 6250"/>
            </a:avLst>
          </a:prstGeom>
          <a:solidFill>
            <a:srgbClr val="141810"/>
          </a:solidFill>
          <a:ln w="15240">
            <a:solidFill>
              <a:srgbClr val="B5E03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30752" y="1508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E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03904" y="192024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Offer Submitted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03904" y="2377440"/>
            <a:ext cx="131673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Selected band fare submitted to driver pool. Live feed shows how many drivers viewed, countered, or declined — full transparency throughout the wait.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93792" y="1828800"/>
            <a:ext cx="219456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413248" y="1417320"/>
            <a:ext cx="1463040" cy="3566160"/>
          </a:xfrm>
          <a:prstGeom prst="roundRect">
            <a:avLst>
              <a:gd name="adj" fmla="val 6250"/>
            </a:avLst>
          </a:prstGeom>
          <a:solidFill>
            <a:srgbClr val="141810"/>
          </a:solidFill>
          <a:ln w="15240">
            <a:solidFill>
              <a:srgbClr val="FF6B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13248" y="1508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0" y="192024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No-Match Nudge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0" y="2377440"/>
            <a:ext cx="131673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If no driver accepts within 3 min at Band N, a one-tap nudge appears: "Move to Band N+1 for X% better odds." Progressive, never jarring. No surprise price jump.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76288" y="1828800"/>
            <a:ext cx="219456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095744" y="1417320"/>
            <a:ext cx="1463040" cy="3566160"/>
          </a:xfrm>
          <a:prstGeom prst="roundRect">
            <a:avLst>
              <a:gd name="adj" fmla="val 6250"/>
            </a:avLst>
          </a:prstGeom>
          <a:solidFill>
            <a:srgbClr val="141810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95744" y="1508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68896" y="192024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Match + Insight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168896" y="2377440"/>
            <a:ext cx="131673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Driver accepts. Confirmation screen shows agreed fare, band used, time to match, and how much was saved vs Band 4 — reinforcing the value of the informed choice.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51206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A2A00"/>
          </a:solidFill>
          <a:ln w="12700">
            <a:solidFill>
              <a:srgbClr val="B5E0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2120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A/B proof at PhonePe: Dynamic offer eligibility surface (show band / suppress) drove 22% checkout conversion lift at 350M MAU — same real-time signal-to-UI architecture as BidBand's probability rendering layer.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C220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E13"/>
                </a:solidFill>
              </a:rPr>
              <a:t>4 Screen States — Built for inDrive's Negotiation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1920240" cy="4526280"/>
          </a:xfrm>
          <a:prstGeom prst="roundRect">
            <a:avLst>
              <a:gd name="adj" fmla="val 5714"/>
            </a:avLst>
          </a:prstGeom>
          <a:solidFill>
            <a:srgbClr val="0B0E13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417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F4444"/>
                </a:solidFill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Fare Entry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0574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4 BidBand tiles with probability bars. User taps their risk band. Fair Offer pre-selected. Single submit CTA. No cognitive overload.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" y="3108960"/>
            <a:ext cx="1700784" cy="1554480"/>
          </a:xfrm>
          <a:prstGeom prst="roundRect">
            <a:avLst>
              <a:gd name="adj" fmla="val 4118"/>
            </a:avLst>
          </a:prstGeom>
          <a:solidFill>
            <a:srgbClr val="1A1F1A"/>
          </a:solidFill>
          <a:ln w="762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3182112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[Band 1: Try Luck 20%]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5488" y="3465576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[Band 2: Fair Offer 45%] ◀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5488" y="3749040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[Band 3: Good Chance 72%]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75488" y="4032504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[Band 4: Fast Match 91%]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75488" y="4315968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[Request Ride]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468880" y="1325880"/>
            <a:ext cx="1920240" cy="4526280"/>
          </a:xfrm>
          <a:prstGeom prst="roundRect">
            <a:avLst>
              <a:gd name="adj" fmla="val 5714"/>
            </a:avLst>
          </a:prstGeom>
          <a:solidFill>
            <a:srgbClr val="0B0E13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68880" y="1417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6888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Waiting State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20574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Live driver activity feed: viewed, countered, declined. Progressive nudge card at 3 min — never a jarring new price, always a gentle one-step upgrade.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78608" y="3108960"/>
            <a:ext cx="1700784" cy="1554480"/>
          </a:xfrm>
          <a:prstGeom prst="roundRect">
            <a:avLst>
              <a:gd name="adj" fmla="val 4118"/>
            </a:avLst>
          </a:prstGeom>
          <a:solidFill>
            <a:srgbClr val="1A1F1A"/>
          </a:solidFill>
          <a:ln w="762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24328" y="3182112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driver…  $11.20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24328" y="3465576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drivers viewed  3 countered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624328" y="3749040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[========= 42%]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624328" y="4032504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Still waiting? Try Band 3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624328" y="4315968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[Move to Good Chance $12.60]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617720" y="1325880"/>
            <a:ext cx="1920240" cy="4526280"/>
          </a:xfrm>
          <a:prstGeom prst="roundRect">
            <a:avLst>
              <a:gd name="adj" fmla="val 5714"/>
            </a:avLst>
          </a:prstGeom>
          <a:solidFill>
            <a:srgbClr val="0B0E13"/>
          </a:solidFill>
          <a:ln w="25400">
            <a:solidFill>
              <a:srgbClr val="B5E03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17720" y="1417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B5E033"/>
                </a:solidFill>
              </a:rPr>
              <a:t>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1772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Match Found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9160" y="20574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Driver accepted — shows which band succeeded, time to match, savings vs Band 4. Insight reinforces that the informed bid worked.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27448" y="3108960"/>
            <a:ext cx="1700784" cy="1554480"/>
          </a:xfrm>
          <a:prstGeom prst="roundRect">
            <a:avLst>
              <a:gd name="adj" fmla="val 4118"/>
            </a:avLst>
          </a:prstGeom>
          <a:solidFill>
            <a:srgbClr val="1A1F1A"/>
          </a:solidFill>
          <a:ln w="7620">
            <a:solidFill>
              <a:srgbClr val="B5E033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182112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5E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Driver Accepted!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73168" y="3465576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5E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 2 matched in 2m 31s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73168" y="3749040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5E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[Driver: Mikhail K. 4.9★]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73168" y="4032504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5E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Fare: $11.20  ETA: 3:20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73168" y="4315968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5E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$2.60 vs Fast Match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766560" y="1325880"/>
            <a:ext cx="1920240" cy="4526280"/>
          </a:xfrm>
          <a:prstGeom prst="roundRect">
            <a:avLst>
              <a:gd name="adj" fmla="val 5714"/>
            </a:avLst>
          </a:prstGeom>
          <a:solidFill>
            <a:srgbClr val="0B0E13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766560" y="1417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2C55E"/>
                </a:solidFill>
              </a:rPr>
              <a:t>04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76656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Ops Analytics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58000" y="20574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Match rate per band, no-match churn rate, nudge upgrade rate. Ops team monitors band distribution to tune probability thresholds city by city.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876288" y="3108960"/>
            <a:ext cx="1700784" cy="1554480"/>
          </a:xfrm>
          <a:prstGeom prst="roundRect">
            <a:avLst>
              <a:gd name="adj" fmla="val 4118"/>
            </a:avLst>
          </a:prstGeom>
          <a:solidFill>
            <a:srgbClr val="1A1F1A"/>
          </a:solidFill>
          <a:ln w="762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22008" y="3182112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BidBand Performance Today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922008" y="3465576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 1:  21%  2,140 reqs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922008" y="3749040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 2:  46%  3,812 reqs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922008" y="4032504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 3:  73%  5,940 reqs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922008" y="4315968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 4:  92%  1,604 reqs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5720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C220"/>
                </a:solidFill>
              </a:rPr>
              <a:t>Prototype: indrive-bidband-prototype.html  —  interactive live demo of all 4 screen states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5E033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Projected Impact — Built on PhonePe Proof Points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09728" cy="3200400"/>
          </a:xfrm>
          <a:prstGeom prst="roundRect">
            <a:avLst>
              <a:gd name="adj" fmla="val 50000"/>
            </a:avLst>
          </a:prstGeom>
          <a:solidFill>
            <a:srgbClr val="B5E033"/>
          </a:solidFill>
          <a:ln w="12700">
            <a:solidFill>
              <a:srgbClr val="B5E0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5E033"/>
                </a:solidFill>
              </a:rPr>
              <a:t>USER IMPACT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5E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651760" y="1737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match success rate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51760" y="19842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vs single-price baseline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5E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−55%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51760" y="2514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post-no-match churn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51760" y="27614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riders retained at failure moment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5E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651760" y="3291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Band 1 → Band 3 via nudge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51760" y="35387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rides recovered that would be lost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4023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5E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651760" y="4069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GMV per session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51760" y="43159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informed users complete more rides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1325880"/>
            <a:ext cx="109728" cy="32004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B35"/>
                </a:solidFill>
              </a:rPr>
              <a:t>PLATFORM ROI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2064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132320" y="1737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incremental subsidy cost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32320" y="19842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BidBand is UI + ML, no discount spend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20640" y="24688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+X%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132320" y="2514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ride completion rate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132320" y="27614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directly improves driver utilization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20640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7132320" y="3291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defensibility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32320" y="35387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Uber/Bolt cannot build this — no negotiation layer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20640" y="4023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7132320" y="4069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payback period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132320" y="43159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 CAPEX; API + frontend deployment only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507492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A2A00"/>
          </a:solidFill>
          <a:ln w="12700">
            <a:solidFill>
              <a:srgbClr val="B5E0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1663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This is inDrive's only competitive moat deepened — not a cost center. Every competitor's surge model creates resentment. BidBand turns inDrive's negotiation into a transparency advantage that compounds with scale.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C220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E13"/>
                </a:solidFill>
              </a:rPr>
              <a:t>I Built This Architecture. Here's The Evidence.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0B0E13"/>
          </a:solidFill>
          <a:ln w="12700">
            <a:solidFill>
              <a:srgbClr val="B5E03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E033"/>
                </a:solidFill>
              </a:rPr>
              <a:t>What I built at PhonePe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• Real-time offer eligibility surface at 350M MAU — same signal-to-UI pipeline as BidBand probability rendering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253288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• ML propensity scoring replacing ₹1,000+ Cr/yr static rules — identical band suppression architecture (show offer only when it changes behaviour)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3191256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• Dynamic cart incentivization on Pincode — detect abandonment signal → trigger contextual intervention; BidBand's nudge flow follows the exact same pattern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384962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• A/B tested offer show vs suppress — 22% checkout lift; same experimentation framework for band threshold tuning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450799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• 500+ brand partners onboarded to self-serve campaign tooling — same ops analytics thinking as BidBand band performance dashboard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F8F9FA"/>
          </a:solidFill>
          <a:ln w="12700">
            <a:solidFill>
              <a:srgbClr val="8BC22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C220"/>
                </a:solidFill>
              </a:rPr>
              <a:t>Maps to inDrive JD requirements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</a:rPr>
              <a:t>• "Translate customer behavior insights into segmented programmable journeys" → BidBand segments on intent signal (route + time + supply) before the bid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0" y="253288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</a:rPr>
              <a:t>• "Partner with ML/DS to test hybrid AI stacks" → BidBand probability model: scoring + real-time retrieval; PhonePe shipped this in production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37760" y="3191256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</a:rPr>
              <a:t>• "Own roadmap for engagement and monetization loops" → BidBand closes the activation loop (submit → match → next ride) that currently breaks at no-match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37760" y="384962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</a:rPr>
              <a:t>• "Drive growth through experimentation" → Band threshold A/B testing framework; same as PhonePe offer eligibility experiments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37760" y="450799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</a:rPr>
              <a:t>• "Scale interventions across engagement loops" → Nudge engine recovers 43% of failures; same trigger-to-action architecture as Pincode cart recovery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5623560"/>
            <a:ext cx="8412480" cy="594360"/>
          </a:xfrm>
          <a:prstGeom prst="roundRect">
            <a:avLst>
              <a:gd name="adj" fmla="val 10769"/>
            </a:avLst>
          </a:prstGeom>
          <a:solidFill>
            <a:srgbClr val="0B0E13"/>
          </a:solidFill>
          <a:ln w="12700">
            <a:solidFill>
              <a:srgbClr val="B5E0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69671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FFFFFF"/>
                </a:solidFill>
              </a:rPr>
              <a:t>"The propensity scoring, the UI suppression, the progressive nudge — this is not a whiteboard idea. I shipped these primitives at 350M MAU."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5E033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Phased Launch — 2 Cities, 90 Days to Full Proof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141810"/>
          </a:solidFill>
          <a:ln w="19050">
            <a:solidFill>
              <a:srgbClr val="B5E03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B5E033"/>
                </a:solidFill>
              </a:rPr>
              <a:t>Phase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Month 1–2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" y="196596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Pilot — 2 Cities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• Deploy BidBand to 100% of new ride requests in 2 cities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9443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• A/B test: BidBand flow vs control (single price)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351129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• Instrument: match rate, time-to-match, churn at no-match, band distribution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407822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• Tune probability thresholds using live acceptance data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32588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141810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6B35"/>
                </a:solidFill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16916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Month 3–4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01568" y="196596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Nudge Engine + Analytics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2377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• Launch progressive nudge flow (Band N → N+1 at 3 min threshold)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29443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• Build ops analytics dashboard: band performance by city + time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351129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• Test nudge timing (2 min vs 3 min vs 5 min)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0" y="407822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• Expand to 5 cities based on pilot learnings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132588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141810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2C55E"/>
                </a:solidFill>
              </a:rPr>
              <a:t>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16916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Month 5–6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27648" y="196596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Full Rollout + Drivers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2377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• Roll out to all markets globally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55080" y="29443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• Adapt probability bands per market (pricing dynamics vary by city tier)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55080" y="351129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• Launch driver-facing BidBand: accept counter-band offers in one tap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407822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• Integration: BidBand probability feeds into driver dispatching model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507492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0D1500"/>
          </a:solidFill>
          <a:ln w="15240">
            <a:solidFill>
              <a:srgbClr val="B5E0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166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E033"/>
                </a:solidFill>
              </a:rPr>
              <a:t>What I need to build this: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4406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Access to ride acceptance rate data by corridor + time  ·  DS partner for probability model calibration  ·  1 frontend eng for BidBand UI  ·  City ops alignment on threshold tuning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Ajay Avaghade  |  avaghadeajay009@gmail.com  |  +91 9561558439  |  ajay-avaghade.github.io/Portfolio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2026-05-24T12:30:33Z</dcterms:created>
  <dcterms:modified xsi:type="dcterms:W3CDTF">2026-05-24T12:30:33Z</dcterms:modified>
</cp:coreProperties>
</file>