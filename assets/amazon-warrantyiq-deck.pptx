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Shape 1"/>
          <p:cNvSpPr/>
          <p:nvPr/>
        </p:nvSpPr>
        <p:spPr>
          <a:xfrm rot="720000">
            <a:off x="-45720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4" name="Shape 2"/>
          <p:cNvSpPr/>
          <p:nvPr/>
        </p:nvSpPr>
        <p:spPr>
          <a:xfrm rot="720000">
            <a:off x="32004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5" name="Shape 3"/>
          <p:cNvSpPr/>
          <p:nvPr/>
        </p:nvSpPr>
        <p:spPr>
          <a:xfrm rot="720000">
            <a:off x="109728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 rot="720000">
            <a:off x="187452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Shape 5"/>
          <p:cNvSpPr/>
          <p:nvPr/>
        </p:nvSpPr>
        <p:spPr>
          <a:xfrm rot="720000">
            <a:off x="265176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8" name="Shape 6"/>
          <p:cNvSpPr/>
          <p:nvPr/>
        </p:nvSpPr>
        <p:spPr>
          <a:xfrm rot="720000">
            <a:off x="342900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Shape 7"/>
          <p:cNvSpPr/>
          <p:nvPr/>
        </p:nvSpPr>
        <p:spPr>
          <a:xfrm rot="720000">
            <a:off x="420624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0" name="Shape 8"/>
          <p:cNvSpPr/>
          <p:nvPr/>
        </p:nvSpPr>
        <p:spPr>
          <a:xfrm rot="720000">
            <a:off x="498348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Shape 9"/>
          <p:cNvSpPr/>
          <p:nvPr/>
        </p:nvSpPr>
        <p:spPr>
          <a:xfrm rot="720000">
            <a:off x="576072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2" name="Shape 10"/>
          <p:cNvSpPr/>
          <p:nvPr/>
        </p:nvSpPr>
        <p:spPr>
          <a:xfrm rot="720000">
            <a:off x="653796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Shape 11"/>
          <p:cNvSpPr/>
          <p:nvPr/>
        </p:nvSpPr>
        <p:spPr>
          <a:xfrm rot="720000">
            <a:off x="731520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4" name="Shape 12"/>
          <p:cNvSpPr/>
          <p:nvPr/>
        </p:nvSpPr>
        <p:spPr>
          <a:xfrm rot="720000">
            <a:off x="809244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5" name="Shape 13"/>
          <p:cNvSpPr/>
          <p:nvPr/>
        </p:nvSpPr>
        <p:spPr>
          <a:xfrm rot="720000">
            <a:off x="886968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Shape 14"/>
          <p:cNvSpPr/>
          <p:nvPr/>
        </p:nvSpPr>
        <p:spPr>
          <a:xfrm rot="720000">
            <a:off x="9646920" y="0"/>
            <a:ext cx="457200" cy="68580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0" y="0"/>
            <a:ext cx="2194560" cy="10058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8" name="Text 16"/>
          <p:cNvSpPr/>
          <p:nvPr/>
        </p:nvSpPr>
        <p:spPr>
          <a:xfrm>
            <a:off x="6995160" y="914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amazon.ae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95160" y="475488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200" kern="0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&amp; LEISURE · MENA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57200" y="1280160"/>
            <a:ext cx="6400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WarrantyIQ</a:t>
            </a:r>
            <a:endParaRPr lang="en-US" sz="5200" dirty="0"/>
          </a:p>
        </p:txBody>
      </p:sp>
      <p:sp>
        <p:nvSpPr>
          <p:cNvPr id="21" name="Shape 19"/>
          <p:cNvSpPr/>
          <p:nvPr/>
        </p:nvSpPr>
        <p:spPr>
          <a:xfrm>
            <a:off x="457200" y="2377440"/>
            <a:ext cx="1280160" cy="73152"/>
          </a:xfrm>
          <a:prstGeom prst="rect">
            <a:avLst/>
          </a:prstGeom>
          <a:solidFill>
            <a:srgbClr val="067D62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251460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 warranty attach engine — failure-probability intelligence at the PDP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02 of 03  ·  Amazon MENA Senior PM, Home &amp; Leisure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5257800"/>
            <a:ext cx="4572000" cy="54864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539496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Ajay Avaghade  ·  Growth &amp; Category PM  ·  PhonePe → Amazon MENA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949440" y="4663440"/>
            <a:ext cx="1920240" cy="18288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27" name="Text 25"/>
          <p:cNvSpPr/>
          <p:nvPr/>
        </p:nvSpPr>
        <p:spPr>
          <a:xfrm>
            <a:off x="6949440" y="4754880"/>
            <a:ext cx="1920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6949440" y="5440680"/>
            <a:ext cx="1920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rate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Sells AED 1,899 Washing Machines and Then Walks Away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36576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627632"/>
            <a:ext cx="2651760" cy="3200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75564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🛡️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23591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3%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548640" y="312724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 attach rate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520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washing machines, ACs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refrigerators — industry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 is 18–25% with active surfacing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1840" y="1627632"/>
            <a:ext cx="2651760" cy="3200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291840" y="175564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🔧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23591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900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3383280" y="312724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motor repair cost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520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machine fails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year 2–3 — the exact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manufacturer warranty expires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627632"/>
            <a:ext cx="2651760" cy="3200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126480" y="1755648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😤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126480" y="23591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217920" y="3127248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the blame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3520440"/>
            <a:ext cx="24688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bought from Amazon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Amazon gets the support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call, even though warranty expired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010912"/>
            <a:ext cx="8229600" cy="1645920"/>
          </a:xfrm>
          <a:prstGeom prst="rect">
            <a:avLst/>
          </a:prstGeom>
          <a:solidFill>
            <a:srgbClr val="1A2332"/>
          </a:solidFill>
          <a:ln w="19050">
            <a:solidFill>
              <a:srgbClr val="FF9900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40080" y="513892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" y="5468112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 warranty is treated as a checkbox on the PDP, not a product feature. When it expires silently at year 1, Amazon has no mechanism to extend protection, no data on which products are most failure-prone, and no revenue from the AED 450–900 repair that follows. WarrantyIQ fixes all three.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INSIGHT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Warranty Pitch Fails Because It Has No Intelligence — Just a Banner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8229600" cy="36576"/>
          </a:xfrm>
          <a:prstGeom prst="rect">
            <a:avLst/>
          </a:prstGeom>
          <a:solidFill>
            <a:srgbClr val="067D6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572768"/>
            <a:ext cx="384048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73736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Warranty Today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94360" y="2267712"/>
            <a:ext cx="201168" cy="20116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26771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68680" y="2231136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"Add 1-year warranty — AED 149" shown below the buy button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4360" y="2962656"/>
            <a:ext cx="201168" cy="20116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96265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29260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context: why this product? why this price? why now?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" y="3657600"/>
            <a:ext cx="201168" cy="20116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" y="36576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68680" y="3621024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failure data surfaced: "Washing machine motors fail at year 2-3"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94360" y="4352544"/>
            <a:ext cx="201168" cy="201168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435254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DC2626"/>
                </a:solidFill>
              </a:rPr>
              <a:t>✕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8680" y="4315968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skips it. Machine fails 18 months later. NPS tanks.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60520" y="3291840"/>
            <a:ext cx="822960" cy="822960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1" name="Text 19"/>
          <p:cNvSpPr/>
          <p:nvPr/>
        </p:nvSpPr>
        <p:spPr>
          <a:xfrm>
            <a:off x="4160520" y="329184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19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846320" y="1572768"/>
            <a:ext cx="3840480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67D62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983480" y="1737360"/>
            <a:ext cx="3566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WarrantyIQ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983480" y="2267712"/>
            <a:ext cx="201168" cy="20116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2267712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7D62"/>
                </a:solidFill>
              </a:rPr>
              <a:t>✓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257800" y="2231136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Failure-probability model: "Washing machine motors typically fail at year 2–3"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983480" y="2962656"/>
            <a:ext cx="201168" cy="20116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8" name="Text 26"/>
          <p:cNvSpPr/>
          <p:nvPr/>
        </p:nvSpPr>
        <p:spPr>
          <a:xfrm>
            <a:off x="4983480" y="2962656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7D62"/>
                </a:solidFill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7800" y="2926080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THIS: "Repair cost without cover: AED 450–900. 2yr plan: AED 239."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983480" y="3657600"/>
            <a:ext cx="201168" cy="20116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1" name="Text 29"/>
          <p:cNvSpPr/>
          <p:nvPr/>
        </p:nvSpPr>
        <p:spPr>
          <a:xfrm>
            <a:off x="4983480" y="3657600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7D62"/>
                </a:solidFill>
              </a:rPr>
              <a:t>✓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257800" y="3621024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plan tiers with co-pay AED 0 and in-home technician promise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983480" y="4352544"/>
            <a:ext cx="201168" cy="201168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4" name="Text 32"/>
          <p:cNvSpPr/>
          <p:nvPr/>
        </p:nvSpPr>
        <p:spPr>
          <a:xfrm>
            <a:off x="4983480" y="4352544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7D62"/>
                </a:solidFill>
              </a:rPr>
              <a:t>✓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257800" y="4315968"/>
            <a:ext cx="3246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 activates on delivery. Dashboard + claim filing via WhatsApp.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solidFill>
            <a:srgbClr val="F0FFF8"/>
          </a:solidFill>
          <a:ln w="19050">
            <a:solidFill>
              <a:srgbClr val="067D62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" y="6464808"/>
            <a:ext cx="7955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Context converts. "Motor fails at year 2-3. Repair: AED 900. Plan: AED 239." is a financial argument — not a feature upsell.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MECHANIC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Intelligence × Plan Tiers × Zero-Deductible Promise = WarrantyIQ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481328"/>
            <a:ext cx="658368" cy="658368"/>
          </a:xfrm>
          <a:prstGeom prst="ellipse">
            <a:avLst/>
          </a:prstGeom>
          <a:solidFill>
            <a:srgbClr val="067D62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22960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481328" y="1810512"/>
            <a:ext cx="585216" cy="0"/>
          </a:xfrm>
          <a:prstGeom prst="line">
            <a:avLst/>
          </a:prstGeom>
          <a:noFill/>
          <a:ln w="19050">
            <a:solidFill>
              <a:srgbClr val="067D62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347472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93192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 Signal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93192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category + brand triggers WarrantyIQ. Category failure-rate model loaded (&lt;50ms). Card rendered below Add to Cart.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542032" y="1481328"/>
            <a:ext cx="658368" cy="658368"/>
          </a:xfrm>
          <a:prstGeom prst="ellipse">
            <a:avLst/>
          </a:prstGeom>
          <a:solidFill>
            <a:srgbClr val="067D62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542032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00400" y="1810512"/>
            <a:ext cx="585216" cy="0"/>
          </a:xfrm>
          <a:prstGeom prst="line">
            <a:avLst/>
          </a:prstGeom>
          <a:noFill/>
          <a:ln w="19050">
            <a:solidFill>
              <a:srgbClr val="067D62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066544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112264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Context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112264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"Motor fails at year 2–3. Without cover: AED 450–900 repair." Converts the pitch from upsell to financial advice.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61104" y="1481328"/>
            <a:ext cx="658368" cy="658368"/>
          </a:xfrm>
          <a:prstGeom prst="ellipse">
            <a:avLst/>
          </a:prstGeom>
          <a:solidFill>
            <a:srgbClr val="067D62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261104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919472" y="1810512"/>
            <a:ext cx="585216" cy="0"/>
          </a:xfrm>
          <a:prstGeom prst="line">
            <a:avLst/>
          </a:prstGeom>
          <a:noFill/>
          <a:ln w="19050">
            <a:solidFill>
              <a:srgbClr val="067D6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785616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831336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Plan Tiers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31336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1yr / 2yr (POPULAR) / 3yr. Price, monthly equiv, and key features per tier. 2yr pre-selected — best value signal.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80176" y="1481328"/>
            <a:ext cx="658368" cy="658368"/>
          </a:xfrm>
          <a:prstGeom prst="ellipse">
            <a:avLst/>
          </a:prstGeom>
          <a:solidFill>
            <a:srgbClr val="067D62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980176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638544" y="1810512"/>
            <a:ext cx="585216" cy="0"/>
          </a:xfrm>
          <a:prstGeom prst="line">
            <a:avLst/>
          </a:prstGeom>
          <a:noFill/>
          <a:ln w="19050">
            <a:solidFill>
              <a:srgbClr val="067D6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504688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550408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+ Checkout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550408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added as line item. Cart shows warranty alongside product. Checkout includes plan cost in total.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699248" y="1481328"/>
            <a:ext cx="658368" cy="658368"/>
          </a:xfrm>
          <a:prstGeom prst="ellipse">
            <a:avLst/>
          </a:prstGeom>
          <a:solidFill>
            <a:srgbClr val="067D62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699248" y="1481328"/>
            <a:ext cx="65836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223760" y="2304288"/>
            <a:ext cx="1627632" cy="32461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269480" y="2432304"/>
            <a:ext cx="153619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Auto-Activate + Dashboard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269480" y="2889504"/>
            <a:ext cx="1536192" cy="2331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delivery, warranty activates automatically. Dashboard shows coverage period, claim filing, authorised service centres.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5779008"/>
            <a:ext cx="8229600" cy="868680"/>
          </a:xfrm>
          <a:prstGeom prst="rect">
            <a:avLst/>
          </a:prstGeom>
          <a:solidFill>
            <a:srgbClr val="1A2332"/>
          </a:solidFill>
          <a:ln w="12700">
            <a:solidFill>
              <a:srgbClr val="067D62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40080" y="5907024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Principle  ·  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560320" y="5888736"/>
            <a:ext cx="5943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 of the WarrantyIQ card is designed to answer the one question that kills warranty attach: "Why do I need this?" Failure data, repair cost comparison, and plan math answer it before the customer can ask.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Screens — PDP to Warranty Dashboard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067D62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8" name="Text 6"/>
          <p:cNvSpPr/>
          <p:nvPr/>
        </p:nvSpPr>
        <p:spPr>
          <a:xfrm>
            <a:off x="32918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PDP + Warranty Card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2918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WarrantyIQ card below Add-to-Cart. Failure context + 3 plan tiers inline. "POPULAR" badge on 2yr.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918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Samsung 8kg Washer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AED 1,899 Save 27%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WARRANTYIQ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1yr AED149|2yr 239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[POPULAR] 3yr 299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Motor fails yr 2-3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[See All Plans]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01168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01168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14" name="Text 12"/>
          <p:cNvSpPr/>
          <p:nvPr/>
        </p:nvSpPr>
        <p:spPr>
          <a:xfrm>
            <a:off x="206654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Plan Comparison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06654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plan comparison. Coverage grid: manufacturer vs WarrantyIQ. Radio selector for tier. In-home technician callout.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06654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312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WarrantyIQ Plans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✕ Mfr: no accident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✓ WIQ: all failures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✕ Mfr: year 1 only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✓ WIQ: 3yr cover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2-Year ◉ AED 239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74904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74904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20" name="Text 18"/>
          <p:cNvSpPr/>
          <p:nvPr/>
        </p:nvSpPr>
        <p:spPr>
          <a:xfrm>
            <a:off x="380390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Cart + Warranty Line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80390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 added as separate line item with green "ACTIVE" badge. AED 0 deductible callout. Cart total updated.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80390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Shopping Cart (2)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Samsung 8kg Washer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AED 1,899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WarrantyIQ 2yr [ACTIVE]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AED 239 | AED 0 deduct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Total: AED 2,138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548640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26" name="Text 24"/>
          <p:cNvSpPr/>
          <p:nvPr/>
        </p:nvSpPr>
        <p:spPr>
          <a:xfrm>
            <a:off x="554126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Order + Warranty Live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554126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confirmed. Warranty activated banner. Coverage period, deductible, and claim count displayed immediately.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54126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57784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Order Placed! ✓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WARRANTYIQ ACTIVE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Samsung 8kg Washer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2yr | AED 0 deduct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Expires: June 2028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0 of unlimited claims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[View Dashboard]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7223760" y="1417320"/>
            <a:ext cx="1627632" cy="5212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223760" y="1417320"/>
            <a:ext cx="1627632" cy="384048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2" name="Text 30"/>
          <p:cNvSpPr/>
          <p:nvPr/>
        </p:nvSpPr>
        <p:spPr>
          <a:xfrm>
            <a:off x="7278624" y="1463040"/>
            <a:ext cx="151790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Warranty Dashboard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278624" y="1847088"/>
            <a:ext cx="15179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progress bar. Quick actions: file claim, book service, view policy. Authorised service centres nearby.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278624" y="2852928"/>
            <a:ext cx="1517904" cy="3547872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0" y="2898648"/>
            <a:ext cx="1444752" cy="3456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My WarrantyIQ (1)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Samsung Washer 🟢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Protected | 24 months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Expires Jun 2028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────────────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File Claim | Book Svc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0F172A"/>
                </a:solidFill>
                <a:latin typeface="DM Mono" pitchFamily="34" charset="0"/>
                <a:ea typeface="DM Mono" pitchFamily="34" charset="-122"/>
                <a:cs typeface="DM Mono" pitchFamily="34" charset="-120"/>
              </a:rPr>
              <a:t>Samsung Svc — 2.4km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&amp; ROI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High-Attach, High-Margin — Zero Net Customer Cost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26464"/>
            <a:ext cx="3931920" cy="3657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426464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VALUE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83664"/>
            <a:ext cx="393192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48640" y="194767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548640" y="240487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Deductible on all claims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240487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surprise costs when machine fails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935224"/>
            <a:ext cx="393192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299923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239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48640" y="345643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2yr plan cost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45643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AED 450-900 repair without cover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3986784"/>
            <a:ext cx="393192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48640" y="405079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24hr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548640" y="450799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In-home technician SLA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" y="450799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logistics burden on the customer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5038344"/>
            <a:ext cx="393192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548640" y="5102352"/>
            <a:ext cx="37490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548640" y="555955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Post-purchase NPS uplift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48640" y="5559552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Protected customers rate higher across categories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26280" y="1426464"/>
            <a:ext cx="0" cy="5212080"/>
          </a:xfrm>
          <a:prstGeom prst="line">
            <a:avLst/>
          </a:prstGeom>
          <a:noFill/>
          <a:ln w="12700">
            <a:solidFill>
              <a:srgbClr val="232F3E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663440" y="1426464"/>
            <a:ext cx="4023360" cy="36576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1426464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H&amp;L ROI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3440" y="1883664"/>
            <a:ext cx="402336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54880" y="194767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4754880" y="240487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 attach rate (target)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754880" y="240487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3% today — industry norm with active surfacing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63440" y="2935224"/>
            <a:ext cx="402336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54880" y="299923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AED 239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4754880" y="345643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plan revenue per transaction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754880" y="345643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High-margin revenue attached to H&amp;L sales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663440" y="3986784"/>
            <a:ext cx="402336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4754880" y="405079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~15%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4754880" y="450799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on warranty plans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754880" y="450799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of service centre payout — structural profit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663440" y="5038344"/>
            <a:ext cx="4023360" cy="91440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4754880" y="5102352"/>
            <a:ext cx="3840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32%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4754880" y="5559552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reduction (protected items)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754880" y="555955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claim repair instead of returning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" y="6163056"/>
            <a:ext cx="8229600" cy="548640"/>
          </a:xfrm>
          <a:prstGeom prst="rect">
            <a:avLst/>
          </a:prstGeom>
          <a:solidFill>
            <a:srgbClr val="1A2332"/>
          </a:solidFill>
          <a:ln w="12700">
            <a:solidFill>
              <a:srgbClr val="067D62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" y="6236208"/>
            <a:ext cx="7955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WarrantyIQ converts a customer liability (post-purchase support calls) into a high-margin revenue stream — while improving NPS for the same transaction.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WORK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Monetization at Scale — The Architecture Transfers Directly.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067D62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426464"/>
            <a:ext cx="3931920" cy="4663440"/>
          </a:xfrm>
          <a:prstGeom prst="rect">
            <a:avLst/>
          </a:prstGeom>
          <a:solidFill>
            <a:srgbClr val="131921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5544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BUILT AT PHONEPE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" y="2011680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9" name="Text 7"/>
          <p:cNvSpPr/>
          <p:nvPr/>
        </p:nvSpPr>
        <p:spPr>
          <a:xfrm>
            <a:off x="841248" y="1975104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Rebuilt ₹100 Cr/yr rewards portfolio into ML-driven marketplace — 500+ brand partners, 11% YoY revenue growth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4360" y="2688336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2651760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self-serve monetization layer: brands set audience, discount depth, and timing — no ops team required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4360" y="3364992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3" name="Text 11"/>
          <p:cNvSpPr/>
          <p:nvPr/>
        </p:nvSpPr>
        <p:spPr>
          <a:xfrm>
            <a:off x="841248" y="3328416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Owned full BRD-to-launch for each new merchant vertical: legal, finance, ops, and product sign-off in parallel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94360" y="4041648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41248" y="4005072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500+ brand partner onboarding without adding headcount — scalable eligibility and payout engine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4718304"/>
            <a:ext cx="182880" cy="1828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7" name="Text 15"/>
          <p:cNvSpPr/>
          <p:nvPr/>
        </p:nvSpPr>
        <p:spPr>
          <a:xfrm>
            <a:off x="841248" y="4681728"/>
            <a:ext cx="3429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offer redemption stack: eligibility, surfacing, checkout integration, attribution — end-to-end ownership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1426464"/>
            <a:ext cx="402336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00600" y="15544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MAPS TO WARRANTYIQ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800600" y="2011680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1" name="Text 19"/>
          <p:cNvSpPr/>
          <p:nvPr/>
        </p:nvSpPr>
        <p:spPr>
          <a:xfrm>
            <a:off x="4892040" y="206654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ML-driven brand marketplace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230428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WarrantyIQ: failure-probability model per SKU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00600" y="2688336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4" name="Text 22"/>
          <p:cNvSpPr/>
          <p:nvPr/>
        </p:nvSpPr>
        <p:spPr>
          <a:xfrm>
            <a:off x="4892040" y="274320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Self-serve monetization layer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92040" y="298094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WarrantyIQ: service centre partner onboarding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800600" y="3364992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27" name="Text 25"/>
          <p:cNvSpPr/>
          <p:nvPr/>
        </p:nvSpPr>
        <p:spPr>
          <a:xfrm>
            <a:off x="4892040" y="341985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Eligibility + payout engine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92040" y="3657600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WarrantyIQ: plan eligibility + claim payout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800600" y="4041648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0" name="Text 28"/>
          <p:cNvSpPr/>
          <p:nvPr/>
        </p:nvSpPr>
        <p:spPr>
          <a:xfrm>
            <a:off x="4892040" y="409651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BRD to launch, end-to-end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92040" y="4334256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WarrantyIQ: full lifecycle from spec to ops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800600" y="4718304"/>
            <a:ext cx="3749040" cy="585216"/>
          </a:xfrm>
          <a:prstGeom prst="rect">
            <a:avLst/>
          </a:prstGeom>
          <a:solidFill>
            <a:srgbClr val="F3F4F6"/>
          </a:solidFill>
          <a:ln/>
        </p:spPr>
      </p:sp>
      <p:sp>
        <p:nvSpPr>
          <p:cNvPr id="33" name="Text 31"/>
          <p:cNvSpPr/>
          <p:nvPr/>
        </p:nvSpPr>
        <p:spPr>
          <a:xfrm>
            <a:off x="4892040" y="4773168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PhonePe: 11% YoY revenue from zero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501091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67D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WarrantyIQ: ~15% margin on plan revenue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6291072"/>
            <a:ext cx="8229600" cy="420624"/>
          </a:xfrm>
          <a:prstGeom prst="rect">
            <a:avLst/>
          </a:prstGeom>
          <a:solidFill>
            <a:srgbClr val="F0FFF8"/>
          </a:solidFill>
          <a:ln w="19050">
            <a:solidFill>
              <a:srgbClr val="067D6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45936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"WarrantyIQ is the same monetization architecture as PhonePe Rewards — applied to Amazon H&amp;L post-purchase."  — Ajay Avaghade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31921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UAE Appliances to MENA H&amp;L Warranty Platform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457200" y="1261872"/>
            <a:ext cx="8229600" cy="36576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26464"/>
            <a:ext cx="2697480" cy="41605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15361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792224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1–2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2066544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UAE Appliance Pilot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75488" y="2651760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596896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WarrantyIQ on washing machines, ACs, refrigerators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5488" y="3328416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plan tiers: 1yr / 2yr / 3yr with in-home SLA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5488" y="4005072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950208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3 UAE authorised service centre partners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5488" y="4681728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626864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KPIs: attach rate, plan tier mix, claim rate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0" y="1426464"/>
            <a:ext cx="2697480" cy="4160520"/>
          </a:xfrm>
          <a:prstGeom prst="rect">
            <a:avLst/>
          </a:prstGeom>
          <a:solidFill>
            <a:srgbClr val="067D62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3291840" y="15361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291840" y="1792224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3–4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91840" y="2066544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+ Optimize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3310128" y="2651760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3474720" y="2596896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all large-ticket H&amp;L (TVs, dishwashers)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10128" y="3328416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3474720" y="3273552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WhatsApp claim filing (sub-2min flow)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310128" y="4005072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3474720" y="3950208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failure-probability model on UAE product return data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310128" y="4681728"/>
            <a:ext cx="109728" cy="10972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3474720" y="4626864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FC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 test: failure context card vs. generic warranty banner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35040" y="1426464"/>
            <a:ext cx="2697480" cy="416052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126480" y="1536192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126480" y="1792224"/>
            <a:ext cx="2514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5–6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26480" y="2066544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EBD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 H&amp;L Platform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6144768" y="2651760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35" name="Text 33"/>
          <p:cNvSpPr/>
          <p:nvPr/>
        </p:nvSpPr>
        <p:spPr>
          <a:xfrm>
            <a:off x="6309360" y="2596896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to KSA, Egypt, Kuwait appliance categories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144768" y="3328416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37" name="Text 35"/>
          <p:cNvSpPr/>
          <p:nvPr/>
        </p:nvSpPr>
        <p:spPr>
          <a:xfrm>
            <a:off x="6309360" y="3273552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brand-funded warranty tier (Samsung, Daikin co-fund)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44768" y="4005072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39" name="Text 37"/>
          <p:cNvSpPr/>
          <p:nvPr/>
        </p:nvSpPr>
        <p:spPr>
          <a:xfrm>
            <a:off x="6309360" y="3950208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WarrantyIQ dashboard: customer lifetime claim analytics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144768" y="4681728"/>
            <a:ext cx="109728" cy="109728"/>
          </a:xfrm>
          <a:prstGeom prst="ellipse">
            <a:avLst/>
          </a:prstGeom>
          <a:solidFill>
            <a:srgbClr val="FEBD69"/>
          </a:solidFill>
          <a:ln/>
        </p:spPr>
      </p:sp>
      <p:sp>
        <p:nvSpPr>
          <p:cNvPr id="41" name="Text 39"/>
          <p:cNvSpPr/>
          <p:nvPr/>
        </p:nvSpPr>
        <p:spPr>
          <a:xfrm>
            <a:off x="6309360" y="4626864"/>
            <a:ext cx="23317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playbook for global Amazon H&amp;L teams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5806440"/>
            <a:ext cx="8229600" cy="868680"/>
          </a:xfrm>
          <a:prstGeom prst="rect">
            <a:avLst/>
          </a:prstGeom>
          <a:solidFill>
            <a:srgbClr val="1A2332"/>
          </a:solidFill>
          <a:ln w="19050">
            <a:solidFill>
              <a:srgbClr val="067D62"/>
            </a:solidFill>
            <a:prstDash val="solid"/>
          </a:ln>
          <a:effectLst>
            <a:outerShdw sx="100000" sy="100000" kx="0" ky="0" algn="bl" rotWithShape="0" blurRad="38100" dist="12700" dir="2700000">
              <a:srgbClr val="000000">
                <a:alpha val="12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40080" y="588873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need to build WarrantyIQ: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0080" y="6190488"/>
            <a:ext cx="7863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H&amp;L product failure-rate data access  ·  UAE service centre partnership agreements  ·  Checkout plan attach API  ·  1 PM + 2 Engineers + 1 Partnerships Manager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0" y="6583680"/>
            <a:ext cx="9144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Ajay Avaghade  ·  avaghadeajay009@gmail.com  ·  +91 9561558439  ·  ajay-avaghade.github.io/Portfolio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2026-06-24T15:22:33Z</dcterms:created>
  <dcterms:modified xsi:type="dcterms:W3CDTF">2026-06-24T15:22:33Z</dcterms:modified>
</cp:coreProperties>
</file>