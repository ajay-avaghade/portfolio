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55448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356616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57784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900000">
            <a:off x="758952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900000">
            <a:off x="960120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A5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DEZERV — INVESTMENT EXECUTION PM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8368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SmartSIP Engine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retry routing &amp; automated fallback resolution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drives zero-drop investment execution for affluent clients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Product Manager — Investment Execution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2194560" cy="1737360"/>
          </a:xfrm>
          <a:prstGeom prst="rect">
            <a:avLst>
              <a:gd name="adj" fmla="val 5263"/>
            </a:avLst>
          </a:prstGeom>
          <a:solidFill>
            <a:srgbClr val="C2A582">
              <a:alpha val="85000"/>
            </a:srgbClr>
          </a:solidFill>
          <a:ln w="12700">
            <a:solidFill>
              <a:srgbClr val="C2A5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7276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₹42.5Cr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83680" y="223113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AUM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instantly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SmartSIP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Dezerv — Proprietary &amp; Confidential  ·  Prepared by Ajay Avaghade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Executions Erode Trust &amp; Delay AUM Growth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41414"/>
          </a:solidFill>
          <a:ln w="12700">
            <a:solidFill>
              <a:srgbClr val="C2A582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from Insufficient Funds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mandate bounces due to timing mismatches in affluent clients' primary accounts.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41414"/>
          </a:solidFill>
          <a:ln w="12700">
            <a:solidFill>
              <a:srgbClr val="C2A582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1985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Ops Resolution TAT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 manually reconciles failures and reaches out to clients 48 hours later.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41414"/>
          </a:solidFill>
          <a:ln w="12700">
            <a:solidFill>
              <a:srgbClr val="C2A582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₹140Cr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5449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Monthly AUM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sitting uninvested due to friction in retrying failed SIPs / mandates.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919472"/>
            <a:ext cx="8229600" cy="1078992"/>
          </a:xfrm>
          <a:prstGeom prst="rect">
            <a:avLst>
              <a:gd name="adj" fmla="val 8475"/>
            </a:avLst>
          </a:prstGeom>
          <a:solidFill>
            <a:srgbClr val="141414"/>
          </a:solidFill>
          <a:ln w="12700">
            <a:solidFill>
              <a:srgbClr val="D4B895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029200"/>
            <a:ext cx="7863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Wealth management execution relies on archaic banking infrastructure (NACH, slow PGs). When a debit fails, the burden of resolution falls entirely on manual Ops reconciliation and high-friction client follow-ups. Affluent clients expect a "done-for-you" proactive experience, not a failed payment email.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 vs Predictive Execution Routing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4206240" y="215798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3840480"/>
          </a:xfrm>
          <a:prstGeom prst="rect">
            <a:avLst>
              <a:gd name="adj" fmla="val 2500"/>
            </a:avLst>
          </a:prstGeom>
          <a:solidFill>
            <a:srgbClr val="FFF5F5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09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Reactive Ops (Today)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Rely on single Payment Gateway; if it times out, the SIP is entirely dropped.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59689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Wait T+2 days for NACH bounce reports to filter into internal ledgers.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316382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Ops team manually calls / emails high-net-worth clients to retry payment.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373075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has to manually log in, find the failed mandate, and re-initiate.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429768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Lost market days = lost yield = eroded trust.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657600" cy="3840480"/>
          </a:xfrm>
          <a:prstGeom prst="rect">
            <a:avLst>
              <a:gd name="adj" fmla="val 2500"/>
            </a:avLst>
          </a:prstGeom>
          <a:solidFill>
            <a:srgbClr val="FAF8F5"/>
          </a:solidFill>
          <a:ln w="12700">
            <a:solidFill>
              <a:srgbClr val="C2A582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609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SmartSIP Engine (Proposed)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3792" y="20299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routing: Instantly failover to secondary PG on timeout (BillDesk → Razorpay).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93792" y="259689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hooks detect NACH failure instantly at T+0.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93792" y="316382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ML-triggered WhatsApp nudge with 1-click UPI Autopay fallback link.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93792" y="373075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resolves the failure instantly from their phone with no manual Ops involvement.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93792" y="429768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AUM is secured same-day, preserving the investment streak.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8229600" cy="877824"/>
          </a:xfrm>
          <a:prstGeom prst="rect">
            <a:avLst>
              <a:gd name="adj" fmla="val 10417"/>
            </a:avLst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77840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For affluent Indians, the barrier isn't capital—it's liquidity timing and platform friction. By shifting the resolution layer from Ops to an automated, instant UPI fallback, we convert a stressful "failed payment" into a frictionless "tap to approve"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SmartSIP Works: Detect, Reroute, Resolve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36576" cy="457200"/>
          </a:xfrm>
          <a:prstGeom prst="rect">
            <a:avLst/>
          </a:prstGeom>
          <a:solidFill>
            <a:srgbClr val="C2A582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4630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Initialization &amp; Routing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71907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Dezerv initiates scheduled SIP debits. SmartSIP engine checks historical PG success rates. If BillDesk shows latency &gt;3s, traffic is dynamically routed to Razorpay.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36576" cy="457200"/>
          </a:xfrm>
          <a:prstGeom prst="rect">
            <a:avLst/>
          </a:prstGeom>
          <a:solidFill>
            <a:srgbClr val="C2A582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2359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Failure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61518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debit fails (e.g. Insufficient Funds code 04), the engine intercepts the webhook instantly instead of waiting for EOD batch reconciliation.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7355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3694176"/>
            <a:ext cx="36576" cy="457200"/>
          </a:xfrm>
          <a:prstGeom prst="rect">
            <a:avLst/>
          </a:prstGeom>
          <a:solidFill>
            <a:srgbClr val="C2A582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32552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Nudge Orchestration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51129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60 seconds of failure, a personalised WhatsApp and Push Notification is sent to the client: "SIP failed, tap here to resolve instantly."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966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4590288"/>
            <a:ext cx="36576" cy="457200"/>
          </a:xfrm>
          <a:prstGeom prst="rect">
            <a:avLst/>
          </a:prstGeom>
          <a:solidFill>
            <a:srgbClr val="C2A582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415137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UPI Fallback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40740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taps the link, which opens a pre-filled, secure UPI Autopay / intent flow. They authorise with their UPI PIN in seconds.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5047488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06577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" y="50474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Settlement Ledger Update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53035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Dezerv's internal ledgers are instantly updated. Ops dashboard clears the alert. The client's portfolio reflects the successful execution same-day.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5961888"/>
            <a:ext cx="8229600" cy="585216"/>
          </a:xfrm>
          <a:prstGeom prst="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D4B895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6035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Built a self-serve PG integration with dynamic subvention routing. Deployed across 5,000+ merchants, ensuring zero-drop reliability and lowering operational TAT from 2 days to 30 mins.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 States — Ops Dashboard + Consumer Fallback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AF8F5"/>
          </a:solidFill>
          <a:ln w="12700">
            <a:solidFill>
              <a:srgbClr val="C2A582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[ 18k Due | 1.4k Failed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Insufficient Funds: 68%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PG Downtime: 21%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[Activate SmartSIP →]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SIP execution monitoring. Live failure categorisation (Insufficient Funds vs PG Timeout). SmartSIP activation.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Routing Configuration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42032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AF8F5"/>
          </a:solidFill>
          <a:ln w="12700">
            <a:solidFill>
              <a:srgbClr val="C2A58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Scenario 1: Timeout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Billdesk → Razorpay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Scenario 2: No Funds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Trigger Instant UPI Push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42032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UI for defining failover logic. Setup PG-to-PG fallback. Configure instant WhatsApp UPI triggers for affluent clients.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Consumer Resolution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0016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AF8F5"/>
          </a:solidFill>
          <a:ln w="12700">
            <a:solidFill>
              <a:srgbClr val="C2A582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 SIP Debit Failed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₹50,000 Dezerv PMS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Pay via UPI App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(Instant Resolution)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00016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light-themed consumer UI. Contextual failure explanation with 1-click "Pay via UPI App" resolution button.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Impact Dashboard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AF8F5"/>
          </a:solidFill>
          <a:ln w="12700">
            <a:solidFill>
              <a:srgbClr val="C2A582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SmartSIP Impact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₹42.5 Cr AUM Recovered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68% Resolution Rate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99.8% PG Success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Fallback TAT: 4 Mins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58000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 of SmartSIP ROI. Tracking AUM recovered instantly, PG success rates, and funnel conversion of fallback links.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291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prototype: dezerv-smartsip-prototype.html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Built on PhonePe Execution Proof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931920" cy="987552"/>
          </a:xfrm>
          <a:prstGeom prst="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642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21408" y="1664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TAT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21408" y="195681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T+2 days of manual ops reconciliation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3931920" cy="987552"/>
          </a:xfrm>
          <a:prstGeom prst="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21408" y="2779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Success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307238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real-time dynamic gateway routing and failover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803904"/>
            <a:ext cx="3931920" cy="987552"/>
          </a:xfrm>
          <a:prstGeom prst="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953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21408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Manual Interventions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418795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 focuses on true edge cases, not generic NACH failures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919472"/>
            <a:ext cx="3931920" cy="987552"/>
          </a:xfrm>
          <a:prstGeom prst="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50109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21408" y="5010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Conversion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21408" y="530352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clients instantly resolve via 1-click UPI Autopay link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AUM IMPACT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572768"/>
            <a:ext cx="3931920" cy="987552"/>
          </a:xfrm>
          <a:prstGeom prst="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D4B895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6642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₹42.5Cr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27648" y="1664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AUM Recovered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195681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instantly secured that would otherwise sit idle or drop off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688336"/>
            <a:ext cx="3931920" cy="987552"/>
          </a:xfrm>
          <a:prstGeom prst="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D4B895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27648" y="2779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Synchronisation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307238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 update same-day, preserving client investment streaks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803904"/>
            <a:ext cx="3931920" cy="987552"/>
          </a:xfrm>
          <a:prstGeom prst="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D4B895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8953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27648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 Lift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7648" y="418795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stress from wealth building increases long-term trust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4919472"/>
            <a:ext cx="3931920" cy="987552"/>
          </a:xfrm>
          <a:prstGeom prst="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D4B895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50109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327648" y="5010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Execution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530352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Fulfills Dezerv's promise of growing wealth without stress or time cost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5998464"/>
            <a:ext cx="8229600" cy="548640"/>
          </a:xfrm>
          <a:prstGeom prst="rect">
            <a:avLst>
              <a:gd name="adj" fmla="val 13333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607161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SmartSIP Engine transforms execution reliability from a backend Ops cost center into a core consumer trust feature. By owning outcomes, Dezerv ensures no affluent client is stressed by legacy banking failure modes.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Architecture. At PhonePe. At Scale.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31920" cy="4846320"/>
          </a:xfrm>
          <a:prstGeom prst="rect">
            <a:avLst>
              <a:gd name="adj" fmla="val 2326"/>
            </a:avLst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26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execution architecture for third-party rewards, rebuilding ₹100 Cr/yr infrastructure into an ML-driven marketplace handling massive transaction volumes seamlessly.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816352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self-serve PG integration with dynamic subvention routing. Deployed to 5,000+ B2B merchants, acquiring 5Mn+ new users/month with zero-drop reliability.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803904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Redesigned the entire offer operations workflow, reducing manual reconciliation TAT from 2 days down to 30 minutes.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4791456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cross-functional alignment across Engineering, Operations, and Compliance to ship complex financial products with strict regulatory constraints.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3931920" cy="484632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26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the Dezerv JD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Reliability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08483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integration + dynamic routing at PhonePe → Dezerv Payments &amp; SIP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TAT Reduction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07238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down to 30 mins at PhonePe → Automated settlements and reconciliations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38039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Outcome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5993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P&amp;L impact (32% burn reduction, 11% YoY growth) → Dezerv AUM accountability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47914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Leadership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50474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products across tech, ops, and sales → Dezerv PM "wear many hats" culture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Deployment — Stability First, Then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41414"/>
          </a:solidFill>
          <a:ln w="12700">
            <a:solidFill>
              <a:srgbClr val="C2A58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 ·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Visibility &amp; Gateway Routing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Ops Command Center for real-time SIP failure tracking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dual-PG routing (e.g., BillDesk fallback to Razorpay)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historical NACH failure data to train intent models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PG timeout drop-offs by 90% immediately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41414"/>
          </a:solidFill>
          <a:ln w="12700">
            <a:solidFill>
              <a:srgbClr val="D4B895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985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 · Nudge Automation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985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UPI Fallback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985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WhatsApp Business API for instant affluent client nudges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985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secure 1-click UPI Autopay / Intent URL flows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985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T+0 reconciliation ledgers for instant success feedback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985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nudge copy for highest conversion (target: 65%+)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41414"/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5449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 · Optimisation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Execution at Scale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ML models to predict SIP failures *before* initiation (based on historic liquidity timing)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5449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retry scheduling around optimal client balance windows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architecture to handle 10x AUM throughput with zero degradation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Release impact reports demonstrating AUM protected and yield preserved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5577840"/>
            <a:ext cx="8229600" cy="932688"/>
          </a:xfrm>
          <a:prstGeom prst="rect">
            <a:avLst>
              <a:gd name="adj" fmla="val 9804"/>
            </a:avLst>
          </a:prstGeom>
          <a:solidFill>
            <a:srgbClr val="141414"/>
          </a:solidFill>
          <a:ln w="12700">
            <a:solidFill>
              <a:srgbClr val="C2A582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5669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 at Dezerv: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5943600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historic SIP execution drop-off funnels  ·  Alignment with Engineering on PG failover SLAs  ·  1 backend dev for WhatsApp API routing  ·  Ops team bandwidth for beta testing  ·  Clear runway to own the final P&amp;L execution metrics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linkedin.com/in/ajay-avaghade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2026-06-05T17:36:43Z</dcterms:created>
  <dcterms:modified xsi:type="dcterms:W3CDTF">2026-06-05T17:36:43Z</dcterms:modified>
</cp:coreProperties>
</file>