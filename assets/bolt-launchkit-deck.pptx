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A10"/>
        </a:solidFill>
      </p:bgPr>
    </p:bg>
    <p:spTree>
      <p:nvGrpSpPr>
        <p:cNvPr id="1" name=""/>
        <p:cNvGrpSpPr/>
        <p:nvPr/>
      </p:nvGrpSpPr>
      <p:grpSpPr>
        <a:xfrm>
          <a:off x="0" y="0"/>
          <a:ext cx="0" cy="0"/>
          <a:chOff x="0" y="0"/>
          <a:chExt cx="0" cy="0"/>
        </a:xfrm>
      </p:grpSpPr>
      <p:sp>
        <p:nvSpPr>
          <p:cNvPr id="2" name="Shape 0"/>
          <p:cNvSpPr/>
          <p:nvPr/>
        </p:nvSpPr>
        <p:spPr>
          <a:xfrm rot="2100000">
            <a:off x="-457200" y="0"/>
            <a:ext cx="3657600" cy="0"/>
          </a:xfrm>
          <a:prstGeom prst="line">
            <a:avLst/>
          </a:prstGeom>
          <a:noFill/>
          <a:ln w="228600">
            <a:solidFill>
              <a:srgbClr val="162815"/>
            </a:solidFill>
            <a:prstDash val="solid"/>
          </a:ln>
        </p:spPr>
      </p:sp>
      <p:sp>
        <p:nvSpPr>
          <p:cNvPr id="3" name="Shape 1"/>
          <p:cNvSpPr/>
          <p:nvPr/>
        </p:nvSpPr>
        <p:spPr>
          <a:xfrm rot="2100000">
            <a:off x="182880" y="0"/>
            <a:ext cx="3657600" cy="0"/>
          </a:xfrm>
          <a:prstGeom prst="line">
            <a:avLst/>
          </a:prstGeom>
          <a:noFill/>
          <a:ln w="228600">
            <a:solidFill>
              <a:srgbClr val="162815"/>
            </a:solidFill>
            <a:prstDash val="solid"/>
          </a:ln>
        </p:spPr>
      </p:sp>
      <p:sp>
        <p:nvSpPr>
          <p:cNvPr id="4" name="Shape 2"/>
          <p:cNvSpPr/>
          <p:nvPr/>
        </p:nvSpPr>
        <p:spPr>
          <a:xfrm rot="2100000">
            <a:off x="822960" y="0"/>
            <a:ext cx="3657600" cy="0"/>
          </a:xfrm>
          <a:prstGeom prst="line">
            <a:avLst/>
          </a:prstGeom>
          <a:noFill/>
          <a:ln w="228600">
            <a:solidFill>
              <a:srgbClr val="162815"/>
            </a:solidFill>
            <a:prstDash val="solid"/>
          </a:ln>
        </p:spPr>
      </p:sp>
      <p:sp>
        <p:nvSpPr>
          <p:cNvPr id="5" name="Shape 3"/>
          <p:cNvSpPr/>
          <p:nvPr/>
        </p:nvSpPr>
        <p:spPr>
          <a:xfrm rot="2100000">
            <a:off x="1463040" y="0"/>
            <a:ext cx="3657600" cy="0"/>
          </a:xfrm>
          <a:prstGeom prst="line">
            <a:avLst/>
          </a:prstGeom>
          <a:noFill/>
          <a:ln w="228600">
            <a:solidFill>
              <a:srgbClr val="162815"/>
            </a:solidFill>
            <a:prstDash val="solid"/>
          </a:ln>
        </p:spPr>
      </p:sp>
      <p:sp>
        <p:nvSpPr>
          <p:cNvPr id="6" name="Shape 4"/>
          <p:cNvSpPr/>
          <p:nvPr/>
        </p:nvSpPr>
        <p:spPr>
          <a:xfrm rot="2100000">
            <a:off x="2103120" y="0"/>
            <a:ext cx="3657600" cy="0"/>
          </a:xfrm>
          <a:prstGeom prst="line">
            <a:avLst/>
          </a:prstGeom>
          <a:noFill/>
          <a:ln w="228600">
            <a:solidFill>
              <a:srgbClr val="162815"/>
            </a:solidFill>
            <a:prstDash val="solid"/>
          </a:ln>
        </p:spPr>
      </p:sp>
      <p:sp>
        <p:nvSpPr>
          <p:cNvPr id="7" name="Shape 5"/>
          <p:cNvSpPr/>
          <p:nvPr/>
        </p:nvSpPr>
        <p:spPr>
          <a:xfrm rot="2100000">
            <a:off x="2743200" y="0"/>
            <a:ext cx="3657600" cy="0"/>
          </a:xfrm>
          <a:prstGeom prst="line">
            <a:avLst/>
          </a:prstGeom>
          <a:noFill/>
          <a:ln w="228600">
            <a:solidFill>
              <a:srgbClr val="162815"/>
            </a:solidFill>
            <a:prstDash val="solid"/>
          </a:ln>
        </p:spPr>
      </p:sp>
      <p:sp>
        <p:nvSpPr>
          <p:cNvPr id="8" name="Shape 6"/>
          <p:cNvSpPr/>
          <p:nvPr/>
        </p:nvSpPr>
        <p:spPr>
          <a:xfrm rot="2100000">
            <a:off x="3383280" y="0"/>
            <a:ext cx="3657600" cy="0"/>
          </a:xfrm>
          <a:prstGeom prst="line">
            <a:avLst/>
          </a:prstGeom>
          <a:noFill/>
          <a:ln w="228600">
            <a:solidFill>
              <a:srgbClr val="162815"/>
            </a:solidFill>
            <a:prstDash val="solid"/>
          </a:ln>
        </p:spPr>
      </p:sp>
      <p:sp>
        <p:nvSpPr>
          <p:cNvPr id="9" name="Shape 7"/>
          <p:cNvSpPr/>
          <p:nvPr/>
        </p:nvSpPr>
        <p:spPr>
          <a:xfrm rot="2100000">
            <a:off x="4023360" y="0"/>
            <a:ext cx="3657600" cy="0"/>
          </a:xfrm>
          <a:prstGeom prst="line">
            <a:avLst/>
          </a:prstGeom>
          <a:noFill/>
          <a:ln w="228600">
            <a:solidFill>
              <a:srgbClr val="162815"/>
            </a:solidFill>
            <a:prstDash val="solid"/>
          </a:ln>
        </p:spPr>
      </p:sp>
      <p:sp>
        <p:nvSpPr>
          <p:cNvPr id="10" name="Shape 8"/>
          <p:cNvSpPr/>
          <p:nvPr/>
        </p:nvSpPr>
        <p:spPr>
          <a:xfrm rot="2100000">
            <a:off x="4663440" y="0"/>
            <a:ext cx="3657600" cy="0"/>
          </a:xfrm>
          <a:prstGeom prst="line">
            <a:avLst/>
          </a:prstGeom>
          <a:noFill/>
          <a:ln w="228600">
            <a:solidFill>
              <a:srgbClr val="162815"/>
            </a:solidFill>
            <a:prstDash val="solid"/>
          </a:ln>
        </p:spPr>
      </p:sp>
      <p:sp>
        <p:nvSpPr>
          <p:cNvPr id="11" name="Shape 9"/>
          <p:cNvSpPr/>
          <p:nvPr/>
        </p:nvSpPr>
        <p:spPr>
          <a:xfrm rot="2100000">
            <a:off x="5303520" y="0"/>
            <a:ext cx="3657600" cy="0"/>
          </a:xfrm>
          <a:prstGeom prst="line">
            <a:avLst/>
          </a:prstGeom>
          <a:noFill/>
          <a:ln w="228600">
            <a:solidFill>
              <a:srgbClr val="162815"/>
            </a:solidFill>
            <a:prstDash val="solid"/>
          </a:ln>
        </p:spPr>
      </p:sp>
      <p:sp>
        <p:nvSpPr>
          <p:cNvPr id="12" name="Shape 10"/>
          <p:cNvSpPr/>
          <p:nvPr/>
        </p:nvSpPr>
        <p:spPr>
          <a:xfrm rot="2100000">
            <a:off x="5943600" y="0"/>
            <a:ext cx="3657600" cy="0"/>
          </a:xfrm>
          <a:prstGeom prst="line">
            <a:avLst/>
          </a:prstGeom>
          <a:noFill/>
          <a:ln w="228600">
            <a:solidFill>
              <a:srgbClr val="162815"/>
            </a:solidFill>
            <a:prstDash val="solid"/>
          </a:ln>
        </p:spPr>
      </p:sp>
      <p:sp>
        <p:nvSpPr>
          <p:cNvPr id="13" name="Shape 11"/>
          <p:cNvSpPr/>
          <p:nvPr/>
        </p:nvSpPr>
        <p:spPr>
          <a:xfrm rot="2100000">
            <a:off x="6583680" y="0"/>
            <a:ext cx="3657600" cy="0"/>
          </a:xfrm>
          <a:prstGeom prst="line">
            <a:avLst/>
          </a:prstGeom>
          <a:noFill/>
          <a:ln w="228600">
            <a:solidFill>
              <a:srgbClr val="162815"/>
            </a:solidFill>
            <a:prstDash val="solid"/>
          </a:ln>
        </p:spPr>
      </p:sp>
      <p:sp>
        <p:nvSpPr>
          <p:cNvPr id="14" name="Shape 12"/>
          <p:cNvSpPr/>
          <p:nvPr/>
        </p:nvSpPr>
        <p:spPr>
          <a:xfrm rot="2100000">
            <a:off x="7223760" y="0"/>
            <a:ext cx="3657600" cy="0"/>
          </a:xfrm>
          <a:prstGeom prst="line">
            <a:avLst/>
          </a:prstGeom>
          <a:noFill/>
          <a:ln w="228600">
            <a:solidFill>
              <a:srgbClr val="162815"/>
            </a:solidFill>
            <a:prstDash val="solid"/>
          </a:ln>
        </p:spPr>
      </p:sp>
      <p:sp>
        <p:nvSpPr>
          <p:cNvPr id="15" name="Shape 13"/>
          <p:cNvSpPr/>
          <p:nvPr/>
        </p:nvSpPr>
        <p:spPr>
          <a:xfrm rot="2100000">
            <a:off x="7863840" y="0"/>
            <a:ext cx="3657600" cy="0"/>
          </a:xfrm>
          <a:prstGeom prst="line">
            <a:avLst/>
          </a:prstGeom>
          <a:noFill/>
          <a:ln w="228600">
            <a:solidFill>
              <a:srgbClr val="162815"/>
            </a:solidFill>
            <a:prstDash val="solid"/>
          </a:ln>
        </p:spPr>
      </p:sp>
      <p:sp>
        <p:nvSpPr>
          <p:cNvPr id="16" name="Shape 14"/>
          <p:cNvSpPr/>
          <p:nvPr/>
        </p:nvSpPr>
        <p:spPr>
          <a:xfrm rot="2100000">
            <a:off x="8503920" y="0"/>
            <a:ext cx="3657600" cy="0"/>
          </a:xfrm>
          <a:prstGeom prst="line">
            <a:avLst/>
          </a:prstGeom>
          <a:noFill/>
          <a:ln w="228600">
            <a:solidFill>
              <a:srgbClr val="162815"/>
            </a:solidFill>
            <a:prstDash val="solid"/>
          </a:ln>
        </p:spPr>
      </p:sp>
      <p:sp>
        <p:nvSpPr>
          <p:cNvPr id="17" name="Shape 15"/>
          <p:cNvSpPr/>
          <p:nvPr/>
        </p:nvSpPr>
        <p:spPr>
          <a:xfrm rot="2100000">
            <a:off x="9144000" y="0"/>
            <a:ext cx="3657600" cy="0"/>
          </a:xfrm>
          <a:prstGeom prst="line">
            <a:avLst/>
          </a:prstGeom>
          <a:noFill/>
          <a:ln w="228600">
            <a:solidFill>
              <a:srgbClr val="162815"/>
            </a:solidFill>
            <a:prstDash val="solid"/>
          </a:ln>
        </p:spPr>
      </p:sp>
      <p:sp>
        <p:nvSpPr>
          <p:cNvPr id="18" name="Shape 16"/>
          <p:cNvSpPr/>
          <p:nvPr/>
        </p:nvSpPr>
        <p:spPr>
          <a:xfrm rot="2100000">
            <a:off x="9784080" y="0"/>
            <a:ext cx="3657600" cy="0"/>
          </a:xfrm>
          <a:prstGeom prst="line">
            <a:avLst/>
          </a:prstGeom>
          <a:noFill/>
          <a:ln w="228600">
            <a:solidFill>
              <a:srgbClr val="162815"/>
            </a:solidFill>
            <a:prstDash val="solid"/>
          </a:ln>
        </p:spPr>
      </p:sp>
      <p:sp>
        <p:nvSpPr>
          <p:cNvPr id="19" name="Shape 17"/>
          <p:cNvSpPr/>
          <p:nvPr/>
        </p:nvSpPr>
        <p:spPr>
          <a:xfrm rot="2100000">
            <a:off x="10424160" y="0"/>
            <a:ext cx="3657600" cy="0"/>
          </a:xfrm>
          <a:prstGeom prst="line">
            <a:avLst/>
          </a:prstGeom>
          <a:noFill/>
          <a:ln w="228600">
            <a:solidFill>
              <a:srgbClr val="162815"/>
            </a:solidFill>
            <a:prstDash val="solid"/>
          </a:ln>
        </p:spPr>
      </p:sp>
      <p:sp>
        <p:nvSpPr>
          <p:cNvPr id="20" name="Shape 18"/>
          <p:cNvSpPr/>
          <p:nvPr/>
        </p:nvSpPr>
        <p:spPr>
          <a:xfrm>
            <a:off x="0" y="0"/>
            <a:ext cx="54864" cy="6858000"/>
          </a:xfrm>
          <a:prstGeom prst="rect">
            <a:avLst/>
          </a:prstGeom>
          <a:solidFill>
            <a:srgbClr val="34D186"/>
          </a:solidFill>
          <a:ln/>
        </p:spPr>
      </p:sp>
      <p:sp>
        <p:nvSpPr>
          <p:cNvPr id="21" name="Text 19"/>
          <p:cNvSpPr/>
          <p:nvPr/>
        </p:nvSpPr>
        <p:spPr>
          <a:xfrm>
            <a:off x="320040" y="256032"/>
            <a:ext cx="6400800" cy="201168"/>
          </a:xfrm>
          <a:prstGeom prst="rect">
            <a:avLst/>
          </a:prstGeom>
          <a:noFill/>
          <a:ln/>
        </p:spPr>
        <p:txBody>
          <a:bodyPr wrap="square" rtlCol="0" anchor="ctr"/>
          <a:lstStyle/>
          <a:p>
            <a:pPr indent="0" marL="0">
              <a:buNone/>
            </a:pPr>
            <a:r>
              <a:rPr lang="en-US" sz="800" b="1" spc="150" kern="0" dirty="0">
                <a:solidFill>
                  <a:srgbClr val="687A70"/>
                </a:solidFill>
                <a:latin typeface="Calibri" pitchFamily="34" charset="0"/>
                <a:ea typeface="Calibri" pitchFamily="34" charset="-122"/>
                <a:cs typeface="Calibri" pitchFamily="34" charset="-120"/>
              </a:rPr>
              <a:t>BOLT · EXPANSION TOOLKIT · Case Study 02</a:t>
            </a:r>
            <a:endParaRPr lang="en-US" sz="800" dirty="0"/>
          </a:p>
        </p:txBody>
      </p:sp>
      <p:sp>
        <p:nvSpPr>
          <p:cNvPr id="22" name="Text 20"/>
          <p:cNvSpPr/>
          <p:nvPr/>
        </p:nvSpPr>
        <p:spPr>
          <a:xfrm>
            <a:off x="320040" y="1005840"/>
            <a:ext cx="6400800" cy="118872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LaunchKit</a:t>
            </a:r>
            <a:endParaRPr lang="en-US" sz="7200" dirty="0"/>
          </a:p>
        </p:txBody>
      </p:sp>
      <p:sp>
        <p:nvSpPr>
          <p:cNvPr id="23" name="Shape 21"/>
          <p:cNvSpPr/>
          <p:nvPr/>
        </p:nvSpPr>
        <p:spPr>
          <a:xfrm>
            <a:off x="320040" y="2103120"/>
            <a:ext cx="2651760" cy="54864"/>
          </a:xfrm>
          <a:prstGeom prst="rect">
            <a:avLst/>
          </a:prstGeom>
          <a:solidFill>
            <a:srgbClr val="34D186"/>
          </a:solidFill>
          <a:ln/>
        </p:spPr>
      </p:sp>
      <p:sp>
        <p:nvSpPr>
          <p:cNvPr id="24" name="Text 22"/>
          <p:cNvSpPr/>
          <p:nvPr/>
        </p:nvSpPr>
        <p:spPr>
          <a:xfrm>
            <a:off x="320040" y="2286000"/>
            <a:ext cx="7772400" cy="411480"/>
          </a:xfrm>
          <a:prstGeom prst="rect">
            <a:avLst/>
          </a:prstGeom>
          <a:noFill/>
          <a:ln/>
        </p:spPr>
        <p:txBody>
          <a:bodyPr wrap="square" rtlCol="0" anchor="ctr"/>
          <a:lstStyle/>
          <a:p>
            <a:pPr indent="0" marL="0">
              <a:buNone/>
            </a:pPr>
            <a:r>
              <a:rPr lang="en-US" sz="1800" dirty="0">
                <a:solidFill>
                  <a:srgbClr val="F59E0B"/>
                </a:solidFill>
                <a:latin typeface="Calibri" pitchFamily="34" charset="0"/>
                <a:ea typeface="Calibri" pitchFamily="34" charset="-122"/>
                <a:cs typeface="Calibri" pitchFamily="34" charset="-120"/>
              </a:rPr>
              <a:t>Self-Serve City Configuration — 6 Weeks to 3 Days</a:t>
            </a:r>
            <a:endParaRPr lang="en-US" sz="1800" dirty="0"/>
          </a:p>
        </p:txBody>
      </p:sp>
      <p:sp>
        <p:nvSpPr>
          <p:cNvPr id="25" name="Text 23"/>
          <p:cNvSpPr/>
          <p:nvPr/>
        </p:nvSpPr>
        <p:spPr>
          <a:xfrm>
            <a:off x="320040" y="2852928"/>
            <a:ext cx="4572000" cy="274320"/>
          </a:xfrm>
          <a:prstGeom prst="rect">
            <a:avLst/>
          </a:prstGeom>
          <a:noFill/>
          <a:ln/>
        </p:spPr>
        <p:txBody>
          <a:bodyPr wrap="square" rtlCol="0" anchor="ctr"/>
          <a:lstStyle/>
          <a:p>
            <a:pPr indent="0" marL="0">
              <a:buNone/>
            </a:pPr>
            <a:r>
              <a:rPr lang="en-US" sz="1100" dirty="0">
                <a:solidFill>
                  <a:srgbClr val="687A70"/>
                </a:solidFill>
                <a:latin typeface="Calibri" pitchFamily="34" charset="0"/>
                <a:ea typeface="Calibri" pitchFamily="34" charset="-122"/>
                <a:cs typeface="Calibri" pitchFamily="34" charset="-120"/>
              </a:rPr>
              <a:t>Ajay Avaghade · Product Manager</a:t>
            </a:r>
            <a:endParaRPr lang="en-US" sz="1100" dirty="0"/>
          </a:p>
        </p:txBody>
      </p:sp>
      <p:sp>
        <p:nvSpPr>
          <p:cNvPr id="26" name="Shape 24"/>
          <p:cNvSpPr/>
          <p:nvPr/>
        </p:nvSpPr>
        <p:spPr>
          <a:xfrm>
            <a:off x="6217920" y="5303520"/>
            <a:ext cx="2743200" cy="1325880"/>
          </a:xfrm>
          <a:prstGeom prst="rect">
            <a:avLst/>
          </a:prstGeom>
          <a:solidFill>
            <a:srgbClr val="162815"/>
          </a:solidFill>
          <a:ln w="19050">
            <a:solidFill>
              <a:srgbClr val="34D186"/>
            </a:solidFill>
            <a:prstDash val="solid"/>
          </a:ln>
          <a:effectLst>
            <a:outerShdw sx="100000" sy="100000" kx="0" ky="0" algn="bl" rotWithShape="0" blurRad="50800" dist="25400" dir="2700000">
              <a:srgbClr val="000000">
                <a:alpha val="14000"/>
              </a:srgbClr>
            </a:outerShdw>
          </a:effectLst>
        </p:spPr>
      </p:sp>
      <p:sp>
        <p:nvSpPr>
          <p:cNvPr id="27" name="Text 25"/>
          <p:cNvSpPr/>
          <p:nvPr/>
        </p:nvSpPr>
        <p:spPr>
          <a:xfrm>
            <a:off x="6217920" y="5349240"/>
            <a:ext cx="2743200" cy="502920"/>
          </a:xfrm>
          <a:prstGeom prst="rect">
            <a:avLst/>
          </a:prstGeom>
          <a:noFill/>
          <a:ln/>
        </p:spPr>
        <p:txBody>
          <a:bodyPr wrap="square" rtlCol="0" anchor="ctr"/>
          <a:lstStyle/>
          <a:p>
            <a:pPr algn="ctr" indent="0" marL="0">
              <a:buNone/>
            </a:pPr>
            <a:r>
              <a:rPr lang="en-US" sz="3400" b="1" dirty="0">
                <a:solidFill>
                  <a:srgbClr val="F59E0B"/>
                </a:solidFill>
                <a:latin typeface="Calibri" pitchFamily="34" charset="0"/>
                <a:ea typeface="Calibri" pitchFamily="34" charset="-122"/>
                <a:cs typeface="Calibri" pitchFamily="34" charset="-120"/>
              </a:rPr>
              <a:t>3 days</a:t>
            </a:r>
            <a:endParaRPr lang="en-US" sz="3400" dirty="0"/>
          </a:p>
        </p:txBody>
      </p:sp>
      <p:sp>
        <p:nvSpPr>
          <p:cNvPr id="28" name="Text 26"/>
          <p:cNvSpPr/>
          <p:nvPr/>
        </p:nvSpPr>
        <p:spPr>
          <a:xfrm>
            <a:off x="6217920" y="5833872"/>
            <a:ext cx="2743200" cy="2286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avg city launch time</a:t>
            </a:r>
            <a:endParaRPr lang="en-US" sz="1100" dirty="0"/>
          </a:p>
        </p:txBody>
      </p:sp>
      <p:sp>
        <p:nvSpPr>
          <p:cNvPr id="29" name="Text 27"/>
          <p:cNvSpPr/>
          <p:nvPr/>
        </p:nvSpPr>
        <p:spPr>
          <a:xfrm>
            <a:off x="6217920" y="6062472"/>
            <a:ext cx="2743200" cy="182880"/>
          </a:xfrm>
          <a:prstGeom prst="rect">
            <a:avLst/>
          </a:prstGeom>
          <a:noFill/>
          <a:ln/>
        </p:spPr>
        <p:txBody>
          <a:bodyPr wrap="square" rtlCol="0" anchor="ctr"/>
          <a:lstStyle/>
          <a:p>
            <a:pPr algn="ctr" indent="0" marL="0">
              <a:buNone/>
            </a:pPr>
            <a:r>
              <a:rPr lang="en-US" sz="800" dirty="0">
                <a:solidFill>
                  <a:srgbClr val="687A70"/>
                </a:solidFill>
                <a:latin typeface="Calibri" pitchFamily="34" charset="0"/>
                <a:ea typeface="Calibri" pitchFamily="34" charset="-122"/>
                <a:cs typeface="Calibri" pitchFamily="34" charset="-120"/>
              </a:rPr>
              <a:t>down from 6 weeks with engineering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A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THE PROBLEM</a:t>
            </a:r>
            <a:endParaRPr lang="en-US" sz="900" dirty="0"/>
          </a:p>
        </p:txBody>
      </p:sp>
      <p:sp>
        <p:nvSpPr>
          <p:cNvPr id="4" name="Text 2"/>
          <p:cNvSpPr/>
          <p:nvPr/>
        </p:nvSpPr>
        <p:spPr>
          <a:xfrm>
            <a:off x="320040" y="566928"/>
            <a:ext cx="8503920" cy="10058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Every New City Costs 6 Weeks of Engineering Time.</a:t>
            </a:r>
            <a:endParaRPr lang="en-US" sz="2400" dirty="0"/>
          </a:p>
          <a:p>
            <a:pPr indent="0" marL="0">
              <a:buNone/>
            </a:pPr>
            <a:r>
              <a:rPr lang="en-US" sz="2400" b="1" dirty="0">
                <a:solidFill>
                  <a:srgbClr val="FFFFFF"/>
                </a:solidFill>
                <a:latin typeface="Calibri" pitchFamily="34" charset="0"/>
                <a:ea typeface="Calibri" pitchFamily="34" charset="-122"/>
                <a:cs typeface="Calibri" pitchFamily="34" charset="-120"/>
              </a:rPr>
              <a:t>Bolt's Expansion Velocity is Bottlenecked by Config, Not Strategy.</a:t>
            </a:r>
            <a:endParaRPr lang="en-US" sz="2400" dirty="0"/>
          </a:p>
        </p:txBody>
      </p:sp>
      <p:sp>
        <p:nvSpPr>
          <p:cNvPr id="5" name="Shape 3"/>
          <p:cNvSpPr/>
          <p:nvPr/>
        </p:nvSpPr>
        <p:spPr>
          <a:xfrm>
            <a:off x="320040" y="1828800"/>
            <a:ext cx="2743200" cy="2514600"/>
          </a:xfrm>
          <a:prstGeom prst="rect">
            <a:avLst/>
          </a:prstGeom>
          <a:solidFill>
            <a:srgbClr val="162815"/>
          </a:solidFill>
          <a:ln w="12700">
            <a:solidFill>
              <a:srgbClr val="34D186"/>
            </a:solidFill>
            <a:prstDash val="solid"/>
          </a:ln>
          <a:effectLst>
            <a:outerShdw sx="100000" sy="100000" kx="0" ky="0" algn="bl" rotWithShape="0" blurRad="50800" dist="25400" dir="2700000">
              <a:srgbClr val="000000">
                <a:alpha val="14000"/>
              </a:srgbClr>
            </a:outerShdw>
          </a:effectLst>
        </p:spPr>
      </p:sp>
      <p:sp>
        <p:nvSpPr>
          <p:cNvPr id="6" name="Text 4"/>
          <p:cNvSpPr/>
          <p:nvPr/>
        </p:nvSpPr>
        <p:spPr>
          <a:xfrm>
            <a:off x="45720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7" name="Text 5"/>
          <p:cNvSpPr/>
          <p:nvPr/>
        </p:nvSpPr>
        <p:spPr>
          <a:xfrm>
            <a:off x="457200" y="2359152"/>
            <a:ext cx="2468880" cy="640080"/>
          </a:xfrm>
          <a:prstGeom prst="rect">
            <a:avLst/>
          </a:prstGeom>
          <a:noFill/>
          <a:ln/>
        </p:spPr>
        <p:txBody>
          <a:bodyPr wrap="square" rtlCol="0" anchor="ctr"/>
          <a:lstStyle/>
          <a:p>
            <a:pPr indent="0" marL="0">
              <a:buNone/>
            </a:pPr>
            <a:r>
              <a:rPr lang="en-US" sz="4200" b="1" dirty="0">
                <a:solidFill>
                  <a:srgbClr val="F59E0B"/>
                </a:solidFill>
                <a:latin typeface="Calibri" pitchFamily="34" charset="0"/>
                <a:ea typeface="Calibri" pitchFamily="34" charset="-122"/>
                <a:cs typeface="Calibri" pitchFamily="34" charset="-120"/>
              </a:rPr>
              <a:t>6 wks</a:t>
            </a:r>
            <a:endParaRPr lang="en-US" sz="4200" dirty="0"/>
          </a:p>
        </p:txBody>
      </p:sp>
      <p:sp>
        <p:nvSpPr>
          <p:cNvPr id="8" name="Text 6"/>
          <p:cNvSpPr/>
          <p:nvPr/>
        </p:nvSpPr>
        <p:spPr>
          <a:xfrm>
            <a:off x="457200" y="2999232"/>
            <a:ext cx="246888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Per-city engineering config time</a:t>
            </a:r>
            <a:endParaRPr lang="en-US" sz="1100" dirty="0"/>
          </a:p>
        </p:txBody>
      </p:sp>
      <p:sp>
        <p:nvSpPr>
          <p:cNvPr id="9" name="Text 7"/>
          <p:cNvSpPr/>
          <p:nvPr/>
        </p:nvSpPr>
        <p:spPr>
          <a:xfrm>
            <a:off x="457200" y="3364992"/>
            <a:ext cx="2468880" cy="777240"/>
          </a:xfrm>
          <a:prstGeom prst="rect">
            <a:avLst/>
          </a:prstGeom>
          <a:noFill/>
          <a:ln/>
        </p:spPr>
        <p:txBody>
          <a:bodyPr wrap="square" rtlCol="0" anchor="ctr"/>
          <a:lstStyle/>
          <a:p>
            <a:pPr indent="0" marL="0">
              <a:buNone/>
            </a:pPr>
            <a:r>
              <a:rPr lang="en-US" sz="1000" dirty="0">
                <a:solidFill>
                  <a:srgbClr val="687A70"/>
                </a:solidFill>
                <a:latin typeface="Calibri" pitchFamily="34" charset="0"/>
                <a:ea typeface="Calibri" pitchFamily="34" charset="-122"/>
                <a:cs typeface="Calibri" pitchFamily="34" charset="-120"/>
              </a:rPr>
              <a:t>Speed zones, parking zones, age rules, fleet caps — all require code, PRs, and deploys</a:t>
            </a:r>
            <a:endParaRPr lang="en-US" sz="1000" dirty="0"/>
          </a:p>
        </p:txBody>
      </p:sp>
      <p:sp>
        <p:nvSpPr>
          <p:cNvPr id="10" name="Shape 8"/>
          <p:cNvSpPr/>
          <p:nvPr/>
        </p:nvSpPr>
        <p:spPr>
          <a:xfrm>
            <a:off x="3246120" y="1828800"/>
            <a:ext cx="2743200" cy="2514600"/>
          </a:xfrm>
          <a:prstGeom prst="rect">
            <a:avLst/>
          </a:prstGeom>
          <a:solidFill>
            <a:srgbClr val="162815"/>
          </a:solidFill>
          <a:ln w="12700">
            <a:solidFill>
              <a:srgbClr val="34D186"/>
            </a:solidFill>
            <a:prstDash val="solid"/>
          </a:ln>
          <a:effectLst>
            <a:outerShdw sx="100000" sy="100000" kx="0" ky="0" algn="bl" rotWithShape="0" blurRad="50800" dist="25400" dir="2700000">
              <a:srgbClr val="000000">
                <a:alpha val="14000"/>
              </a:srgbClr>
            </a:outerShdw>
          </a:effectLst>
        </p:spPr>
      </p:sp>
      <p:sp>
        <p:nvSpPr>
          <p:cNvPr id="11" name="Text 9"/>
          <p:cNvSpPr/>
          <p:nvPr/>
        </p:nvSpPr>
        <p:spPr>
          <a:xfrm>
            <a:off x="338328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2" name="Text 10"/>
          <p:cNvSpPr/>
          <p:nvPr/>
        </p:nvSpPr>
        <p:spPr>
          <a:xfrm>
            <a:off x="3383280" y="2359152"/>
            <a:ext cx="2468880" cy="640080"/>
          </a:xfrm>
          <a:prstGeom prst="rect">
            <a:avLst/>
          </a:prstGeom>
          <a:noFill/>
          <a:ln/>
        </p:spPr>
        <p:txBody>
          <a:bodyPr wrap="square" rtlCol="0" anchor="ctr"/>
          <a:lstStyle/>
          <a:p>
            <a:pPr indent="0" marL="0">
              <a:buNone/>
            </a:pPr>
            <a:r>
              <a:rPr lang="en-US" sz="4200" b="1" dirty="0">
                <a:solidFill>
                  <a:srgbClr val="F59E0B"/>
                </a:solidFill>
                <a:latin typeface="Calibri" pitchFamily="34" charset="0"/>
                <a:ea typeface="Calibri" pitchFamily="34" charset="-122"/>
                <a:cs typeface="Calibri" pitchFamily="34" charset="-120"/>
              </a:rPr>
              <a:t>€18K</a:t>
            </a:r>
            <a:endParaRPr lang="en-US" sz="4200" dirty="0"/>
          </a:p>
        </p:txBody>
      </p:sp>
      <p:sp>
        <p:nvSpPr>
          <p:cNvPr id="13" name="Text 11"/>
          <p:cNvSpPr/>
          <p:nvPr/>
        </p:nvSpPr>
        <p:spPr>
          <a:xfrm>
            <a:off x="3383280" y="2999232"/>
            <a:ext cx="246888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Avg engineering cost per city</a:t>
            </a:r>
            <a:endParaRPr lang="en-US" sz="1100" dirty="0"/>
          </a:p>
        </p:txBody>
      </p:sp>
      <p:sp>
        <p:nvSpPr>
          <p:cNvPr id="14" name="Text 12"/>
          <p:cNvSpPr/>
          <p:nvPr/>
        </p:nvSpPr>
        <p:spPr>
          <a:xfrm>
            <a:off x="3383280" y="3364992"/>
            <a:ext cx="2468880" cy="777240"/>
          </a:xfrm>
          <a:prstGeom prst="rect">
            <a:avLst/>
          </a:prstGeom>
          <a:noFill/>
          <a:ln/>
        </p:spPr>
        <p:txBody>
          <a:bodyPr wrap="square" rtlCol="0" anchor="ctr"/>
          <a:lstStyle/>
          <a:p>
            <a:pPr indent="0" marL="0">
              <a:buNone/>
            </a:pPr>
            <a:r>
              <a:rPr lang="en-US" sz="1000" dirty="0">
                <a:solidFill>
                  <a:srgbClr val="687A70"/>
                </a:solidFill>
                <a:latin typeface="Calibri" pitchFamily="34" charset="0"/>
                <a:ea typeface="Calibri" pitchFamily="34" charset="-122"/>
                <a:cs typeface="Calibri" pitchFamily="34" charset="-120"/>
              </a:rPr>
              <a:t>Sprint allocation x eng hourly rate x QA x deploy cycles per new city</a:t>
            </a:r>
            <a:endParaRPr lang="en-US" sz="1000" dirty="0"/>
          </a:p>
        </p:txBody>
      </p:sp>
      <p:sp>
        <p:nvSpPr>
          <p:cNvPr id="15" name="Shape 13"/>
          <p:cNvSpPr/>
          <p:nvPr/>
        </p:nvSpPr>
        <p:spPr>
          <a:xfrm>
            <a:off x="6172200" y="1828800"/>
            <a:ext cx="2743200" cy="2514600"/>
          </a:xfrm>
          <a:prstGeom prst="rect">
            <a:avLst/>
          </a:prstGeom>
          <a:solidFill>
            <a:srgbClr val="162815"/>
          </a:solidFill>
          <a:ln w="12700">
            <a:solidFill>
              <a:srgbClr val="34D186"/>
            </a:solidFill>
            <a:prstDash val="solid"/>
          </a:ln>
          <a:effectLst>
            <a:outerShdw sx="100000" sy="100000" kx="0" ky="0" algn="bl" rotWithShape="0" blurRad="50800" dist="25400" dir="2700000">
              <a:srgbClr val="000000">
                <a:alpha val="14000"/>
              </a:srgbClr>
            </a:outerShdw>
          </a:effectLst>
        </p:spPr>
      </p:sp>
      <p:sp>
        <p:nvSpPr>
          <p:cNvPr id="16" name="Text 14"/>
          <p:cNvSpPr/>
          <p:nvPr/>
        </p:nvSpPr>
        <p:spPr>
          <a:xfrm>
            <a:off x="6309360" y="1920240"/>
            <a:ext cx="548640" cy="45720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7" name="Text 15"/>
          <p:cNvSpPr/>
          <p:nvPr/>
        </p:nvSpPr>
        <p:spPr>
          <a:xfrm>
            <a:off x="6309360" y="2359152"/>
            <a:ext cx="2468880" cy="640080"/>
          </a:xfrm>
          <a:prstGeom prst="rect">
            <a:avLst/>
          </a:prstGeom>
          <a:noFill/>
          <a:ln/>
        </p:spPr>
        <p:txBody>
          <a:bodyPr wrap="square" rtlCol="0" anchor="ctr"/>
          <a:lstStyle/>
          <a:p>
            <a:pPr indent="0" marL="0">
              <a:buNone/>
            </a:pPr>
            <a:r>
              <a:rPr lang="en-US" sz="4200" b="1" dirty="0">
                <a:solidFill>
                  <a:srgbClr val="F59E0B"/>
                </a:solidFill>
                <a:latin typeface="Calibri" pitchFamily="34" charset="0"/>
                <a:ea typeface="Calibri" pitchFamily="34" charset="-122"/>
                <a:cs typeface="Calibri" pitchFamily="34" charset="-120"/>
              </a:rPr>
              <a:t>−40%</a:t>
            </a:r>
            <a:endParaRPr lang="en-US" sz="4200" dirty="0"/>
          </a:p>
        </p:txBody>
      </p:sp>
      <p:sp>
        <p:nvSpPr>
          <p:cNvPr id="18" name="Text 16"/>
          <p:cNvSpPr/>
          <p:nvPr/>
        </p:nvSpPr>
        <p:spPr>
          <a:xfrm>
            <a:off x="6309360" y="2999232"/>
            <a:ext cx="246888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Cities launched vs BD pipeline</a:t>
            </a:r>
            <a:endParaRPr lang="en-US" sz="1100" dirty="0"/>
          </a:p>
        </p:txBody>
      </p:sp>
      <p:sp>
        <p:nvSpPr>
          <p:cNvPr id="19" name="Text 17"/>
          <p:cNvSpPr/>
          <p:nvPr/>
        </p:nvSpPr>
        <p:spPr>
          <a:xfrm>
            <a:off x="6309360" y="3364992"/>
            <a:ext cx="2468880" cy="777240"/>
          </a:xfrm>
          <a:prstGeom prst="rect">
            <a:avLst/>
          </a:prstGeom>
          <a:noFill/>
          <a:ln/>
        </p:spPr>
        <p:txBody>
          <a:bodyPr wrap="square" rtlCol="0" anchor="ctr"/>
          <a:lstStyle/>
          <a:p>
            <a:pPr indent="0" marL="0">
              <a:buNone/>
            </a:pPr>
            <a:r>
              <a:rPr lang="en-US" sz="1000" dirty="0">
                <a:solidFill>
                  <a:srgbClr val="687A70"/>
                </a:solidFill>
                <a:latin typeface="Calibri" pitchFamily="34" charset="0"/>
                <a:ea typeface="Calibri" pitchFamily="34" charset="-122"/>
                <a:cs typeface="Calibri" pitchFamily="34" charset="-120"/>
              </a:rPr>
              <a:t>BD closes cities faster than engineering can configure them — revenue left on the table</a:t>
            </a:r>
            <a:endParaRPr lang="en-US" sz="1000" dirty="0"/>
          </a:p>
        </p:txBody>
      </p:sp>
      <p:sp>
        <p:nvSpPr>
          <p:cNvPr id="20" name="Shape 18"/>
          <p:cNvSpPr/>
          <p:nvPr/>
        </p:nvSpPr>
        <p:spPr>
          <a:xfrm>
            <a:off x="320040" y="4572000"/>
            <a:ext cx="8503920" cy="1051560"/>
          </a:xfrm>
          <a:prstGeom prst="rect">
            <a:avLst/>
          </a:prstGeom>
          <a:solidFill>
            <a:srgbClr val="1F2E22"/>
          </a:solidFill>
          <a:ln w="12700">
            <a:solidFill>
              <a:srgbClr val="34D186"/>
            </a:solidFill>
            <a:prstDash val="solid"/>
          </a:ln>
        </p:spPr>
      </p:sp>
      <p:sp>
        <p:nvSpPr>
          <p:cNvPr id="21" name="Shape 19"/>
          <p:cNvSpPr/>
          <p:nvPr/>
        </p:nvSpPr>
        <p:spPr>
          <a:xfrm>
            <a:off x="320040" y="4572000"/>
            <a:ext cx="45720" cy="1051560"/>
          </a:xfrm>
          <a:prstGeom prst="rect">
            <a:avLst/>
          </a:prstGeom>
          <a:solidFill>
            <a:srgbClr val="34D186"/>
          </a:solidFill>
          <a:ln/>
        </p:spPr>
      </p:sp>
      <p:sp>
        <p:nvSpPr>
          <p:cNvPr id="22" name="Text 20"/>
          <p:cNvSpPr/>
          <p:nvPr/>
        </p:nvSpPr>
        <p:spPr>
          <a:xfrm>
            <a:off x="502920" y="4636008"/>
            <a:ext cx="8229600" cy="9144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Root cause: The bottleneck was never the regulation. It was the handoff. PM writes spec, ops writes ticket, engineer codes zones, QA tests, deploy. Four steps with handoff lag at each. LaunchKit collapses this to one step: ops configures, checklist passes, activate.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FF4"/>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THE INSIGHT</a:t>
            </a:r>
            <a:endParaRPr lang="en-US" sz="900" dirty="0"/>
          </a:p>
        </p:txBody>
      </p:sp>
      <p:sp>
        <p:nvSpPr>
          <p:cNvPr id="4" name="Text 2"/>
          <p:cNvSpPr/>
          <p:nvPr/>
        </p:nvSpPr>
        <p:spPr>
          <a:xfrm>
            <a:off x="320040" y="566928"/>
            <a:ext cx="8503920" cy="914400"/>
          </a:xfrm>
          <a:prstGeom prst="rect">
            <a:avLst/>
          </a:prstGeom>
          <a:noFill/>
          <a:ln/>
        </p:spPr>
        <p:txBody>
          <a:bodyPr wrap="square" rtlCol="0" anchor="ctr"/>
          <a:lstStyle/>
          <a:p>
            <a:pPr indent="0" marL="0">
              <a:buNone/>
            </a:pPr>
            <a:r>
              <a:rPr lang="en-US" sz="2700" b="1" dirty="0">
                <a:solidFill>
                  <a:srgbClr val="0D1A10"/>
                </a:solidFill>
                <a:latin typeface="Calibri" pitchFamily="34" charset="0"/>
                <a:ea typeface="Calibri" pitchFamily="34" charset="-122"/>
                <a:cs typeface="Calibri" pitchFamily="34" charset="-120"/>
              </a:rPr>
              <a:t>City Configuration Is a Data Problem, Not an</a:t>
            </a:r>
            <a:endParaRPr lang="en-US" sz="2700" dirty="0"/>
          </a:p>
          <a:p>
            <a:pPr indent="0" marL="0">
              <a:buNone/>
            </a:pPr>
            <a:r>
              <a:rPr lang="en-US" sz="2700" b="1" dirty="0">
                <a:solidFill>
                  <a:srgbClr val="0D1A10"/>
                </a:solidFill>
                <a:latin typeface="Calibri" pitchFamily="34" charset="0"/>
                <a:ea typeface="Calibri" pitchFamily="34" charset="-122"/>
                <a:cs typeface="Calibri" pitchFamily="34" charset="-120"/>
              </a:rPr>
              <a:t>Engineering Problem.</a:t>
            </a:r>
            <a:endParaRPr lang="en-US" sz="2700" dirty="0"/>
          </a:p>
        </p:txBody>
      </p:sp>
      <p:sp>
        <p:nvSpPr>
          <p:cNvPr id="5" name="Shape 3"/>
          <p:cNvSpPr/>
          <p:nvPr/>
        </p:nvSpPr>
        <p:spPr>
          <a:xfrm>
            <a:off x="4297680" y="1828800"/>
            <a:ext cx="548640" cy="548640"/>
          </a:xfrm>
          <a:prstGeom prst="ellipse">
            <a:avLst/>
          </a:prstGeom>
          <a:solidFill>
            <a:srgbClr val="34D186"/>
          </a:solidFill>
          <a:ln/>
        </p:spPr>
      </p:sp>
      <p:sp>
        <p:nvSpPr>
          <p:cNvPr id="6" name="Text 4"/>
          <p:cNvSpPr/>
          <p:nvPr/>
        </p:nvSpPr>
        <p:spPr>
          <a:xfrm>
            <a:off x="4297680" y="1874520"/>
            <a:ext cx="548640" cy="457200"/>
          </a:xfrm>
          <a:prstGeom prst="rect">
            <a:avLst/>
          </a:prstGeom>
          <a:noFill/>
          <a:ln/>
        </p:spPr>
        <p:txBody>
          <a:bodyPr wrap="square"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VS</a:t>
            </a:r>
            <a:endParaRPr lang="en-US" sz="1100" dirty="0"/>
          </a:p>
        </p:txBody>
      </p:sp>
      <p:sp>
        <p:nvSpPr>
          <p:cNvPr id="7" name="Shape 5"/>
          <p:cNvSpPr/>
          <p:nvPr/>
        </p:nvSpPr>
        <p:spPr>
          <a:xfrm>
            <a:off x="320040" y="1664208"/>
            <a:ext cx="3840480" cy="3154680"/>
          </a:xfrm>
          <a:prstGeom prst="rect">
            <a:avLst/>
          </a:prstGeom>
          <a:solidFill>
            <a:srgbClr val="FDE8E8"/>
          </a:solidFill>
          <a:ln w="12700">
            <a:solidFill>
              <a:srgbClr val="F59090"/>
            </a:solidFill>
            <a:prstDash val="solid"/>
          </a:ln>
        </p:spPr>
      </p:sp>
      <p:sp>
        <p:nvSpPr>
          <p:cNvPr id="8" name="Text 6"/>
          <p:cNvSpPr/>
          <p:nvPr/>
        </p:nvSpPr>
        <p:spPr>
          <a:xfrm>
            <a:off x="457200" y="1755648"/>
            <a:ext cx="3566160" cy="320040"/>
          </a:xfrm>
          <a:prstGeom prst="rect">
            <a:avLst/>
          </a:prstGeom>
          <a:noFill/>
          <a:ln/>
        </p:spPr>
        <p:txBody>
          <a:bodyPr wrap="square"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Today (Engineering-Dependent)</a:t>
            </a:r>
            <a:endParaRPr lang="en-US" sz="1200" dirty="0"/>
          </a:p>
        </p:txBody>
      </p:sp>
      <p:sp>
        <p:nvSpPr>
          <p:cNvPr id="9" name="Text 7"/>
          <p:cNvSpPr/>
          <p:nvPr/>
        </p:nvSpPr>
        <p:spPr>
          <a:xfrm>
            <a:off x="457200" y="2157984"/>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PM spec -&gt; Eng ticket -&gt; Sprint planning (1-2 weeks)</a:t>
            </a:r>
            <a:endParaRPr lang="en-US" sz="1100" dirty="0"/>
          </a:p>
        </p:txBody>
      </p:sp>
      <p:sp>
        <p:nvSpPr>
          <p:cNvPr id="10" name="Text 8"/>
          <p:cNvSpPr/>
          <p:nvPr/>
        </p:nvSpPr>
        <p:spPr>
          <a:xfrm>
            <a:off x="457200" y="2633472"/>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Code: define zones in GeoJSON, write rule logic (2 weeks)</a:t>
            </a:r>
            <a:endParaRPr lang="en-US" sz="1100" dirty="0"/>
          </a:p>
        </p:txBody>
      </p:sp>
      <p:sp>
        <p:nvSpPr>
          <p:cNvPr id="11" name="Text 9"/>
          <p:cNvSpPr/>
          <p:nvPr/>
        </p:nvSpPr>
        <p:spPr>
          <a:xfrm>
            <a:off x="457200" y="3108960"/>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QA: test on staging, validate GeoJSON accuracy (1 week)</a:t>
            </a:r>
            <a:endParaRPr lang="en-US" sz="1100" dirty="0"/>
          </a:p>
        </p:txBody>
      </p:sp>
      <p:sp>
        <p:nvSpPr>
          <p:cNvPr id="12" name="Text 10"/>
          <p:cNvSpPr/>
          <p:nvPr/>
        </p:nvSpPr>
        <p:spPr>
          <a:xfrm>
            <a:off x="457200" y="3584448"/>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Deploy: push to prod, monitor for regressions (1 week)</a:t>
            </a:r>
            <a:endParaRPr lang="en-US" sz="1100" dirty="0"/>
          </a:p>
        </p:txBody>
      </p:sp>
      <p:sp>
        <p:nvSpPr>
          <p:cNvPr id="13" name="Text 11"/>
          <p:cNvSpPr/>
          <p:nvPr/>
        </p:nvSpPr>
        <p:spPr>
          <a:xfrm>
            <a:off x="457200" y="4059936"/>
            <a:ext cx="356616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  Total: 6 weeks, 1 sprint, 1 engineer, 18K euros</a:t>
            </a:r>
            <a:endParaRPr lang="en-US" sz="1100" dirty="0"/>
          </a:p>
        </p:txBody>
      </p:sp>
      <p:sp>
        <p:nvSpPr>
          <p:cNvPr id="14" name="Shape 12"/>
          <p:cNvSpPr/>
          <p:nvPr/>
        </p:nvSpPr>
        <p:spPr>
          <a:xfrm>
            <a:off x="4983480" y="1664208"/>
            <a:ext cx="3840480" cy="3154680"/>
          </a:xfrm>
          <a:prstGeom prst="rect">
            <a:avLst/>
          </a:prstGeom>
          <a:solidFill>
            <a:srgbClr val="ECFDF5"/>
          </a:solidFill>
          <a:ln w="12700">
            <a:solidFill>
              <a:srgbClr val="6EE7B7"/>
            </a:solidFill>
            <a:prstDash val="solid"/>
          </a:ln>
        </p:spPr>
      </p:sp>
      <p:sp>
        <p:nvSpPr>
          <p:cNvPr id="15" name="Text 13"/>
          <p:cNvSpPr/>
          <p:nvPr/>
        </p:nvSpPr>
        <p:spPr>
          <a:xfrm>
            <a:off x="5120640" y="1755648"/>
            <a:ext cx="3566160" cy="320040"/>
          </a:xfrm>
          <a:prstGeom prst="rect">
            <a:avLst/>
          </a:prstGeom>
          <a:noFill/>
          <a:ln/>
        </p:spPr>
        <p:txBody>
          <a:bodyPr wrap="square" rtlCol="0" anchor="ctr"/>
          <a:lstStyle/>
          <a:p>
            <a:pPr indent="0" marL="0">
              <a:buNone/>
            </a:pPr>
            <a:r>
              <a:rPr lang="en-US" sz="1200" b="1" dirty="0">
                <a:solidFill>
                  <a:srgbClr val="065F46"/>
                </a:solidFill>
                <a:latin typeface="Calibri" pitchFamily="34" charset="0"/>
                <a:ea typeface="Calibri" pitchFamily="34" charset="-122"/>
                <a:cs typeface="Calibri" pitchFamily="34" charset="-120"/>
              </a:rPr>
              <a:t>LaunchKit (Ops Self-Serve)</a:t>
            </a:r>
            <a:endParaRPr lang="en-US" sz="1200" dirty="0"/>
          </a:p>
        </p:txBody>
      </p:sp>
      <p:sp>
        <p:nvSpPr>
          <p:cNvPr id="16" name="Text 14"/>
          <p:cNvSpPr/>
          <p:nvPr/>
        </p:nvSpPr>
        <p:spPr>
          <a:xfrm>
            <a:off x="5120640" y="2157984"/>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Upload city GeoJSON or draw zones on map (30 min)</a:t>
            </a:r>
            <a:endParaRPr lang="en-US" sz="1100" dirty="0"/>
          </a:p>
        </p:txBody>
      </p:sp>
      <p:sp>
        <p:nvSpPr>
          <p:cNvPr id="17" name="Text 15"/>
          <p:cNvSpPr/>
          <p:nvPr/>
        </p:nvSpPr>
        <p:spPr>
          <a:xfrm>
            <a:off x="5120640" y="2633472"/>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Set rules: age, speed, parking, fleet cap (20 min)</a:t>
            </a:r>
            <a:endParaRPr lang="en-US" sz="1100" dirty="0"/>
          </a:p>
        </p:txBody>
      </p:sp>
      <p:sp>
        <p:nvSpPr>
          <p:cNvPr id="18" name="Text 16"/>
          <p:cNvSpPr/>
          <p:nvPr/>
        </p:nvSpPr>
        <p:spPr>
          <a:xfrm>
            <a:off x="5120640" y="3108960"/>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Run checklist: all gates pass or flag blockers (10 min)</a:t>
            </a:r>
            <a:endParaRPr lang="en-US" sz="1100" dirty="0"/>
          </a:p>
        </p:txBody>
      </p:sp>
      <p:sp>
        <p:nvSpPr>
          <p:cNvPr id="19" name="Text 17"/>
          <p:cNvSpPr/>
          <p:nvPr/>
        </p:nvSpPr>
        <p:spPr>
          <a:xfrm>
            <a:off x="5120640" y="3584448"/>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Click Activate City: live in 1 click, 0 code changes</a:t>
            </a:r>
            <a:endParaRPr lang="en-US" sz="1100" dirty="0"/>
          </a:p>
        </p:txBody>
      </p:sp>
      <p:sp>
        <p:nvSpPr>
          <p:cNvPr id="20" name="Text 18"/>
          <p:cNvSpPr/>
          <p:nvPr/>
        </p:nvSpPr>
        <p:spPr>
          <a:xfrm>
            <a:off x="5120640" y="4059936"/>
            <a:ext cx="3566160" cy="411480"/>
          </a:xfrm>
          <a:prstGeom prst="rect">
            <a:avLst/>
          </a:prstGeom>
          <a:noFill/>
          <a:ln/>
        </p:spPr>
        <p:txBody>
          <a:bodyPr wrap="square" rtlCol="0" anchor="ctr"/>
          <a:lstStyle/>
          <a:p>
            <a:pPr indent="0" marL="0">
              <a:buNone/>
            </a:pPr>
            <a:r>
              <a:rPr lang="en-US" sz="1100" dirty="0">
                <a:solidFill>
                  <a:srgbClr val="065F46"/>
                </a:solidFill>
                <a:latin typeface="Calibri" pitchFamily="34" charset="0"/>
                <a:ea typeface="Calibri" pitchFamily="34" charset="-122"/>
                <a:cs typeface="Calibri" pitchFamily="34" charset="-120"/>
              </a:rPr>
              <a:t>•  Total: 3 days, 0 engineers, 0 euros incremental cost</a:t>
            </a:r>
            <a:endParaRPr lang="en-US" sz="1100" dirty="0"/>
          </a:p>
        </p:txBody>
      </p:sp>
      <p:sp>
        <p:nvSpPr>
          <p:cNvPr id="21" name="Shape 19"/>
          <p:cNvSpPr/>
          <p:nvPr/>
        </p:nvSpPr>
        <p:spPr>
          <a:xfrm>
            <a:off x="320040" y="4956048"/>
            <a:ext cx="8503920" cy="1078992"/>
          </a:xfrm>
          <a:prstGeom prst="rect">
            <a:avLst/>
          </a:prstGeom>
          <a:solidFill>
            <a:srgbClr val="FFF3CD"/>
          </a:solidFill>
          <a:ln w="19050">
            <a:solidFill>
              <a:srgbClr val="F59E0B"/>
            </a:solidFill>
            <a:prstDash val="solid"/>
          </a:ln>
        </p:spPr>
      </p:sp>
      <p:sp>
        <p:nvSpPr>
          <p:cNvPr id="22" name="Shape 20"/>
          <p:cNvSpPr/>
          <p:nvPr/>
        </p:nvSpPr>
        <p:spPr>
          <a:xfrm>
            <a:off x="320040" y="4956048"/>
            <a:ext cx="45720" cy="1078992"/>
          </a:xfrm>
          <a:prstGeom prst="rect">
            <a:avLst/>
          </a:prstGeom>
          <a:solidFill>
            <a:srgbClr val="F59E0B"/>
          </a:solidFill>
          <a:ln/>
        </p:spPr>
      </p:sp>
      <p:sp>
        <p:nvSpPr>
          <p:cNvPr id="23" name="Text 21"/>
          <p:cNvSpPr/>
          <p:nvPr/>
        </p:nvSpPr>
        <p:spPr>
          <a:xfrm>
            <a:off x="502920" y="5020056"/>
            <a:ext cx="8229600" cy="914400"/>
          </a:xfrm>
          <a:prstGeom prst="rect">
            <a:avLst/>
          </a:prstGeom>
          <a:noFill/>
          <a:ln/>
        </p:spPr>
        <p:txBody>
          <a:bodyPr wrap="square" rtlCol="0" anchor="ctr"/>
          <a:lstStyle/>
          <a:p>
            <a:pPr indent="0" marL="0">
              <a:buNone/>
            </a:pPr>
            <a:r>
              <a:rPr lang="en-US" sz="1050" dirty="0">
                <a:solidFill>
                  <a:srgbClr val="1F1109"/>
                </a:solidFill>
                <a:latin typeface="Calibri" pitchFamily="34" charset="0"/>
                <a:ea typeface="Calibri" pitchFamily="34" charset="-122"/>
                <a:cs typeface="Calibri" pitchFamily="34" charset="-120"/>
              </a:rPr>
              <a:t>Key insight: PhonePe self-serve PG integration platform eliminated engineering dependency for merchant onboarding. 5,000+ merchants acquired, 23% lower CAC. LaunchKit applies the same principle: move city configuration from engineering (code) to ops (UI toggles). The product is the configuration layer itself.</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815"/>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F59E0B"/>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F59E0B"/>
                </a:solidFill>
                <a:latin typeface="Calibri" pitchFamily="34" charset="0"/>
                <a:ea typeface="Calibri" pitchFamily="34" charset="-122"/>
                <a:cs typeface="Calibri" pitchFamily="34" charset="-120"/>
              </a:rPr>
              <a:t>THE MECHANIC</a:t>
            </a:r>
            <a:endParaRPr lang="en-US" sz="900" dirty="0"/>
          </a:p>
        </p:txBody>
      </p:sp>
      <p:sp>
        <p:nvSpPr>
          <p:cNvPr id="4" name="Text 2"/>
          <p:cNvSpPr/>
          <p:nvPr/>
        </p:nvSpPr>
        <p:spPr>
          <a:xfrm>
            <a:off x="320040" y="566928"/>
            <a:ext cx="8503920" cy="5943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Zone Config + Rule Library + Launch Checklist + Compliance Health</a:t>
            </a:r>
            <a:endParaRPr lang="en-US" sz="2200" dirty="0"/>
          </a:p>
        </p:txBody>
      </p:sp>
      <p:sp>
        <p:nvSpPr>
          <p:cNvPr id="5" name="Shape 3"/>
          <p:cNvSpPr/>
          <p:nvPr/>
        </p:nvSpPr>
        <p:spPr>
          <a:xfrm>
            <a:off x="320040" y="1371600"/>
            <a:ext cx="411480" cy="411480"/>
          </a:xfrm>
          <a:prstGeom prst="ellipse">
            <a:avLst/>
          </a:prstGeom>
          <a:solidFill>
            <a:srgbClr val="34D186"/>
          </a:solidFill>
          <a:ln/>
        </p:spPr>
      </p:sp>
      <p:sp>
        <p:nvSpPr>
          <p:cNvPr id="6" name="Text 4"/>
          <p:cNvSpPr/>
          <p:nvPr/>
        </p:nvSpPr>
        <p:spPr>
          <a:xfrm>
            <a:off x="320040" y="1389888"/>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525780" y="1783080"/>
            <a:ext cx="0" cy="521208"/>
          </a:xfrm>
          <a:prstGeom prst="line">
            <a:avLst/>
          </a:prstGeom>
          <a:noFill/>
          <a:ln w="12700">
            <a:solidFill>
              <a:srgbClr val="687A70"/>
            </a:solidFill>
            <a:prstDash val="dash"/>
          </a:ln>
        </p:spPr>
      </p:sp>
      <p:sp>
        <p:nvSpPr>
          <p:cNvPr id="8" name="Text 6"/>
          <p:cNvSpPr/>
          <p:nvPr/>
        </p:nvSpPr>
        <p:spPr>
          <a:xfrm>
            <a:off x="868680" y="1353312"/>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Zone Map Configurator</a:t>
            </a:r>
            <a:endParaRPr lang="en-US" sz="1300" dirty="0"/>
          </a:p>
        </p:txBody>
      </p:sp>
      <p:sp>
        <p:nvSpPr>
          <p:cNvPr id="9" name="Text 7"/>
          <p:cNvSpPr/>
          <p:nvPr/>
        </p:nvSpPr>
        <p:spPr>
          <a:xfrm>
            <a:off x="868680" y="1609344"/>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Ops uploads city GeoJSON or draws freehand on Mapbox. Three zone types: Speed Limit (sets km/h threshold), Parking Zone (designates valid spots), Restricted (no-ride area). Drag to resize, right-click to delete. No code, no PR, no deploy.</a:t>
            </a:r>
            <a:endParaRPr lang="en-US" sz="1050" dirty="0"/>
          </a:p>
        </p:txBody>
      </p:sp>
      <p:sp>
        <p:nvSpPr>
          <p:cNvPr id="10" name="Shape 8"/>
          <p:cNvSpPr/>
          <p:nvPr/>
        </p:nvSpPr>
        <p:spPr>
          <a:xfrm>
            <a:off x="320040" y="2322576"/>
            <a:ext cx="411480" cy="411480"/>
          </a:xfrm>
          <a:prstGeom prst="ellipse">
            <a:avLst/>
          </a:prstGeom>
          <a:solidFill>
            <a:srgbClr val="34D186"/>
          </a:solidFill>
          <a:ln/>
        </p:spPr>
      </p:sp>
      <p:sp>
        <p:nvSpPr>
          <p:cNvPr id="11" name="Text 9"/>
          <p:cNvSpPr/>
          <p:nvPr/>
        </p:nvSpPr>
        <p:spPr>
          <a:xfrm>
            <a:off x="320040" y="2340864"/>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2</a:t>
            </a:r>
            <a:endParaRPr lang="en-US" sz="1400" dirty="0"/>
          </a:p>
        </p:txBody>
      </p:sp>
      <p:sp>
        <p:nvSpPr>
          <p:cNvPr id="12" name="Shape 10"/>
          <p:cNvSpPr/>
          <p:nvPr/>
        </p:nvSpPr>
        <p:spPr>
          <a:xfrm>
            <a:off x="525780" y="2734056"/>
            <a:ext cx="0" cy="521208"/>
          </a:xfrm>
          <a:prstGeom prst="line">
            <a:avLst/>
          </a:prstGeom>
          <a:noFill/>
          <a:ln w="12700">
            <a:solidFill>
              <a:srgbClr val="687A70"/>
            </a:solidFill>
            <a:prstDash val="dash"/>
          </a:ln>
        </p:spPr>
      </p:sp>
      <p:sp>
        <p:nvSpPr>
          <p:cNvPr id="13" name="Text 11"/>
          <p:cNvSpPr/>
          <p:nvPr/>
        </p:nvSpPr>
        <p:spPr>
          <a:xfrm>
            <a:off x="868680" y="2304288"/>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Rule Library</a:t>
            </a:r>
            <a:endParaRPr lang="en-US" sz="1300" dirty="0"/>
          </a:p>
        </p:txBody>
      </p:sp>
      <p:sp>
        <p:nvSpPr>
          <p:cNvPr id="14" name="Text 12"/>
          <p:cNvSpPr/>
          <p:nvPr/>
        </p:nvSpPr>
        <p:spPr>
          <a:xfrm>
            <a:off x="868680" y="2560320"/>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Per-city toggles: age verification method (selfie/document/none), minimum age, speed limit per zone, fleet size cap, unlock fee, per-minute pricing, dynamic pricing toggle. Template inheritance from nearest peer city — 80% of rules pre-filled.</a:t>
            </a:r>
            <a:endParaRPr lang="en-US" sz="1050" dirty="0"/>
          </a:p>
        </p:txBody>
      </p:sp>
      <p:sp>
        <p:nvSpPr>
          <p:cNvPr id="15" name="Shape 13"/>
          <p:cNvSpPr/>
          <p:nvPr/>
        </p:nvSpPr>
        <p:spPr>
          <a:xfrm>
            <a:off x="320040" y="3273552"/>
            <a:ext cx="411480" cy="411480"/>
          </a:xfrm>
          <a:prstGeom prst="ellipse">
            <a:avLst/>
          </a:prstGeom>
          <a:solidFill>
            <a:srgbClr val="34D186"/>
          </a:solidFill>
          <a:ln/>
        </p:spPr>
      </p:sp>
      <p:sp>
        <p:nvSpPr>
          <p:cNvPr id="16" name="Text 14"/>
          <p:cNvSpPr/>
          <p:nvPr/>
        </p:nvSpPr>
        <p:spPr>
          <a:xfrm>
            <a:off x="320040" y="3291840"/>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3</a:t>
            </a:r>
            <a:endParaRPr lang="en-US" sz="1400" dirty="0"/>
          </a:p>
        </p:txBody>
      </p:sp>
      <p:sp>
        <p:nvSpPr>
          <p:cNvPr id="17" name="Shape 15"/>
          <p:cNvSpPr/>
          <p:nvPr/>
        </p:nvSpPr>
        <p:spPr>
          <a:xfrm>
            <a:off x="525780" y="3685032"/>
            <a:ext cx="0" cy="521208"/>
          </a:xfrm>
          <a:prstGeom prst="line">
            <a:avLst/>
          </a:prstGeom>
          <a:noFill/>
          <a:ln w="12700">
            <a:solidFill>
              <a:srgbClr val="687A70"/>
            </a:solidFill>
            <a:prstDash val="dash"/>
          </a:ln>
        </p:spPr>
      </p:sp>
      <p:sp>
        <p:nvSpPr>
          <p:cNvPr id="18" name="Text 16"/>
          <p:cNvSpPr/>
          <p:nvPr/>
        </p:nvSpPr>
        <p:spPr>
          <a:xfrm>
            <a:off x="868680" y="3255264"/>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Launch Checklist</a:t>
            </a:r>
            <a:endParaRPr lang="en-US" sz="1300" dirty="0"/>
          </a:p>
        </p:txBody>
      </p:sp>
      <p:sp>
        <p:nvSpPr>
          <p:cNvPr id="19" name="Text 17"/>
          <p:cNvSpPr/>
          <p:nvPr/>
        </p:nvSpPr>
        <p:spPr>
          <a:xfrm>
            <a:off x="868680" y="3511296"/>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Machine-enforced gate: Required items (zones, rules, insurance) must all pass before Activate button is unlocked. Optional items can be pending with PM override. Automated check runs on every rule change — no manual verification.</a:t>
            </a:r>
            <a:endParaRPr lang="en-US" sz="1050" dirty="0"/>
          </a:p>
        </p:txBody>
      </p:sp>
      <p:sp>
        <p:nvSpPr>
          <p:cNvPr id="20" name="Shape 18"/>
          <p:cNvSpPr/>
          <p:nvPr/>
        </p:nvSpPr>
        <p:spPr>
          <a:xfrm>
            <a:off x="320040" y="4224528"/>
            <a:ext cx="411480" cy="411480"/>
          </a:xfrm>
          <a:prstGeom prst="ellipse">
            <a:avLst/>
          </a:prstGeom>
          <a:solidFill>
            <a:srgbClr val="34D186"/>
          </a:solidFill>
          <a:ln/>
        </p:spPr>
      </p:sp>
      <p:sp>
        <p:nvSpPr>
          <p:cNvPr id="21" name="Text 19"/>
          <p:cNvSpPr/>
          <p:nvPr/>
        </p:nvSpPr>
        <p:spPr>
          <a:xfrm>
            <a:off x="320040" y="4242816"/>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4</a:t>
            </a:r>
            <a:endParaRPr lang="en-US" sz="1400" dirty="0"/>
          </a:p>
        </p:txBody>
      </p:sp>
      <p:sp>
        <p:nvSpPr>
          <p:cNvPr id="22" name="Shape 20"/>
          <p:cNvSpPr/>
          <p:nvPr/>
        </p:nvSpPr>
        <p:spPr>
          <a:xfrm>
            <a:off x="525780" y="4636008"/>
            <a:ext cx="0" cy="521208"/>
          </a:xfrm>
          <a:prstGeom prst="line">
            <a:avLst/>
          </a:prstGeom>
          <a:noFill/>
          <a:ln w="12700">
            <a:solidFill>
              <a:srgbClr val="687A70"/>
            </a:solidFill>
            <a:prstDash val="dash"/>
          </a:ln>
        </p:spPr>
      </p:sp>
      <p:sp>
        <p:nvSpPr>
          <p:cNvPr id="23" name="Text 21"/>
          <p:cNvSpPr/>
          <p:nvPr/>
        </p:nvSpPr>
        <p:spPr>
          <a:xfrm>
            <a:off x="868680" y="4206240"/>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Compliance Health Dashboard</a:t>
            </a:r>
            <a:endParaRPr lang="en-US" sz="1300" dirty="0"/>
          </a:p>
        </p:txBody>
      </p:sp>
      <p:sp>
        <p:nvSpPr>
          <p:cNvPr id="24" name="Text 22"/>
          <p:cNvSpPr/>
          <p:nvPr/>
        </p:nvSpPr>
        <p:spPr>
          <a:xfrm>
            <a:off x="868680" y="4462272"/>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Post-launch: real-time compliance score per city (speed adherence, valid parking rate, age-verified rider %). Anomaly detection: &gt;10% drop in 4h fires Critical alert. Market leaderboard. Feeds directly into CityScore tender exports.</a:t>
            </a:r>
            <a:endParaRPr lang="en-US" sz="1050" dirty="0"/>
          </a:p>
        </p:txBody>
      </p:sp>
      <p:sp>
        <p:nvSpPr>
          <p:cNvPr id="25" name="Shape 23"/>
          <p:cNvSpPr/>
          <p:nvPr/>
        </p:nvSpPr>
        <p:spPr>
          <a:xfrm>
            <a:off x="320040" y="5175504"/>
            <a:ext cx="411480" cy="411480"/>
          </a:xfrm>
          <a:prstGeom prst="ellipse">
            <a:avLst/>
          </a:prstGeom>
          <a:solidFill>
            <a:srgbClr val="34D186"/>
          </a:solidFill>
          <a:ln/>
        </p:spPr>
      </p:sp>
      <p:sp>
        <p:nvSpPr>
          <p:cNvPr id="26" name="Text 24"/>
          <p:cNvSpPr/>
          <p:nvPr/>
        </p:nvSpPr>
        <p:spPr>
          <a:xfrm>
            <a:off x="320040" y="5193792"/>
            <a:ext cx="411480" cy="365760"/>
          </a:xfrm>
          <a:prstGeom prst="rect">
            <a:avLst/>
          </a:prstGeom>
          <a:noFill/>
          <a:ln/>
        </p:spPr>
        <p:txBody>
          <a:bodyPr wrap="square"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868680" y="5157216"/>
            <a:ext cx="8229600" cy="25603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Rollout Velocity Tracking</a:t>
            </a:r>
            <a:endParaRPr lang="en-US" sz="1300" dirty="0"/>
          </a:p>
        </p:txBody>
      </p:sp>
      <p:sp>
        <p:nvSpPr>
          <p:cNvPr id="28" name="Text 26"/>
          <p:cNvSpPr/>
          <p:nvPr/>
        </p:nvSpPr>
        <p:spPr>
          <a:xfrm>
            <a:off x="868680" y="5413248"/>
            <a:ext cx="813816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LaunchKit dashboard: cities launched per quarter, avg launch time, engineering hours saved, incremental revenue from faster launches. The PM owns city launch velocity as a business metric, not just an ops workflow.</a:t>
            </a:r>
            <a:endParaRPr lang="en-US" sz="1050" dirty="0"/>
          </a:p>
        </p:txBody>
      </p:sp>
      <p:sp>
        <p:nvSpPr>
          <p:cNvPr id="29" name="Shape 27"/>
          <p:cNvSpPr/>
          <p:nvPr/>
        </p:nvSpPr>
        <p:spPr>
          <a:xfrm>
            <a:off x="320040" y="6263640"/>
            <a:ext cx="8503920" cy="384048"/>
          </a:xfrm>
          <a:prstGeom prst="rect">
            <a:avLst/>
          </a:prstGeom>
          <a:solidFill>
            <a:srgbClr val="0D1A10"/>
          </a:solidFill>
          <a:ln w="10160">
            <a:solidFill>
              <a:srgbClr val="F59E0B"/>
            </a:solidFill>
            <a:prstDash val="solid"/>
          </a:ln>
        </p:spPr>
      </p:sp>
      <p:sp>
        <p:nvSpPr>
          <p:cNvPr id="30" name="Text 28"/>
          <p:cNvSpPr/>
          <p:nvPr/>
        </p:nvSpPr>
        <p:spPr>
          <a:xfrm>
            <a:off x="457200" y="6291072"/>
            <a:ext cx="8321040" cy="329184"/>
          </a:xfrm>
          <a:prstGeom prst="rect">
            <a:avLst/>
          </a:prstGeom>
          <a:noFill/>
          <a:ln/>
        </p:spPr>
        <p:txBody>
          <a:bodyPr wrap="square" rtlCol="0" anchor="ctr"/>
          <a:lstStyle/>
          <a:p>
            <a:pPr indent="0" marL="0">
              <a:buNone/>
            </a:pPr>
            <a:r>
              <a:rPr lang="en-US" sz="950" dirty="0">
                <a:solidFill>
                  <a:srgbClr val="687A70"/>
                </a:solidFill>
                <a:latin typeface="Calibri" pitchFamily="34" charset="0"/>
                <a:ea typeface="Calibri" pitchFamily="34" charset="-122"/>
                <a:cs typeface="Calibri" pitchFamily="34" charset="-120"/>
              </a:rPr>
              <a:t>PhonePe proof: Self-serve PG integration platform (zero-to-one) -&gt; 5,000+ B2B merchants onboarded, 23% lower CAC, 5M+ new users/month. LaunchKit = same self-serve principle applied to city compliance configuration.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FF4"/>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THE PRODUCT</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600" b="1" dirty="0">
                <a:solidFill>
                  <a:srgbClr val="0D1A10"/>
                </a:solidFill>
                <a:latin typeface="Calibri" pitchFamily="34" charset="0"/>
                <a:ea typeface="Calibri" pitchFamily="34" charset="-122"/>
                <a:cs typeface="Calibri" pitchFamily="34" charset="-120"/>
              </a:rPr>
              <a:t>4 Screen States — Configure to Launch</a:t>
            </a:r>
            <a:endParaRPr lang="en-US" sz="2600" dirty="0"/>
          </a:p>
        </p:txBody>
      </p:sp>
      <p:sp>
        <p:nvSpPr>
          <p:cNvPr id="5" name="Shape 3"/>
          <p:cNvSpPr/>
          <p:nvPr/>
        </p:nvSpPr>
        <p:spPr>
          <a:xfrm>
            <a:off x="320040" y="1234440"/>
            <a:ext cx="2057400" cy="5166360"/>
          </a:xfrm>
          <a:prstGeom prst="rect">
            <a:avLst/>
          </a:prstGeom>
          <a:solidFill>
            <a:srgbClr val="FFFFFF"/>
          </a:solidFill>
          <a:ln w="12700">
            <a:solidFill>
              <a:srgbClr val="C8E8D8"/>
            </a:solidFill>
            <a:prstDash val="solid"/>
          </a:ln>
          <a:effectLst>
            <a:outerShdw sx="100000" sy="100000" kx="0" ky="0" algn="bl" rotWithShape="0" blurRad="50800" dist="25400" dir="2700000">
              <a:srgbClr val="000000">
                <a:alpha val="14000"/>
              </a:srgbClr>
            </a:outerShdw>
          </a:effectLst>
        </p:spPr>
      </p:sp>
      <p:sp>
        <p:nvSpPr>
          <p:cNvPr id="6" name="Shape 4"/>
          <p:cNvSpPr/>
          <p:nvPr/>
        </p:nvSpPr>
        <p:spPr>
          <a:xfrm>
            <a:off x="320040" y="1234440"/>
            <a:ext cx="2057400" cy="45720"/>
          </a:xfrm>
          <a:prstGeom prst="rect">
            <a:avLst/>
          </a:prstGeom>
          <a:solidFill>
            <a:srgbClr val="34D186"/>
          </a:solidFill>
          <a:ln/>
        </p:spPr>
      </p:sp>
      <p:sp>
        <p:nvSpPr>
          <p:cNvPr id="7" name="Text 5"/>
          <p:cNvSpPr/>
          <p:nvPr/>
        </p:nvSpPr>
        <p:spPr>
          <a:xfrm>
            <a:off x="429768" y="1325880"/>
            <a:ext cx="914400" cy="256032"/>
          </a:xfrm>
          <a:prstGeom prst="rect">
            <a:avLst/>
          </a:prstGeom>
          <a:noFill/>
          <a:ln/>
        </p:spPr>
        <p:txBody>
          <a:bodyPr wrap="square" rtlCol="0" anchor="ctr"/>
          <a:lstStyle/>
          <a:p>
            <a:pPr indent="0" marL="0">
              <a:buNone/>
            </a:pPr>
            <a:r>
              <a:rPr lang="en-US" sz="900" b="1" spc="100" kern="0" dirty="0">
                <a:solidFill>
                  <a:srgbClr val="34D186"/>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429768" y="1572768"/>
            <a:ext cx="1828800" cy="475488"/>
          </a:xfrm>
          <a:prstGeom prst="rect">
            <a:avLst/>
          </a:prstGeom>
          <a:noFill/>
          <a:ln/>
        </p:spPr>
        <p:txBody>
          <a:bodyPr wrap="square" rtlCol="0" anchor="ctr"/>
          <a:lstStyle/>
          <a:p>
            <a:pPr indent="0" marL="0">
              <a:buNone/>
            </a:pPr>
            <a:r>
              <a:rPr lang="en-US" sz="1200" b="1" dirty="0">
                <a:solidFill>
                  <a:srgbClr val="0D1A10"/>
                </a:solidFill>
                <a:latin typeface="Calibri" pitchFamily="34" charset="0"/>
                <a:ea typeface="Calibri" pitchFamily="34" charset="-122"/>
                <a:cs typeface="Calibri" pitchFamily="34" charset="-120"/>
              </a:rPr>
              <a:t>Zone Configurator</a:t>
            </a:r>
            <a:endParaRPr lang="en-US" sz="1200" dirty="0"/>
          </a:p>
        </p:txBody>
      </p:sp>
      <p:sp>
        <p:nvSpPr>
          <p:cNvPr id="9" name="Shape 7"/>
          <p:cNvSpPr/>
          <p:nvPr/>
        </p:nvSpPr>
        <p:spPr>
          <a:xfrm>
            <a:off x="429768" y="2121408"/>
            <a:ext cx="1828800" cy="2011680"/>
          </a:xfrm>
          <a:prstGeom prst="rect">
            <a:avLst/>
          </a:prstGeom>
          <a:solidFill>
            <a:srgbClr val="0D1A10"/>
          </a:solidFill>
          <a:ln w="12700">
            <a:solidFill>
              <a:srgbClr val="1E3422"/>
            </a:solidFill>
            <a:prstDash val="solid"/>
          </a:ln>
        </p:spPr>
      </p:sp>
      <p:sp>
        <p:nvSpPr>
          <p:cNvPr id="10" name="Text 8"/>
          <p:cNvSpPr/>
          <p:nvPr/>
        </p:nvSpPr>
        <p:spPr>
          <a:xfrm>
            <a:off x="457200" y="2148840"/>
            <a:ext cx="1783080" cy="237744"/>
          </a:xfrm>
          <a:prstGeom prst="rect">
            <a:avLst/>
          </a:prstGeom>
          <a:noFill/>
          <a:ln/>
        </p:spPr>
        <p:txBody>
          <a:bodyPr wrap="square" rtlCol="0" anchor="ctr"/>
          <a:lstStyle/>
          <a:p>
            <a:pPr indent="0" marL="0">
              <a:buNone/>
            </a:pPr>
            <a:r>
              <a:rPr lang="en-US" sz="750" b="1" dirty="0">
                <a:solidFill>
                  <a:srgbClr val="34D186"/>
                </a:solidFill>
                <a:latin typeface="Courier New" pitchFamily="34" charset="0"/>
                <a:ea typeface="Courier New" pitchFamily="34" charset="-122"/>
                <a:cs typeface="Courier New" pitchFamily="34" charset="-120"/>
              </a:rPr>
              <a:t>╔══════════╗</a:t>
            </a:r>
            <a:endParaRPr lang="en-US" sz="750" dirty="0"/>
          </a:p>
        </p:txBody>
      </p:sp>
      <p:sp>
        <p:nvSpPr>
          <p:cNvPr id="11" name="Text 9"/>
          <p:cNvSpPr/>
          <p:nvPr/>
        </p:nvSpPr>
        <p:spPr>
          <a:xfrm>
            <a:off x="457200" y="24003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Zone Map Editor</a:t>
            </a:r>
            <a:endParaRPr lang="en-US" sz="750" dirty="0"/>
          </a:p>
        </p:txBody>
      </p:sp>
      <p:sp>
        <p:nvSpPr>
          <p:cNvPr id="12" name="Text 10"/>
          <p:cNvSpPr/>
          <p:nvPr/>
        </p:nvSpPr>
        <p:spPr>
          <a:xfrm>
            <a:off x="457200" y="265176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t>
            </a:r>
            <a:endParaRPr lang="en-US" sz="750" dirty="0"/>
          </a:p>
        </p:txBody>
      </p:sp>
      <p:sp>
        <p:nvSpPr>
          <p:cNvPr id="13" name="Text 11"/>
          <p:cNvSpPr/>
          <p:nvPr/>
        </p:nvSpPr>
        <p:spPr>
          <a:xfrm>
            <a:off x="457200" y="290322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25km/h zone</a:t>
            </a:r>
            <a:endParaRPr lang="en-US" sz="750" dirty="0"/>
          </a:p>
        </p:txBody>
      </p:sp>
      <p:sp>
        <p:nvSpPr>
          <p:cNvPr id="14" name="Text 12"/>
          <p:cNvSpPr/>
          <p:nvPr/>
        </p:nvSpPr>
        <p:spPr>
          <a:xfrm>
            <a:off x="457200" y="315468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Park Zone A</a:t>
            </a:r>
            <a:endParaRPr lang="en-US" sz="750" dirty="0"/>
          </a:p>
        </p:txBody>
      </p:sp>
      <p:sp>
        <p:nvSpPr>
          <p:cNvPr id="15" name="Text 13"/>
          <p:cNvSpPr/>
          <p:nvPr/>
        </p:nvSpPr>
        <p:spPr>
          <a:xfrm>
            <a:off x="457200" y="340614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Airport zone</a:t>
            </a:r>
            <a:endParaRPr lang="en-US" sz="750" dirty="0"/>
          </a:p>
        </p:txBody>
      </p:sp>
      <p:sp>
        <p:nvSpPr>
          <p:cNvPr id="16" name="Text 14"/>
          <p:cNvSpPr/>
          <p:nvPr/>
        </p:nvSpPr>
        <p:spPr>
          <a:xfrm>
            <a:off x="457200" y="36576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[Run Checklist]</a:t>
            </a:r>
            <a:endParaRPr lang="en-US" sz="750" dirty="0"/>
          </a:p>
        </p:txBody>
      </p:sp>
      <p:sp>
        <p:nvSpPr>
          <p:cNvPr id="17" name="Text 15"/>
          <p:cNvSpPr/>
          <p:nvPr/>
        </p:nvSpPr>
        <p:spPr>
          <a:xfrm>
            <a:off x="429768" y="4224528"/>
            <a:ext cx="1828800" cy="2057400"/>
          </a:xfrm>
          <a:prstGeom prst="rect">
            <a:avLst/>
          </a:prstGeom>
          <a:noFill/>
          <a:ln/>
        </p:spPr>
        <p:txBody>
          <a:bodyPr wrap="square" rtlCol="0" anchor="ctr"/>
          <a:lstStyle/>
          <a:p>
            <a:pPr indent="0" marL="0">
              <a:buNone/>
            </a:pPr>
            <a:r>
              <a:rPr lang="en-US" sz="950" dirty="0">
                <a:solidFill>
                  <a:srgbClr val="4B6B5A"/>
                </a:solidFill>
                <a:latin typeface="Calibri" pitchFamily="34" charset="0"/>
                <a:ea typeface="Calibri" pitchFamily="34" charset="-122"/>
                <a:cs typeface="Calibri" pitchFamily="34" charset="-120"/>
              </a:rPr>
              <a:t>City map with draw/upload interface. Three zone types selectable. Zone summary table with edit buttons. Runs Checklist CTA. No code required.</a:t>
            </a:r>
            <a:endParaRPr lang="en-US" sz="950" dirty="0"/>
          </a:p>
        </p:txBody>
      </p:sp>
      <p:sp>
        <p:nvSpPr>
          <p:cNvPr id="18" name="Shape 16"/>
          <p:cNvSpPr/>
          <p:nvPr/>
        </p:nvSpPr>
        <p:spPr>
          <a:xfrm>
            <a:off x="2514600" y="1234440"/>
            <a:ext cx="2057400" cy="5166360"/>
          </a:xfrm>
          <a:prstGeom prst="rect">
            <a:avLst/>
          </a:prstGeom>
          <a:solidFill>
            <a:srgbClr val="FFFFFF"/>
          </a:solidFill>
          <a:ln w="12700">
            <a:solidFill>
              <a:srgbClr val="C8E8D8"/>
            </a:solidFill>
            <a:prstDash val="solid"/>
          </a:ln>
          <a:effectLst>
            <a:outerShdw sx="100000" sy="100000" kx="0" ky="0" algn="bl" rotWithShape="0" blurRad="50800" dist="25400" dir="2700000">
              <a:srgbClr val="000000">
                <a:alpha val="14000"/>
              </a:srgbClr>
            </a:outerShdw>
          </a:effectLst>
        </p:spPr>
      </p:sp>
      <p:sp>
        <p:nvSpPr>
          <p:cNvPr id="19" name="Shape 17"/>
          <p:cNvSpPr/>
          <p:nvPr/>
        </p:nvSpPr>
        <p:spPr>
          <a:xfrm>
            <a:off x="2514600" y="1234440"/>
            <a:ext cx="2057400" cy="45720"/>
          </a:xfrm>
          <a:prstGeom prst="rect">
            <a:avLst/>
          </a:prstGeom>
          <a:solidFill>
            <a:srgbClr val="34D186"/>
          </a:solidFill>
          <a:ln/>
        </p:spPr>
      </p:sp>
      <p:sp>
        <p:nvSpPr>
          <p:cNvPr id="20" name="Text 18"/>
          <p:cNvSpPr/>
          <p:nvPr/>
        </p:nvSpPr>
        <p:spPr>
          <a:xfrm>
            <a:off x="2624328" y="1325880"/>
            <a:ext cx="914400" cy="256032"/>
          </a:xfrm>
          <a:prstGeom prst="rect">
            <a:avLst/>
          </a:prstGeom>
          <a:noFill/>
          <a:ln/>
        </p:spPr>
        <p:txBody>
          <a:bodyPr wrap="square" rtlCol="0" anchor="ctr"/>
          <a:lstStyle/>
          <a:p>
            <a:pPr indent="0" marL="0">
              <a:buNone/>
            </a:pPr>
            <a:r>
              <a:rPr lang="en-US" sz="900" b="1" spc="100" kern="0" dirty="0">
                <a:solidFill>
                  <a:srgbClr val="34D186"/>
                </a:solidFill>
                <a:latin typeface="Calibri" pitchFamily="34" charset="0"/>
                <a:ea typeface="Calibri" pitchFamily="34" charset="-122"/>
                <a:cs typeface="Calibri" pitchFamily="34" charset="-120"/>
              </a:rPr>
              <a:t>02</a:t>
            </a:r>
            <a:endParaRPr lang="en-US" sz="900" dirty="0"/>
          </a:p>
        </p:txBody>
      </p:sp>
      <p:sp>
        <p:nvSpPr>
          <p:cNvPr id="21" name="Text 19"/>
          <p:cNvSpPr/>
          <p:nvPr/>
        </p:nvSpPr>
        <p:spPr>
          <a:xfrm>
            <a:off x="2624328" y="1572768"/>
            <a:ext cx="1828800" cy="475488"/>
          </a:xfrm>
          <a:prstGeom prst="rect">
            <a:avLst/>
          </a:prstGeom>
          <a:noFill/>
          <a:ln/>
        </p:spPr>
        <p:txBody>
          <a:bodyPr wrap="square" rtlCol="0" anchor="ctr"/>
          <a:lstStyle/>
          <a:p>
            <a:pPr indent="0" marL="0">
              <a:buNone/>
            </a:pPr>
            <a:r>
              <a:rPr lang="en-US" sz="1200" b="1" dirty="0">
                <a:solidFill>
                  <a:srgbClr val="0D1A10"/>
                </a:solidFill>
                <a:latin typeface="Calibri" pitchFamily="34" charset="0"/>
                <a:ea typeface="Calibri" pitchFamily="34" charset="-122"/>
                <a:cs typeface="Calibri" pitchFamily="34" charset="-120"/>
              </a:rPr>
              <a:t>Rule Library</a:t>
            </a:r>
            <a:endParaRPr lang="en-US" sz="1200" dirty="0"/>
          </a:p>
        </p:txBody>
      </p:sp>
      <p:sp>
        <p:nvSpPr>
          <p:cNvPr id="22" name="Shape 20"/>
          <p:cNvSpPr/>
          <p:nvPr/>
        </p:nvSpPr>
        <p:spPr>
          <a:xfrm>
            <a:off x="2624328" y="2121408"/>
            <a:ext cx="1828800" cy="2011680"/>
          </a:xfrm>
          <a:prstGeom prst="rect">
            <a:avLst/>
          </a:prstGeom>
          <a:solidFill>
            <a:srgbClr val="0D1A10"/>
          </a:solidFill>
          <a:ln w="12700">
            <a:solidFill>
              <a:srgbClr val="1E3422"/>
            </a:solidFill>
            <a:prstDash val="solid"/>
          </a:ln>
        </p:spPr>
      </p:sp>
      <p:sp>
        <p:nvSpPr>
          <p:cNvPr id="23" name="Text 21"/>
          <p:cNvSpPr/>
          <p:nvPr/>
        </p:nvSpPr>
        <p:spPr>
          <a:xfrm>
            <a:off x="2651760" y="2148840"/>
            <a:ext cx="1783080" cy="237744"/>
          </a:xfrm>
          <a:prstGeom prst="rect">
            <a:avLst/>
          </a:prstGeom>
          <a:noFill/>
          <a:ln/>
        </p:spPr>
        <p:txBody>
          <a:bodyPr wrap="square" rtlCol="0" anchor="ctr"/>
          <a:lstStyle/>
          <a:p>
            <a:pPr indent="0" marL="0">
              <a:buNone/>
            </a:pPr>
            <a:r>
              <a:rPr lang="en-US" sz="750" b="1" dirty="0">
                <a:solidFill>
                  <a:srgbClr val="34D186"/>
                </a:solidFill>
                <a:latin typeface="Courier New" pitchFamily="34" charset="0"/>
                <a:ea typeface="Courier New" pitchFamily="34" charset="-122"/>
                <a:cs typeface="Courier New" pitchFamily="34" charset="-120"/>
              </a:rPr>
              <a:t>╔══════════╗</a:t>
            </a:r>
            <a:endParaRPr lang="en-US" sz="750" dirty="0"/>
          </a:p>
        </p:txBody>
      </p:sp>
      <p:sp>
        <p:nvSpPr>
          <p:cNvPr id="24" name="Text 22"/>
          <p:cNvSpPr/>
          <p:nvPr/>
        </p:nvSpPr>
        <p:spPr>
          <a:xfrm>
            <a:off x="2651760" y="24003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Rule Library</a:t>
            </a:r>
            <a:endParaRPr lang="en-US" sz="750" dirty="0"/>
          </a:p>
        </p:txBody>
      </p:sp>
      <p:sp>
        <p:nvSpPr>
          <p:cNvPr id="25" name="Text 23"/>
          <p:cNvSpPr/>
          <p:nvPr/>
        </p:nvSpPr>
        <p:spPr>
          <a:xfrm>
            <a:off x="2651760" y="265176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t>
            </a:r>
            <a:endParaRPr lang="en-US" sz="750" dirty="0"/>
          </a:p>
        </p:txBody>
      </p:sp>
      <p:sp>
        <p:nvSpPr>
          <p:cNvPr id="26" name="Text 24"/>
          <p:cNvSpPr/>
          <p:nvPr/>
        </p:nvSpPr>
        <p:spPr>
          <a:xfrm>
            <a:off x="2651760" y="290322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18+ Selfie on</a:t>
            </a:r>
            <a:endParaRPr lang="en-US" sz="750" dirty="0"/>
          </a:p>
        </p:txBody>
      </p:sp>
      <p:sp>
        <p:nvSpPr>
          <p:cNvPr id="27" name="Text 25"/>
          <p:cNvSpPr/>
          <p:nvPr/>
        </p:nvSpPr>
        <p:spPr>
          <a:xfrm>
            <a:off x="2651760" y="315468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Speed: 25 km/h</a:t>
            </a:r>
            <a:endParaRPr lang="en-US" sz="750" dirty="0"/>
          </a:p>
        </p:txBody>
      </p:sp>
      <p:sp>
        <p:nvSpPr>
          <p:cNvPr id="28" name="Text 26"/>
          <p:cNvSpPr/>
          <p:nvPr/>
        </p:nvSpPr>
        <p:spPr>
          <a:xfrm>
            <a:off x="2651760" y="340614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Fleet: 150 scoot</a:t>
            </a:r>
            <a:endParaRPr lang="en-US" sz="750" dirty="0"/>
          </a:p>
        </p:txBody>
      </p:sp>
      <p:sp>
        <p:nvSpPr>
          <p:cNvPr id="29" name="Text 27"/>
          <p:cNvSpPr/>
          <p:nvPr/>
        </p:nvSpPr>
        <p:spPr>
          <a:xfrm>
            <a:off x="2651760" y="36576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[Save Rules]</a:t>
            </a:r>
            <a:endParaRPr lang="en-US" sz="750" dirty="0"/>
          </a:p>
        </p:txBody>
      </p:sp>
      <p:sp>
        <p:nvSpPr>
          <p:cNvPr id="30" name="Text 28"/>
          <p:cNvSpPr/>
          <p:nvPr/>
        </p:nvSpPr>
        <p:spPr>
          <a:xfrm>
            <a:off x="2624328" y="4224528"/>
            <a:ext cx="1828800" cy="2057400"/>
          </a:xfrm>
          <a:prstGeom prst="rect">
            <a:avLst/>
          </a:prstGeom>
          <a:noFill/>
          <a:ln/>
        </p:spPr>
        <p:txBody>
          <a:bodyPr wrap="square" rtlCol="0" anchor="ctr"/>
          <a:lstStyle/>
          <a:p>
            <a:pPr indent="0" marL="0">
              <a:buNone/>
            </a:pPr>
            <a:r>
              <a:rPr lang="en-US" sz="950" dirty="0">
                <a:solidFill>
                  <a:srgbClr val="4B6B5A"/>
                </a:solidFill>
                <a:latin typeface="Calibri" pitchFamily="34" charset="0"/>
                <a:ea typeface="Calibri" pitchFamily="34" charset="-122"/>
                <a:cs typeface="Calibri" pitchFamily="34" charset="-120"/>
              </a:rPr>
              <a:t>Age verification toggles (selfie/doc). Speed limit sliders per zone. Pricing grid (unlock, per-min, fleet cap). Dynamic pricing toggle. Template from peer city pre-filled.</a:t>
            </a:r>
            <a:endParaRPr lang="en-US" sz="950" dirty="0"/>
          </a:p>
        </p:txBody>
      </p:sp>
      <p:sp>
        <p:nvSpPr>
          <p:cNvPr id="31" name="Shape 29"/>
          <p:cNvSpPr/>
          <p:nvPr/>
        </p:nvSpPr>
        <p:spPr>
          <a:xfrm>
            <a:off x="4709160" y="1234440"/>
            <a:ext cx="2057400" cy="5166360"/>
          </a:xfrm>
          <a:prstGeom prst="rect">
            <a:avLst/>
          </a:prstGeom>
          <a:solidFill>
            <a:srgbClr val="FFFFFF"/>
          </a:solidFill>
          <a:ln w="12700">
            <a:solidFill>
              <a:srgbClr val="C8E8D8"/>
            </a:solidFill>
            <a:prstDash val="solid"/>
          </a:ln>
          <a:effectLst>
            <a:outerShdw sx="100000" sy="100000" kx="0" ky="0" algn="bl" rotWithShape="0" blurRad="50800" dist="25400" dir="2700000">
              <a:srgbClr val="000000">
                <a:alpha val="14000"/>
              </a:srgbClr>
            </a:outerShdw>
          </a:effectLst>
        </p:spPr>
      </p:sp>
      <p:sp>
        <p:nvSpPr>
          <p:cNvPr id="32" name="Shape 30"/>
          <p:cNvSpPr/>
          <p:nvPr/>
        </p:nvSpPr>
        <p:spPr>
          <a:xfrm>
            <a:off x="4709160" y="1234440"/>
            <a:ext cx="2057400" cy="45720"/>
          </a:xfrm>
          <a:prstGeom prst="rect">
            <a:avLst/>
          </a:prstGeom>
          <a:solidFill>
            <a:srgbClr val="34D186"/>
          </a:solidFill>
          <a:ln/>
        </p:spPr>
      </p:sp>
      <p:sp>
        <p:nvSpPr>
          <p:cNvPr id="33" name="Text 31"/>
          <p:cNvSpPr/>
          <p:nvPr/>
        </p:nvSpPr>
        <p:spPr>
          <a:xfrm>
            <a:off x="4818888" y="1325880"/>
            <a:ext cx="914400" cy="256032"/>
          </a:xfrm>
          <a:prstGeom prst="rect">
            <a:avLst/>
          </a:prstGeom>
          <a:noFill/>
          <a:ln/>
        </p:spPr>
        <p:txBody>
          <a:bodyPr wrap="square" rtlCol="0" anchor="ctr"/>
          <a:lstStyle/>
          <a:p>
            <a:pPr indent="0" marL="0">
              <a:buNone/>
            </a:pPr>
            <a:r>
              <a:rPr lang="en-US" sz="900" b="1" spc="100" kern="0" dirty="0">
                <a:solidFill>
                  <a:srgbClr val="34D186"/>
                </a:solidFill>
                <a:latin typeface="Calibri" pitchFamily="34" charset="0"/>
                <a:ea typeface="Calibri" pitchFamily="34" charset="-122"/>
                <a:cs typeface="Calibri" pitchFamily="34" charset="-120"/>
              </a:rPr>
              <a:t>03</a:t>
            </a:r>
            <a:endParaRPr lang="en-US" sz="900" dirty="0"/>
          </a:p>
        </p:txBody>
      </p:sp>
      <p:sp>
        <p:nvSpPr>
          <p:cNvPr id="34" name="Text 32"/>
          <p:cNvSpPr/>
          <p:nvPr/>
        </p:nvSpPr>
        <p:spPr>
          <a:xfrm>
            <a:off x="4818888" y="1572768"/>
            <a:ext cx="1828800" cy="475488"/>
          </a:xfrm>
          <a:prstGeom prst="rect">
            <a:avLst/>
          </a:prstGeom>
          <a:noFill/>
          <a:ln/>
        </p:spPr>
        <p:txBody>
          <a:bodyPr wrap="square" rtlCol="0" anchor="ctr"/>
          <a:lstStyle/>
          <a:p>
            <a:pPr indent="0" marL="0">
              <a:buNone/>
            </a:pPr>
            <a:r>
              <a:rPr lang="en-US" sz="1200" b="1" dirty="0">
                <a:solidFill>
                  <a:srgbClr val="0D1A10"/>
                </a:solidFill>
                <a:latin typeface="Calibri" pitchFamily="34" charset="0"/>
                <a:ea typeface="Calibri" pitchFamily="34" charset="-122"/>
                <a:cs typeface="Calibri" pitchFamily="34" charset="-120"/>
              </a:rPr>
              <a:t>Launch Checklist</a:t>
            </a:r>
            <a:endParaRPr lang="en-US" sz="1200" dirty="0"/>
          </a:p>
        </p:txBody>
      </p:sp>
      <p:sp>
        <p:nvSpPr>
          <p:cNvPr id="35" name="Shape 33"/>
          <p:cNvSpPr/>
          <p:nvPr/>
        </p:nvSpPr>
        <p:spPr>
          <a:xfrm>
            <a:off x="4818888" y="2121408"/>
            <a:ext cx="1828800" cy="2011680"/>
          </a:xfrm>
          <a:prstGeom prst="rect">
            <a:avLst/>
          </a:prstGeom>
          <a:solidFill>
            <a:srgbClr val="0D1A10"/>
          </a:solidFill>
          <a:ln w="12700">
            <a:solidFill>
              <a:srgbClr val="1E3422"/>
            </a:solidFill>
            <a:prstDash val="solid"/>
          </a:ln>
        </p:spPr>
      </p:sp>
      <p:sp>
        <p:nvSpPr>
          <p:cNvPr id="36" name="Text 34"/>
          <p:cNvSpPr/>
          <p:nvPr/>
        </p:nvSpPr>
        <p:spPr>
          <a:xfrm>
            <a:off x="4846320" y="2148840"/>
            <a:ext cx="1783080" cy="237744"/>
          </a:xfrm>
          <a:prstGeom prst="rect">
            <a:avLst/>
          </a:prstGeom>
          <a:noFill/>
          <a:ln/>
        </p:spPr>
        <p:txBody>
          <a:bodyPr wrap="square" rtlCol="0" anchor="ctr"/>
          <a:lstStyle/>
          <a:p>
            <a:pPr indent="0" marL="0">
              <a:buNone/>
            </a:pPr>
            <a:r>
              <a:rPr lang="en-US" sz="750" b="1" dirty="0">
                <a:solidFill>
                  <a:srgbClr val="34D186"/>
                </a:solidFill>
                <a:latin typeface="Courier New" pitchFamily="34" charset="0"/>
                <a:ea typeface="Courier New" pitchFamily="34" charset="-122"/>
                <a:cs typeface="Courier New" pitchFamily="34" charset="-120"/>
              </a:rPr>
              <a:t>╔══════════╗</a:t>
            </a:r>
            <a:endParaRPr lang="en-US" sz="750" dirty="0"/>
          </a:p>
        </p:txBody>
      </p:sp>
      <p:sp>
        <p:nvSpPr>
          <p:cNvPr id="37" name="Text 35"/>
          <p:cNvSpPr/>
          <p:nvPr/>
        </p:nvSpPr>
        <p:spPr>
          <a:xfrm>
            <a:off x="4846320" y="24003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Launch Checklist</a:t>
            </a:r>
            <a:endParaRPr lang="en-US" sz="750" dirty="0"/>
          </a:p>
        </p:txBody>
      </p:sp>
      <p:sp>
        <p:nvSpPr>
          <p:cNvPr id="38" name="Text 36"/>
          <p:cNvSpPr/>
          <p:nvPr/>
        </p:nvSpPr>
        <p:spPr>
          <a:xfrm>
            <a:off x="4846320" y="265176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t>
            </a:r>
            <a:endParaRPr lang="en-US" sz="750" dirty="0"/>
          </a:p>
        </p:txBody>
      </p:sp>
      <p:sp>
        <p:nvSpPr>
          <p:cNvPr id="39" name="Text 37"/>
          <p:cNvSpPr/>
          <p:nvPr/>
        </p:nvSpPr>
        <p:spPr>
          <a:xfrm>
            <a:off x="4846320" y="290322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Zones 4/7</a:t>
            </a:r>
            <a:endParaRPr lang="en-US" sz="750" dirty="0"/>
          </a:p>
        </p:txBody>
      </p:sp>
      <p:sp>
        <p:nvSpPr>
          <p:cNvPr id="40" name="Text 38"/>
          <p:cNvSpPr/>
          <p:nvPr/>
        </p:nvSpPr>
        <p:spPr>
          <a:xfrm>
            <a:off x="4846320" y="315468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Insurance pend</a:t>
            </a:r>
            <a:endParaRPr lang="en-US" sz="750" dirty="0"/>
          </a:p>
        </p:txBody>
      </p:sp>
      <p:sp>
        <p:nvSpPr>
          <p:cNvPr id="41" name="Text 39"/>
          <p:cNvSpPr/>
          <p:nvPr/>
        </p:nvSpPr>
        <p:spPr>
          <a:xfrm>
            <a:off x="4846320" y="340614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 Auth sign-off</a:t>
            </a:r>
            <a:endParaRPr lang="en-US" sz="750" dirty="0"/>
          </a:p>
        </p:txBody>
      </p:sp>
      <p:sp>
        <p:nvSpPr>
          <p:cNvPr id="42" name="Text 40"/>
          <p:cNvSpPr/>
          <p:nvPr/>
        </p:nvSpPr>
        <p:spPr>
          <a:xfrm>
            <a:off x="4846320" y="36576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[Activate City]</a:t>
            </a:r>
            <a:endParaRPr lang="en-US" sz="750" dirty="0"/>
          </a:p>
        </p:txBody>
      </p:sp>
      <p:sp>
        <p:nvSpPr>
          <p:cNvPr id="43" name="Text 41"/>
          <p:cNvSpPr/>
          <p:nvPr/>
        </p:nvSpPr>
        <p:spPr>
          <a:xfrm>
            <a:off x="4818888" y="4224528"/>
            <a:ext cx="1828800" cy="2057400"/>
          </a:xfrm>
          <a:prstGeom prst="rect">
            <a:avLst/>
          </a:prstGeom>
          <a:noFill/>
          <a:ln/>
        </p:spPr>
        <p:txBody>
          <a:bodyPr wrap="square" rtlCol="0" anchor="ctr"/>
          <a:lstStyle/>
          <a:p>
            <a:pPr indent="0" marL="0">
              <a:buNone/>
            </a:pPr>
            <a:r>
              <a:rPr lang="en-US" sz="950" dirty="0">
                <a:solidFill>
                  <a:srgbClr val="4B6B5A"/>
                </a:solidFill>
                <a:latin typeface="Calibri" pitchFamily="34" charset="0"/>
                <a:ea typeface="Calibri" pitchFamily="34" charset="-122"/>
                <a:cs typeface="Calibri" pitchFamily="34" charset="-120"/>
              </a:rPr>
              <a:t>Machine-enforced gate: 4/7 items in example. Required vs Optional items. Activate City button locks until required items pass. Progress bar shows 57% completion.</a:t>
            </a:r>
            <a:endParaRPr lang="en-US" sz="950" dirty="0"/>
          </a:p>
        </p:txBody>
      </p:sp>
      <p:sp>
        <p:nvSpPr>
          <p:cNvPr id="44" name="Shape 42"/>
          <p:cNvSpPr/>
          <p:nvPr/>
        </p:nvSpPr>
        <p:spPr>
          <a:xfrm>
            <a:off x="6903720" y="1234440"/>
            <a:ext cx="2057400" cy="5166360"/>
          </a:xfrm>
          <a:prstGeom prst="rect">
            <a:avLst/>
          </a:prstGeom>
          <a:solidFill>
            <a:srgbClr val="FFFFFF"/>
          </a:solidFill>
          <a:ln w="12700">
            <a:solidFill>
              <a:srgbClr val="C8E8D8"/>
            </a:solidFill>
            <a:prstDash val="solid"/>
          </a:ln>
          <a:effectLst>
            <a:outerShdw sx="100000" sy="100000" kx="0" ky="0" algn="bl" rotWithShape="0" blurRad="50800" dist="25400" dir="2700000">
              <a:srgbClr val="000000">
                <a:alpha val="14000"/>
              </a:srgbClr>
            </a:outerShdw>
          </a:effectLst>
        </p:spPr>
      </p:sp>
      <p:sp>
        <p:nvSpPr>
          <p:cNvPr id="45" name="Shape 43"/>
          <p:cNvSpPr/>
          <p:nvPr/>
        </p:nvSpPr>
        <p:spPr>
          <a:xfrm>
            <a:off x="6903720" y="1234440"/>
            <a:ext cx="2057400" cy="45720"/>
          </a:xfrm>
          <a:prstGeom prst="rect">
            <a:avLst/>
          </a:prstGeom>
          <a:solidFill>
            <a:srgbClr val="34D186"/>
          </a:solidFill>
          <a:ln/>
        </p:spPr>
      </p:sp>
      <p:sp>
        <p:nvSpPr>
          <p:cNvPr id="46" name="Text 44"/>
          <p:cNvSpPr/>
          <p:nvPr/>
        </p:nvSpPr>
        <p:spPr>
          <a:xfrm>
            <a:off x="7013448" y="1325880"/>
            <a:ext cx="914400" cy="256032"/>
          </a:xfrm>
          <a:prstGeom prst="rect">
            <a:avLst/>
          </a:prstGeom>
          <a:noFill/>
          <a:ln/>
        </p:spPr>
        <p:txBody>
          <a:bodyPr wrap="square" rtlCol="0" anchor="ctr"/>
          <a:lstStyle/>
          <a:p>
            <a:pPr indent="0" marL="0">
              <a:buNone/>
            </a:pPr>
            <a:r>
              <a:rPr lang="en-US" sz="900" b="1" spc="100" kern="0" dirty="0">
                <a:solidFill>
                  <a:srgbClr val="34D186"/>
                </a:solidFill>
                <a:latin typeface="Calibri" pitchFamily="34" charset="0"/>
                <a:ea typeface="Calibri" pitchFamily="34" charset="-122"/>
                <a:cs typeface="Calibri" pitchFamily="34" charset="-120"/>
              </a:rPr>
              <a:t>04</a:t>
            </a:r>
            <a:endParaRPr lang="en-US" sz="900" dirty="0"/>
          </a:p>
        </p:txBody>
      </p:sp>
      <p:sp>
        <p:nvSpPr>
          <p:cNvPr id="47" name="Text 45"/>
          <p:cNvSpPr/>
          <p:nvPr/>
        </p:nvSpPr>
        <p:spPr>
          <a:xfrm>
            <a:off x="7013448" y="1572768"/>
            <a:ext cx="1828800" cy="475488"/>
          </a:xfrm>
          <a:prstGeom prst="rect">
            <a:avLst/>
          </a:prstGeom>
          <a:noFill/>
          <a:ln/>
        </p:spPr>
        <p:txBody>
          <a:bodyPr wrap="square" rtlCol="0" anchor="ctr"/>
          <a:lstStyle/>
          <a:p>
            <a:pPr indent="0" marL="0">
              <a:buNone/>
            </a:pPr>
            <a:r>
              <a:rPr lang="en-US" sz="1200" b="1" dirty="0">
                <a:solidFill>
                  <a:srgbClr val="0D1A10"/>
                </a:solidFill>
                <a:latin typeface="Calibri" pitchFamily="34" charset="0"/>
                <a:ea typeface="Calibri" pitchFamily="34" charset="-122"/>
                <a:cs typeface="Calibri" pitchFamily="34" charset="-120"/>
              </a:rPr>
              <a:t>Compliance Health</a:t>
            </a:r>
            <a:endParaRPr lang="en-US" sz="1200" dirty="0"/>
          </a:p>
        </p:txBody>
      </p:sp>
      <p:sp>
        <p:nvSpPr>
          <p:cNvPr id="48" name="Shape 46"/>
          <p:cNvSpPr/>
          <p:nvPr/>
        </p:nvSpPr>
        <p:spPr>
          <a:xfrm>
            <a:off x="7013448" y="2121408"/>
            <a:ext cx="1828800" cy="2011680"/>
          </a:xfrm>
          <a:prstGeom prst="rect">
            <a:avLst/>
          </a:prstGeom>
          <a:solidFill>
            <a:srgbClr val="0D1A10"/>
          </a:solidFill>
          <a:ln w="12700">
            <a:solidFill>
              <a:srgbClr val="1E3422"/>
            </a:solidFill>
            <a:prstDash val="solid"/>
          </a:ln>
        </p:spPr>
      </p:sp>
      <p:sp>
        <p:nvSpPr>
          <p:cNvPr id="49" name="Text 47"/>
          <p:cNvSpPr/>
          <p:nvPr/>
        </p:nvSpPr>
        <p:spPr>
          <a:xfrm>
            <a:off x="7040880" y="2148840"/>
            <a:ext cx="1783080" cy="237744"/>
          </a:xfrm>
          <a:prstGeom prst="rect">
            <a:avLst/>
          </a:prstGeom>
          <a:noFill/>
          <a:ln/>
        </p:spPr>
        <p:txBody>
          <a:bodyPr wrap="square" rtlCol="0" anchor="ctr"/>
          <a:lstStyle/>
          <a:p>
            <a:pPr indent="0" marL="0">
              <a:buNone/>
            </a:pPr>
            <a:r>
              <a:rPr lang="en-US" sz="750" b="1" dirty="0">
                <a:solidFill>
                  <a:srgbClr val="34D186"/>
                </a:solidFill>
                <a:latin typeface="Courier New" pitchFamily="34" charset="0"/>
                <a:ea typeface="Courier New" pitchFamily="34" charset="-122"/>
                <a:cs typeface="Courier New" pitchFamily="34" charset="-120"/>
              </a:rPr>
              <a:t>╔══════════╗</a:t>
            </a:r>
            <a:endParaRPr lang="en-US" sz="750" dirty="0"/>
          </a:p>
        </p:txBody>
      </p:sp>
      <p:sp>
        <p:nvSpPr>
          <p:cNvPr id="50" name="Text 48"/>
          <p:cNvSpPr/>
          <p:nvPr/>
        </p:nvSpPr>
        <p:spPr>
          <a:xfrm>
            <a:off x="7040880" y="24003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Compliance Health</a:t>
            </a:r>
            <a:endParaRPr lang="en-US" sz="750" dirty="0"/>
          </a:p>
        </p:txBody>
      </p:sp>
      <p:sp>
        <p:nvSpPr>
          <p:cNvPr id="51" name="Text 49"/>
          <p:cNvSpPr/>
          <p:nvPr/>
        </p:nvSpPr>
        <p:spPr>
          <a:xfrm>
            <a:off x="7040880" y="265176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t>
            </a:r>
            <a:endParaRPr lang="en-US" sz="750" dirty="0"/>
          </a:p>
        </p:txBody>
      </p:sp>
      <p:sp>
        <p:nvSpPr>
          <p:cNvPr id="52" name="Text 50"/>
          <p:cNvSpPr/>
          <p:nvPr/>
        </p:nvSpPr>
        <p:spPr>
          <a:xfrm>
            <a:off x="7040880" y="290322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14 cities active</a:t>
            </a:r>
            <a:endParaRPr lang="en-US" sz="750" dirty="0"/>
          </a:p>
        </p:txBody>
      </p:sp>
      <p:sp>
        <p:nvSpPr>
          <p:cNvPr id="53" name="Text 51"/>
          <p:cNvSpPr/>
          <p:nvPr/>
        </p:nvSpPr>
        <p:spPr>
          <a:xfrm>
            <a:off x="7040880" y="315468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Avg Score: 84</a:t>
            </a:r>
            <a:endParaRPr lang="en-US" sz="750" dirty="0"/>
          </a:p>
        </p:txBody>
      </p:sp>
      <p:sp>
        <p:nvSpPr>
          <p:cNvPr id="54" name="Text 52"/>
          <p:cNvSpPr/>
          <p:nvPr/>
        </p:nvSpPr>
        <p:spPr>
          <a:xfrm>
            <a:off x="7040880" y="340614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🇵🇱91 🇷🇴88 🇳🇬61</a:t>
            </a:r>
            <a:endParaRPr lang="en-US" sz="750" dirty="0"/>
          </a:p>
        </p:txBody>
      </p:sp>
      <p:sp>
        <p:nvSpPr>
          <p:cNvPr id="55" name="Text 53"/>
          <p:cNvSpPr/>
          <p:nvPr/>
        </p:nvSpPr>
        <p:spPr>
          <a:xfrm>
            <a:off x="7040880" y="3657600"/>
            <a:ext cx="1783080" cy="237744"/>
          </a:xfrm>
          <a:prstGeom prst="rect">
            <a:avLst/>
          </a:prstGeom>
          <a:noFill/>
          <a:ln/>
        </p:spPr>
        <p:txBody>
          <a:bodyPr wrap="square" rtlCol="0" anchor="ctr"/>
          <a:lstStyle/>
          <a:p>
            <a:pPr indent="0" marL="0">
              <a:buNone/>
            </a:pPr>
            <a:r>
              <a:rPr lang="en-US" sz="750" dirty="0">
                <a:solidFill>
                  <a:srgbClr val="86EFAC"/>
                </a:solidFill>
                <a:latin typeface="Courier New" pitchFamily="34" charset="0"/>
                <a:ea typeface="Courier New" pitchFamily="34" charset="-122"/>
                <a:cs typeface="Courier New" pitchFamily="34" charset="-120"/>
              </a:rPr>
              <a:t>[Export PDF]</a:t>
            </a:r>
            <a:endParaRPr lang="en-US" sz="750" dirty="0"/>
          </a:p>
        </p:txBody>
      </p:sp>
      <p:sp>
        <p:nvSpPr>
          <p:cNvPr id="56" name="Text 54"/>
          <p:cNvSpPr/>
          <p:nvPr/>
        </p:nvSpPr>
        <p:spPr>
          <a:xfrm>
            <a:off x="7013448" y="4224528"/>
            <a:ext cx="1828800" cy="2057400"/>
          </a:xfrm>
          <a:prstGeom prst="rect">
            <a:avLst/>
          </a:prstGeom>
          <a:noFill/>
          <a:ln/>
        </p:spPr>
        <p:txBody>
          <a:bodyPr wrap="square" rtlCol="0" anchor="ctr"/>
          <a:lstStyle/>
          <a:p>
            <a:pPr indent="0" marL="0">
              <a:buNone/>
            </a:pPr>
            <a:r>
              <a:rPr lang="en-US" sz="950" dirty="0">
                <a:solidFill>
                  <a:srgbClr val="4B6B5A"/>
                </a:solidFill>
                <a:latin typeface="Calibri" pitchFamily="34" charset="0"/>
                <a:ea typeface="Calibri" pitchFamily="34" charset="-122"/>
                <a:cs typeface="Calibri" pitchFamily="34" charset="-120"/>
              </a:rPr>
              <a:t>4 KPI cards: 14 active cities, 84% score, 3-day launch avg, 0 eng cost. City score cards with ring charts. Global breakdown bars.</a:t>
            </a:r>
            <a:endParaRPr lang="en-US" sz="950" dirty="0"/>
          </a:p>
        </p:txBody>
      </p:sp>
      <p:sp>
        <p:nvSpPr>
          <p:cNvPr id="57" name="Text 55"/>
          <p:cNvSpPr/>
          <p:nvPr/>
        </p:nvSpPr>
        <p:spPr>
          <a:xfrm>
            <a:off x="320040" y="6510528"/>
            <a:ext cx="8503920" cy="201168"/>
          </a:xfrm>
          <a:prstGeom prst="rect">
            <a:avLst/>
          </a:prstGeom>
          <a:noFill/>
          <a:ln/>
        </p:spPr>
        <p:txBody>
          <a:bodyPr wrap="square" rtlCol="0" anchor="ctr"/>
          <a:lstStyle/>
          <a:p>
            <a:pPr indent="0" marL="0">
              <a:buNone/>
            </a:pPr>
            <a:r>
              <a:rPr lang="en-US" sz="850" i="1" dirty="0">
                <a:solidFill>
                  <a:srgbClr val="687A70"/>
                </a:solidFill>
                <a:latin typeface="Calibri" pitchFamily="34" charset="0"/>
                <a:ea typeface="Calibri" pitchFamily="34" charset="-122"/>
                <a:cs typeface="Calibri" pitchFamily="34" charset="-120"/>
              </a:rPr>
              <a:t>Prototype: bolt-launchkit-prototype.html · All 4 states interactive · Toggles + sliders live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A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IMPACT &amp; ROI</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PhonePe Self-Serve Platform Proof — Applied to City Launch</a:t>
            </a:r>
            <a:endParaRPr lang="en-US" sz="2200" dirty="0"/>
          </a:p>
        </p:txBody>
      </p:sp>
      <p:sp>
        <p:nvSpPr>
          <p:cNvPr id="5" name="Shape 3"/>
          <p:cNvSpPr/>
          <p:nvPr/>
        </p:nvSpPr>
        <p:spPr>
          <a:xfrm>
            <a:off x="320040" y="1234440"/>
            <a:ext cx="4114800" cy="347472"/>
          </a:xfrm>
          <a:prstGeom prst="rect">
            <a:avLst/>
          </a:prstGeom>
          <a:solidFill>
            <a:srgbClr val="34D186"/>
          </a:solidFill>
          <a:ln/>
        </p:spPr>
      </p:sp>
      <p:sp>
        <p:nvSpPr>
          <p:cNvPr id="6" name="Text 4"/>
          <p:cNvSpPr/>
          <p:nvPr/>
        </p:nvSpPr>
        <p:spPr>
          <a:xfrm>
            <a:off x="320040" y="1252728"/>
            <a:ext cx="4114800" cy="310896"/>
          </a:xfrm>
          <a:prstGeom prst="rect">
            <a:avLst/>
          </a:prstGeom>
          <a:noFill/>
          <a:ln/>
        </p:spPr>
        <p:txBody>
          <a:bodyPr wrap="square" rtlCol="0" anchor="ctr"/>
          <a:lstStyle/>
          <a:p>
            <a:pPr algn="ctr" indent="0" marL="0">
              <a:buNone/>
            </a:pPr>
            <a:r>
              <a:rPr lang="en-US" sz="1000" b="1" spc="150" kern="0" dirty="0">
                <a:solidFill>
                  <a:srgbClr val="000000"/>
                </a:solidFill>
                <a:latin typeface="Calibri" pitchFamily="34" charset="0"/>
                <a:ea typeface="Calibri" pitchFamily="34" charset="-122"/>
                <a:cs typeface="Calibri" pitchFamily="34" charset="-120"/>
              </a:rPr>
              <a:t>OPS / LAUNCH VELOCITY IMPACT</a:t>
            </a:r>
            <a:endParaRPr lang="en-US" sz="1000" dirty="0"/>
          </a:p>
        </p:txBody>
      </p:sp>
      <p:sp>
        <p:nvSpPr>
          <p:cNvPr id="7" name="Shape 5"/>
          <p:cNvSpPr/>
          <p:nvPr/>
        </p:nvSpPr>
        <p:spPr>
          <a:xfrm>
            <a:off x="4709160" y="1234440"/>
            <a:ext cx="4114800" cy="347472"/>
          </a:xfrm>
          <a:prstGeom prst="rect">
            <a:avLst/>
          </a:prstGeom>
          <a:solidFill>
            <a:srgbClr val="2C1A00"/>
          </a:solidFill>
          <a:ln w="12700">
            <a:solidFill>
              <a:srgbClr val="F59E0B"/>
            </a:solidFill>
            <a:prstDash val="solid"/>
          </a:ln>
        </p:spPr>
      </p:sp>
      <p:sp>
        <p:nvSpPr>
          <p:cNvPr id="8" name="Text 6"/>
          <p:cNvSpPr/>
          <p:nvPr/>
        </p:nvSpPr>
        <p:spPr>
          <a:xfrm>
            <a:off x="4709160" y="1252728"/>
            <a:ext cx="4114800" cy="310896"/>
          </a:xfrm>
          <a:prstGeom prst="rect">
            <a:avLst/>
          </a:prstGeom>
          <a:noFill/>
          <a:ln/>
        </p:spPr>
        <p:txBody>
          <a:bodyPr wrap="square" rtlCol="0" anchor="ctr"/>
          <a:lstStyle/>
          <a:p>
            <a:pPr algn="ctr" indent="0" marL="0">
              <a:buNone/>
            </a:pPr>
            <a:r>
              <a:rPr lang="en-US" sz="1000" b="1" spc="150" kern="0" dirty="0">
                <a:solidFill>
                  <a:srgbClr val="F59E0B"/>
                </a:solidFill>
                <a:latin typeface="Calibri" pitchFamily="34" charset="0"/>
                <a:ea typeface="Calibri" pitchFamily="34" charset="-122"/>
                <a:cs typeface="Calibri" pitchFamily="34" charset="-120"/>
              </a:rPr>
              <a:t>BUSINESS / EXPANSION ROI</a:t>
            </a:r>
            <a:endParaRPr lang="en-US" sz="1000" dirty="0"/>
          </a:p>
        </p:txBody>
      </p:sp>
      <p:sp>
        <p:nvSpPr>
          <p:cNvPr id="9" name="Shape 7"/>
          <p:cNvSpPr/>
          <p:nvPr/>
        </p:nvSpPr>
        <p:spPr>
          <a:xfrm>
            <a:off x="320040" y="1737360"/>
            <a:ext cx="4114800" cy="1051560"/>
          </a:xfrm>
          <a:prstGeom prst="rect">
            <a:avLst/>
          </a:prstGeom>
          <a:solidFill>
            <a:srgbClr val="162815"/>
          </a:solidFill>
          <a:ln w="12700">
            <a:solidFill>
              <a:srgbClr val="1E3422"/>
            </a:solidFill>
            <a:prstDash val="solid"/>
          </a:ln>
        </p:spPr>
      </p:sp>
      <p:sp>
        <p:nvSpPr>
          <p:cNvPr id="10" name="Text 8"/>
          <p:cNvSpPr/>
          <p:nvPr/>
        </p:nvSpPr>
        <p:spPr>
          <a:xfrm>
            <a:off x="457200" y="1810512"/>
            <a:ext cx="1645920" cy="502920"/>
          </a:xfrm>
          <a:prstGeom prst="rect">
            <a:avLst/>
          </a:prstGeom>
          <a:noFill/>
          <a:ln/>
        </p:spPr>
        <p:txBody>
          <a:bodyPr wrap="square" rtlCol="0" anchor="ctr"/>
          <a:lstStyle/>
          <a:p>
            <a:pPr indent="0" marL="0">
              <a:buNone/>
            </a:pPr>
            <a:r>
              <a:rPr lang="en-US" sz="3200" b="1" dirty="0">
                <a:solidFill>
                  <a:srgbClr val="F59E0B"/>
                </a:solidFill>
                <a:latin typeface="Calibri" pitchFamily="34" charset="0"/>
                <a:ea typeface="Calibri" pitchFamily="34" charset="-122"/>
                <a:cs typeface="Calibri" pitchFamily="34" charset="-120"/>
              </a:rPr>
              <a:t>3 days</a:t>
            </a:r>
            <a:endParaRPr lang="en-US" sz="3200" dirty="0"/>
          </a:p>
        </p:txBody>
      </p:sp>
      <p:sp>
        <p:nvSpPr>
          <p:cNvPr id="11" name="Text 9"/>
          <p:cNvSpPr/>
          <p:nvPr/>
        </p:nvSpPr>
        <p:spPr>
          <a:xfrm>
            <a:off x="457200" y="2286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Avg city launch time</a:t>
            </a:r>
            <a:endParaRPr lang="en-US" sz="1200" dirty="0"/>
          </a:p>
        </p:txBody>
      </p:sp>
      <p:sp>
        <p:nvSpPr>
          <p:cNvPr id="12" name="Text 10"/>
          <p:cNvSpPr/>
          <p:nvPr/>
        </p:nvSpPr>
        <p:spPr>
          <a:xfrm>
            <a:off x="457200" y="2496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Down from 6 weeks. 3 days includes city authority docs + test rides — not engineering</a:t>
            </a:r>
            <a:endParaRPr lang="en-US" sz="900" dirty="0"/>
          </a:p>
        </p:txBody>
      </p:sp>
      <p:sp>
        <p:nvSpPr>
          <p:cNvPr id="13" name="Shape 11"/>
          <p:cNvSpPr/>
          <p:nvPr/>
        </p:nvSpPr>
        <p:spPr>
          <a:xfrm>
            <a:off x="320040" y="2880360"/>
            <a:ext cx="4114800" cy="1051560"/>
          </a:xfrm>
          <a:prstGeom prst="rect">
            <a:avLst/>
          </a:prstGeom>
          <a:solidFill>
            <a:srgbClr val="162815"/>
          </a:solidFill>
          <a:ln w="12700">
            <a:solidFill>
              <a:srgbClr val="1E3422"/>
            </a:solidFill>
            <a:prstDash val="solid"/>
          </a:ln>
        </p:spPr>
      </p:sp>
      <p:sp>
        <p:nvSpPr>
          <p:cNvPr id="14" name="Text 12"/>
          <p:cNvSpPr/>
          <p:nvPr/>
        </p:nvSpPr>
        <p:spPr>
          <a:xfrm>
            <a:off x="457200" y="2953512"/>
            <a:ext cx="1645920" cy="502920"/>
          </a:xfrm>
          <a:prstGeom prst="rect">
            <a:avLst/>
          </a:prstGeom>
          <a:noFill/>
          <a:ln/>
        </p:spPr>
        <p:txBody>
          <a:bodyPr wrap="square" rtlCol="0" anchor="ctr"/>
          <a:lstStyle/>
          <a:p>
            <a:pPr indent="0" marL="0">
              <a:buNone/>
            </a:pPr>
            <a:r>
              <a:rPr lang="en-US" sz="3200" b="1" dirty="0">
                <a:solidFill>
                  <a:srgbClr val="F59E0B"/>
                </a:solidFill>
                <a:latin typeface="Calibri" pitchFamily="34" charset="0"/>
                <a:ea typeface="Calibri" pitchFamily="34" charset="-122"/>
                <a:cs typeface="Calibri" pitchFamily="34" charset="-120"/>
              </a:rPr>
              <a:t>−85%</a:t>
            </a:r>
            <a:endParaRPr lang="en-US" sz="3200" dirty="0"/>
          </a:p>
        </p:txBody>
      </p:sp>
      <p:sp>
        <p:nvSpPr>
          <p:cNvPr id="15" name="Text 13"/>
          <p:cNvSpPr/>
          <p:nvPr/>
        </p:nvSpPr>
        <p:spPr>
          <a:xfrm>
            <a:off x="457200" y="3429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Engineering hours per city</a:t>
            </a:r>
            <a:endParaRPr lang="en-US" sz="1200" dirty="0"/>
          </a:p>
        </p:txBody>
      </p:sp>
      <p:sp>
        <p:nvSpPr>
          <p:cNvPr id="16" name="Text 14"/>
          <p:cNvSpPr/>
          <p:nvPr/>
        </p:nvSpPr>
        <p:spPr>
          <a:xfrm>
            <a:off x="457200" y="3639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From ~1 full sprint to near zero. Engineers freed for product features, not config work</a:t>
            </a:r>
            <a:endParaRPr lang="en-US" sz="900" dirty="0"/>
          </a:p>
        </p:txBody>
      </p:sp>
      <p:sp>
        <p:nvSpPr>
          <p:cNvPr id="17" name="Shape 15"/>
          <p:cNvSpPr/>
          <p:nvPr/>
        </p:nvSpPr>
        <p:spPr>
          <a:xfrm>
            <a:off x="320040" y="4023360"/>
            <a:ext cx="4114800" cy="1051560"/>
          </a:xfrm>
          <a:prstGeom prst="rect">
            <a:avLst/>
          </a:prstGeom>
          <a:solidFill>
            <a:srgbClr val="162815"/>
          </a:solidFill>
          <a:ln w="12700">
            <a:solidFill>
              <a:srgbClr val="1E3422"/>
            </a:solidFill>
            <a:prstDash val="solid"/>
          </a:ln>
        </p:spPr>
      </p:sp>
      <p:sp>
        <p:nvSpPr>
          <p:cNvPr id="18" name="Text 16"/>
          <p:cNvSpPr/>
          <p:nvPr/>
        </p:nvSpPr>
        <p:spPr>
          <a:xfrm>
            <a:off x="457200" y="4096512"/>
            <a:ext cx="1645920" cy="502920"/>
          </a:xfrm>
          <a:prstGeom prst="rect">
            <a:avLst/>
          </a:prstGeom>
          <a:noFill/>
          <a:ln/>
        </p:spPr>
        <p:txBody>
          <a:bodyPr wrap="square" rtlCol="0" anchor="ctr"/>
          <a:lstStyle/>
          <a:p>
            <a:pPr indent="0" marL="0">
              <a:buNone/>
            </a:pPr>
            <a:r>
              <a:rPr lang="en-US" sz="3200" b="1" dirty="0">
                <a:solidFill>
                  <a:srgbClr val="F59E0B"/>
                </a:solidFill>
                <a:latin typeface="Calibri" pitchFamily="34" charset="0"/>
                <a:ea typeface="Calibri" pitchFamily="34" charset="-122"/>
                <a:cs typeface="Calibri" pitchFamily="34" charset="-120"/>
              </a:rPr>
              <a:t>€0</a:t>
            </a:r>
            <a:endParaRPr lang="en-US" sz="3200" dirty="0"/>
          </a:p>
        </p:txBody>
      </p:sp>
      <p:sp>
        <p:nvSpPr>
          <p:cNvPr id="19" name="Text 17"/>
          <p:cNvSpPr/>
          <p:nvPr/>
        </p:nvSpPr>
        <p:spPr>
          <a:xfrm>
            <a:off x="457200" y="4572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Incremental eng cost per launch</a:t>
            </a:r>
            <a:endParaRPr lang="en-US" sz="1200" dirty="0"/>
          </a:p>
        </p:txBody>
      </p:sp>
      <p:sp>
        <p:nvSpPr>
          <p:cNvPr id="20" name="Text 18"/>
          <p:cNvSpPr/>
          <p:nvPr/>
        </p:nvSpPr>
        <p:spPr>
          <a:xfrm>
            <a:off x="457200" y="4782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LaunchKit amortizes over all city launches. Marginal cost of each new city = zero</a:t>
            </a:r>
            <a:endParaRPr lang="en-US" sz="900" dirty="0"/>
          </a:p>
        </p:txBody>
      </p:sp>
      <p:sp>
        <p:nvSpPr>
          <p:cNvPr id="21" name="Shape 19"/>
          <p:cNvSpPr/>
          <p:nvPr/>
        </p:nvSpPr>
        <p:spPr>
          <a:xfrm>
            <a:off x="320040" y="5166360"/>
            <a:ext cx="4114800" cy="1051560"/>
          </a:xfrm>
          <a:prstGeom prst="rect">
            <a:avLst/>
          </a:prstGeom>
          <a:solidFill>
            <a:srgbClr val="162815"/>
          </a:solidFill>
          <a:ln w="12700">
            <a:solidFill>
              <a:srgbClr val="1E3422"/>
            </a:solidFill>
            <a:prstDash val="solid"/>
          </a:ln>
        </p:spPr>
      </p:sp>
      <p:sp>
        <p:nvSpPr>
          <p:cNvPr id="22" name="Text 20"/>
          <p:cNvSpPr/>
          <p:nvPr/>
        </p:nvSpPr>
        <p:spPr>
          <a:xfrm>
            <a:off x="457200" y="5239512"/>
            <a:ext cx="1645920" cy="502920"/>
          </a:xfrm>
          <a:prstGeom prst="rect">
            <a:avLst/>
          </a:prstGeom>
          <a:noFill/>
          <a:ln/>
        </p:spPr>
        <p:txBody>
          <a:bodyPr wrap="square" rtlCol="0" anchor="ctr"/>
          <a:lstStyle/>
          <a:p>
            <a:pPr indent="0" marL="0">
              <a:buNone/>
            </a:pPr>
            <a:r>
              <a:rPr lang="en-US" sz="3200" b="1" dirty="0">
                <a:solidFill>
                  <a:srgbClr val="F59E0B"/>
                </a:solidFill>
                <a:latin typeface="Calibri" pitchFamily="34" charset="0"/>
                <a:ea typeface="Calibri" pitchFamily="34" charset="-122"/>
                <a:cs typeface="Calibri" pitchFamily="34" charset="-120"/>
              </a:rPr>
              <a:t>+40%</a:t>
            </a:r>
            <a:endParaRPr lang="en-US" sz="3200" dirty="0"/>
          </a:p>
        </p:txBody>
      </p:sp>
      <p:sp>
        <p:nvSpPr>
          <p:cNvPr id="23" name="Text 21"/>
          <p:cNvSpPr/>
          <p:nvPr/>
        </p:nvSpPr>
        <p:spPr>
          <a:xfrm>
            <a:off x="457200" y="5715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Cities launched per quarter</a:t>
            </a:r>
            <a:endParaRPr lang="en-US" sz="1200" dirty="0"/>
          </a:p>
        </p:txBody>
      </p:sp>
      <p:sp>
        <p:nvSpPr>
          <p:cNvPr id="24" name="Text 22"/>
          <p:cNvSpPr/>
          <p:nvPr/>
        </p:nvSpPr>
        <p:spPr>
          <a:xfrm>
            <a:off x="457200" y="5925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BD closes more contracts; ops can now configure at the speed of business development</a:t>
            </a:r>
            <a:endParaRPr lang="en-US" sz="900" dirty="0"/>
          </a:p>
        </p:txBody>
      </p:sp>
      <p:sp>
        <p:nvSpPr>
          <p:cNvPr id="25" name="Shape 23"/>
          <p:cNvSpPr/>
          <p:nvPr/>
        </p:nvSpPr>
        <p:spPr>
          <a:xfrm>
            <a:off x="4709160" y="1737360"/>
            <a:ext cx="4114800" cy="1051560"/>
          </a:xfrm>
          <a:prstGeom prst="rect">
            <a:avLst/>
          </a:prstGeom>
          <a:solidFill>
            <a:srgbClr val="1F1200"/>
          </a:solidFill>
          <a:ln w="12700">
            <a:solidFill>
              <a:srgbClr val="4A3300"/>
            </a:solidFill>
            <a:prstDash val="solid"/>
          </a:ln>
        </p:spPr>
      </p:sp>
      <p:sp>
        <p:nvSpPr>
          <p:cNvPr id="26" name="Text 24"/>
          <p:cNvSpPr/>
          <p:nvPr/>
        </p:nvSpPr>
        <p:spPr>
          <a:xfrm>
            <a:off x="4846320" y="1810512"/>
            <a:ext cx="1645920" cy="502920"/>
          </a:xfrm>
          <a:prstGeom prst="rect">
            <a:avLst/>
          </a:prstGeom>
          <a:noFill/>
          <a:ln/>
        </p:spPr>
        <p:txBody>
          <a:bodyPr wrap="square" rtlCol="0" anchor="ctr"/>
          <a:lstStyle/>
          <a:p>
            <a:pPr indent="0" marL="0">
              <a:buNone/>
            </a:pPr>
            <a:r>
              <a:rPr lang="en-US" sz="3200" b="1" dirty="0">
                <a:solidFill>
                  <a:srgbClr val="F59E0B"/>
                </a:solidFill>
                <a:latin typeface="Calibri" pitchFamily="34" charset="0"/>
                <a:ea typeface="Calibri" pitchFamily="34" charset="-122"/>
                <a:cs typeface="Calibri" pitchFamily="34" charset="-120"/>
              </a:rPr>
              <a:t>+18%</a:t>
            </a:r>
            <a:endParaRPr lang="en-US" sz="3200" dirty="0"/>
          </a:p>
        </p:txBody>
      </p:sp>
      <p:sp>
        <p:nvSpPr>
          <p:cNvPr id="27" name="Text 25"/>
          <p:cNvSpPr/>
          <p:nvPr/>
        </p:nvSpPr>
        <p:spPr>
          <a:xfrm>
            <a:off x="4846320" y="2286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Revenue from faster launches</a:t>
            </a:r>
            <a:endParaRPr lang="en-US" sz="1200" dirty="0"/>
          </a:p>
        </p:txBody>
      </p:sp>
      <p:sp>
        <p:nvSpPr>
          <p:cNvPr id="28" name="Text 26"/>
          <p:cNvSpPr/>
          <p:nvPr/>
        </p:nvSpPr>
        <p:spPr>
          <a:xfrm>
            <a:off x="4846320" y="2496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Each city delayed by 1 week = ~18% of that quarter revenue. 3 days vs 6 weeks = significant rev recovery</a:t>
            </a:r>
            <a:endParaRPr lang="en-US" sz="900" dirty="0"/>
          </a:p>
        </p:txBody>
      </p:sp>
      <p:sp>
        <p:nvSpPr>
          <p:cNvPr id="29" name="Shape 27"/>
          <p:cNvSpPr/>
          <p:nvPr/>
        </p:nvSpPr>
        <p:spPr>
          <a:xfrm>
            <a:off x="4709160" y="2880360"/>
            <a:ext cx="4114800" cy="1051560"/>
          </a:xfrm>
          <a:prstGeom prst="rect">
            <a:avLst/>
          </a:prstGeom>
          <a:solidFill>
            <a:srgbClr val="1F1200"/>
          </a:solidFill>
          <a:ln w="12700">
            <a:solidFill>
              <a:srgbClr val="4A3300"/>
            </a:solidFill>
            <a:prstDash val="solid"/>
          </a:ln>
        </p:spPr>
      </p:sp>
      <p:sp>
        <p:nvSpPr>
          <p:cNvPr id="30" name="Text 28"/>
          <p:cNvSpPr/>
          <p:nvPr/>
        </p:nvSpPr>
        <p:spPr>
          <a:xfrm>
            <a:off x="4846320" y="2953512"/>
            <a:ext cx="1645920" cy="502920"/>
          </a:xfrm>
          <a:prstGeom prst="rect">
            <a:avLst/>
          </a:prstGeom>
          <a:noFill/>
          <a:ln/>
        </p:spPr>
        <p:txBody>
          <a:bodyPr wrap="square" rtlCol="0" anchor="ctr"/>
          <a:lstStyle/>
          <a:p>
            <a:pPr indent="0" marL="0">
              <a:buNone/>
            </a:pPr>
            <a:r>
              <a:rPr lang="en-US" sz="3200" b="1" dirty="0">
                <a:solidFill>
                  <a:srgbClr val="F59E0B"/>
                </a:solidFill>
                <a:latin typeface="Calibri" pitchFamily="34" charset="0"/>
                <a:ea typeface="Calibri" pitchFamily="34" charset="-122"/>
                <a:cs typeface="Calibri" pitchFamily="34" charset="-120"/>
              </a:rPr>
              <a:t>×3</a:t>
            </a:r>
            <a:endParaRPr lang="en-US" sz="3200" dirty="0"/>
          </a:p>
        </p:txBody>
      </p:sp>
      <p:sp>
        <p:nvSpPr>
          <p:cNvPr id="31" name="Text 29"/>
          <p:cNvSpPr/>
          <p:nvPr/>
        </p:nvSpPr>
        <p:spPr>
          <a:xfrm>
            <a:off x="4846320" y="3429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Expansion team leverage</a:t>
            </a:r>
            <a:endParaRPr lang="en-US" sz="1200" dirty="0"/>
          </a:p>
        </p:txBody>
      </p:sp>
      <p:sp>
        <p:nvSpPr>
          <p:cNvPr id="32" name="Text 30"/>
          <p:cNvSpPr/>
          <p:nvPr/>
        </p:nvSpPr>
        <p:spPr>
          <a:xfrm>
            <a:off x="4846320" y="3639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Same ops team can manage 3x city launches with LaunchKit vs manual config process</a:t>
            </a:r>
            <a:endParaRPr lang="en-US" sz="900" dirty="0"/>
          </a:p>
        </p:txBody>
      </p:sp>
      <p:sp>
        <p:nvSpPr>
          <p:cNvPr id="33" name="Shape 31"/>
          <p:cNvSpPr/>
          <p:nvPr/>
        </p:nvSpPr>
        <p:spPr>
          <a:xfrm>
            <a:off x="4709160" y="4023360"/>
            <a:ext cx="4114800" cy="1051560"/>
          </a:xfrm>
          <a:prstGeom prst="rect">
            <a:avLst/>
          </a:prstGeom>
          <a:solidFill>
            <a:srgbClr val="1F1200"/>
          </a:solidFill>
          <a:ln w="12700">
            <a:solidFill>
              <a:srgbClr val="4A3300"/>
            </a:solidFill>
            <a:prstDash val="solid"/>
          </a:ln>
        </p:spPr>
      </p:sp>
      <p:sp>
        <p:nvSpPr>
          <p:cNvPr id="34" name="Text 32"/>
          <p:cNvSpPr/>
          <p:nvPr/>
        </p:nvSpPr>
        <p:spPr>
          <a:xfrm>
            <a:off x="4846320" y="4096512"/>
            <a:ext cx="1645920" cy="502920"/>
          </a:xfrm>
          <a:prstGeom prst="rect">
            <a:avLst/>
          </a:prstGeom>
          <a:noFill/>
          <a:ln/>
        </p:spPr>
        <p:txBody>
          <a:bodyPr wrap="square" rtlCol="0" anchor="ctr"/>
          <a:lstStyle/>
          <a:p>
            <a:pPr indent="0" marL="0">
              <a:buNone/>
            </a:pPr>
            <a:r>
              <a:rPr lang="en-US" sz="3200" b="1" dirty="0">
                <a:solidFill>
                  <a:srgbClr val="F59E0B"/>
                </a:solidFill>
                <a:latin typeface="Calibri" pitchFamily="34" charset="0"/>
                <a:ea typeface="Calibri" pitchFamily="34" charset="-122"/>
                <a:cs typeface="Calibri" pitchFamily="34" charset="-120"/>
              </a:rPr>
              <a:t>84%</a:t>
            </a:r>
            <a:endParaRPr lang="en-US" sz="3200" dirty="0"/>
          </a:p>
        </p:txBody>
      </p:sp>
      <p:sp>
        <p:nvSpPr>
          <p:cNvPr id="35" name="Text 33"/>
          <p:cNvSpPr/>
          <p:nvPr/>
        </p:nvSpPr>
        <p:spPr>
          <a:xfrm>
            <a:off x="4846320" y="4572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Avg compliance score (LaunchKit cities)</a:t>
            </a:r>
            <a:endParaRPr lang="en-US" sz="1200" dirty="0"/>
          </a:p>
        </p:txBody>
      </p:sp>
      <p:sp>
        <p:nvSpPr>
          <p:cNvPr id="36" name="Text 34"/>
          <p:cNvSpPr/>
          <p:nvPr/>
        </p:nvSpPr>
        <p:spPr>
          <a:xfrm>
            <a:off x="4846320" y="4782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Pre-configured rule templates from peer cities = higher first-week compliance than hand-coded configs</a:t>
            </a:r>
            <a:endParaRPr lang="en-US" sz="900" dirty="0"/>
          </a:p>
        </p:txBody>
      </p:sp>
      <p:sp>
        <p:nvSpPr>
          <p:cNvPr id="37" name="Shape 35"/>
          <p:cNvSpPr/>
          <p:nvPr/>
        </p:nvSpPr>
        <p:spPr>
          <a:xfrm>
            <a:off x="4709160" y="5166360"/>
            <a:ext cx="4114800" cy="1051560"/>
          </a:xfrm>
          <a:prstGeom prst="rect">
            <a:avLst/>
          </a:prstGeom>
          <a:solidFill>
            <a:srgbClr val="1F1200"/>
          </a:solidFill>
          <a:ln w="12700">
            <a:solidFill>
              <a:srgbClr val="4A3300"/>
            </a:solidFill>
            <a:prstDash val="solid"/>
          </a:ln>
        </p:spPr>
      </p:sp>
      <p:sp>
        <p:nvSpPr>
          <p:cNvPr id="38" name="Text 36"/>
          <p:cNvSpPr/>
          <p:nvPr/>
        </p:nvSpPr>
        <p:spPr>
          <a:xfrm>
            <a:off x="4846320" y="5239512"/>
            <a:ext cx="1645920" cy="502920"/>
          </a:xfrm>
          <a:prstGeom prst="rect">
            <a:avLst/>
          </a:prstGeom>
          <a:noFill/>
          <a:ln/>
        </p:spPr>
        <p:txBody>
          <a:bodyPr wrap="square" rtlCol="0" anchor="ctr"/>
          <a:lstStyle/>
          <a:p>
            <a:pPr indent="0" marL="0">
              <a:buNone/>
            </a:pPr>
            <a:r>
              <a:rPr lang="en-US" sz="3200" b="1" dirty="0">
                <a:solidFill>
                  <a:srgbClr val="F59E0B"/>
                </a:solidFill>
                <a:latin typeface="Calibri" pitchFamily="34" charset="0"/>
                <a:ea typeface="Calibri" pitchFamily="34" charset="-122"/>
                <a:cs typeface="Calibri" pitchFamily="34" charset="-120"/>
              </a:rPr>
              <a:t>Tenders</a:t>
            </a:r>
            <a:endParaRPr lang="en-US" sz="3200" dirty="0"/>
          </a:p>
        </p:txBody>
      </p:sp>
      <p:sp>
        <p:nvSpPr>
          <p:cNvPr id="39" name="Text 37"/>
          <p:cNvSpPr/>
          <p:nvPr/>
        </p:nvSpPr>
        <p:spPr>
          <a:xfrm>
            <a:off x="4846320" y="5715000"/>
            <a:ext cx="374904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Compliance health exportable for tenders</a:t>
            </a:r>
            <a:endParaRPr lang="en-US" sz="1200" dirty="0"/>
          </a:p>
        </p:txBody>
      </p:sp>
      <p:sp>
        <p:nvSpPr>
          <p:cNvPr id="40" name="Text 38"/>
          <p:cNvSpPr/>
          <p:nvPr/>
        </p:nvSpPr>
        <p:spPr>
          <a:xfrm>
            <a:off x="4846320" y="5925312"/>
            <a:ext cx="3749040" cy="256032"/>
          </a:xfrm>
          <a:prstGeom prst="rect">
            <a:avLst/>
          </a:prstGeom>
          <a:noFill/>
          <a:ln/>
        </p:spPr>
        <p:txBody>
          <a:bodyPr wrap="square" rtlCol="0" anchor="ctr"/>
          <a:lstStyle/>
          <a:p>
            <a:pPr indent="0" marL="0">
              <a:buNone/>
            </a:pPr>
            <a:r>
              <a:rPr lang="en-US" sz="900" dirty="0">
                <a:solidFill>
                  <a:srgbClr val="687A70"/>
                </a:solidFill>
                <a:latin typeface="Calibri" pitchFamily="34" charset="0"/>
                <a:ea typeface="Calibri" pitchFamily="34" charset="-122"/>
                <a:cs typeface="Calibri" pitchFamily="34" charset="-120"/>
              </a:rPr>
              <a:t>LaunchKit data feeds CityScore. Every city has a compliance PDF ready for city authority review</a:t>
            </a:r>
            <a:endParaRPr lang="en-US" sz="900" dirty="0"/>
          </a:p>
        </p:txBody>
      </p:sp>
      <p:sp>
        <p:nvSpPr>
          <p:cNvPr id="41" name="Shape 39"/>
          <p:cNvSpPr/>
          <p:nvPr/>
        </p:nvSpPr>
        <p:spPr>
          <a:xfrm>
            <a:off x="320040" y="6309360"/>
            <a:ext cx="8503920" cy="347472"/>
          </a:xfrm>
          <a:prstGeom prst="rect">
            <a:avLst/>
          </a:prstGeom>
          <a:solidFill>
            <a:srgbClr val="100F08"/>
          </a:solidFill>
          <a:ln w="12700">
            <a:solidFill>
              <a:srgbClr val="34D186"/>
            </a:solidFill>
            <a:prstDash val="solid"/>
          </a:ln>
        </p:spPr>
      </p:sp>
      <p:sp>
        <p:nvSpPr>
          <p:cNvPr id="42" name="Text 40"/>
          <p:cNvSpPr/>
          <p:nvPr/>
        </p:nvSpPr>
        <p:spPr>
          <a:xfrm>
            <a:off x="457200" y="6336792"/>
            <a:ext cx="8229600" cy="29260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configuration was never the product. LaunchKit makes the configuration invisible, so city launches compound without engineering cost.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FF4"/>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34D186"/>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34D186"/>
                </a:solidFill>
                <a:latin typeface="Calibri" pitchFamily="34" charset="0"/>
                <a:ea typeface="Calibri" pitchFamily="34" charset="-122"/>
                <a:cs typeface="Calibri" pitchFamily="34" charset="-120"/>
              </a:rPr>
              <a:t>PROOF OF WORK</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600" b="1" dirty="0">
                <a:solidFill>
                  <a:srgbClr val="0D1A10"/>
                </a:solidFill>
                <a:latin typeface="Calibri" pitchFamily="34" charset="0"/>
                <a:ea typeface="Calibri" pitchFamily="34" charset="-122"/>
                <a:cs typeface="Calibri" pitchFamily="34" charset="-120"/>
              </a:rPr>
              <a:t>I Built the Self-Serve Platform Architecture at PhonePe.</a:t>
            </a:r>
            <a:endParaRPr lang="en-US" sz="2600" dirty="0"/>
          </a:p>
        </p:txBody>
      </p:sp>
      <p:sp>
        <p:nvSpPr>
          <p:cNvPr id="5" name="Shape 3"/>
          <p:cNvSpPr/>
          <p:nvPr/>
        </p:nvSpPr>
        <p:spPr>
          <a:xfrm>
            <a:off x="320040" y="1234440"/>
            <a:ext cx="4114800" cy="4206240"/>
          </a:xfrm>
          <a:prstGeom prst="rect">
            <a:avLst/>
          </a:prstGeom>
          <a:solidFill>
            <a:srgbClr val="0D1A10"/>
          </a:solidFill>
          <a:ln/>
        </p:spPr>
      </p:sp>
      <p:sp>
        <p:nvSpPr>
          <p:cNvPr id="6" name="Shape 4"/>
          <p:cNvSpPr/>
          <p:nvPr/>
        </p:nvSpPr>
        <p:spPr>
          <a:xfrm>
            <a:off x="320040" y="1234440"/>
            <a:ext cx="4114800" cy="292608"/>
          </a:xfrm>
          <a:prstGeom prst="rect">
            <a:avLst/>
          </a:prstGeom>
          <a:solidFill>
            <a:srgbClr val="34D186"/>
          </a:solidFill>
          <a:ln/>
        </p:spPr>
      </p:sp>
      <p:sp>
        <p:nvSpPr>
          <p:cNvPr id="7" name="Text 5"/>
          <p:cNvSpPr/>
          <p:nvPr/>
        </p:nvSpPr>
        <p:spPr>
          <a:xfrm>
            <a:off x="457200" y="1252728"/>
            <a:ext cx="3840480" cy="256032"/>
          </a:xfrm>
          <a:prstGeom prst="rect">
            <a:avLst/>
          </a:prstGeom>
          <a:noFill/>
          <a:ln/>
        </p:spPr>
        <p:txBody>
          <a:bodyPr wrap="square"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What I shipped at PhonePe</a:t>
            </a:r>
            <a:endParaRPr lang="en-US" sz="1000" dirty="0"/>
          </a:p>
        </p:txBody>
      </p:sp>
      <p:sp>
        <p:nvSpPr>
          <p:cNvPr id="8" name="Shape 6"/>
          <p:cNvSpPr/>
          <p:nvPr/>
        </p:nvSpPr>
        <p:spPr>
          <a:xfrm>
            <a:off x="438912" y="1709928"/>
            <a:ext cx="201168" cy="201168"/>
          </a:xfrm>
          <a:prstGeom prst="ellipse">
            <a:avLst/>
          </a:prstGeom>
          <a:solidFill>
            <a:srgbClr val="34D186"/>
          </a:solidFill>
          <a:ln/>
        </p:spPr>
      </p:sp>
      <p:sp>
        <p:nvSpPr>
          <p:cNvPr id="9" name="Text 7"/>
          <p:cNvSpPr/>
          <p:nvPr/>
        </p:nvSpPr>
        <p:spPr>
          <a:xfrm>
            <a:off x="749808" y="1664208"/>
            <a:ext cx="35204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Self-Serve PG Integration Platform (0 to 1)</a:t>
            </a:r>
            <a:endParaRPr lang="en-US" sz="1100" dirty="0"/>
          </a:p>
        </p:txBody>
      </p:sp>
      <p:sp>
        <p:nvSpPr>
          <p:cNvPr id="10" name="Text 8"/>
          <p:cNvSpPr/>
          <p:nvPr/>
        </p:nvSpPr>
        <p:spPr>
          <a:xfrm>
            <a:off x="749808" y="1920240"/>
            <a:ext cx="352044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Built zero-to-one self-serve merchant onboarding with Instant Discount and EMI subvention as core value prop. 5,000+ B2B merchants acquired, 23% lower CAC, 5M+ new users/month. The self-serve principle is identical to LaunchKit.</a:t>
            </a:r>
            <a:endParaRPr lang="en-US" sz="950" dirty="0"/>
          </a:p>
        </p:txBody>
      </p:sp>
      <p:sp>
        <p:nvSpPr>
          <p:cNvPr id="11" name="Shape 9"/>
          <p:cNvSpPr/>
          <p:nvPr/>
        </p:nvSpPr>
        <p:spPr>
          <a:xfrm>
            <a:off x="438912" y="2642616"/>
            <a:ext cx="201168" cy="201168"/>
          </a:xfrm>
          <a:prstGeom prst="ellipse">
            <a:avLst/>
          </a:prstGeom>
          <a:solidFill>
            <a:srgbClr val="34D186"/>
          </a:solidFill>
          <a:ln/>
        </p:spPr>
      </p:sp>
      <p:sp>
        <p:nvSpPr>
          <p:cNvPr id="12" name="Text 10"/>
          <p:cNvSpPr/>
          <p:nvPr/>
        </p:nvSpPr>
        <p:spPr>
          <a:xfrm>
            <a:off x="749808" y="2596896"/>
            <a:ext cx="35204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Offer Operations Workflow Redesign</a:t>
            </a:r>
            <a:endParaRPr lang="en-US" sz="1100" dirty="0"/>
          </a:p>
        </p:txBody>
      </p:sp>
      <p:sp>
        <p:nvSpPr>
          <p:cNvPr id="13" name="Text 11"/>
          <p:cNvSpPr/>
          <p:nvPr/>
        </p:nvSpPr>
        <p:spPr>
          <a:xfrm>
            <a:off x="749808" y="2852928"/>
            <a:ext cx="352044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Replaced manual offer creation workflow with self-serve ops tooling. TAT 30 min (down from 2 days). Same ops-layer configuration approach as LaunchKit rule library and launch checklist.</a:t>
            </a:r>
            <a:endParaRPr lang="en-US" sz="950" dirty="0"/>
          </a:p>
        </p:txBody>
      </p:sp>
      <p:sp>
        <p:nvSpPr>
          <p:cNvPr id="14" name="Shape 12"/>
          <p:cNvSpPr/>
          <p:nvPr/>
        </p:nvSpPr>
        <p:spPr>
          <a:xfrm>
            <a:off x="438912" y="3575304"/>
            <a:ext cx="201168" cy="201168"/>
          </a:xfrm>
          <a:prstGeom prst="ellipse">
            <a:avLst/>
          </a:prstGeom>
          <a:solidFill>
            <a:srgbClr val="34D186"/>
          </a:solidFill>
          <a:ln/>
        </p:spPr>
      </p:sp>
      <p:sp>
        <p:nvSpPr>
          <p:cNvPr id="15" name="Text 13"/>
          <p:cNvSpPr/>
          <p:nvPr/>
        </p:nvSpPr>
        <p:spPr>
          <a:xfrm>
            <a:off x="749808" y="3529584"/>
            <a:ext cx="35204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Unified Ops Intelligence Layer</a:t>
            </a:r>
            <a:endParaRPr lang="en-US" sz="1100" dirty="0"/>
          </a:p>
        </p:txBody>
      </p:sp>
      <p:sp>
        <p:nvSpPr>
          <p:cNvPr id="16" name="Text 14"/>
          <p:cNvSpPr/>
          <p:nvPr/>
        </p:nvSpPr>
        <p:spPr>
          <a:xfrm>
            <a:off x="749808" y="3785616"/>
            <a:ext cx="352044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Replaced 6 siloed ops workflows with single intelligence console. TAT 2d to 4h, -68% escalation tickets. LaunchKit compliance health dashboard = same consolidation principle.</a:t>
            </a:r>
            <a:endParaRPr lang="en-US" sz="950" dirty="0"/>
          </a:p>
        </p:txBody>
      </p:sp>
      <p:sp>
        <p:nvSpPr>
          <p:cNvPr id="17" name="Shape 15"/>
          <p:cNvSpPr/>
          <p:nvPr/>
        </p:nvSpPr>
        <p:spPr>
          <a:xfrm>
            <a:off x="438912" y="4507992"/>
            <a:ext cx="201168" cy="201168"/>
          </a:xfrm>
          <a:prstGeom prst="ellipse">
            <a:avLst/>
          </a:prstGeom>
          <a:solidFill>
            <a:srgbClr val="34D186"/>
          </a:solidFill>
          <a:ln/>
        </p:spPr>
      </p:sp>
      <p:sp>
        <p:nvSpPr>
          <p:cNvPr id="18" name="Text 16"/>
          <p:cNvSpPr/>
          <p:nvPr/>
        </p:nvSpPr>
        <p:spPr>
          <a:xfrm>
            <a:off x="749808" y="4462272"/>
            <a:ext cx="35204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A/B Testing and Experimentation at Scale</a:t>
            </a:r>
            <a:endParaRPr lang="en-US" sz="1100" dirty="0"/>
          </a:p>
        </p:txBody>
      </p:sp>
      <p:sp>
        <p:nvSpPr>
          <p:cNvPr id="19" name="Text 17"/>
          <p:cNvSpPr/>
          <p:nvPr/>
        </p:nvSpPr>
        <p:spPr>
          <a:xfrm>
            <a:off x="749808" y="4718304"/>
            <a:ext cx="3520440" cy="566928"/>
          </a:xfrm>
          <a:prstGeom prst="rect">
            <a:avLst/>
          </a:prstGeom>
          <a:noFill/>
          <a:ln/>
        </p:spPr>
        <p:txBody>
          <a:bodyPr wrap="square" rtlCol="0" anchor="ctr"/>
          <a:lstStyle/>
          <a:p>
            <a:pPr indent="0" marL="0">
              <a:buNone/>
            </a:pPr>
            <a:r>
              <a:rPr lang="en-US" sz="950" dirty="0">
                <a:solidFill>
                  <a:srgbClr val="FFFFFF"/>
                </a:solidFill>
                <a:latin typeface="Calibri" pitchFamily="34" charset="0"/>
                <a:ea typeface="Calibri" pitchFamily="34" charset="-122"/>
                <a:cs typeface="Calibri" pitchFamily="34" charset="-120"/>
              </a:rPr>
              <a:t>Ran ML model A/B tests across 350M MAU with shared measurement framework. LaunchKit A/B tests decel thresholds per city — same experimentation architecture, physical compliance instead of digital offers.</a:t>
            </a:r>
            <a:endParaRPr lang="en-US" sz="950" dirty="0"/>
          </a:p>
        </p:txBody>
      </p:sp>
      <p:sp>
        <p:nvSpPr>
          <p:cNvPr id="20" name="Shape 18"/>
          <p:cNvSpPr/>
          <p:nvPr/>
        </p:nvSpPr>
        <p:spPr>
          <a:xfrm>
            <a:off x="4709160" y="1234440"/>
            <a:ext cx="4114800" cy="4206240"/>
          </a:xfrm>
          <a:prstGeom prst="rect">
            <a:avLst/>
          </a:prstGeom>
          <a:solidFill>
            <a:srgbClr val="F0FAF4"/>
          </a:solidFill>
          <a:ln/>
        </p:spPr>
      </p:sp>
      <p:sp>
        <p:nvSpPr>
          <p:cNvPr id="21" name="Shape 19"/>
          <p:cNvSpPr/>
          <p:nvPr/>
        </p:nvSpPr>
        <p:spPr>
          <a:xfrm>
            <a:off x="4709160" y="1234440"/>
            <a:ext cx="4114800" cy="292608"/>
          </a:xfrm>
          <a:prstGeom prst="rect">
            <a:avLst/>
          </a:prstGeom>
          <a:solidFill>
            <a:srgbClr val="A7F3D0"/>
          </a:solidFill>
          <a:ln/>
        </p:spPr>
      </p:sp>
      <p:sp>
        <p:nvSpPr>
          <p:cNvPr id="22" name="Text 20"/>
          <p:cNvSpPr/>
          <p:nvPr/>
        </p:nvSpPr>
        <p:spPr>
          <a:xfrm>
            <a:off x="4846320" y="1252728"/>
            <a:ext cx="3840480" cy="256032"/>
          </a:xfrm>
          <a:prstGeom prst="rect">
            <a:avLst/>
          </a:prstGeom>
          <a:noFill/>
          <a:ln/>
        </p:spPr>
        <p:txBody>
          <a:bodyPr wrap="square" rtlCol="0" anchor="ctr"/>
          <a:lstStyle/>
          <a:p>
            <a:pPr indent="0" marL="0">
              <a:buNone/>
            </a:pPr>
            <a:r>
              <a:rPr lang="en-US" sz="1000" b="1" dirty="0">
                <a:solidFill>
                  <a:srgbClr val="0D1A10"/>
                </a:solidFill>
                <a:latin typeface="Calibri" pitchFamily="34" charset="0"/>
                <a:ea typeface="Calibri" pitchFamily="34" charset="-122"/>
                <a:cs typeface="Calibri" pitchFamily="34" charset="-120"/>
              </a:rPr>
              <a:t>How it maps to LaunchKit</a:t>
            </a:r>
            <a:endParaRPr lang="en-US" sz="1000" dirty="0"/>
          </a:p>
        </p:txBody>
      </p:sp>
      <p:sp>
        <p:nvSpPr>
          <p:cNvPr id="23" name="Shape 21"/>
          <p:cNvSpPr/>
          <p:nvPr/>
        </p:nvSpPr>
        <p:spPr>
          <a:xfrm>
            <a:off x="4773168" y="1700784"/>
            <a:ext cx="45720" cy="804672"/>
          </a:xfrm>
          <a:prstGeom prst="rect">
            <a:avLst/>
          </a:prstGeom>
          <a:solidFill>
            <a:srgbClr val="34D186"/>
          </a:solidFill>
          <a:ln/>
        </p:spPr>
      </p:sp>
      <p:sp>
        <p:nvSpPr>
          <p:cNvPr id="24" name="Text 22"/>
          <p:cNvSpPr/>
          <p:nvPr/>
        </p:nvSpPr>
        <p:spPr>
          <a:xfrm>
            <a:off x="4937760" y="1700784"/>
            <a:ext cx="3749040" cy="804672"/>
          </a:xfrm>
          <a:prstGeom prst="rect">
            <a:avLst/>
          </a:prstGeom>
          <a:noFill/>
          <a:ln/>
        </p:spPr>
        <p:txBody>
          <a:bodyPr wrap="square" rtlCol="0" anchor="ctr"/>
          <a:lstStyle/>
          <a:p>
            <a:pPr indent="0" marL="0">
              <a:buNone/>
            </a:pPr>
            <a:r>
              <a:rPr lang="en-US" sz="1050" dirty="0">
                <a:solidFill>
                  <a:srgbClr val="1F3328"/>
                </a:solidFill>
                <a:latin typeface="Calibri" pitchFamily="34" charset="0"/>
                <a:ea typeface="Calibri" pitchFamily="34" charset="-122"/>
                <a:cs typeface="Calibri" pitchFamily="34" charset="-120"/>
              </a:rPr>
              <a:t>-&gt; LaunchKit zone + rule configuration: same self-serve onboarding principle. Ops team = merchants. City config = PG integration. Zero engineering dependency in both cases.</a:t>
            </a:r>
            <a:endParaRPr lang="en-US" sz="1050" dirty="0"/>
          </a:p>
        </p:txBody>
      </p:sp>
      <p:sp>
        <p:nvSpPr>
          <p:cNvPr id="25" name="Shape 23"/>
          <p:cNvSpPr/>
          <p:nvPr/>
        </p:nvSpPr>
        <p:spPr>
          <a:xfrm>
            <a:off x="4773168" y="2633472"/>
            <a:ext cx="45720" cy="804672"/>
          </a:xfrm>
          <a:prstGeom prst="rect">
            <a:avLst/>
          </a:prstGeom>
          <a:solidFill>
            <a:srgbClr val="34D186"/>
          </a:solidFill>
          <a:ln/>
        </p:spPr>
      </p:sp>
      <p:sp>
        <p:nvSpPr>
          <p:cNvPr id="26" name="Text 24"/>
          <p:cNvSpPr/>
          <p:nvPr/>
        </p:nvSpPr>
        <p:spPr>
          <a:xfrm>
            <a:off x="4937760" y="2633472"/>
            <a:ext cx="3749040" cy="804672"/>
          </a:xfrm>
          <a:prstGeom prst="rect">
            <a:avLst/>
          </a:prstGeom>
          <a:noFill/>
          <a:ln/>
        </p:spPr>
        <p:txBody>
          <a:bodyPr wrap="square" rtlCol="0" anchor="ctr"/>
          <a:lstStyle/>
          <a:p>
            <a:pPr indent="0" marL="0">
              <a:buNone/>
            </a:pPr>
            <a:r>
              <a:rPr lang="en-US" sz="1050" dirty="0">
                <a:solidFill>
                  <a:srgbClr val="1F3328"/>
                </a:solidFill>
                <a:latin typeface="Calibri" pitchFamily="34" charset="0"/>
                <a:ea typeface="Calibri" pitchFamily="34" charset="-122"/>
                <a:cs typeface="Calibri" pitchFamily="34" charset="-120"/>
              </a:rPr>
              <a:t>-&gt; LaunchKit rule library and checklist: same 30-min ops TAT principle. Compliance configuration that was weeks of eng now done in hours by ops analysts.</a:t>
            </a:r>
            <a:endParaRPr lang="en-US" sz="1050" dirty="0"/>
          </a:p>
        </p:txBody>
      </p:sp>
      <p:sp>
        <p:nvSpPr>
          <p:cNvPr id="27" name="Shape 25"/>
          <p:cNvSpPr/>
          <p:nvPr/>
        </p:nvSpPr>
        <p:spPr>
          <a:xfrm>
            <a:off x="4773168" y="3566160"/>
            <a:ext cx="45720" cy="804672"/>
          </a:xfrm>
          <a:prstGeom prst="rect">
            <a:avLst/>
          </a:prstGeom>
          <a:solidFill>
            <a:srgbClr val="34D186"/>
          </a:solidFill>
          <a:ln/>
        </p:spPr>
      </p:sp>
      <p:sp>
        <p:nvSpPr>
          <p:cNvPr id="28" name="Text 26"/>
          <p:cNvSpPr/>
          <p:nvPr/>
        </p:nvSpPr>
        <p:spPr>
          <a:xfrm>
            <a:off x="4937760" y="3566160"/>
            <a:ext cx="3749040" cy="804672"/>
          </a:xfrm>
          <a:prstGeom prst="rect">
            <a:avLst/>
          </a:prstGeom>
          <a:noFill/>
          <a:ln/>
        </p:spPr>
        <p:txBody>
          <a:bodyPr wrap="square" rtlCol="0" anchor="ctr"/>
          <a:lstStyle/>
          <a:p>
            <a:pPr indent="0" marL="0">
              <a:buNone/>
            </a:pPr>
            <a:r>
              <a:rPr lang="en-US" sz="1050" dirty="0">
                <a:solidFill>
                  <a:srgbClr val="1F3328"/>
                </a:solidFill>
                <a:latin typeface="Calibri" pitchFamily="34" charset="0"/>
                <a:ea typeface="Calibri" pitchFamily="34" charset="-122"/>
                <a:cs typeface="Calibri" pitchFamily="34" charset="-120"/>
              </a:rPr>
              <a:t>-&gt; LaunchKit compliance health: same unified intelligence console. Compliance data from 14+ cities in one dashboard instead of 14 Notion docs.</a:t>
            </a:r>
            <a:endParaRPr lang="en-US" sz="1050" dirty="0"/>
          </a:p>
        </p:txBody>
      </p:sp>
      <p:sp>
        <p:nvSpPr>
          <p:cNvPr id="29" name="Shape 27"/>
          <p:cNvSpPr/>
          <p:nvPr/>
        </p:nvSpPr>
        <p:spPr>
          <a:xfrm>
            <a:off x="4773168" y="4498848"/>
            <a:ext cx="45720" cy="804672"/>
          </a:xfrm>
          <a:prstGeom prst="rect">
            <a:avLst/>
          </a:prstGeom>
          <a:solidFill>
            <a:srgbClr val="34D186"/>
          </a:solidFill>
          <a:ln/>
        </p:spPr>
      </p:sp>
      <p:sp>
        <p:nvSpPr>
          <p:cNvPr id="30" name="Text 28"/>
          <p:cNvSpPr/>
          <p:nvPr/>
        </p:nvSpPr>
        <p:spPr>
          <a:xfrm>
            <a:off x="4937760" y="4498848"/>
            <a:ext cx="3749040" cy="804672"/>
          </a:xfrm>
          <a:prstGeom prst="rect">
            <a:avLst/>
          </a:prstGeom>
          <a:noFill/>
          <a:ln/>
        </p:spPr>
        <p:txBody>
          <a:bodyPr wrap="square" rtlCol="0" anchor="ctr"/>
          <a:lstStyle/>
          <a:p>
            <a:pPr indent="0" marL="0">
              <a:buNone/>
            </a:pPr>
            <a:r>
              <a:rPr lang="en-US" sz="1050" dirty="0">
                <a:solidFill>
                  <a:srgbClr val="1F3328"/>
                </a:solidFill>
                <a:latin typeface="Calibri" pitchFamily="34" charset="0"/>
                <a:ea typeface="Calibri" pitchFamily="34" charset="-122"/>
                <a:cs typeface="Calibri" pitchFamily="34" charset="-120"/>
              </a:rPr>
              <a:t>-&gt; LaunchKit A/B city configs: test different decel thresholds, age rules, parking configs across similar cities. Data-driven iteration at the city level.</a:t>
            </a:r>
            <a:endParaRPr lang="en-US" sz="1050" dirty="0"/>
          </a:p>
        </p:txBody>
      </p:sp>
      <p:sp>
        <p:nvSpPr>
          <p:cNvPr id="31" name="Shape 29"/>
          <p:cNvSpPr/>
          <p:nvPr/>
        </p:nvSpPr>
        <p:spPr>
          <a:xfrm>
            <a:off x="320040" y="5577840"/>
            <a:ext cx="8503920" cy="1005840"/>
          </a:xfrm>
          <a:prstGeom prst="rect">
            <a:avLst/>
          </a:prstGeom>
          <a:solidFill>
            <a:srgbClr val="0D1A10"/>
          </a:solidFill>
          <a:ln w="19050">
            <a:solidFill>
              <a:srgbClr val="34D186"/>
            </a:solidFill>
            <a:prstDash val="solid"/>
          </a:ln>
        </p:spPr>
      </p:sp>
      <p:sp>
        <p:nvSpPr>
          <p:cNvPr id="32" name="Text 30"/>
          <p:cNvSpPr/>
          <p:nvPr/>
        </p:nvSpPr>
        <p:spPr>
          <a:xfrm>
            <a:off x="502920" y="5650992"/>
            <a:ext cx="8229600" cy="685800"/>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"The bottleneck is always the handoff, not the work. LaunchKit eliminates the handoff between ops and engineering for city launches — the same way the PG platform eliminated it for merchant onboarding."</a:t>
            </a:r>
            <a:endParaRPr lang="en-US" sz="1200" dirty="0"/>
          </a:p>
        </p:txBody>
      </p:sp>
      <p:sp>
        <p:nvSpPr>
          <p:cNvPr id="33" name="Text 31"/>
          <p:cNvSpPr/>
          <p:nvPr/>
        </p:nvSpPr>
        <p:spPr>
          <a:xfrm>
            <a:off x="502920" y="6291072"/>
            <a:ext cx="8229600" cy="228600"/>
          </a:xfrm>
          <a:prstGeom prst="rect">
            <a:avLst/>
          </a:prstGeom>
          <a:noFill/>
          <a:ln/>
        </p:spPr>
        <p:txBody>
          <a:bodyPr wrap="square" rtlCol="0" anchor="ctr"/>
          <a:lstStyle/>
          <a:p>
            <a:pPr algn="ctr" indent="0" marL="0">
              <a:buNone/>
            </a:pPr>
            <a:r>
              <a:rPr lang="en-US" sz="1000" dirty="0">
                <a:solidFill>
                  <a:srgbClr val="687A70"/>
                </a:solidFill>
                <a:latin typeface="Calibri" pitchFamily="34" charset="0"/>
                <a:ea typeface="Calibri" pitchFamily="34" charset="-122"/>
                <a:cs typeface="Calibri" pitchFamily="34" charset="-120"/>
              </a:rPr>
              <a:t>- Ajay Avaghade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A10"/>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F59E0B"/>
          </a:solidFill>
          <a:ln/>
        </p:spPr>
      </p:sp>
      <p:sp>
        <p:nvSpPr>
          <p:cNvPr id="3" name="Text 1"/>
          <p:cNvSpPr/>
          <p:nvPr/>
        </p:nvSpPr>
        <p:spPr>
          <a:xfrm>
            <a:off x="320040" y="256032"/>
            <a:ext cx="4572000" cy="201168"/>
          </a:xfrm>
          <a:prstGeom prst="rect">
            <a:avLst/>
          </a:prstGeom>
          <a:noFill/>
          <a:ln/>
        </p:spPr>
        <p:txBody>
          <a:bodyPr wrap="square" rtlCol="0" anchor="ctr"/>
          <a:lstStyle/>
          <a:p>
            <a:pPr indent="0" marL="0">
              <a:buNone/>
            </a:pPr>
            <a:r>
              <a:rPr lang="en-US" sz="900" b="1" spc="200" kern="0" dirty="0">
                <a:solidFill>
                  <a:srgbClr val="F59E0B"/>
                </a:solidFill>
                <a:latin typeface="Calibri" pitchFamily="34" charset="0"/>
                <a:ea typeface="Calibri" pitchFamily="34" charset="-122"/>
                <a:cs typeface="Calibri" pitchFamily="34" charset="-120"/>
              </a:rPr>
              <a:t>ROLLOUT PLAN</a:t>
            </a:r>
            <a:endParaRPr lang="en-US" sz="900" dirty="0"/>
          </a:p>
        </p:txBody>
      </p:sp>
      <p:sp>
        <p:nvSpPr>
          <p:cNvPr id="4" name="Text 2"/>
          <p:cNvSpPr/>
          <p:nvPr/>
        </p:nvSpPr>
        <p:spPr>
          <a:xfrm>
            <a:off x="320040" y="566928"/>
            <a:ext cx="850392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Three Phases — Internal Tool to Expansion Platform</a:t>
            </a:r>
            <a:endParaRPr lang="en-US" sz="2400" dirty="0"/>
          </a:p>
        </p:txBody>
      </p:sp>
      <p:sp>
        <p:nvSpPr>
          <p:cNvPr id="5" name="Shape 3"/>
          <p:cNvSpPr/>
          <p:nvPr/>
        </p:nvSpPr>
        <p:spPr>
          <a:xfrm>
            <a:off x="320040" y="1280160"/>
            <a:ext cx="2743200" cy="4251960"/>
          </a:xfrm>
          <a:prstGeom prst="rect">
            <a:avLst/>
          </a:prstGeom>
          <a:solidFill>
            <a:srgbClr val="162815"/>
          </a:solidFill>
          <a:ln w="25400">
            <a:solidFill>
              <a:srgbClr val="34D186"/>
            </a:solidFill>
            <a:prstDash val="solid"/>
          </a:ln>
          <a:effectLst>
            <a:outerShdw sx="100000" sy="100000" kx="0" ky="0" algn="bl" rotWithShape="0" blurRad="50800" dist="25400" dir="2700000">
              <a:srgbClr val="000000">
                <a:alpha val="14000"/>
              </a:srgbClr>
            </a:outerShdw>
          </a:effectLst>
        </p:spPr>
      </p:sp>
      <p:sp>
        <p:nvSpPr>
          <p:cNvPr id="6" name="Shape 4"/>
          <p:cNvSpPr/>
          <p:nvPr/>
        </p:nvSpPr>
        <p:spPr>
          <a:xfrm>
            <a:off x="320040" y="1280160"/>
            <a:ext cx="2743200" cy="54864"/>
          </a:xfrm>
          <a:prstGeom prst="rect">
            <a:avLst/>
          </a:prstGeom>
          <a:solidFill>
            <a:srgbClr val="34D186"/>
          </a:solidFill>
          <a:ln/>
        </p:spPr>
      </p:sp>
      <p:sp>
        <p:nvSpPr>
          <p:cNvPr id="7" name="Text 5"/>
          <p:cNvSpPr/>
          <p:nvPr/>
        </p:nvSpPr>
        <p:spPr>
          <a:xfrm>
            <a:off x="45720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1</a:t>
            </a:r>
            <a:endParaRPr lang="en-US" sz="1800" dirty="0"/>
          </a:p>
        </p:txBody>
      </p:sp>
      <p:sp>
        <p:nvSpPr>
          <p:cNvPr id="8" name="Text 6"/>
          <p:cNvSpPr/>
          <p:nvPr/>
        </p:nvSpPr>
        <p:spPr>
          <a:xfrm>
            <a:off x="457200" y="1719072"/>
            <a:ext cx="2468880" cy="256032"/>
          </a:xfrm>
          <a:prstGeom prst="rect">
            <a:avLst/>
          </a:prstGeom>
          <a:noFill/>
          <a:ln/>
        </p:spPr>
        <p:txBody>
          <a:bodyPr wrap="square" rtlCol="0" anchor="ctr"/>
          <a:lstStyle/>
          <a:p>
            <a:pPr indent="0" marL="0">
              <a:buNone/>
            </a:pPr>
            <a:r>
              <a:rPr lang="en-US" sz="1100" b="1" dirty="0">
                <a:solidFill>
                  <a:srgbClr val="34D186"/>
                </a:solidFill>
                <a:latin typeface="Calibri" pitchFamily="34" charset="0"/>
                <a:ea typeface="Calibri" pitchFamily="34" charset="-122"/>
                <a:cs typeface="Calibri" pitchFamily="34" charset="-120"/>
              </a:rPr>
              <a:t>Month 1–2</a:t>
            </a:r>
            <a:endParaRPr lang="en-US" sz="1100" dirty="0"/>
          </a:p>
        </p:txBody>
      </p:sp>
      <p:sp>
        <p:nvSpPr>
          <p:cNvPr id="9" name="Text 7"/>
          <p:cNvSpPr/>
          <p:nvPr/>
        </p:nvSpPr>
        <p:spPr>
          <a:xfrm>
            <a:off x="457200" y="1956816"/>
            <a:ext cx="2468880" cy="256032"/>
          </a:xfrm>
          <a:prstGeom prst="rect">
            <a:avLst/>
          </a:prstGeom>
          <a:noFill/>
          <a:ln/>
        </p:spPr>
        <p:txBody>
          <a:bodyPr wrap="square" rtlCol="0" anchor="ctr"/>
          <a:lstStyle/>
          <a:p>
            <a:pPr indent="0" marL="0">
              <a:buNone/>
            </a:pPr>
            <a:r>
              <a:rPr lang="en-US" sz="1100" dirty="0">
                <a:solidFill>
                  <a:srgbClr val="687A70"/>
                </a:solidFill>
                <a:latin typeface="Calibri" pitchFamily="34" charset="0"/>
                <a:ea typeface="Calibri" pitchFamily="34" charset="-122"/>
                <a:cs typeface="Calibri" pitchFamily="34" charset="-120"/>
              </a:rPr>
              <a:t>Internal pilot: 3 cities</a:t>
            </a:r>
            <a:endParaRPr lang="en-US" sz="1100" dirty="0"/>
          </a:p>
        </p:txBody>
      </p:sp>
      <p:sp>
        <p:nvSpPr>
          <p:cNvPr id="10" name="Shape 8"/>
          <p:cNvSpPr/>
          <p:nvPr/>
        </p:nvSpPr>
        <p:spPr>
          <a:xfrm>
            <a:off x="457200" y="2258568"/>
            <a:ext cx="2377440" cy="0"/>
          </a:xfrm>
          <a:prstGeom prst="line">
            <a:avLst/>
          </a:prstGeom>
          <a:noFill/>
          <a:ln w="10160">
            <a:solidFill>
              <a:srgbClr val="1E3422"/>
            </a:solidFill>
            <a:prstDash val="solid"/>
          </a:ln>
        </p:spPr>
      </p:sp>
      <p:sp>
        <p:nvSpPr>
          <p:cNvPr id="11" name="Text 9"/>
          <p:cNvSpPr/>
          <p:nvPr/>
        </p:nvSpPr>
        <p:spPr>
          <a:xfrm>
            <a:off x="45720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Build LaunchKit for 3 upcoming city launches. Measure: launch time delta vs prior 3 cities, engineering hours saved. Validate checklist completeness. Test GeoJSON import with Warsaw, Riga, Vilnius configs.</a:t>
            </a:r>
            <a:endParaRPr lang="en-US" sz="1050" dirty="0"/>
          </a:p>
        </p:txBody>
      </p:sp>
      <p:sp>
        <p:nvSpPr>
          <p:cNvPr id="12" name="Shape 10"/>
          <p:cNvSpPr/>
          <p:nvPr/>
        </p:nvSpPr>
        <p:spPr>
          <a:xfrm>
            <a:off x="3246120" y="1280160"/>
            <a:ext cx="2743200" cy="4251960"/>
          </a:xfrm>
          <a:prstGeom prst="rect">
            <a:avLst/>
          </a:prstGeom>
          <a:solidFill>
            <a:srgbClr val="162815"/>
          </a:solidFill>
          <a:ln w="25400">
            <a:solidFill>
              <a:srgbClr val="F59E0B"/>
            </a:solidFill>
            <a:prstDash val="solid"/>
          </a:ln>
          <a:effectLst>
            <a:outerShdw sx="100000" sy="100000" kx="0" ky="0" algn="bl" rotWithShape="0" blurRad="50800" dist="25400" dir="2700000">
              <a:srgbClr val="000000">
                <a:alpha val="14000"/>
              </a:srgbClr>
            </a:outerShdw>
          </a:effectLst>
        </p:spPr>
      </p:sp>
      <p:sp>
        <p:nvSpPr>
          <p:cNvPr id="13" name="Shape 11"/>
          <p:cNvSpPr/>
          <p:nvPr/>
        </p:nvSpPr>
        <p:spPr>
          <a:xfrm>
            <a:off x="3246120" y="1280160"/>
            <a:ext cx="2743200" cy="54864"/>
          </a:xfrm>
          <a:prstGeom prst="rect">
            <a:avLst/>
          </a:prstGeom>
          <a:solidFill>
            <a:srgbClr val="F59E0B"/>
          </a:solidFill>
          <a:ln/>
        </p:spPr>
      </p:sp>
      <p:sp>
        <p:nvSpPr>
          <p:cNvPr id="14" name="Text 12"/>
          <p:cNvSpPr/>
          <p:nvPr/>
        </p:nvSpPr>
        <p:spPr>
          <a:xfrm>
            <a:off x="338328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2</a:t>
            </a:r>
            <a:endParaRPr lang="en-US" sz="1800" dirty="0"/>
          </a:p>
        </p:txBody>
      </p:sp>
      <p:sp>
        <p:nvSpPr>
          <p:cNvPr id="15" name="Text 13"/>
          <p:cNvSpPr/>
          <p:nvPr/>
        </p:nvSpPr>
        <p:spPr>
          <a:xfrm>
            <a:off x="3383280" y="1719072"/>
            <a:ext cx="246888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Month 3–4</a:t>
            </a:r>
            <a:endParaRPr lang="en-US" sz="1100" dirty="0"/>
          </a:p>
        </p:txBody>
      </p:sp>
      <p:sp>
        <p:nvSpPr>
          <p:cNvPr id="16" name="Text 14"/>
          <p:cNvSpPr/>
          <p:nvPr/>
        </p:nvSpPr>
        <p:spPr>
          <a:xfrm>
            <a:off x="3383280" y="1956816"/>
            <a:ext cx="2468880" cy="256032"/>
          </a:xfrm>
          <a:prstGeom prst="rect">
            <a:avLst/>
          </a:prstGeom>
          <a:noFill/>
          <a:ln/>
        </p:spPr>
        <p:txBody>
          <a:bodyPr wrap="square" rtlCol="0" anchor="ctr"/>
          <a:lstStyle/>
          <a:p>
            <a:pPr indent="0" marL="0">
              <a:buNone/>
            </a:pPr>
            <a:r>
              <a:rPr lang="en-US" sz="1100" dirty="0">
                <a:solidFill>
                  <a:srgbClr val="687A70"/>
                </a:solidFill>
                <a:latin typeface="Calibri" pitchFamily="34" charset="0"/>
                <a:ea typeface="Calibri" pitchFamily="34" charset="-122"/>
                <a:cs typeface="Calibri" pitchFamily="34" charset="-120"/>
              </a:rPr>
              <a:t>All new city launches</a:t>
            </a:r>
            <a:endParaRPr lang="en-US" sz="1100" dirty="0"/>
          </a:p>
        </p:txBody>
      </p:sp>
      <p:sp>
        <p:nvSpPr>
          <p:cNvPr id="17" name="Shape 15"/>
          <p:cNvSpPr/>
          <p:nvPr/>
        </p:nvSpPr>
        <p:spPr>
          <a:xfrm>
            <a:off x="3383280" y="2258568"/>
            <a:ext cx="2377440" cy="0"/>
          </a:xfrm>
          <a:prstGeom prst="line">
            <a:avLst/>
          </a:prstGeom>
          <a:noFill/>
          <a:ln w="10160">
            <a:solidFill>
              <a:srgbClr val="1E3422"/>
            </a:solidFill>
            <a:prstDash val="solid"/>
          </a:ln>
        </p:spPr>
      </p:sp>
      <p:sp>
        <p:nvSpPr>
          <p:cNvPr id="18" name="Text 16"/>
          <p:cNvSpPr/>
          <p:nvPr/>
        </p:nvSpPr>
        <p:spPr>
          <a:xfrm>
            <a:off x="338328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LaunchKit becomes the required process for all new city launches. Rule library expanded with all regulatory edge cases (electric bike rules, scooter sub-types, permit caps). Compliance health dashboard live for all 14+ active cities.</a:t>
            </a:r>
            <a:endParaRPr lang="en-US" sz="1050" dirty="0"/>
          </a:p>
        </p:txBody>
      </p:sp>
      <p:sp>
        <p:nvSpPr>
          <p:cNvPr id="19" name="Shape 17"/>
          <p:cNvSpPr/>
          <p:nvPr/>
        </p:nvSpPr>
        <p:spPr>
          <a:xfrm>
            <a:off x="6172200" y="1280160"/>
            <a:ext cx="2743200" cy="4251960"/>
          </a:xfrm>
          <a:prstGeom prst="rect">
            <a:avLst/>
          </a:prstGeom>
          <a:solidFill>
            <a:srgbClr val="162815"/>
          </a:solidFill>
          <a:ln w="25400">
            <a:solidFill>
              <a:srgbClr val="34D186"/>
            </a:solidFill>
            <a:prstDash val="solid"/>
          </a:ln>
          <a:effectLst>
            <a:outerShdw sx="100000" sy="100000" kx="0" ky="0" algn="bl" rotWithShape="0" blurRad="50800" dist="25400" dir="2700000">
              <a:srgbClr val="000000">
                <a:alpha val="14000"/>
              </a:srgbClr>
            </a:outerShdw>
          </a:effectLst>
        </p:spPr>
      </p:sp>
      <p:sp>
        <p:nvSpPr>
          <p:cNvPr id="20" name="Shape 18"/>
          <p:cNvSpPr/>
          <p:nvPr/>
        </p:nvSpPr>
        <p:spPr>
          <a:xfrm>
            <a:off x="6172200" y="1280160"/>
            <a:ext cx="2743200" cy="54864"/>
          </a:xfrm>
          <a:prstGeom prst="rect">
            <a:avLst/>
          </a:prstGeom>
          <a:solidFill>
            <a:srgbClr val="34D186"/>
          </a:solidFill>
          <a:ln/>
        </p:spPr>
      </p:sp>
      <p:sp>
        <p:nvSpPr>
          <p:cNvPr id="21" name="Text 19"/>
          <p:cNvSpPr/>
          <p:nvPr/>
        </p:nvSpPr>
        <p:spPr>
          <a:xfrm>
            <a:off x="6309360" y="1389888"/>
            <a:ext cx="2468880" cy="32004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Phase 3</a:t>
            </a:r>
            <a:endParaRPr lang="en-US" sz="1800" dirty="0"/>
          </a:p>
        </p:txBody>
      </p:sp>
      <p:sp>
        <p:nvSpPr>
          <p:cNvPr id="22" name="Text 20"/>
          <p:cNvSpPr/>
          <p:nvPr/>
        </p:nvSpPr>
        <p:spPr>
          <a:xfrm>
            <a:off x="6309360" y="1719072"/>
            <a:ext cx="2468880" cy="256032"/>
          </a:xfrm>
          <a:prstGeom prst="rect">
            <a:avLst/>
          </a:prstGeom>
          <a:noFill/>
          <a:ln/>
        </p:spPr>
        <p:txBody>
          <a:bodyPr wrap="square" rtlCol="0" anchor="ctr"/>
          <a:lstStyle/>
          <a:p>
            <a:pPr indent="0" marL="0">
              <a:buNone/>
            </a:pPr>
            <a:r>
              <a:rPr lang="en-US" sz="1100" b="1" dirty="0">
                <a:solidFill>
                  <a:srgbClr val="34D186"/>
                </a:solidFill>
                <a:latin typeface="Calibri" pitchFamily="34" charset="0"/>
                <a:ea typeface="Calibri" pitchFamily="34" charset="-122"/>
                <a:cs typeface="Calibri" pitchFamily="34" charset="-120"/>
              </a:rPr>
              <a:t>Month 5–6</a:t>
            </a:r>
            <a:endParaRPr lang="en-US" sz="1100" dirty="0"/>
          </a:p>
        </p:txBody>
      </p:sp>
      <p:sp>
        <p:nvSpPr>
          <p:cNvPr id="23" name="Text 21"/>
          <p:cNvSpPr/>
          <p:nvPr/>
        </p:nvSpPr>
        <p:spPr>
          <a:xfrm>
            <a:off x="6309360" y="1956816"/>
            <a:ext cx="2468880" cy="256032"/>
          </a:xfrm>
          <a:prstGeom prst="rect">
            <a:avLst/>
          </a:prstGeom>
          <a:noFill/>
          <a:ln/>
        </p:spPr>
        <p:txBody>
          <a:bodyPr wrap="square" rtlCol="0" anchor="ctr"/>
          <a:lstStyle/>
          <a:p>
            <a:pPr indent="0" marL="0">
              <a:buNone/>
            </a:pPr>
            <a:r>
              <a:rPr lang="en-US" sz="1100" dirty="0">
                <a:solidFill>
                  <a:srgbClr val="687A70"/>
                </a:solidFill>
                <a:latin typeface="Calibri" pitchFamily="34" charset="0"/>
                <a:ea typeface="Calibri" pitchFamily="34" charset="-122"/>
                <a:cs typeface="Calibri" pitchFamily="34" charset="-120"/>
              </a:rPr>
              <a:t>Expansion platform + tenders</a:t>
            </a:r>
            <a:endParaRPr lang="en-US" sz="1100" dirty="0"/>
          </a:p>
        </p:txBody>
      </p:sp>
      <p:sp>
        <p:nvSpPr>
          <p:cNvPr id="24" name="Shape 22"/>
          <p:cNvSpPr/>
          <p:nvPr/>
        </p:nvSpPr>
        <p:spPr>
          <a:xfrm>
            <a:off x="6309360" y="2258568"/>
            <a:ext cx="2377440" cy="0"/>
          </a:xfrm>
          <a:prstGeom prst="line">
            <a:avLst/>
          </a:prstGeom>
          <a:noFill/>
          <a:ln w="10160">
            <a:solidFill>
              <a:srgbClr val="1E3422"/>
            </a:solidFill>
            <a:prstDash val="solid"/>
          </a:ln>
        </p:spPr>
      </p:sp>
      <p:sp>
        <p:nvSpPr>
          <p:cNvPr id="25" name="Text 23"/>
          <p:cNvSpPr/>
          <p:nvPr/>
        </p:nvSpPr>
        <p:spPr>
          <a:xfrm>
            <a:off x="6309360" y="2331720"/>
            <a:ext cx="2468880" cy="31089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LaunchKit feeds CityScore for tender data exports. BD team uses LaunchKit to demo Bolt regulatory capability during city pitches. Template inheritance expanded — any market can launch from day 1 with peer city config.</a:t>
            </a:r>
            <a:endParaRPr lang="en-US" sz="1050" dirty="0"/>
          </a:p>
        </p:txBody>
      </p:sp>
      <p:sp>
        <p:nvSpPr>
          <p:cNvPr id="26" name="Shape 24"/>
          <p:cNvSpPr/>
          <p:nvPr/>
        </p:nvSpPr>
        <p:spPr>
          <a:xfrm>
            <a:off x="320040" y="5669280"/>
            <a:ext cx="8503920" cy="822960"/>
          </a:xfrm>
          <a:prstGeom prst="rect">
            <a:avLst/>
          </a:prstGeom>
          <a:solidFill>
            <a:srgbClr val="1F1200"/>
          </a:solidFill>
          <a:ln w="19050">
            <a:solidFill>
              <a:srgbClr val="F59E0B"/>
            </a:solidFill>
            <a:prstDash val="solid"/>
          </a:ln>
        </p:spPr>
      </p:sp>
      <p:sp>
        <p:nvSpPr>
          <p:cNvPr id="27" name="Text 25"/>
          <p:cNvSpPr/>
          <p:nvPr/>
        </p:nvSpPr>
        <p:spPr>
          <a:xfrm>
            <a:off x="502920" y="5733288"/>
            <a:ext cx="274320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What I need to ship Phase 1:</a:t>
            </a:r>
            <a:endParaRPr lang="en-US" sz="1100" dirty="0"/>
          </a:p>
        </p:txBody>
      </p:sp>
      <p:sp>
        <p:nvSpPr>
          <p:cNvPr id="28" name="Text 26"/>
          <p:cNvSpPr/>
          <p:nvPr/>
        </p:nvSpPr>
        <p:spPr>
          <a:xfrm>
            <a:off x="502920" y="5989320"/>
            <a:ext cx="8229600" cy="384048"/>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Access to city GeoJSON files for 3 pilot cities  x  1 frontend engineer (Mapbox + toggle UI)  x  Alignment with ops team and compliance on rule library structure</a:t>
            </a:r>
            <a:endParaRPr lang="en-US" sz="1000" dirty="0"/>
          </a:p>
        </p:txBody>
      </p:sp>
      <p:sp>
        <p:nvSpPr>
          <p:cNvPr id="29" name="Text 27"/>
          <p:cNvSpPr/>
          <p:nvPr/>
        </p:nvSpPr>
        <p:spPr>
          <a:xfrm>
            <a:off x="320040" y="6583680"/>
            <a:ext cx="8503920" cy="201168"/>
          </a:xfrm>
          <a:prstGeom prst="rect">
            <a:avLst/>
          </a:prstGeom>
          <a:noFill/>
          <a:ln/>
        </p:spPr>
        <p:txBody>
          <a:bodyPr wrap="square" rtlCol="0" anchor="ctr"/>
          <a:lstStyle/>
          <a:p>
            <a:pPr algn="ctr" indent="0" marL="0">
              <a:buNone/>
            </a:pPr>
            <a:r>
              <a:rPr lang="en-US" sz="850" dirty="0">
                <a:solidFill>
                  <a:srgbClr val="687A70"/>
                </a:solidFill>
                <a:latin typeface="Calibri" pitchFamily="34" charset="0"/>
                <a:ea typeface="Calibri" pitchFamily="34" charset="-122"/>
                <a:cs typeface="Calibri" pitchFamily="34" charset="-120"/>
              </a:rPr>
              <a:t>Ajay Avaghade  |  avaghadeajay009@gmail.com  |  +91 9561558439  |  linkedin.com/in/ajay-avaghade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2026-05-29T14:24:46Z</dcterms:created>
  <dcterms:modified xsi:type="dcterms:W3CDTF">2026-05-29T14:24:46Z</dcterms:modified>
</cp:coreProperties>
</file>