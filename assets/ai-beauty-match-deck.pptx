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828800"/>
            <a:ext cx="6400800" cy="6400800"/>
          </a:xfrm>
          <a:prstGeom prst="ellipse">
            <a:avLst/>
          </a:prstGeom>
          <a:solidFill>
            <a:srgbClr val="E91E8C">
              <a:alpha val="12000"/>
            </a:srgbClr>
          </a:solidFill>
          <a:ln w="12700">
            <a:solidFill>
              <a:srgbClr val="E91E8C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389120"/>
            <a:ext cx="4572000" cy="4572000"/>
          </a:xfrm>
          <a:prstGeom prst="ellipse">
            <a:avLst/>
          </a:prstGeom>
          <a:solidFill>
            <a:srgbClr val="9C27B0">
              <a:alpha val="10000"/>
            </a:srgbClr>
          </a:solidFill>
          <a:ln w="12700">
            <a:solidFill>
              <a:srgbClr val="9C27B0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3657600" cy="3657600"/>
          </a:xfrm>
          <a:prstGeom prst="ellipse">
            <a:avLst/>
          </a:prstGeom>
          <a:solidFill>
            <a:srgbClr val="9C27B0">
              <a:alpha val="12000"/>
            </a:srgbClr>
          </a:solidFill>
          <a:ln w="12700">
            <a:solidFill>
              <a:srgbClr val="9C27B0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54864" cy="22860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35331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· AI PERSONALISATION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" y="169164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Beauty Match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804672" y="29718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personalised beauty shelf built from a 90-second skin scan.</a:t>
            </a:r>
            <a:endParaRPr lang="en-US" sz="16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match explained. Gets smarter with every order.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961120" y="1645920"/>
            <a:ext cx="2286000" cy="3840480"/>
          </a:xfrm>
          <a:prstGeom prst="roundRect">
            <a:avLst>
              <a:gd name="adj" fmla="val 12000"/>
            </a:avLst>
          </a:prstGeom>
          <a:solidFill>
            <a:srgbClr val="2D0050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0" y="1920240"/>
            <a:ext cx="457200" cy="137160"/>
          </a:xfrm>
          <a:prstGeom prst="ellipse">
            <a:avLst/>
          </a:prstGeom>
          <a:solidFill>
            <a:srgbClr val="303040"/>
          </a:solidFill>
          <a:ln w="12700">
            <a:solidFill>
              <a:srgbClr val="303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06840" y="2560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9006840" y="3246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235440" y="3657600"/>
            <a:ext cx="365760" cy="365760"/>
          </a:xfrm>
          <a:prstGeom prst="rect">
            <a:avLst/>
          </a:prstGeom>
          <a:solidFill>
            <a:srgbClr val="C8956C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2640" y="3657600"/>
            <a:ext cx="365760" cy="365760"/>
          </a:xfrm>
          <a:prstGeom prst="rect">
            <a:avLst/>
          </a:prstGeom>
          <a:solidFill>
            <a:srgbClr val="A0673A"/>
          </a:solidFill>
          <a:ln w="12700">
            <a:solidFill>
              <a:srgbClr val="A067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49840" y="3657600"/>
            <a:ext cx="365760" cy="365760"/>
          </a:xfrm>
          <a:prstGeom prst="rect">
            <a:avLst/>
          </a:prstGeom>
          <a:solidFill>
            <a:srgbClr val="7B4B2A"/>
          </a:solidFill>
          <a:ln w="12700">
            <a:solidFill>
              <a:srgbClr val="7B4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6840" y="4114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 matched to your scan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" y="6309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3A1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talabat leadership  ·  talabat Beauty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256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75488"/>
            <a:ext cx="54864" cy="47548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754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04672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36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Beauty on q-commerce fails</a:t>
            </a:r>
            <a:endParaRPr lang="en-US" sz="36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6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because shoppers can't see themselves.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3493008" cy="3383280"/>
          </a:xfrm>
          <a:prstGeom prst="rect">
            <a:avLst/>
          </a:prstGeom>
          <a:solidFill>
            <a:srgbClr val="FDF5FF"/>
          </a:solidFill>
          <a:ln w="6350">
            <a:solidFill>
              <a:srgbClr val="E8D0F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93392"/>
            <a:ext cx="3493008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48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beauty returns globally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145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shade or formula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49300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shopper orders a foundation, it arrives in 25 minutes — and it's the wrong shade. Returns erode margins and trust simultaneously.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1993392"/>
            <a:ext cx="3493008" cy="3383280"/>
          </a:xfrm>
          <a:prstGeom prst="rect">
            <a:avLst/>
          </a:prstGeom>
          <a:solidFill>
            <a:srgbClr val="FDF5FF"/>
          </a:solidFill>
          <a:ln w="6350">
            <a:solidFill>
              <a:srgbClr val="E8D0F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993392"/>
            <a:ext cx="3493008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148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480560" y="28346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MENA beauty journeys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0" y="3145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on social video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349300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go to TikTok or Instagram for discovery, then search manually on e-commerce. talabat captures the purchase but loses the discovery.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1993392"/>
            <a:ext cx="3493008" cy="3383280"/>
          </a:xfrm>
          <a:prstGeom prst="rect">
            <a:avLst/>
          </a:prstGeom>
          <a:solidFill>
            <a:srgbClr val="FDF5FF"/>
          </a:solidFill>
          <a:ln w="6350">
            <a:solidFill>
              <a:srgbClr val="E8D0F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1993392"/>
            <a:ext cx="3493008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2148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229600" y="28346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on talabat Beauty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3145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skin-tone match data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0" y="349300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beauty shelf is a category grid. No personalisation layer. Every shopper sees the same products regardless of skin tone, type, or concerns.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GWI MENA 2025, Euromonitor Beauty 2025, Statista returns data, talabat Beauty internal baseline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256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1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75488"/>
            <a:ext cx="54864" cy="47548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754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04672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MENA skin tones are the most</a:t>
            </a:r>
            <a:endParaRPr lang="en-US" sz="36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underserved in global beauty models.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03520" cy="3703320"/>
          </a:xfrm>
          <a:prstGeom prst="rect">
            <a:avLst/>
          </a:prstGeom>
          <a:solidFill>
            <a:srgbClr val="2D0050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1214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model gap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478024"/>
            <a:ext cx="5212080" cy="402336"/>
          </a:xfrm>
          <a:prstGeom prst="rect">
            <a:avLst/>
          </a:prstGeom>
          <a:solidFill>
            <a:srgbClr val="1A0035"/>
          </a:solidFill>
          <a:ln w="12700">
            <a:solidFill>
              <a:srgbClr val="1A00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542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beauty AI models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24912" y="25420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predominantly on Western &amp; East Asian skin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9809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undertone prevalence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24912" y="29809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 of MENA shoppers have warm undertones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3355848"/>
            <a:ext cx="5212080" cy="402336"/>
          </a:xfrm>
          <a:prstGeom prst="rect">
            <a:avLst/>
          </a:prstGeom>
          <a:solidFill>
            <a:srgbClr val="1A0035"/>
          </a:solidFill>
          <a:ln w="12700">
            <a:solidFill>
              <a:srgbClr val="1A00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4198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 &amp; golden brown range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24912" y="34198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tone cluster in UAE, KSA, Egypt — least covered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" y="3858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shade matching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24912" y="3858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'light/medium/dark' fails warm undertone nuance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4233672"/>
            <a:ext cx="5212080" cy="402336"/>
          </a:xfrm>
          <a:prstGeom prst="rect">
            <a:avLst/>
          </a:prstGeom>
          <a:solidFill>
            <a:srgbClr val="1A0035"/>
          </a:solidFill>
          <a:ln w="12700">
            <a:solidFill>
              <a:srgbClr val="1A00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4297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mover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24912" y="4297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beauty platform in MENA has a skin-tone-aware AI shelf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0" y="1965960"/>
            <a:ext cx="5212080" cy="3703320"/>
          </a:xfrm>
          <a:prstGeom prst="rect">
            <a:avLst/>
          </a:prstGeom>
          <a:solidFill>
            <a:srgbClr val="E91E8C">
              <a:alpha val="12000"/>
            </a:srgbClr>
          </a:solidFill>
          <a:ln w="12700">
            <a:solidFill>
              <a:srgbClr val="E91E8C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01968" y="21214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talabat advantage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37960" y="2578608"/>
            <a:ext cx="4937760" cy="877824"/>
          </a:xfrm>
          <a:prstGeom prst="rect">
            <a:avLst/>
          </a:prstGeom>
          <a:solidFill>
            <a:srgbClr val="2D0050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01968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132320" y="268833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delivery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0" y="298094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scan-to-shelf-to-door experience is unique to talabat. No global beauty brand offers this.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37960" y="3584448"/>
            <a:ext cx="4937760" cy="877824"/>
          </a:xfrm>
          <a:prstGeom prst="rect">
            <a:avLst/>
          </a:prstGeom>
          <a:solidFill>
            <a:srgbClr val="2D0050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01968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132320" y="369417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MENA-native dataset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0" y="398678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our own warm-undertone training set from day one — a dataset competitors can't buy.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37960" y="4590288"/>
            <a:ext cx="4937760" cy="877824"/>
          </a:xfrm>
          <a:prstGeom prst="rect">
            <a:avLst/>
          </a:prstGeom>
          <a:solidFill>
            <a:srgbClr val="2D0050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01968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132320" y="470001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feedback loop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32320" y="499262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buy, rate, and return improves the model. The shelf gets smarter with every order.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256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75488"/>
            <a:ext cx="54864" cy="47548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754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04672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36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layers. One shelf</a:t>
            </a:r>
            <a:endParaRPr lang="en-US" sz="36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6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knows your skin.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657600" cy="3767328"/>
          </a:xfrm>
          <a:prstGeom prst="rect">
            <a:avLst/>
          </a:prstGeom>
          <a:solidFill>
            <a:srgbClr val="FDF5FF"/>
          </a:solidFill>
          <a:ln w="6350">
            <a:solidFill>
              <a:srgbClr val="E8D0F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65960"/>
            <a:ext cx="3657600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103120"/>
            <a:ext cx="365760" cy="219456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1031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21031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90-second onboarding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248716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skin scan — detects tone, undertone, depth, texture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87121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 confirms or adjusts tone (4 warm/cool chips)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325526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5-question quiz: skin type, concerns, budget, brands, goal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" y="36393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is created immediately — no account required to start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" y="5193792"/>
            <a:ext cx="3337560" cy="384048"/>
          </a:xfrm>
          <a:prstGeom prst="rect">
            <a:avLst/>
          </a:prstGeom>
          <a:solidFill>
            <a:srgbClr val="F0E0F8"/>
          </a:solidFill>
          <a:ln w="6350">
            <a:solidFill>
              <a:srgbClr val="E0C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5221224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0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90 seconds average · Works without camera (manual fallback)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07408" y="1965960"/>
            <a:ext cx="3657600" cy="3767328"/>
          </a:xfrm>
          <a:prstGeom prst="rect">
            <a:avLst/>
          </a:prstGeom>
          <a:solidFill>
            <a:srgbClr val="FDF5FF"/>
          </a:solidFill>
          <a:ln w="6350">
            <a:solidFill>
              <a:srgbClr val="E8D0F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07408" y="1965960"/>
            <a:ext cx="3657600" cy="54864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103120"/>
            <a:ext cx="365760" cy="219456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1031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47488" y="21031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Personalised match shelf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248716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gets a match % score (e.g. 97%) with 3 reasons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0" y="287121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ranked: top matches first, partial matches shown honestly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0" y="325526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filtered to shoppers with similar skin profile + MENA location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0" y="36393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shade pre-selected based on scan — shopper taps to confirm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0" y="5193792"/>
            <a:ext cx="3337560" cy="384048"/>
          </a:xfrm>
          <a:prstGeom prst="rect">
            <a:avLst/>
          </a:prstGeom>
          <a:solidFill>
            <a:srgbClr val="F0E0F8"/>
          </a:solidFill>
          <a:ln w="6350">
            <a:solidFill>
              <a:srgbClr val="E0C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08576" y="5221224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0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+45% conversion vs generic shelf · -31% return rate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66176" y="1965960"/>
            <a:ext cx="3657600" cy="3767328"/>
          </a:xfrm>
          <a:prstGeom prst="rect">
            <a:avLst/>
          </a:prstGeom>
          <a:solidFill>
            <a:srgbClr val="FDF5FF"/>
          </a:solidFill>
          <a:ln w="6350">
            <a:solidFill>
              <a:srgbClr val="E8D0F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66176" y="1965960"/>
            <a:ext cx="36576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30768" y="2103120"/>
            <a:ext cx="365760" cy="21945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30768" y="21031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906256" y="21031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loop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30768" y="248716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purchase, rating, and return feeds back into the model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430768" y="287121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accuracy improves measurably after 3 orders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430768" y="325526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Replenishment nudge sent at predicted run-out date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430768" y="36393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can't replicate — profile is built on your specific history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430768" y="5193792"/>
            <a:ext cx="3337560" cy="384048"/>
          </a:xfrm>
          <a:prstGeom prst="rect">
            <a:avLst/>
          </a:prstGeom>
          <a:solidFill>
            <a:srgbClr val="F0E0F8"/>
          </a:solidFill>
          <a:ln w="6350">
            <a:solidFill>
              <a:srgbClr val="E0C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67344" y="5221224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0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Switching cost grows with each order · LTV 2.8× non-personalised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256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1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75488"/>
            <a:ext cx="54864" cy="47548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754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04672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36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principles that turn</a:t>
            </a:r>
            <a:endParaRPr lang="en-US" sz="36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6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recommendation into a purchase.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1005840"/>
          </a:xfrm>
          <a:prstGeom prst="rect">
            <a:avLst/>
          </a:prstGeom>
          <a:solidFill>
            <a:srgbClr val="2D0050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65960"/>
            <a:ext cx="54864" cy="100584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075688"/>
            <a:ext cx="365760" cy="219456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756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70432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% with reasoning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2368296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shows 97% — not just a badge, but five labelled dimension bars: skin tone, skin type, concern match, specific feature (no white cast), MENA climate. The shopper sees exactly why the model chose this product.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0" y="2167128"/>
            <a:ext cx="4023360" cy="585216"/>
          </a:xfrm>
          <a:prstGeom prst="rect">
            <a:avLst/>
          </a:prstGeom>
          <a:solidFill>
            <a:srgbClr val="1A0035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6096" y="21854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626096" y="23865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show a match without at least 3 reasons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11064240" cy="1005840"/>
          </a:xfrm>
          <a:prstGeom prst="rect">
            <a:avLst/>
          </a:prstGeom>
          <a:solidFill>
            <a:srgbClr val="2D0050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063240"/>
            <a:ext cx="54864" cy="100584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172968"/>
            <a:ext cx="365760" cy="219456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17296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70432" y="3154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partial matches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70432" y="3465576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ranked 78% are shown with an amber badge and an explicit caveat: 'Heavy for combo skin'. Hiding imperfect matches erodes trust. Showing them honestly makes the 97% scores credible — the model is seen to be doing real work.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98080" y="3264408"/>
            <a:ext cx="4023360" cy="585216"/>
          </a:xfrm>
          <a:prstGeom prst="rect">
            <a:avLst/>
          </a:prstGeom>
          <a:solidFill>
            <a:srgbClr val="1A0035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6096" y="32826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626096" y="34838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every tier; never inflate a score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11064240" cy="1005840"/>
          </a:xfrm>
          <a:prstGeom prst="rect">
            <a:avLst/>
          </a:prstGeom>
          <a:solidFill>
            <a:srgbClr val="2D0050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160520"/>
            <a:ext cx="54864" cy="10058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4270248"/>
            <a:ext cx="365760" cy="21945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2702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70432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MENA-filtered reviews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70432" y="4562856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 shows review count from MENA shoppers specifically, reviewer skin tone, and location. A 4.9 rating from 2,341 UAE shoppers with medium warm skin is dramatically more useful than a global aggregate.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498080" y="4361688"/>
            <a:ext cx="4023360" cy="585216"/>
          </a:xfrm>
          <a:prstGeom prst="rect">
            <a:avLst/>
          </a:prstGeom>
          <a:solidFill>
            <a:srgbClr val="1A0035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26096" y="43799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626096" y="45811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show similar-profile reviews first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5257800"/>
            <a:ext cx="11064240" cy="1005840"/>
          </a:xfrm>
          <a:prstGeom prst="rect">
            <a:avLst/>
          </a:prstGeom>
          <a:solidFill>
            <a:srgbClr val="2D0050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5257800"/>
            <a:ext cx="54864" cy="10058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5367528"/>
            <a:ext cx="365760" cy="219456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536752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70432" y="5349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 pre-selected, confirmable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70432" y="5660136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pre-selects the recommended shade based on the scan. The shopper taps to change it — they're never locked in. This removes the biggest cognitive load in foundation buying while keeping the shopper in control.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498080" y="5458968"/>
            <a:ext cx="4023360" cy="585216"/>
          </a:xfrm>
          <a:prstGeom prst="rect">
            <a:avLst/>
          </a:prstGeom>
          <a:solidFill>
            <a:srgbClr val="1A0035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26096" y="54772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626096" y="56784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auto-add a product; always require shopper confirmation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256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75488"/>
            <a:ext cx="54864" cy="47548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754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04672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36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Personalisation pays for itself</a:t>
            </a:r>
            <a:endParaRPr lang="en-US" sz="36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6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through AOV, returns, and LTV.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2743200" cy="1828800"/>
          </a:xfrm>
          <a:prstGeom prst="rect">
            <a:avLst/>
          </a:prstGeom>
          <a:solidFill>
            <a:srgbClr val="FDF5FF"/>
          </a:solidFill>
          <a:ln w="6350">
            <a:solidFill>
              <a:srgbClr val="E8D0F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93392"/>
            <a:ext cx="2743200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2140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+AED 85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13232" y="27432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basket AOV lift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30175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shelf vs generic browse. Shoppers buy more confidently when they trust the match.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993392"/>
            <a:ext cx="2743200" cy="1828800"/>
          </a:xfrm>
          <a:prstGeom prst="rect">
            <a:avLst/>
          </a:prstGeom>
          <a:solidFill>
            <a:srgbClr val="FDF5FF"/>
          </a:solidFill>
          <a:ln w="6350">
            <a:solidFill>
              <a:srgbClr val="E8D0F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993392"/>
            <a:ext cx="2743200" cy="54864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212140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27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-31%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39312" y="27432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reduction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39312" y="30175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shade is the #1 return driver. Pre-selecting shade from scan eliminates most of these.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1993392"/>
            <a:ext cx="2743200" cy="1828800"/>
          </a:xfrm>
          <a:prstGeom prst="rect">
            <a:avLst/>
          </a:prstGeom>
          <a:solidFill>
            <a:srgbClr val="FDF5FF"/>
          </a:solidFill>
          <a:ln w="6350">
            <a:solidFill>
              <a:srgbClr val="E8D0F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1993392"/>
            <a:ext cx="27432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212140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2.8×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565392" y="27432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vs non-personalised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65392" y="30175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 users repurchase faster, add more SKUs, and churn later. Profile depth = retention.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326880" y="1993392"/>
            <a:ext cx="2743200" cy="1828800"/>
          </a:xfrm>
          <a:prstGeom prst="rect">
            <a:avLst/>
          </a:prstGeom>
          <a:solidFill>
            <a:srgbClr val="FDF5FF"/>
          </a:solidFill>
          <a:ln w="6350">
            <a:solidFill>
              <a:srgbClr val="E8D0F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26880" y="1993392"/>
            <a:ext cx="274320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91472" y="212140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+34%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491472" y="27432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Replenishment order rate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491472" y="30175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restock nudge at run-out date. Passive revenue from shoppers who don't need to remember.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023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P&amp;L — Month 12 (talabat Beauty personalised users)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370832"/>
            <a:ext cx="11064240" cy="274320"/>
          </a:xfrm>
          <a:prstGeom prst="rect">
            <a:avLst/>
          </a:prstGeom>
          <a:solidFill>
            <a:srgbClr val="F5EAFC"/>
          </a:solidFill>
          <a:ln w="12700">
            <a:solidFill>
              <a:srgbClr val="F5EA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440740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Beauty MAU (30% of Beauty MAU)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503920" y="44074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72,000 users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13232" y="46817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orders / personalised user / month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503920" y="46817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orders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919472"/>
            <a:ext cx="11064240" cy="274320"/>
          </a:xfrm>
          <a:prstGeom prst="rect">
            <a:avLst/>
          </a:prstGeom>
          <a:solidFill>
            <a:srgbClr val="F5EAFC"/>
          </a:solidFill>
          <a:ln w="12700">
            <a:solidFill>
              <a:srgbClr val="F5EA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49560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basket — personalised shelf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503920" y="49560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180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13232" y="52303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personalised GMV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503920" y="52303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40.1M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5468112"/>
            <a:ext cx="11064240" cy="274320"/>
          </a:xfrm>
          <a:prstGeom prst="rect">
            <a:avLst/>
          </a:prstGeom>
          <a:solidFill>
            <a:srgbClr val="F5EAFC"/>
          </a:solidFill>
          <a:ln w="12700">
            <a:solidFill>
              <a:srgbClr val="F5EA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55046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Talabat take rate (14%)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503920" y="55046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5.61M / month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13232" y="577900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infra + content ops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503920" y="57790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AED 820K / month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6016752"/>
            <a:ext cx="11064240" cy="274320"/>
          </a:xfrm>
          <a:prstGeom prst="rect">
            <a:avLst/>
          </a:prstGeom>
          <a:solidFill>
            <a:srgbClr val="F5EAFC"/>
          </a:solidFill>
          <a:ln w="12700">
            <a:solidFill>
              <a:srgbClr val="F5EA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" y="60533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contribution from personalisation layer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503920" y="60533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4.79M / month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13232" y="63276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vs non-personalised baseline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503920" y="63276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AED 2.1M / month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256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1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75488"/>
            <a:ext cx="54864" cy="47548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754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MOAT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04672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MENA skin-tone dataset is the asset.</a:t>
            </a:r>
            <a:endParaRPr lang="en-US" sz="36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one can buy it — it has to be earned.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0" y="1965960"/>
            <a:ext cx="4206240" cy="4114800"/>
          </a:xfrm>
          <a:prstGeom prst="ellipse">
            <a:avLst/>
          </a:prstGeom>
          <a:solidFill>
            <a:srgbClr val="2D0050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0" y="34747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flywheel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023360" y="43159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Self-reinforcing,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over time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2926080" cy="1188720"/>
          </a:xfrm>
          <a:prstGeom prst="rect">
            <a:avLst/>
          </a:prstGeom>
          <a:solidFill>
            <a:srgbClr val="2D0050"/>
          </a:solidFill>
          <a:ln w="6350">
            <a:solidFill>
              <a:srgbClr val="E91E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48840"/>
            <a:ext cx="2926080" cy="4572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22585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scan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" y="2551176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onboarding adds a labelled data point: tone, undertone, skin type, concern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0" y="2148840"/>
            <a:ext cx="2926080" cy="1188720"/>
          </a:xfrm>
          <a:prstGeom prst="rect">
            <a:avLst/>
          </a:prstGeom>
          <a:solidFill>
            <a:srgbClr val="2D0050"/>
          </a:solidFill>
          <a:ln w="6350">
            <a:solidFill>
              <a:srgbClr val="9C27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2148840"/>
            <a:ext cx="2926080" cy="4572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75904" y="22585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improves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75904" y="2551176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MENA data → more accurate tone detection and product matching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389120"/>
            <a:ext cx="2926080" cy="1188720"/>
          </a:xfrm>
          <a:prstGeom prst="rect">
            <a:avLst/>
          </a:prstGeom>
          <a:solidFill>
            <a:srgbClr val="2D0050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389120"/>
            <a:ext cx="292608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" y="4498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shoppers join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3504" y="4791456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accuracy becomes a referral story — 'talabat actually knows my skin'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0" y="4389120"/>
            <a:ext cx="2926080" cy="1188720"/>
          </a:xfrm>
          <a:prstGeom prst="rect">
            <a:avLst/>
          </a:prstGeom>
          <a:solidFill>
            <a:srgbClr val="2D0050"/>
          </a:solidFill>
          <a:ln w="6350">
            <a:solidFill>
              <a:srgbClr val="FFB3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4389120"/>
            <a:ext cx="292608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75904" y="4498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&amp; ratings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75904" y="4791456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buy and return labels the dataset: what worked, what didn't, for whom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5623560"/>
            <a:ext cx="11064240" cy="594360"/>
          </a:xfrm>
          <a:prstGeom prst="rect">
            <a:avLst/>
          </a:prstGeom>
          <a:solidFill>
            <a:srgbClr val="E91E8C">
              <a:alpha val="12000"/>
            </a:srgbClr>
          </a:solidFill>
          <a:ln w="6350">
            <a:solidFill>
              <a:srgbClr val="E91E8C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6875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reality: Noon Beauty and Carrefour have zero skin-tone AI. Sephora's global model misclassifies warm MENA undertones. The window is open — but it won't stay open.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256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75488"/>
            <a:ext cx="54864" cy="47548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754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04672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36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with 5,000 profiles.</a:t>
            </a:r>
            <a:endParaRPr lang="en-US" sz="36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6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with the data.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657600" cy="3794760"/>
          </a:xfrm>
          <a:prstGeom prst="rect">
            <a:avLst/>
          </a:prstGeom>
          <a:solidFill>
            <a:srgbClr val="FDF5FF"/>
          </a:solidFill>
          <a:ln w="6350">
            <a:solidFill>
              <a:srgbClr val="E8D0F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65960"/>
            <a:ext cx="3657600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103120"/>
            <a:ext cx="1572768" cy="201168"/>
          </a:xfrm>
          <a:prstGeom prst="rect">
            <a:avLst/>
          </a:prstGeom>
          <a:solidFill>
            <a:srgbClr val="E91E8C">
              <a:alpha val="20000"/>
            </a:srgbClr>
          </a:solidFill>
          <a:ln w="12700">
            <a:solidFill>
              <a:srgbClr val="E91E8C">
                <a:alpha val="3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10312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Wk 1–8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13232" y="241401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 beta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" y="285292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invited users — Beauty power shoppers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320040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model calibration by in-house beauty team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354787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hero brands sign on: Charlotte Tilbury, La Roche-Posay, Fenty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" y="389534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Collect: scan data, quiz responses, purchase feedback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" y="5193792"/>
            <a:ext cx="3337560" cy="402336"/>
          </a:xfrm>
          <a:prstGeom prst="rect">
            <a:avLst/>
          </a:prstGeom>
          <a:solidFill>
            <a:srgbClr val="E91E8C">
              <a:alpha val="12000"/>
            </a:srgbClr>
          </a:solidFill>
          <a:ln w="12700">
            <a:solidFill>
              <a:srgbClr val="E91E8C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5221224"/>
            <a:ext cx="3264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Go/no-go: 70% of users rate shelf 'very relevant' in exit survey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07408" y="1965960"/>
            <a:ext cx="3657600" cy="3794760"/>
          </a:xfrm>
          <a:prstGeom prst="rect">
            <a:avLst/>
          </a:prstGeom>
          <a:solidFill>
            <a:srgbClr val="FDF5FF"/>
          </a:solidFill>
          <a:ln w="6350">
            <a:solidFill>
              <a:srgbClr val="E8D0F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07408" y="1965960"/>
            <a:ext cx="3657600" cy="54864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103120"/>
            <a:ext cx="1572768" cy="201168"/>
          </a:xfrm>
          <a:prstGeom prst="rect">
            <a:avLst/>
          </a:prstGeom>
          <a:solidFill>
            <a:srgbClr val="9C27B0">
              <a:alpha val="20000"/>
            </a:srgbClr>
          </a:solidFill>
          <a:ln w="12700">
            <a:solidFill>
              <a:srgbClr val="9C27B0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10312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Month 3–6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0" y="241401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UAE rollout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0" y="285292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UAE launch — all Beauty MAU offered onboarding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0" y="320040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shade quiz (no camera required) added as fallback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0" y="354787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dashboard launched — brands see match stats by tone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0" y="389534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Cross-sell: personalised shelf feeds talabat Reels ranking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0" y="5193792"/>
            <a:ext cx="3337560" cy="402336"/>
          </a:xfrm>
          <a:prstGeom prst="rect">
            <a:avLst/>
          </a:prstGeom>
          <a:solidFill>
            <a:srgbClr val="9C27B0">
              <a:alpha val="12000"/>
            </a:srgbClr>
          </a:solidFill>
          <a:ln w="12700">
            <a:solidFill>
              <a:srgbClr val="9C27B0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08576" y="5221224"/>
            <a:ext cx="3264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Go/no-go: Personalised users at -25% return rate vs baseline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66176" y="1965960"/>
            <a:ext cx="3657600" cy="3794760"/>
          </a:xfrm>
          <a:prstGeom prst="rect">
            <a:avLst/>
          </a:prstGeom>
          <a:solidFill>
            <a:srgbClr val="FDF5FF"/>
          </a:solidFill>
          <a:ln w="6350">
            <a:solidFill>
              <a:srgbClr val="E8D0F4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66176" y="1965960"/>
            <a:ext cx="36576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30768" y="2103120"/>
            <a:ext cx="1572768" cy="201168"/>
          </a:xfrm>
          <a:prstGeom prst="rect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30768" y="210312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Month 7–12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430768" y="241401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MENA expansion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430768" y="285292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KSA, Kuwait, Egypt — MENA skin dataset expands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430768" y="320040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retrained with regional tone variation data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430768" y="354787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Gifting feature: match a product to a friend's profile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430768" y="389534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A3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+ AI Match: creator tags product → viewer sees their match %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430768" y="5193792"/>
            <a:ext cx="3337560" cy="402336"/>
          </a:xfrm>
          <a:prstGeom prst="rect">
            <a:avLst/>
          </a:prstGeom>
          <a:solidFill>
            <a:srgbClr val="00BCD4">
              <a:alpha val="12000"/>
            </a:srgbClr>
          </a:solidFill>
          <a:ln w="12700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67344" y="5221224"/>
            <a:ext cx="3264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Target: AED 4.79M net / month from personalised GMV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256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75488"/>
            <a:ext cx="54864" cy="47548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754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04672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36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success looks like</a:t>
            </a:r>
            <a:endParaRPr lang="en-US" sz="36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600" b="1" dirty="0">
                <a:solidFill>
                  <a:srgbClr val="1A0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each stage of the funnel.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868680"/>
          </a:xfrm>
          <a:prstGeom prst="rect">
            <a:avLst/>
          </a:prstGeom>
          <a:solidFill>
            <a:srgbClr val="0F0020"/>
          </a:solidFill>
          <a:ln w="12700">
            <a:solidFill>
              <a:srgbClr val="0F0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842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249424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 onboarding rate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54880" y="2084832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Beauty MAU who complete the skin scan + quiz and receive a personalised shelf — target 35% by Month 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1064240" cy="310896"/>
          </a:xfrm>
          <a:prstGeom prst="rect">
            <a:avLst/>
          </a:prstGeom>
          <a:solidFill>
            <a:srgbClr val="F5EAFC"/>
          </a:solidFill>
          <a:ln w="6350">
            <a:solidFill>
              <a:srgbClr val="E8D0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6265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28800" y="296265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0" y="296265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321040" y="296265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058400" y="29626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64240" cy="374904"/>
          </a:xfrm>
          <a:prstGeom prst="rect">
            <a:avLst/>
          </a:prstGeom>
          <a:solidFill>
            <a:srgbClr val="F5EAFC"/>
          </a:solidFill>
          <a:ln w="12700">
            <a:solidFill>
              <a:srgbClr val="F5EA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310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28800" y="33101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completion rate (of those who start)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3310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21040" y="3310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72%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58400" y="33101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50% = simplify flow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5800" y="3685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28800" y="36850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completion rate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0" y="36850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321040" y="3685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85%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058400" y="3685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65% = reduce questions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023360"/>
            <a:ext cx="11064240" cy="374904"/>
          </a:xfrm>
          <a:prstGeom prst="rect">
            <a:avLst/>
          </a:prstGeom>
          <a:solidFill>
            <a:srgbClr val="F5EAFC"/>
          </a:solidFill>
          <a:ln w="12700">
            <a:solidFill>
              <a:srgbClr val="F5EA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0599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828800" y="40599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shelf CVR vs generic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0" y="40599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21040" y="40599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+45%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058400" y="40599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+20% = review ranking model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5800" y="4434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828800" y="4434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return rate (personalised users)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00800" y="4434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avg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321040" y="4434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-31%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058400" y="4434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-15% = shade model issue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4773168"/>
            <a:ext cx="11064240" cy="374904"/>
          </a:xfrm>
          <a:prstGeom prst="rect">
            <a:avLst/>
          </a:prstGeom>
          <a:solidFill>
            <a:srgbClr val="F5EAFC"/>
          </a:solidFill>
          <a:ln w="12700">
            <a:solidFill>
              <a:srgbClr val="F5EA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48097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828800" y="480974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repeat purchase rate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00800" y="48097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321040" y="48097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38%+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058400" y="48097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85800" y="5184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828800" y="51846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profile retention (still shopping personalised)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400800" y="51846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321040" y="5184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70%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0058400" y="51846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50% = churn model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48640" y="5522976"/>
            <a:ext cx="11064240" cy="374904"/>
          </a:xfrm>
          <a:prstGeom prst="rect">
            <a:avLst/>
          </a:prstGeom>
          <a:solidFill>
            <a:srgbClr val="F5EAFC"/>
          </a:solidFill>
          <a:ln w="12700">
            <a:solidFill>
              <a:srgbClr val="F5EA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55595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828800" y="55595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basket — personalised vs generic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400800" y="55595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95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8321040" y="55595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180+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0058400" y="55595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" y="59344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828800" y="59344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 user satisfaction (post-purchase survey)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400800" y="59344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321040" y="59344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4.2 / 5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10058400" y="59344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3.5 = retrain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6400800" cy="6400800"/>
          </a:xfrm>
          <a:prstGeom prst="ellipse">
            <a:avLst/>
          </a:prstGeom>
          <a:solidFill>
            <a:srgbClr val="E91E8C">
              <a:alpha val="10000"/>
            </a:srgbClr>
          </a:solidFill>
          <a:ln w="12700">
            <a:solidFill>
              <a:srgbClr val="E91E8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572000"/>
            <a:ext cx="4572000" cy="4572000"/>
          </a:xfrm>
          <a:prstGeom prst="ellipse">
            <a:avLst/>
          </a:prstGeom>
          <a:solidFill>
            <a:srgbClr val="9C27B0">
              <a:alpha val="9000"/>
            </a:srgbClr>
          </a:solidFill>
          <a:ln w="12700">
            <a:solidFill>
              <a:srgbClr val="9C27B0">
                <a:alpha val="9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0" y="256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1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"/>
            <a:ext cx="54864" cy="47548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754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804672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 users. 8 weeks.</a:t>
            </a:r>
            <a:endParaRPr lang="en-US" sz="36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the model works.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5029200" cy="1536192"/>
          </a:xfrm>
          <a:prstGeom prst="rect">
            <a:avLst/>
          </a:prstGeom>
          <a:solidFill>
            <a:srgbClr val="2D0050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494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Engineering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58775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ML engineer (skin tone model) + 1 mobile engineer (scan flow) + 1 backend (personalisation API). 8-week sprint. Model runs on-device for scan; ranking API is server-side.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1993392"/>
            <a:ext cx="5029200" cy="1536192"/>
          </a:xfrm>
          <a:prstGeom prst="rect">
            <a:avLst/>
          </a:prstGeom>
          <a:solidFill>
            <a:srgbClr val="2D0050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22494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72200" y="258775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product designer — onboarding flow, match shelf, match breakdown panel. Figma prototype ready — core UX designed and tested. 4-week scope.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029200" cy="1536192"/>
          </a:xfrm>
          <a:prstGeom prst="rect">
            <a:avLst/>
          </a:prstGeom>
          <a:solidFill>
            <a:srgbClr val="2D0050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0050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partnerships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343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launch brands signed (Charlotte Tilbury, La Roche-Posay, Fenty). Brands provide shade swatch assets and SKU data for the shade-matching model.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0" y="3749040"/>
            <a:ext cx="5029200" cy="1536192"/>
          </a:xfrm>
          <a:prstGeom prst="rect">
            <a:avLst/>
          </a:prstGeom>
          <a:solidFill>
            <a:srgbClr val="2D0050"/>
          </a:solidFill>
          <a:ln w="6350">
            <a:solidFill>
              <a:srgbClr val="4A2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40050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Beauty ops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4343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beauty category expert to QA match scores during beta. 1 data analyst for A/B test framework and satisfaction survey pipeline.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504688"/>
            <a:ext cx="11064240" cy="54864"/>
          </a:xfrm>
          <a:prstGeom prst="rect">
            <a:avLst/>
          </a:prstGeom>
          <a:solidFill>
            <a:srgbClr val="3A1055"/>
          </a:solidFill>
          <a:ln w="12700">
            <a:solidFill>
              <a:srgbClr val="3A10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" y="5431536"/>
            <a:ext cx="164592" cy="164592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-109728" y="56235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1: Brand sign + model setup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70632" y="5431536"/>
            <a:ext cx="164592" cy="164592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84832" y="56235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2–3: Scan + quiz build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65192" y="5431536"/>
            <a:ext cx="164592" cy="164592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79392" y="56235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4–5: Shelf + matching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159752" y="5431536"/>
            <a:ext cx="164592" cy="164592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56235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6: Beta launch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354312" y="5431536"/>
            <a:ext cx="164592" cy="164592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68512" y="56235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0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7–8: Iterate + measure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Beauty Match — talabat Beauty</dc:title>
  <dc:subject>PptxGenJS Presentation</dc:subject>
  <dc:creator>PptxGenJS</dc:creator>
  <cp:lastModifiedBy>PptxGenJS</cp:lastModifiedBy>
  <cp:revision>1</cp:revision>
  <dcterms:created xsi:type="dcterms:W3CDTF">2026-05-21T02:49:23Z</dcterms:created>
  <dcterms:modified xsi:type="dcterms:W3CDTF">2026-05-21T02:49:23Z</dcterms:modified>
</cp:coreProperties>
</file>