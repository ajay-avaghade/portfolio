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-457200" y="0"/>
            <a:ext cx="3200400" cy="0"/>
          </a:xfrm>
          <a:prstGeom prst="line">
            <a:avLst/>
          </a:prstGeom>
          <a:noFill/>
          <a:ln w="508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14400" y="0"/>
            <a:ext cx="3200400" cy="0"/>
          </a:xfrm>
          <a:prstGeom prst="line">
            <a:avLst/>
          </a:prstGeom>
          <a:noFill/>
          <a:ln w="508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2286000" y="0"/>
            <a:ext cx="3200400" cy="0"/>
          </a:xfrm>
          <a:prstGeom prst="line">
            <a:avLst/>
          </a:prstGeom>
          <a:noFill/>
          <a:ln w="508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3657600" y="0"/>
            <a:ext cx="3200400" cy="0"/>
          </a:xfrm>
          <a:prstGeom prst="line">
            <a:avLst/>
          </a:prstGeom>
          <a:noFill/>
          <a:ln w="508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5029200" y="0"/>
            <a:ext cx="3200400" cy="0"/>
          </a:xfrm>
          <a:prstGeom prst="line">
            <a:avLst/>
          </a:prstGeom>
          <a:noFill/>
          <a:ln w="508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6400800" y="0"/>
            <a:ext cx="3200400" cy="0"/>
          </a:xfrm>
          <a:prstGeom prst="line">
            <a:avLst/>
          </a:prstGeom>
          <a:noFill/>
          <a:ln w="508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7772400" y="0"/>
            <a:ext cx="3200400" cy="0"/>
          </a:xfrm>
          <a:prstGeom prst="line">
            <a:avLst/>
          </a:prstGeom>
          <a:noFill/>
          <a:ln w="508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9144000" y="0"/>
            <a:ext cx="3200400" cy="0"/>
          </a:xfrm>
          <a:prstGeom prst="line">
            <a:avLst/>
          </a:prstGeom>
          <a:noFill/>
          <a:ln w="508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TECHNOLOGIES  ·  PRODUCT MANAGER — MARTECH &amp; GROWTH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621792"/>
            <a:ext cx="8229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GrowthOS</a:t>
            </a:r>
            <a:endParaRPr lang="en-US" sz="680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146304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105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MarTech Intelligence Layer Powering Navi CLTV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CDP-unified user profiles · Propensity-ranked product recommendations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variant engine · Precision offer calibration · Campaign analytics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931920"/>
            <a:ext cx="2377440" cy="1737360"/>
          </a:xfrm>
          <a:prstGeom prst="rect">
            <a:avLst/>
          </a:prstGeom>
          <a:solidFill>
            <a:srgbClr val="0A2B18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492240" y="46817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conversion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3093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Growth &amp; MarTech PM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0" y="137160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0" b="1" dirty="0">
                <a:solidFill>
                  <a:srgbClr val="00C853">
                    <a:alpha val="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Acquires Users. It Struggles to Keep Them, Cross-Sell to Them, or Spend Efficiently on Them.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3017520"/>
          </a:xfrm>
          <a:prstGeom prst="rect">
            <a:avLst/>
          </a:prstGeom>
          <a:solidFill>
            <a:srgbClr val="0A2B18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642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66928" y="272491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transact on only 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product category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Loans, Insurance — most users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cross the category wall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51760" cy="3017520"/>
          </a:xfrm>
          <a:prstGeom prst="rect">
            <a:avLst/>
          </a:prstGeom>
          <a:solidFill>
            <a:srgbClr val="0A2B18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642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0848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₹142 Cr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01568" y="272491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spray-and-pray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campaigns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3337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discounts given to high-intent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would convert anyway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51760" cy="3017520"/>
          </a:xfrm>
          <a:prstGeom prst="rect">
            <a:avLst/>
          </a:prstGeom>
          <a:solidFill>
            <a:srgbClr val="0A2B18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642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0848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36208" y="272491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budget spent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wrong propensity band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17920" y="3337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users receive offers;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LOW-intent users get same blast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412480" cy="822960"/>
          </a:xfrm>
          <a:prstGeom prst="rect">
            <a:avLst/>
          </a:prstGeom>
          <a:solidFill>
            <a:srgbClr val="0E352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46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unified user profile → no personalization → every campaign is a guess. Navi is burning budget on the wrong people, at the wrong time, with the wrong message — because there is no intelligence layer connecting data to action.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Spray-and-Pray Wastes Budget. Precision MarTech Converts the Right User at the Right Cost.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840480" cy="3474720"/>
          </a:xfrm>
          <a:prstGeom prst="rect">
            <a:avLst/>
          </a:prstGeom>
          <a:solidFill>
            <a:srgbClr val="FFF3F3"/>
          </a:solidFill>
          <a:ln w="15240">
            <a:solidFill>
              <a:srgbClr val="E5737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campaign blast to all users regardless of intent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offer size for everyone — no calibration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copy — no story variant selection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suppression of non-convertible 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feedback loop — campaign learnings lost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33088" y="2606040"/>
            <a:ext cx="640080" cy="640080"/>
          </a:xfrm>
          <a:prstGeom prst="ellipse">
            <a:avLst/>
          </a:prstGeom>
          <a:solidFill>
            <a:srgbClr val="0D1F15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3088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3931920" cy="3474720"/>
          </a:xfrm>
          <a:prstGeom prst="rect">
            <a:avLst/>
          </a:prstGeom>
          <a:solidFill>
            <a:srgbClr val="EFFFEE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GrowthOS (Proposed)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CDP profile scores propensity per product per user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5146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Offer only to MED-band; suppress HIGH &amp; 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calibrated offer — not a flat discount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5204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Story variant engine picks Aspiration / Fear / Social Proof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40233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loop retrains models every campaign cycle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5102352"/>
            <a:ext cx="8321040" cy="749808"/>
          </a:xfrm>
          <a:prstGeom prst="rect">
            <a:avLst/>
          </a:prstGeom>
          <a:solidFill>
            <a:srgbClr val="071A12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517550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cost of an offer is zero if the user was going to convert anyway. The cost of suppressing a non-convertible user is also zero. GrowthOS captures both savings — ₹106 Cr back to P&amp;L per campaign cycle.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Intelligence Stack: From Raw Signal to Calibrated Conversion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8449056" cy="804672"/>
          </a:xfrm>
          <a:prstGeom prst="rect">
            <a:avLst/>
          </a:prstGeom>
          <a:solidFill>
            <a:srgbClr val="071A12"/>
          </a:solidFill>
          <a:ln w="8890">
            <a:solidFill>
              <a:srgbClr val="00C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3441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— Unified Profile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367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signals: transactions, app behavior, support tickets, product usage. Build a real-time scored profile per user with propensity bands (HIGH / MED / LOW) per product.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075688"/>
            <a:ext cx="0" cy="73152"/>
          </a:xfrm>
          <a:prstGeom prst="line">
            <a:avLst/>
          </a:prstGeom>
          <a:noFill/>
          <a:ln w="19050">
            <a:solidFill>
              <a:srgbClr val="00C85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47472" y="2148840"/>
            <a:ext cx="8449056" cy="804672"/>
          </a:xfrm>
          <a:prstGeom prst="rect">
            <a:avLst/>
          </a:prstGeom>
          <a:solidFill>
            <a:srgbClr val="071A12"/>
          </a:solidFill>
          <a:ln w="889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2585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511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Next Best Product (NBP) per user using propensity scores. Surface ranked recommendation in the right placement: home banner, post-transaction card, push, email.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990088"/>
            <a:ext cx="0" cy="73152"/>
          </a:xfrm>
          <a:prstGeom prst="line">
            <a:avLst/>
          </a:prstGeom>
          <a:noFill/>
          <a:ln w="19050">
            <a:solidFill>
              <a:srgbClr val="00C85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47472" y="3063240"/>
            <a:ext cx="8449056" cy="804672"/>
          </a:xfrm>
          <a:prstGeom prst="rect">
            <a:avLst/>
          </a:prstGeom>
          <a:solidFill>
            <a:srgbClr val="071A12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1729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515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Variant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4655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narrative frame per user segment: Aspiration (upwardly mobile), Fear (risk-averse), or Social Proof (peer-influenced). One product, three CRM messages.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904488"/>
            <a:ext cx="0" cy="73152"/>
          </a:xfrm>
          <a:prstGeom prst="line">
            <a:avLst/>
          </a:prstGeom>
          <a:noFill/>
          <a:ln w="19050">
            <a:solidFill>
              <a:srgbClr val="FFB80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47472" y="3977640"/>
            <a:ext cx="8449056" cy="804672"/>
          </a:xfrm>
          <a:prstGeom prst="rect">
            <a:avLst/>
          </a:prstGeom>
          <a:solidFill>
            <a:srgbClr val="071A12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0873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5156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Calibration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799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HIGH-band users (&gt;0.7): no offer — they convert anyway. MED-band (0.4–0.7): minimum calibrated offer. LOW-band (&lt;0.4): suppressed. Budget saved: ₹106 Cr per cycle.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818888"/>
            <a:ext cx="0" cy="73152"/>
          </a:xfrm>
          <a:prstGeom prst="line">
            <a:avLst/>
          </a:prstGeom>
          <a:noFill/>
          <a:ln w="19050">
            <a:solidFill>
              <a:srgbClr val="FFB80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47472" y="4892040"/>
            <a:ext cx="8449056" cy="804672"/>
          </a:xfrm>
          <a:prstGeom prst="rect">
            <a:avLst/>
          </a:prstGeom>
          <a:solidFill>
            <a:srgbClr val="071A12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50017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51560" y="4983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Feedback Loop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52943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CVR, CAC, and CLTV uplift per variant per band. Winner retrains recommendation model. Every campaign improves the next one automatically.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Propensity-to-Transact ML (same architecture) cut ₹1,000+ Cr/yr marketing burn by 32% at 350M MAU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Surfaces — Built &amp; Validated at PhonePe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1993392" cy="4645152"/>
          </a:xfrm>
          <a:prstGeom prst="rect">
            <a:avLst/>
          </a:prstGeom>
          <a:solidFill>
            <a:srgbClr val="071A12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07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Unified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2011680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◉ CLTV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₹18.4K→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₹47.2K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UPI  91%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Ins  78%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NBO: Ins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" y="38404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propensity ring, 4 product bands scored in real-time, NBO chip with story variant and offer size auto-filled.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05456" y="1115568"/>
            <a:ext cx="1993392" cy="4645152"/>
          </a:xfrm>
          <a:prstGeom prst="rect">
            <a:avLst/>
          </a:prstGeom>
          <a:solidFill>
            <a:srgbClr val="071A12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15184" y="1207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96896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Builder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Story Variant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78608" y="2011680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Segment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1.8M usr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[ASPIRTN]│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[fear   ]│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[social ]│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Preview→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96896" y="38404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selector, NBP placement row, and 3 story variant cards (Aspiration / Fear / Social Proof) with live consumer preview.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1993392" cy="4645152"/>
          </a:xfrm>
          <a:prstGeom prst="rect">
            <a:avLst/>
          </a:prstGeom>
          <a:solidFill>
            <a:srgbClr val="071A12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207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Calibration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2011680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HIGH &gt;0.7│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No offer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MED band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₹200 off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LOW &lt;0.4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Suppress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38404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band split view: HIGH no-offer, MED minimum cashback, LOW suppressed. Live budget math: ₹142 Cr → ₹36 Cr.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21424" y="1115568"/>
            <a:ext cx="1993392" cy="4645152"/>
          </a:xfrm>
          <a:prstGeom prst="rect">
            <a:avLst/>
          </a:prstGeom>
          <a:solidFill>
            <a:srgbClr val="071A12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31152" y="1207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12864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94576" y="2011680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CVR 28.4%│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CAC ₹180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Asp  31%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Fear 28%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Soc  24%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Saved ₹M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12864" y="384048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by variant (Aspiration 31% &gt; Fear 28% &gt; Social 24%), CLTV cohort uplift, and budget efficiency waterfall.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Built on PhonePe Proof Points at 350M MAU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4023360" cy="347472"/>
          </a:xfrm>
          <a:prstGeom prst="rect">
            <a:avLst/>
          </a:prstGeom>
          <a:solidFill>
            <a:srgbClr val="0A2B18"/>
          </a:solidFill>
          <a:ln w="6350">
            <a:solidFill>
              <a:srgbClr val="00C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16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PRODUCT IMPACT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4023360" cy="749808"/>
          </a:xfrm>
          <a:prstGeom prst="rect">
            <a:avLst/>
          </a:prstGeom>
          <a:solidFill>
            <a:srgbClr val="0A2B18"/>
          </a:solidFill>
          <a:ln w="6350">
            <a:solidFill>
              <a:srgbClr val="1A4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737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Next-product adoption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011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12% baseline from undifferentiated campaigns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487168"/>
            <a:ext cx="4023360" cy="749808"/>
          </a:xfrm>
          <a:prstGeom prst="rect">
            <a:avLst/>
          </a:prstGeom>
          <a:solidFill>
            <a:srgbClr val="0A2B18"/>
          </a:solidFill>
          <a:ln w="6350">
            <a:solidFill>
              <a:srgbClr val="1A4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91640" y="2560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CVR (GrowthOS cohort)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28346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17% baseline with static offer blasts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310128"/>
            <a:ext cx="4023360" cy="749808"/>
          </a:xfrm>
          <a:prstGeom prst="rect">
            <a:avLst/>
          </a:prstGeom>
          <a:solidFill>
            <a:srgbClr val="0A2B18"/>
          </a:solidFill>
          <a:ln w="6350">
            <a:solidFill>
              <a:srgbClr val="1A4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1.4×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91640" y="3383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uplift for converted users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3657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CDP-touched cohort vs untouched control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4133088"/>
            <a:ext cx="4023360" cy="749808"/>
          </a:xfrm>
          <a:prstGeom prst="rect">
            <a:avLst/>
          </a:prstGeom>
          <a:solidFill>
            <a:srgbClr val="0A2B18"/>
          </a:solidFill>
          <a:ln w="6350">
            <a:solidFill>
              <a:srgbClr val="1A4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−38%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91640" y="4206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 converted cohort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44805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 2+ products churn at 62% lower rate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170432"/>
            <a:ext cx="4114800" cy="347472"/>
          </a:xfrm>
          <a:prstGeom prst="rect">
            <a:avLst/>
          </a:prstGeom>
          <a:solidFill>
            <a:srgbClr val="2A1A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216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P&amp;L IMPACT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664208"/>
            <a:ext cx="4114800" cy="749808"/>
          </a:xfrm>
          <a:prstGeom prst="rect">
            <a:avLst/>
          </a:prstGeom>
          <a:solidFill>
            <a:srgbClr val="1A1000"/>
          </a:solidFill>
          <a:ln w="6350">
            <a:solidFill>
              <a:srgbClr val="3A2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355080" y="1737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per conversion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0116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Propensity-to-Transact ML shipped at PhonePe at 350M MAU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487168"/>
            <a:ext cx="4114800" cy="749808"/>
          </a:xfrm>
          <a:prstGeom prst="rect">
            <a:avLst/>
          </a:prstGeom>
          <a:solidFill>
            <a:srgbClr val="1A1000"/>
          </a:solidFill>
          <a:ln w="6350">
            <a:solidFill>
              <a:srgbClr val="3A2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₹106 Cr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35508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saved per campaign cycle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28346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calibration: ₹142 Cr flat → ₹36 Cr precision spend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10128"/>
            <a:ext cx="4114800" cy="749808"/>
          </a:xfrm>
          <a:prstGeom prst="rect">
            <a:avLst/>
          </a:prstGeom>
          <a:solidFill>
            <a:srgbClr val="1A1000"/>
          </a:solidFill>
          <a:ln w="6350">
            <a:solidFill>
              <a:srgbClr val="3A2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+₹8.2K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355080" y="3383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CLTV uplift per converted user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365760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₹10.7K control → ₹26.6K GrowthOS cohort CLTV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133088"/>
            <a:ext cx="4114800" cy="749808"/>
          </a:xfrm>
          <a:prstGeom prst="rect">
            <a:avLst/>
          </a:prstGeom>
          <a:solidFill>
            <a:srgbClr val="1A1000"/>
          </a:solidFill>
          <a:ln w="6350">
            <a:solidFill>
              <a:srgbClr val="3A2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355080" y="4206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 enableable via CRM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55080" y="44805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rewards marketplace at PhonePe — 11% YoY revenue growth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" y="5138928"/>
            <a:ext cx="8430768" cy="658368"/>
          </a:xfrm>
          <a:prstGeom prst="rect">
            <a:avLst/>
          </a:prstGeom>
          <a:solidFill>
            <a:srgbClr val="0E352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5212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benchmark: Propensity-to-Transact ML (same architecture) reduced marketing burn by 32% and sustained GMV at 350M MAU — proving that precision MarTech at scale is not a theory, it is a shipped product.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This. At 350M MAU. Here is the Direct Mapping.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4206240" cy="4069080"/>
          </a:xfrm>
          <a:prstGeom prst="rect">
            <a:avLst/>
          </a:prstGeom>
          <a:solidFill>
            <a:srgbClr val="071A12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664208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Propensity-to-Transact ML: Real-time user-level scoring replacing ₹1,000+ Cr/yr of static targeting → 32% marketing burn reduction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2340864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Dynamic Cart Incentivisation Engine: Context-aware triggers (cart value × intent × time) → 60% cart abandonment reduction at Pincode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3017520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ML-driven Rewards Marketplace: Audience segmentation + brand self-serve CRM tooling → 500+ partners, 26% engagement uplift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3694176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Offer Redemption Redesign: End-to-end eligibility logic + real-time surfacing → 22% checkout conversion lift at 350M MAU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4370832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B2B Merchant Onboarding Platform: KYC/KYB automation + parallel review → 5,000+ merchants, 23% lower CAC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73168" y="1115568"/>
            <a:ext cx="4023360" cy="4069080"/>
          </a:xfrm>
          <a:prstGeom prst="rect">
            <a:avLst/>
          </a:prstGeom>
          <a:solidFill>
            <a:srgbClr val="EFFFEE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234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This Role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664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GrowthOS CDP propensity scoring (same ML architecture, real-time, session-aware)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234086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GrowthOS Offer Calibration Engine (same context-aware trigger, minimum effective offer)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9472" y="3017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GrowthOS CRM Builder + Story Variant Engine (same audience segmentation + self-serve tooling)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9472" y="369417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GrowthOS recommendation surfacing (same eligibility logic applied to product recommendation)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43708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Navi B2B partner / brand onboarding (same KYB flow, same CAC reduction lever)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5321808"/>
            <a:ext cx="8430768" cy="566928"/>
          </a:xfrm>
          <a:prstGeom prst="rect">
            <a:avLst/>
          </a:prstGeom>
          <a:solidFill>
            <a:srgbClr val="071A1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94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mechanic in GrowthOS is a direct translation of something I shipped, measured, and iterated at PhonePe — at 10× the user scale of Navi today.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Build: CDP Foundation → Intelligence Engine → Full CLTV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724912" cy="4041648"/>
          </a:xfrm>
          <a:prstGeom prst="rect">
            <a:avLst/>
          </a:prstGeom>
          <a:solidFill>
            <a:srgbClr val="071A12"/>
          </a:solidFill>
          <a:ln w="15240">
            <a:solidFill>
              <a:srgbClr val="00C85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61872"/>
            <a:ext cx="1005840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36192" y="12801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Foundation &amp; Profile Scoring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217627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Ingest: transactions, app events, support, product usage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8346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propensity scoring pipeline (UPI / Loans / Insurance)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4930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 users into HIGH / MED / LOW bands per product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41513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metric: 80% of MAU profiled and banded within 60 days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170432"/>
            <a:ext cx="2724912" cy="4041648"/>
          </a:xfrm>
          <a:prstGeom prst="rect">
            <a:avLst/>
          </a:prstGeom>
          <a:solidFill>
            <a:srgbClr val="071A12"/>
          </a:solidFill>
          <a:ln w="1524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261872"/>
            <a:ext cx="1005840" cy="25603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07408" y="12801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28416" y="160020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+ Story Variant Engine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46704" y="217627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NBP recommendation on Home + post-transaction surface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46704" y="28346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 3 story variants (Aspiration / Fear / Social Proof)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6704" y="34930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CRM builder for ops team self-serve campaigns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6704" y="41513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metric: +15% next-product CTR vs baseline campaign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9904" y="1170432"/>
            <a:ext cx="2724912" cy="4041648"/>
          </a:xfrm>
          <a:prstGeom prst="rect">
            <a:avLst/>
          </a:prstGeom>
          <a:solidFill>
            <a:srgbClr val="071A12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261872"/>
            <a:ext cx="100584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78624" y="12801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9632" y="160020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Calibration + Analytics Feedback Loop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7920" y="217627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Offer Calibration Engine — suppress HIGH, calibrate MED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8346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campaign analytics dashboard with variant attribution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4930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Retrain propensity model on first 2 campaign cycles of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1513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metric: ₹106 Cr budget saving confirmed vs flat-offer baseline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5349240"/>
            <a:ext cx="8430768" cy="502920"/>
          </a:xfrm>
          <a:prstGeom prst="rect">
            <a:avLst/>
          </a:prstGeom>
          <a:solidFill>
            <a:srgbClr val="0A2B1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4223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need:  Access to event/transaction data  ·  1 Data Engineer (CDP ingestion)  ·  1 ML Engineer (propensity model)  ·  1 Designer (CRM UI)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" y="6309360"/>
            <a:ext cx="8430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linkedin.com/in/ajay-avaghade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2026-05-23T17:41:33Z</dcterms:created>
  <dcterms:modified xsi:type="dcterms:W3CDTF">2026-05-23T17:41:33Z</dcterms:modified>
</cp:coreProperties>
</file>