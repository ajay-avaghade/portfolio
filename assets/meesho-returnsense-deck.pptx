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5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0"/>
            <a:ext cx="3657600" cy="6858000"/>
          </a:xfrm>
          <a:prstGeom prst="line">
            <a:avLst/>
          </a:prstGeom>
          <a:noFill/>
          <a:ln w="5080">
            <a:solidFill>
              <a:srgbClr val="F43397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3657600" cy="6858000"/>
          </a:xfrm>
          <a:prstGeom prst="line">
            <a:avLst/>
          </a:prstGeom>
          <a:noFill/>
          <a:ln w="5080">
            <a:solidFill>
              <a:srgbClr val="F43397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3657600" cy="6858000"/>
          </a:xfrm>
          <a:prstGeom prst="line">
            <a:avLst/>
          </a:prstGeom>
          <a:noFill/>
          <a:ln w="5080">
            <a:solidFill>
              <a:srgbClr val="F43397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3657600" cy="6858000"/>
          </a:xfrm>
          <a:prstGeom prst="line">
            <a:avLst/>
          </a:prstGeom>
          <a:noFill/>
          <a:ln w="5080">
            <a:solidFill>
              <a:srgbClr val="F43397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0"/>
            <a:ext cx="3657600" cy="6858000"/>
          </a:xfrm>
          <a:prstGeom prst="line">
            <a:avLst/>
          </a:prstGeom>
          <a:noFill/>
          <a:ln w="5080">
            <a:solidFill>
              <a:srgbClr val="F43397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0"/>
            <a:ext cx="3657600" cy="6858000"/>
          </a:xfrm>
          <a:prstGeom prst="line">
            <a:avLst/>
          </a:prstGeom>
          <a:noFill/>
          <a:ln w="5080">
            <a:solidFill>
              <a:srgbClr val="F43397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0"/>
            <a:ext cx="3657600" cy="6858000"/>
          </a:xfrm>
          <a:prstGeom prst="line">
            <a:avLst/>
          </a:prstGeom>
          <a:noFill/>
          <a:ln w="5080">
            <a:solidFill>
              <a:srgbClr val="F43397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0" y="0"/>
            <a:ext cx="3657600" cy="6858000"/>
          </a:xfrm>
          <a:prstGeom prst="line">
            <a:avLst/>
          </a:prstGeom>
          <a:noFill/>
          <a:ln w="5080">
            <a:solidFill>
              <a:srgbClr val="F43397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43397"/>
                </a:solidFill>
              </a:rPr>
              <a:t>MEESHO GROWTH &amp; LOSS MITIGATION STRATEGY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685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ReturnSense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7E0FC"/>
                </a:solidFill>
              </a:rPr>
              <a:t>Reducing Returns and RTO via Sizing Intelligence and Checkout Verification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2560320" cy="36576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97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5E5"/>
                </a:solidFill>
              </a:rPr>
              <a:t>Presented by Ajay Avaghade · Product Manager 2 Candidate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0" y="4754880"/>
            <a:ext cx="2286000" cy="1737360"/>
          </a:xfrm>
          <a:prstGeom prst="rect">
            <a:avLst/>
          </a:prstGeom>
          <a:solidFill>
            <a:srgbClr val="F43397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48463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30%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6583680" y="55778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E6F0"/>
                </a:solidFill>
              </a:rPr>
              <a:t>average return rate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E6F0"/>
                </a:solidFill>
              </a:rPr>
              <a:t>Indian fashion e-commerce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5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3397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Returns and RTO Drain E-Commerce Margins. COD Purchases in Tier 2/3/4 Towns Suffer Most.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1572768"/>
            <a:ext cx="2651760" cy="2834640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7190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🧥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230428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3397"/>
                </a:solidFill>
              </a:rPr>
              <a:t>40-60%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29443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Size-related returns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331012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5E5"/>
                </a:solidFill>
              </a:rPr>
              <a:t>Inconsistent supplier size charts cause major fit issues. Users default to guessing sizes.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4408" y="1572768"/>
            <a:ext cx="2651760" cy="2834640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64408" y="17190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🚚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64408" y="230428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3397"/>
                </a:solidFill>
              </a:rPr>
              <a:t>25-35%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64408" y="29443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RTO on COD orders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55848" y="331012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5E5"/>
                </a:solidFill>
              </a:rPr>
              <a:t>Vague address data and lack of buyer intent at delivery lead to high rejection rates.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1572768"/>
            <a:ext cx="2651760" cy="2834640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17336" y="17190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17336" y="230428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3397"/>
                </a:solidFill>
              </a:rPr>
              <a:t>₹120+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117336" y="29443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Cost per returned unit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08776" y="331012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5E5"/>
                </a:solidFill>
              </a:rPr>
              <a:t>Forward and reverse logistics costs quickly wipe out the low-margin benefits of Tier 2+ e-commerce.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4572000"/>
            <a:ext cx="8321040" cy="749808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4626864"/>
            <a:ext cx="8010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Root cause: Traditional e-commerce relies on users reading complex standard charts in English. For the next 500M users, sizing needs visual, vernacular, and crowdsourced references, backed by checkout validation of delivery intent.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3397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3543"/>
                </a:solidFill>
              </a:rPr>
              <a:t>Prevent Returns by Bridging Sizing Gaps &amp; Adding Friction to High-Risk COD Checkouts.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572768"/>
            <a:ext cx="3749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691640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44"/>
                </a:solidFill>
              </a:rPr>
              <a:t>❌  Current Checkout Flow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2148840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Static English size charts with zero user context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2532888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No sizing warnings even if product is frequently returned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2916936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Frictionless COD allows impulse orders with low intent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3300984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High RTO areas treated same as low RTO areas at checkout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3685032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Suppliers receive return data without suggestions on fixes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24528" y="2651760"/>
            <a:ext cx="658368" cy="658368"/>
          </a:xfrm>
          <a:prstGeom prst="ellipse">
            <a:avLst/>
          </a:prstGeom>
          <a:solidFill>
            <a:srgbClr val="F43397"/>
          </a:solidFill>
          <a:ln/>
        </p:spPr>
      </p:sp>
      <p:sp>
        <p:nvSpPr>
          <p:cNvPr id="12" name="Text 10"/>
          <p:cNvSpPr/>
          <p:nvPr/>
        </p:nvSpPr>
        <p:spPr>
          <a:xfrm>
            <a:off x="4224528" y="26517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56048" y="1572768"/>
            <a:ext cx="3749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02352" y="1691640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397"/>
                </a:solidFill>
              </a:rPr>
              <a:t>✅  ReturnSense (Proposed)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02352" y="2148840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• AI Size Intelligence surfaces personalized sizing matches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02352" y="2532888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• Return Risk warning badges call out sizing discrepancies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02352" y="2916936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• Vernacular Size Guides show real photos of similar buyers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02352" y="3300984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• COD verification checks high-risk orders with WhatsApp bots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02352" y="3685032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• Actionable supplier alerts highlight specific size chart edits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4645152"/>
            <a:ext cx="8321040" cy="658368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4681728"/>
            <a:ext cx="8010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Key insight: Sizing returns are catalog errors, and RTO is an intent problem. Bridging size confidence through visual crowdsourcing and validating delivery intent using automated voice calls solves both at the root.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5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3397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ReturnSense Stack: Surf, Show, Validate, and Action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04672" y="1664208"/>
            <a:ext cx="0" cy="3840480"/>
          </a:xfrm>
          <a:prstGeom prst="line">
            <a:avLst/>
          </a:prstGeom>
          <a:noFill/>
          <a:ln w="19050">
            <a:solidFill>
              <a:srgbClr val="F43397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F4339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88720" y="1508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3397"/>
                </a:solidFill>
              </a:rPr>
              <a:t>PDP Size Surfacing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88720" y="1783080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5E5"/>
                </a:solidFill>
              </a:rPr>
              <a:t>ML engine cross-references buyer's purchase history to recommend best size (e.g. Medium). Surfaced via Return Risk warning badge on high-return SKUs.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295144"/>
            <a:ext cx="502920" cy="502920"/>
          </a:xfrm>
          <a:prstGeom prst="ellipse">
            <a:avLst/>
          </a:prstGeom>
          <a:solidFill>
            <a:srgbClr val="F4339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951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22951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3397"/>
                </a:solidFill>
              </a:rPr>
              <a:t>Vernacular Visual Guide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88720" y="2569464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5E5"/>
                </a:solidFill>
              </a:rPr>
              <a:t>Buyers see real photo-fit comparisons of other buyers with similar height/weight. High-density Hindi/regional labels eliminate guesswork.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081528"/>
            <a:ext cx="502920" cy="502920"/>
          </a:xfrm>
          <a:prstGeom prst="ellipse">
            <a:avLst/>
          </a:prstGeom>
          <a:solidFill>
            <a:srgbClr val="F4339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81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0815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3397"/>
                </a:solidFill>
              </a:rPr>
              <a:t>Risk Checkout Intercept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88720" y="3355848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5E5"/>
                </a:solidFill>
              </a:rPr>
              <a:t>COD orders from high-risk pin codes or return profiles trigger bottom-sheet warning. Encourages prepaid via ₹15 discount or forces voice validation.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867912"/>
            <a:ext cx="502920" cy="502920"/>
          </a:xfrm>
          <a:prstGeom prst="ellipse">
            <a:avLst/>
          </a:prstGeom>
          <a:solidFill>
            <a:srgbClr val="F43397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867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88720" y="38679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3397"/>
                </a:solidFill>
              </a:rPr>
              <a:t>WhatsApp Voice Validation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88720" y="4142232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5E5"/>
                </a:solidFill>
              </a:rPr>
              <a:t>Uses GenAI voice assistant (Vaani) to call and confirm: "Your order is COD ₹482. Confirm by saying Yes." Removes low-intent orders.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502920" cy="502920"/>
          </a:xfrm>
          <a:prstGeom prst="ellipse">
            <a:avLst/>
          </a:prstGeom>
          <a:solidFill>
            <a:srgbClr val="F43397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6542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88720" y="46542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3397"/>
                </a:solidFill>
              </a:rPr>
              <a:t>Supplier Action Center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88720" y="4928616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5E5"/>
                </a:solidFill>
              </a:rPr>
              <a:t>Supplier dashboard identifies SKUs causing high returns and outlines edits: "Kurta sleeves run tight. Update size chart by 1.5 inches to save ₹42K."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5650992"/>
            <a:ext cx="8321040" cy="566928"/>
          </a:xfrm>
          <a:prstGeom prst="rect">
            <a:avLst/>
          </a:prstGeom>
          <a:solidFill>
            <a:srgbClr val="1E1A26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5687568"/>
            <a:ext cx="8010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E0FC"/>
                </a:solidFill>
              </a:rPr>
              <a:t>PhonePe Parallel: Surfacing eligibility and checks at transaction points matches theoffers/redemption stack. ML propensity-based intercept mirrors dynamic checkout discount suppression.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3397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3543"/>
                </a:solidFill>
              </a:rPr>
              <a:t>Interactive Prototypes — Size Intelligence to Dynamic Intercepts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261872"/>
            <a:ext cx="1993392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61872"/>
            <a:ext cx="1993392" cy="292608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6187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01 — PDP Sizing Alert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84632" y="1664208"/>
            <a:ext cx="184708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⚠️ Sizing Alert: Returns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18% returned for tight chest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✦ AI Intelligence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Suggested Size: M (84% Match)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[████████░░░] 84%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Size: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 ] [ M* ] [ L ] [ XL ]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66344" y="4517136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Displays Return Risk warning. Custom Size Confidence Meter calculates match rating (84%) using historical data.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87752" y="1261872"/>
            <a:ext cx="1993392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87752" y="1261872"/>
            <a:ext cx="1993392" cy="292608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11" name="Text 9"/>
          <p:cNvSpPr/>
          <p:nvPr/>
        </p:nvSpPr>
        <p:spPr>
          <a:xfrm>
            <a:off x="2587752" y="126187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02 — Visual Photo Guide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60904" y="1664208"/>
            <a:ext cx="184708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👩 फोटो गाइड (Medium)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कद: 5'3" | वजन: 56kg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संतुष्टि: परफेक्ट फिट (सही माप)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👩‍🦰 कद: 5'5" | वजन: 59kg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संतुष्टि: छाती में टाइट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Select M &amp; Proceed ]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642616" y="4517136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Crowdsourced photo guide in Hindi shows how Medium fits people of similar heights/weights. Self-selected size verification.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64024" y="1261872"/>
            <a:ext cx="1993392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64024" y="1261872"/>
            <a:ext cx="1993392" cy="292608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16" name="Text 14"/>
          <p:cNvSpPr/>
          <p:nvPr/>
        </p:nvSpPr>
        <p:spPr>
          <a:xfrm>
            <a:off x="4764024" y="126187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03 — COD Intercept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37176" y="1664208"/>
            <a:ext cx="184708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⚠️ Important Verification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pin code has high RTO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🎁 Switch to Online: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 ₹15 instant discount!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Switch to Online &amp; Save 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Verify via WhatsApp Call 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18888" y="4517136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RTO intercept sheet offers online prepay discount (₹15 off) or WhatsApp voice confirmation. Converts or cancels early.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40296" y="1261872"/>
            <a:ext cx="1993392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0296" y="1261872"/>
            <a:ext cx="1993392" cy="292608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21" name="Text 19"/>
          <p:cNvSpPr/>
          <p:nvPr/>
        </p:nvSpPr>
        <p:spPr>
          <a:xfrm>
            <a:off x="6940296" y="126187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04 — Supplier Dashboard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13448" y="1664208"/>
            <a:ext cx="184708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📊 Supplier Hub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+ RTO: 21.4% (Critical)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 SKU: ANARKALI-SILK-M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Reason: Chest runs small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AI Fix: Adjust chart chest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38" to 39.5"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995160" y="4517136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Alerts supplier about sizing defects on specific SKUs and provides 1-click catalog modifications.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62910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3397"/>
                </a:solidFill>
              </a:rPr>
              <a:t>Live prototype: meesho-returnsense-prototype.html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5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3397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Loss Mitigation &amp; Customer Retention Metrics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43397"/>
                </a:solidFill>
              </a:rPr>
              <a:t>CUSTOMER &amp; SUPPLIER VALUE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61772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43397"/>
                </a:solidFill>
              </a:rPr>
              <a:t>BUSINESS &amp; FINANCIAL ROI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755648"/>
            <a:ext cx="4005072" cy="658368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80136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3397"/>
                </a:solidFill>
              </a:rPr>
              <a:t>↓ 40%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993392" y="180136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Sizing-related return rate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523744"/>
            <a:ext cx="4005072" cy="658368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56946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3397"/>
                </a:solidFill>
              </a:rPr>
              <a:t>↑ 18%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993392" y="256946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Customer LTV (apparel repeat)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291840"/>
            <a:ext cx="4005072" cy="658368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33756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3397"/>
                </a:solidFill>
              </a:rPr>
              <a:t>↓ 50%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993392" y="33375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Supplier disputes regarding sizes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4059936"/>
            <a:ext cx="4005072" cy="658368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410565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3397"/>
                </a:solidFill>
              </a:rPr>
              <a:t>↑ 92%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993392" y="410565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Size chart data accuracy index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1755648"/>
            <a:ext cx="4096512" cy="658368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180136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3397"/>
                </a:solidFill>
              </a:rPr>
              <a:t>↓ 25%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199632" y="180136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RTO (Return to Origin) rate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2523744"/>
            <a:ext cx="4096512" cy="658368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256946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3397"/>
                </a:solidFill>
              </a:rPr>
              <a:t>₹12 Cr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199632" y="256946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Annual savings in shipping costs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3291840"/>
            <a:ext cx="4096512" cy="658368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333756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3397"/>
                </a:solidFill>
              </a:rPr>
              <a:t>↑ 84%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199632" y="33375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COD validation success rate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17720" y="4059936"/>
            <a:ext cx="4096512" cy="658368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410565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3397"/>
                </a:solidFill>
              </a:rPr>
              <a:t>↓ 18%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199632" y="410565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Forward and reverse logistics burn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11480" y="4974336"/>
            <a:ext cx="8321040" cy="749808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5029200"/>
            <a:ext cx="80101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Suppressed returns translate to instant margin recovery. By reducing logistics waste, Meesho retains more margin and passes savings to consumers in Tier 2/3/4 towns, maintaining a low-cost structure.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3397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53543"/>
                </a:solidFill>
              </a:rPr>
              <a:t>Leveraging PhonePe Product Experience to Solve Meesho Returns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3840480" cy="3730752"/>
          </a:xfrm>
          <a:prstGeom prst="rect">
            <a:avLst/>
          </a:prstGeom>
          <a:solidFill>
            <a:srgbClr val="353543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417320"/>
            <a:ext cx="3529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3397"/>
                </a:solidFill>
              </a:rPr>
              <a:t>PhonePe Experience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1828800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Managed user conversion and eligibility pipelines for 350M+ MAU checkout conversion flow (22% lift)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2423160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Deployed ML propensity models that replaced rule-based targets, reducing marketing burn by 32%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3017520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Redesigned transaction surfacing and checkout flows, resolving core conversion bottlenecks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3611880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Collaborated with engineering to set up real-time analytics dashboards for tracking operational SLAs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4206240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Designed merchant-facing dashboards for tracking campaign metrics and catalog optimizations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07408" y="1298448"/>
            <a:ext cx="4297680" cy="3730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53712" y="1417320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3397"/>
                </a:solidFill>
              </a:rPr>
              <a:t>Meesho PM2 Relevance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53712" y="182880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</a:rPr>
              <a:t>Propensity ML suppression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182880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→ Risk checkout intercept model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53712" y="242316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</a:rPr>
              <a:t>Checkout conversion UX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0" y="242316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→ Sizing warning &amp; meter PDP entry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53712" y="301752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</a:rPr>
              <a:t>Surfacing rules (350M MAU)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0" y="301752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→ Real-time size matching calculations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53712" y="361188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</a:rPr>
              <a:t>Ops dashboards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361188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→ Supplier Hub return insights panel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53712" y="420624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</a:rPr>
              <a:t>A/B testing methodologies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420624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→ Funnel tracking on returns mitigation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5138928"/>
            <a:ext cx="8321040" cy="594360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5175504"/>
            <a:ext cx="8010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"Dynamic checkout friction is the digital equivalent of merchant validation. Applying this to high-risk COD orders directly mitigates logistical waste and returns."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5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3397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Sizing Pilot → COD Intercept → Supplier Platform Scaling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2670048" cy="3108960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71600"/>
            <a:ext cx="2670048" cy="475488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371600"/>
            <a:ext cx="2670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E0FC"/>
                </a:solidFill>
              </a:rPr>
              <a:t>Month 1–2: Size Alert Pilot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248716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5E5"/>
                </a:solidFill>
              </a:rPr>
              <a:t>Launch size warnings &amp; matching widget for top 50 fashion suppliers. Benchmark returns rate against control. Target: 15% return reduction.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4408" y="1371600"/>
            <a:ext cx="2670048" cy="3108960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4408" y="1371600"/>
            <a:ext cx="2670048" cy="475488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11" name="Text 9"/>
          <p:cNvSpPr/>
          <p:nvPr/>
        </p:nvSpPr>
        <p:spPr>
          <a:xfrm>
            <a:off x="3264408" y="1371600"/>
            <a:ext cx="2670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55848" y="193852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E0FC"/>
                </a:solidFill>
              </a:rPr>
              <a:t>Month 3–4: COD Intercept &amp; WhatsApp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5848" y="2286000"/>
            <a:ext cx="248716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5E5"/>
                </a:solidFill>
              </a:rPr>
              <a:t>Introduce high-risk COD overlay and WhatsApp voice bot verification. A/B test discount levels (₹10 vs ₹15). Target: 20% RTO reduction.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1371600"/>
            <a:ext cx="2670048" cy="3108960"/>
          </a:xfrm>
          <a:prstGeom prst="rect">
            <a:avLst/>
          </a:prstGeom>
          <a:solidFill>
            <a:srgbClr val="1E1A26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1371600"/>
            <a:ext cx="2670048" cy="475488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16" name="Text 14"/>
          <p:cNvSpPr/>
          <p:nvPr/>
        </p:nvSpPr>
        <p:spPr>
          <a:xfrm>
            <a:off x="6117336" y="1371600"/>
            <a:ext cx="2670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08776" y="193852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E0FC"/>
                </a:solidFill>
              </a:rPr>
              <a:t>Month 5–6: Supplier Integration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08776" y="2286000"/>
            <a:ext cx="248716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5E5"/>
                </a:solidFill>
              </a:rPr>
              <a:t>Roll out size chart recommendations in Supplier Hub. Penalize visibility of unresponsive suppliers via PRISM feed. Target: 40% overall return drop.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4626864"/>
            <a:ext cx="8321040" cy="658368"/>
          </a:xfrm>
          <a:prstGeom prst="rect">
            <a:avLst/>
          </a:prstGeom>
          <a:solidFill>
            <a:srgbClr val="1E1A26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4663440"/>
            <a:ext cx="8010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0FC"/>
                </a:solidFill>
              </a:rPr>
              <a:t>Requirements: 1 ML engineer (RTO model), 1 Data analyst, integration with WhatsApp voice API (Vaani team), and Supplier catalog API access.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5394960"/>
            <a:ext cx="8321040" cy="566928"/>
          </a:xfrm>
          <a:prstGeom prst="rect">
            <a:avLst/>
          </a:prstGeom>
          <a:solidFill>
            <a:srgbClr val="F43397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5431536"/>
            <a:ext cx="8010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Ajay Avaghade  |  avaghadeajay009@gmail.com  |  +91 9561558439  |  ajay-avaghade.github.io/Portfolio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2026-06-12T07:15:32Z</dcterms:created>
  <dcterms:modified xsi:type="dcterms:W3CDTF">2026-06-12T07:15:32Z</dcterms:modified>
</cp:coreProperties>
</file>