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5080">
            <a:solidFill>
              <a:srgbClr val="00BCD4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59168" y="0"/>
            <a:ext cx="0" cy="6858000"/>
          </a:xfrm>
          <a:prstGeom prst="line">
            <a:avLst/>
          </a:prstGeom>
          <a:noFill/>
          <a:ln w="5080">
            <a:solidFill>
              <a:srgbClr val="00BCD4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60336" y="0"/>
            <a:ext cx="0" cy="6858000"/>
          </a:xfrm>
          <a:prstGeom prst="line">
            <a:avLst/>
          </a:prstGeom>
          <a:noFill/>
          <a:ln w="5080">
            <a:solidFill>
              <a:srgbClr val="00BCD4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61504" y="0"/>
            <a:ext cx="0" cy="6858000"/>
          </a:xfrm>
          <a:prstGeom prst="line">
            <a:avLst/>
          </a:prstGeom>
          <a:noFill/>
          <a:ln w="5080">
            <a:solidFill>
              <a:srgbClr val="00BCD4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62672" y="0"/>
            <a:ext cx="0" cy="6858000"/>
          </a:xfrm>
          <a:prstGeom prst="line">
            <a:avLst/>
          </a:prstGeom>
          <a:noFill/>
          <a:ln w="5080">
            <a:solidFill>
              <a:srgbClr val="00BCD4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0" y="0"/>
            <a:ext cx="0" cy="6858000"/>
          </a:xfrm>
          <a:prstGeom prst="line">
            <a:avLst/>
          </a:prstGeom>
          <a:noFill/>
          <a:ln w="5080">
            <a:solidFill>
              <a:srgbClr val="00BCD4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A2E"/>
                </a:solidFill>
              </a:rPr>
              <a:t>TG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43891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BCD4"/>
                </a:solidFill>
              </a:rPr>
              <a:t>TRANSGUARD GROUP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51560" y="62179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</a:rPr>
              <a:t>Cash Services Division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1430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CashPulse</a:t>
            </a:r>
            <a:endParaRPr lang="en-US" sz="720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2926080" cy="457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5146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CD4"/>
                </a:solidFill>
              </a:rPr>
              <a:t>Retailer Cash Intelligence Platform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2971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Real-Time SCDM Visibility · ERP Auto-Reconciliation · Client Health Intelligence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59436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</a:rPr>
              <a:t>Ajay Avaghade · Product Manager · Applied Case Study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1996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CD4"/>
                </a:solidFill>
              </a:rPr>
              <a:t>ajay-avaghade.github.io/Portfolio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583680" y="4937760"/>
            <a:ext cx="2377440" cy="1645920"/>
          </a:xfrm>
          <a:prstGeom prst="rect">
            <a:avLst/>
          </a:prstGeom>
          <a:solidFill>
            <a:srgbClr val="0F2540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0" y="5074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AED 12.4M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583680" y="55778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BB4"/>
                </a:solidFill>
              </a:rPr>
              <a:t>daily cash processed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583680" y="576072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623"/>
                </a:solidFill>
              </a:rPr>
              <a:t>zero visibility to clients today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CD4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Retailers using Transguard SCDMs operate with a 24-hour cash blind spot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51760" cy="2560320"/>
          </a:xfrm>
          <a:prstGeom prst="rect">
            <a:avLst/>
          </a:prstGeom>
          <a:solidFill>
            <a:srgbClr val="0F2540"/>
          </a:solidFill>
          <a:ln w="6350">
            <a:solidFill>
              <a:srgbClr val="00BCD4">
                <a:alpha val="4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265176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373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hrs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Manual reconciliation delay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Nightly SAP batch runs surface exceptions next morning — too late to act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1645920"/>
            <a:ext cx="2651760" cy="2560320"/>
          </a:xfrm>
          <a:prstGeom prst="rect">
            <a:avLst/>
          </a:prstGeom>
          <a:solidFill>
            <a:srgbClr val="0F2540"/>
          </a:solidFill>
          <a:ln w="6350">
            <a:solidFill>
              <a:srgbClr val="00BCD4">
                <a:alpha val="4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645920"/>
            <a:ext cx="265176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7373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AED 14M+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429000" y="2514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Daily cash volume untracked in real-time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9000" y="28346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Retailers cannot see their effective cash position until the following business day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2651760" cy="2560320"/>
          </a:xfrm>
          <a:prstGeom prst="rect">
            <a:avLst/>
          </a:prstGeom>
          <a:solidFill>
            <a:srgbClr val="0F2540"/>
          </a:solidFill>
          <a:ln w="6350">
            <a:solidFill>
              <a:srgbClr val="00BCD4">
                <a:alpha val="4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645920"/>
            <a:ext cx="265176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7373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309360" y="2514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Client visibility into SCDM data today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28346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All operational data sits inside Transguard systems — none is shared back to clients in real-time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480560"/>
            <a:ext cx="82296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52628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</a:rPr>
              <a:t>Core insight: Transguard already has all this data. The product is a presentation layer on existing systems — not a new data collection effort.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A1A2E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A2E"/>
                </a:solidFill>
              </a:rPr>
              <a:t>Transguard is sitting on a data gold mine — and giving none of it back to clients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840480" cy="38404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91B1B"/>
                </a:solidFill>
              </a:rPr>
              <a:t>TODAY (WITHOUT CASHPULSE)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❌ Cash deposited → 24hr batch reconciliation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244144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❌ Fill levels checked only at physical collection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87121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❌ ERP exceptions discovered next morning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330098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❌ Client calls Transguard AM for status updates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7307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❌ No cross-store cash position visibility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4160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❌ Collection scheduling based on time, not fill velocity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60520" y="3017520"/>
            <a:ext cx="822960" cy="822960"/>
          </a:xfrm>
          <a:prstGeom prst="ellipse">
            <a:avLst/>
          </a:prstGeom>
          <a:solidFill>
            <a:srgbClr val="0A1A2E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3017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46320" y="1508760"/>
            <a:ext cx="3840480" cy="3840480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600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65F46"/>
                </a:solidFill>
              </a:rPr>
              <a:t>WITH CASHPULSE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83480" y="2011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</a:rPr>
              <a:t>✅ Real-time deposit credit confirmation (&lt;5 min)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244144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</a:rPr>
              <a:t>✅ Live SCDM fill levels per machine per store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287121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</a:rPr>
              <a:t>✅ ERP exceptions flagged and resolved same session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83480" y="330098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</a:rPr>
              <a:t>✅ Client self-serves all data — zero AM calls needed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37307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</a:rPr>
              <a:t>✅ Network-wide cash position dashboard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4160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</a:rPr>
              <a:t>✅ Predictive collection scheduling from fill velocity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5532120"/>
            <a:ext cx="8229600" cy="640080"/>
          </a:xfrm>
          <a:prstGeom prst="rect">
            <a:avLst/>
          </a:prstGeom>
          <a:solidFill>
            <a:srgbClr val="0A1A2E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55778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The product does not require new data infrastructure. It surfaces what already exists inside Transguard systems — making Transguard indispensable to each client.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CD4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Five-layer data pipeline from SCDM deposit to client action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502920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A2E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" y="1965960"/>
            <a:ext cx="0" cy="411480"/>
          </a:xfrm>
          <a:prstGeom prst="line">
            <a:avLst/>
          </a:prstGeom>
          <a:noFill/>
          <a:ln w="12700">
            <a:solidFill>
              <a:srgbClr val="00BCD4">
                <a:alpha val="50000"/>
              </a:srgbClr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005840" y="1499616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SCDM Event Capture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73736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Every deposit event is captured in real-time from all 847 SCDMs across the UAE via Transguard secure network. Fill level, timestamp, and denomination data extracted.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502920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A2E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" y="2880360"/>
            <a:ext cx="0" cy="411480"/>
          </a:xfrm>
          <a:prstGeom prst="line">
            <a:avLst/>
          </a:prstGeom>
          <a:noFill/>
          <a:ln w="12700">
            <a:solidFill>
              <a:srgbClr val="00BCD4">
                <a:alpha val="50000"/>
              </a:srgbClr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005840" y="2414016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Instant Credit Notification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65176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Within &lt;5 minutes of deposit: client receives real-time push notification confirming amount, machine ID, and credit to their designated account. Zero wait time.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291840"/>
            <a:ext cx="502920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A2E"/>
                </a:solidFill>
              </a:rPr>
              <a:t>03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8076" y="3794760"/>
            <a:ext cx="0" cy="411480"/>
          </a:xfrm>
          <a:prstGeom prst="line">
            <a:avLst/>
          </a:prstGeom>
          <a:noFill/>
          <a:ln w="12700">
            <a:solidFill>
              <a:srgbClr val="00BCD4">
                <a:alpha val="50000"/>
              </a:srgbClr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005840" y="3328416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ERP Auto-Match Engine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56616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Deposit events are matched against client ERP entries (SAP, Oracle, Dynamics) via API. Matched: flagged green. Exception: flagged red with root cause + resolution path sent to client finance.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4206240"/>
            <a:ext cx="502920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A2E"/>
                </a:solidFill>
              </a:rPr>
              <a:t>04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8076" y="4709160"/>
            <a:ext cx="0" cy="411480"/>
          </a:xfrm>
          <a:prstGeom prst="line">
            <a:avLst/>
          </a:prstGeom>
          <a:noFill/>
          <a:ln w="12700">
            <a:solidFill>
              <a:srgbClr val="00BCD4">
                <a:alpha val="50000"/>
              </a:srgbClr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005840" y="4242816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Predictive Collection Scheduling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448056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Fill velocity per machine extrapolated over rolling 7-day window. CashPulse predicts 90% capacity time and auto-schedules collection 4 hours in advance. Reduces rush call-outs.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5120640"/>
            <a:ext cx="502920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5120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A2E"/>
                </a:solidFill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5157216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Client Dashboard + AM Health View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539496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Client-facing: cash position, fill levels, ERP status. Transguard internal: client health scores, SLA metrics, collection schedule. Both views in one platform — two stakeholders, one source of truth.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6080760"/>
            <a:ext cx="8412480" cy="475488"/>
          </a:xfrm>
          <a:prstGeom prst="rect">
            <a:avLst/>
          </a:prstGeom>
          <a:solidFill>
            <a:srgbClr val="11182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1081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POC validation: Deploy with Carrefour UAE (34 SCDMs, SAP S/4HANA) + ENOC Group (118 SCDMs) over 90 days. Measure: reconciliation time delta, AM call reduction, client satisfaction score.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A1A2E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A2E"/>
                </a:solidFill>
              </a:rPr>
              <a:t>Four screens · One platform · Two stakeholders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411480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16736"/>
            <a:ext cx="4114800" cy="347472"/>
          </a:xfrm>
          <a:prstGeom prst="rect">
            <a:avLst/>
          </a:prstGeom>
          <a:solidFill>
            <a:srgbClr val="0A1A2E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3350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</a:rPr>
              <a:t>Screen 01 — Network Dashboard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1737360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All clients, all SCDMs, all health scores in one view. KPI strip: daily volume, avg fill, active alerts. Client table with health badge, fill mini-bar, ERP sync status.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66928" y="2450592"/>
            <a:ext cx="3913632" cy="115214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505456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[KPI STRIP: 847 SCDMs · AED 12.4M · 73% Fill · 3 Alerts]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21792" y="2761488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Carrefour UAE   ●Healthy  87%  AED 2.8M  ✓ Live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21792" y="3017520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ENOC Group      ●Attention 61% AED 5.1M  ✓ Live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21792" y="3273552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Emirates NBD    ●At Risk  31%  AED 3.3M  ⚠ Delayed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846320" y="1280160"/>
            <a:ext cx="41148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280160"/>
            <a:ext cx="411480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6" name="Shape 14"/>
          <p:cNvSpPr/>
          <p:nvPr/>
        </p:nvSpPr>
        <p:spPr>
          <a:xfrm>
            <a:off x="4846320" y="1316736"/>
            <a:ext cx="4114800" cy="347472"/>
          </a:xfrm>
          <a:prstGeom prst="rect">
            <a:avLst/>
          </a:prstGeom>
          <a:solidFill>
            <a:srgbClr val="0A1A2E"/>
          </a:solidFill>
          <a:ln/>
        </p:spPr>
      </p:sp>
      <p:sp>
        <p:nvSpPr>
          <p:cNvPr id="17" name="Text 15"/>
          <p:cNvSpPr/>
          <p:nvPr/>
        </p:nvSpPr>
        <p:spPr>
          <a:xfrm>
            <a:off x="4956048" y="13350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</a:rPr>
              <a:t>Screen 02 — Store Deep-Dive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56048" y="1737360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Per-branch, per-machine fill levels, last deposit amounts, velocity data, next predicted collection window. ERP sync status per deposit in real-time.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956048" y="2450592"/>
            <a:ext cx="3913632" cy="115214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0912" y="2505456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SCDM-CF-001  ●Operational  92% ████████░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010912" y="2761488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SCDM-CF-002  ⚠ High Fill   78% ███████░░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10912" y="3017520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SCDM-CF-003  ●Operational  61% ██████░░░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010912" y="3273552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DEP-2847  22,100 AED  ✓ SAP-8821 Matched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41148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931920"/>
            <a:ext cx="411480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968496"/>
            <a:ext cx="4114800" cy="347472"/>
          </a:xfrm>
          <a:prstGeom prst="rect">
            <a:avLst/>
          </a:prstGeom>
          <a:solidFill>
            <a:srgbClr val="0A1A2E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9867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</a:rPr>
              <a:t>Screen 03 — ERP Reconciliation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" y="4389120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Auto-match engine runs every 5 minutes. 142 matched, 3 exceptions, 8 pending. Exception detail shows root cause and resolution path. Export to CSV for client finance.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66928" y="5102352"/>
            <a:ext cx="3913632" cy="115214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5157216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142 Matched  ⚠ 3 Exceptions  ⏳ 8 Pending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21792" y="5413248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DEP-2847  Carrefour  22,100  ✓ SAP-8821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21792" y="5669280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DEP-2845  ENBD  187,500  ⚠ Exception ←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21792" y="5925312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DEP-2839  Carrefour  31,750  ✓ SAP-8815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846320" y="3931920"/>
            <a:ext cx="41148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3931920"/>
            <a:ext cx="411480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6" name="Shape 34"/>
          <p:cNvSpPr/>
          <p:nvPr/>
        </p:nvSpPr>
        <p:spPr>
          <a:xfrm>
            <a:off x="4846320" y="3968496"/>
            <a:ext cx="4114800" cy="347472"/>
          </a:xfrm>
          <a:prstGeom prst="rect">
            <a:avLst/>
          </a:prstGeom>
          <a:solidFill>
            <a:srgbClr val="0A1A2E"/>
          </a:solidFill>
          <a:ln/>
        </p:spPr>
      </p:sp>
      <p:sp>
        <p:nvSpPr>
          <p:cNvPr id="37" name="Text 35"/>
          <p:cNvSpPr/>
          <p:nvPr/>
        </p:nvSpPr>
        <p:spPr>
          <a:xfrm>
            <a:off x="4956048" y="39867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</a:rPr>
              <a:t>Screen 04 — Ops Command Center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56048" y="4389120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Transguard internal view: client health scores, live collection schedule, SLA performance meters, and active alert feed. AM dashboard with proactive intervention triggers.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956048" y="5102352"/>
            <a:ext cx="3913632" cy="115214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10912" y="5157216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Health: Carrefour 87 ●  ENOC 62 ●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010912" y="5413248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Collection: 07:30 CF-Barsha ✓  10:00 ENOC →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010912" y="5669280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SLA: CIT Timeliness 98.2%  SCDM Uptime 99.1%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010912" y="5925312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ENBD DAFZA — fill critical · ⚠ ENOC SAP lag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CD4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New revenue line + client retention flywheel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BCD4"/>
                </a:solidFill>
              </a:rPr>
              <a:t>CLIENT IMPACT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754880" y="1371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5A623"/>
                </a:solidFill>
              </a:rPr>
              <a:t>TRANSGUARD ROI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023360" cy="914400"/>
          </a:xfrm>
          <a:prstGeom prst="rect">
            <a:avLst/>
          </a:prstGeom>
          <a:solidFill>
            <a:srgbClr val="0F2540"/>
          </a:solidFill>
          <a:ln w="6350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6479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920240" y="1783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Reduction in manual reconciliation time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20240" y="2057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</a:rPr>
              <a:t>24-hr batch → &lt;5 min auto-match. Client finance teams reclaim 3+ hrs/day.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4023360" cy="914400"/>
          </a:xfrm>
          <a:prstGeom prst="rect">
            <a:avLst/>
          </a:prstGeom>
          <a:solidFill>
            <a:srgbClr val="0F2540"/>
          </a:solidFill>
          <a:ln w="6350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81635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920240" y="2834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Improvement in SCDM contract retention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20240" y="3108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</a:rPr>
              <a:t>Real-time data creates daily dependency. Clients cannot leave a platform they use every morning.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4023360" cy="914400"/>
          </a:xfrm>
          <a:prstGeom prst="rect">
            <a:avLst/>
          </a:prstGeom>
          <a:solidFill>
            <a:srgbClr val="0F2540"/>
          </a:solidFill>
          <a:ln w="6350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6791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-60%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920240" y="3886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Reduction in status-update AM calls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20240" y="4160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</a:rPr>
              <a:t>Self-serve dashboard replaces all manual requests for fill levels, deposit confirmations, and SLA reports.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4846320"/>
            <a:ext cx="4023360" cy="914400"/>
          </a:xfrm>
          <a:prstGeom prst="rect">
            <a:avLst/>
          </a:prstGeom>
          <a:solidFill>
            <a:srgbClr val="0F2540"/>
          </a:solidFill>
          <a:ln w="6350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91947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920240" y="4937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ERP exception resolution same-session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920240" y="5212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</a:rPr>
              <a:t>Exceptions surfaced within 5 minutes, not 24 hours. Client treasury closes books with confidence.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54880" y="1691640"/>
            <a:ext cx="4023360" cy="914400"/>
          </a:xfrm>
          <a:prstGeom prst="rect">
            <a:avLst/>
          </a:prstGeom>
          <a:solidFill>
            <a:srgbClr val="0F2540"/>
          </a:solidFill>
          <a:ln w="635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76479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AED 3.2M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583680" y="1783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New annual recurring revenue (Year 1)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0" y="20574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</a:rPr>
              <a:t>15 anchor clients × AED 213K dashboard license + API fee. Incremental to existing CIT/SCDM contracts.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54880" y="2743200"/>
            <a:ext cx="4023360" cy="914400"/>
          </a:xfrm>
          <a:prstGeom prst="rect">
            <a:avLst/>
          </a:prstGeom>
          <a:solidFill>
            <a:srgbClr val="0F2540"/>
          </a:solidFill>
          <a:ln w="635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81635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AED 12.4M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83680" y="2834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Platform AUM under management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83680" y="31089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</a:rPr>
              <a:t>Daily cash volume on the CashPulse network creates audit trail and insurance-grade reconciliation data.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54880" y="3794760"/>
            <a:ext cx="4023360" cy="914400"/>
          </a:xfrm>
          <a:prstGeom prst="rect">
            <a:avLst/>
          </a:prstGeom>
          <a:solidFill>
            <a:srgbClr val="0F2540"/>
          </a:solidFill>
          <a:ln w="635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86791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6x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583680" y="3886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ROI on product development cost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83680" y="41605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</a:rPr>
              <a:t>Build cost estimated AED 420K. Year 1 license revenue AED 3.2M. Payback in under 2 quarters.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54880" y="4846320"/>
            <a:ext cx="4023360" cy="914400"/>
          </a:xfrm>
          <a:prstGeom prst="rect">
            <a:avLst/>
          </a:prstGeom>
          <a:solidFill>
            <a:srgbClr val="0F2540"/>
          </a:solidFill>
          <a:ln w="635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491947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days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583680" y="4937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Time-to-POC from green light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583680" y="52120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</a:rPr>
              <a:t>No new data infrastructure. Integration via existing Transguard SCDM telemetry and client ERP APIs.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44568" y="1371600"/>
            <a:ext cx="0" cy="4754880"/>
          </a:xfrm>
          <a:prstGeom prst="line">
            <a:avLst/>
          </a:prstGeom>
          <a:noFill/>
          <a:ln w="6350">
            <a:solidFill>
              <a:srgbClr val="00BCD4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A1A2E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A2E"/>
                </a:solidFill>
              </a:rPr>
              <a:t>What I built at PhonePe maps exactly to what CashPulse requires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4846320"/>
          </a:xfrm>
          <a:prstGeom prst="rect">
            <a:avLst/>
          </a:prstGeom>
          <a:solidFill>
            <a:srgbClr val="0A1A2E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CD4"/>
                </a:solidFill>
              </a:rPr>
              <a:t>WHAT I BUILT AT PHONEPE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3749040" cy="914400"/>
          </a:xfrm>
          <a:prstGeom prst="rect">
            <a:avLst/>
          </a:prstGeom>
          <a:solidFill>
            <a:srgbClr val="0F2540"/>
          </a:solidFill>
          <a:ln w="3810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90195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</a:rPr>
              <a:t>Self-Serve Merchant Dashboards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21488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BB4"/>
                </a:solidFill>
              </a:rPr>
              <a:t>Built merchant-facing intelligence layer on top of back-office ops data — merchants configure and monitor offer engines in real-time. Same pattern as CashPulse giving clients visibility into SCDM data.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4360" y="2880360"/>
            <a:ext cx="3749040" cy="914400"/>
          </a:xfrm>
          <a:prstGeom prst="rect">
            <a:avLst/>
          </a:prstGeom>
          <a:solidFill>
            <a:srgbClr val="0F2540"/>
          </a:solidFill>
          <a:ln w="3810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95351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</a:rPr>
              <a:t>Offer Ops TAT: 2 Days → 30 Minutes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32004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BB4"/>
                </a:solidFill>
              </a:rPr>
              <a:t>Reduced B2B workflow TAT from 2 days to 30 minutes by surfacing operational data as a self-serve platform. CashPulse reduces reconciliation from 24 hrs to &lt;5 mins using the same principle.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94360" y="3931920"/>
            <a:ext cx="3749040" cy="914400"/>
          </a:xfrm>
          <a:prstGeom prst="rect">
            <a:avLst/>
          </a:prstGeom>
          <a:solidFill>
            <a:srgbClr val="0F2540"/>
          </a:solidFill>
          <a:ln w="3810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400507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</a:rPr>
              <a:t>5,000+ B2B Partners Onboarded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42519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BB4"/>
                </a:solidFill>
              </a:rPr>
              <a:t>Built zero-to-one B2B integration platform with Instant Discount and EMI subvention capabilities. Proven ability to design and launch B2B SaaS products that scale to enterprise clients.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94360" y="4983480"/>
            <a:ext cx="3749040" cy="914400"/>
          </a:xfrm>
          <a:prstGeom prst="rect">
            <a:avLst/>
          </a:prstGeom>
          <a:solidFill>
            <a:srgbClr val="0F2540"/>
          </a:solidFill>
          <a:ln w="3810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505663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</a:rPr>
              <a:t>ML-Driven Targeting: -32% Marketing Burn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" y="53035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BB4"/>
                </a:solidFill>
              </a:rPr>
              <a:t>Deployed propensity-to-transact models replacing static rules with real-time user-level scoring. CashPulse predictive collection scheduling uses the same ML architecture applied to fill velocity.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63440" y="1325880"/>
            <a:ext cx="402336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4173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A1A2E"/>
                </a:solidFill>
              </a:rPr>
              <a:t>HOW IT MAPS TO CASHPULSE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800600" y="1828800"/>
            <a:ext cx="3749040" cy="914400"/>
          </a:xfrm>
          <a:prstGeom prst="rect">
            <a:avLst/>
          </a:prstGeom>
          <a:solidFill>
            <a:srgbClr val="E8EE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190195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A2E"/>
                </a:solidFill>
              </a:rPr>
              <a:t>CashPulse Dashboard = PhonePe Merchant Dashboard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9472" y="21488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Identical design principle: take opaque back-office data and surface it as a client-facing intelligence layer. The only difference is the domain — cash management vs offers management.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00600" y="2880360"/>
            <a:ext cx="3749040" cy="914400"/>
          </a:xfrm>
          <a:prstGeom prst="rect">
            <a:avLst/>
          </a:prstGeom>
          <a:solidFill>
            <a:srgbClr val="E8EE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295351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A2E"/>
                </a:solidFill>
              </a:rPr>
              <a:t>ERP Reconciliation = Offer Ops Automation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19472" y="32004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Both replace a manual, multi-day human process with a real-time automated workflow. The PM skill is identical: map the workflow, identify the data dependency, build the integration layer.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00600" y="3931920"/>
            <a:ext cx="3749040" cy="914400"/>
          </a:xfrm>
          <a:prstGeom prst="rect">
            <a:avLst/>
          </a:prstGeom>
          <a:solidFill>
            <a:srgbClr val="E8EE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400507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A2E"/>
                </a:solidFill>
              </a:rPr>
              <a:t>Enterprise Client Onboarding = B2B Platform Launch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19472" y="42519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PhonePe PG platform onboarded 5,000+ merchants at zero engineering dependency. CashPulse POC requires the same skill: design a low-friction integration experience for enterprise clients.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00600" y="4983480"/>
            <a:ext cx="3749040" cy="914400"/>
          </a:xfrm>
          <a:prstGeom prst="rect">
            <a:avLst/>
          </a:prstGeom>
          <a:solidFill>
            <a:srgbClr val="E8EE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505663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A2E"/>
                </a:solidFill>
              </a:rPr>
              <a:t>Predictive Scheduling = Propensity-to-Transact ML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19472" y="53035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The ML mechanic is the same: use historical behavioural data to predict future state and trigger an automated action. Applied to fill velocity instead of user purchase intent.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6355080"/>
            <a:ext cx="8229600" cy="685800"/>
          </a:xfrm>
          <a:prstGeom prst="rect">
            <a:avLst/>
          </a:prstGeom>
          <a:solidFill>
            <a:srgbClr val="0A1A2E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640080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CD4"/>
                </a:solidFill>
              </a:rPr>
              <a:t>"The product gap I saw at Transguard is the same gap I already closed at PhonePe — just applied to a different data layer. I have shipped this exact pattern before."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CD4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POC in 30 days · Revenue in 90 days · Scale in 180 days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743200" cy="4114800"/>
          </a:xfrm>
          <a:prstGeom prst="rect">
            <a:avLst/>
          </a:prstGeom>
          <a:solidFill>
            <a:srgbClr val="0F2540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7432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6304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CD4"/>
                </a:solidFill>
              </a:rPr>
              <a:t>Phase 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POC Launch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148840"/>
            <a:ext cx="1280160" cy="21945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4884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A2E"/>
                </a:solidFill>
              </a:rPr>
              <a:t>Days 1–90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254203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• Anchor clients: Carrefour UAE + ENOC Group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313639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• 150 SCDMs on CashPulse network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373075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• ERP integration: SAP S/4HANA (Carrefour)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432511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• Success metric: &lt;5 min reconciliation time + NPS &gt;8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64992" y="1371600"/>
            <a:ext cx="2743200" cy="4114800"/>
          </a:xfrm>
          <a:prstGeom prst="rect">
            <a:avLst/>
          </a:prstGeom>
          <a:solidFill>
            <a:srgbClr val="0F2540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64992" y="1371600"/>
            <a:ext cx="27432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3502152" y="146304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A623"/>
                </a:solidFill>
              </a:rPr>
              <a:t>Phase 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02152" y="1691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Full Productization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502152" y="2148840"/>
            <a:ext cx="1280160" cy="2194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02152" y="214884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A2E"/>
                </a:solidFill>
              </a:rPr>
              <a:t>Days 91–180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502152" y="254203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• Roll out to all 6 enterprise accounts (847 SCDMs)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02152" y="313639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• Launch dashboard licensing model (AED 213K/client/yr)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02152" y="373075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• Add Oracle + Microsoft Dynamics ERP connectors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02152" y="432511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• Hire 1 implementation engineer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72784" y="1371600"/>
            <a:ext cx="2743200" cy="4114800"/>
          </a:xfrm>
          <a:prstGeom prst="rect">
            <a:avLst/>
          </a:prstGeom>
          <a:solidFill>
            <a:srgbClr val="0F254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72784" y="1371600"/>
            <a:ext cx="27432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409944" y="146304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</a:rPr>
              <a:t>Phase 03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09944" y="1691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Market Expansion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409944" y="2148840"/>
            <a:ext cx="1280160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9944" y="214884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A2E"/>
                </a:solidFill>
              </a:rPr>
              <a:t>Days 181–365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09944" y="254203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• License CashPulse to non-Transguard SCDM operators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9944" y="313639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• Explore white-label to G4S / Brinks UAE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9944" y="373075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• Pursue banking sector (ATM reconciliation use case)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9944" y="432511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• Target: AED 3.2M ARR by end of Year 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5669280"/>
            <a:ext cx="8229600" cy="1051560"/>
          </a:xfrm>
          <a:prstGeom prst="rect">
            <a:avLst/>
          </a:prstGeom>
          <a:solidFill>
            <a:srgbClr val="0F254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574243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</a:rPr>
              <a:t>What I need from Transguard to start: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" y="6016752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1 anchor client introduction (Carrefour or ENOC) · Access to SCDM telemetry API documentation · Product engineering resource (1 BE, 1 FE) · 90-day POC mandate with Go/No-Go review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67482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Ajay Avaghade · avaghadeajay009@gmail.com · ajay-avaghade.github.io/Portfolio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2026-06-12T06:45:24Z</dcterms:created>
  <dcterms:modified xsi:type="dcterms:W3CDTF">2026-06-12T06:45:24Z</dcterms:modified>
</cp:coreProperties>
</file>