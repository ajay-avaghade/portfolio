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5143500"/>
          </a:xfrm>
          <a:prstGeom prst="rect">
            <a:avLst/>
          </a:prstGeom>
          <a:solidFill>
            <a:srgbClr val="E57C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</a:rPr>
              <a:t>TOGGL FOCUS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0" y="228600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CapacityPulse Engine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743200" y="292608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2A5"/>
                </a:solidFill>
              </a:rPr>
              <a:t>Real-time team utilization &amp; burnout risk prediction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59436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By Ajay Avaghade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Managers lack real-time visibility into burnout.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7CD8"/>
                </a:solidFill>
              </a:rPr>
              <a:t>42%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A5"/>
                </a:solidFill>
              </a:rPr>
              <a:t>of SaaS employee churn is linked to sustained burnout.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0" y="27432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7CD8"/>
                </a:solidFill>
              </a:rPr>
              <a:t>Lagging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3200400" y="36576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A5"/>
                </a:solidFill>
              </a:rPr>
              <a:t>Current capacity tools rely on lagging HR data or pulse surveys.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7432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7CD8"/>
                </a:solidFill>
              </a:rPr>
              <a:t>Data ROI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943600" y="36576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A5"/>
                </a:solidFill>
              </a:rPr>
              <a:t>Teams do not trust time tracking if it does not protect them.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5029200"/>
            <a:ext cx="8229600" cy="1097280"/>
          </a:xfrm>
          <a:prstGeom prst="rect">
            <a:avLst>
              <a:gd name="adj" fmla="val 8333"/>
            </a:avLst>
          </a:prstGeom>
          <a:solidFill>
            <a:srgbClr val="2A2A2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12064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Insight: Transforming time tracking from a passive reporting tool into an active manager intelligence layer creates a "protect the team" use case for Toggl Focus.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THE INSIGHT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</a:rPr>
              <a:t>From Reporting to Intervention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3657600" cy="365760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7432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❌ Legacy Time Tracking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B92A5"/>
                </a:solidFill>
              </a:rPr>
              <a:t>• Backward-looking data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B92A5"/>
                </a:solidFill>
              </a:rPr>
              <a:t>• Used primarily for billing/payroll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B92A5"/>
                </a:solidFill>
              </a:rPr>
              <a:t>• Manual capacity calculation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B92A5"/>
                </a:solidFill>
              </a:rPr>
              <a:t>• Employees feel surveilled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3657600" cy="3657600"/>
          </a:xfrm>
          <a:prstGeom prst="rect">
            <a:avLst>
              <a:gd name="adj" fmla="val 2500"/>
            </a:avLst>
          </a:prstGeom>
          <a:solidFill>
            <a:srgbClr val="1F1F1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0" y="27432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7CD8"/>
                </a:solidFill>
              </a:rPr>
              <a:t>✅ Toggl CapacityPulse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32004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• Forward-looking predictive ML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• Identifies context-switching strain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• 1-click workload redistribution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• Employees feel protected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3749040"/>
            <a:ext cx="731520" cy="731520"/>
          </a:xfrm>
          <a:prstGeom prst="ellipse">
            <a:avLst/>
          </a:prstGeom>
          <a:solidFill>
            <a:srgbClr val="E57CD8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06240" y="3749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VS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THE MECHANIC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How CapacityPulse Intervenes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3657600"/>
            <a:ext cx="7315200" cy="45720"/>
          </a:xfrm>
          <a:prstGeom prst="rect">
            <a:avLst/>
          </a:prstGeom>
          <a:solidFill>
            <a:srgbClr val="8B92A5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3474720"/>
            <a:ext cx="365760" cy="365760"/>
          </a:xfrm>
          <a:prstGeom prst="ellipse">
            <a:avLst/>
          </a:prstGeom>
          <a:solidFill>
            <a:srgbClr val="E57C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0" y="41148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Track Time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3474720"/>
            <a:ext cx="365760" cy="365760"/>
          </a:xfrm>
          <a:prstGeom prst="ellipse">
            <a:avLst/>
          </a:prstGeom>
          <a:solidFill>
            <a:srgbClr val="E57CD8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28800" y="41148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Analysis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89120" y="3474720"/>
            <a:ext cx="365760" cy="365760"/>
          </a:xfrm>
          <a:prstGeom prst="ellipse">
            <a:avLst/>
          </a:prstGeom>
          <a:solidFill>
            <a:srgbClr val="E57CD8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0" y="41148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Risk Flagged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3474720"/>
            <a:ext cx="365760" cy="365760"/>
          </a:xfrm>
          <a:prstGeom prst="ellipse">
            <a:avLst/>
          </a:prstGeom>
          <a:solidFill>
            <a:srgbClr val="E57CD8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0" y="41148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Reassign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46720" y="3474720"/>
            <a:ext cx="365760" cy="365760"/>
          </a:xfrm>
          <a:prstGeom prst="ellipse">
            <a:avLst/>
          </a:prstGeom>
          <a:solidFill>
            <a:srgbClr val="E57CD8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0" y="41148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Prevent Burnout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THE PRODUCT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</a:rPr>
              <a:t>Built for the Manager Persona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93192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10312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</a:rPr>
              <a:t>Real-time Risk Dashboard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Aggregates team velocity and highlights critical overload instances instantly.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828800"/>
            <a:ext cx="393192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210312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</a:rPr>
              <a:t>Contextual AI Analysis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24688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Analyzes non-obvious strain metrics like context-switching and unplanned bug-fix tags.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114800"/>
            <a:ext cx="393192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38912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</a:rPr>
              <a:t>1-Click Reassignment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7548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Surfaces available capacity across the team to effortlessly redistribute ticket volume.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4114800"/>
            <a:ext cx="393192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0" y="438912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</a:rPr>
              <a:t>Forward Projections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0" y="47548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Projects future burnout risk, empowering PMs to push back on unrealistic roadmap scopes.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IMPACT &amp; ROI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Strategic Value to Toggl Focus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3840480" cy="1645920"/>
          </a:xfrm>
          <a:prstGeom prst="rect">
            <a:avLst>
              <a:gd name="adj" fmla="val 5556"/>
            </a:avLst>
          </a:prstGeom>
          <a:solidFill>
            <a:srgbClr val="2A2A2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560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7CD8"/>
                </a:solidFill>
              </a:rPr>
              <a:t>+18%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103120" y="2560320"/>
            <a:ext cx="2011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Expansion MRR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3474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2A5"/>
                </a:solidFill>
              </a:rPr>
              <a:t>Drives seat expansion for management users.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2286000"/>
            <a:ext cx="3840480" cy="1645920"/>
          </a:xfrm>
          <a:prstGeom prst="rect">
            <a:avLst>
              <a:gd name="adj" fmla="val 5556"/>
            </a:avLst>
          </a:prstGeom>
          <a:solidFill>
            <a:srgbClr val="2A2A2A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560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7CD8"/>
                </a:solidFill>
              </a:rPr>
              <a:t>+2.5x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17920" y="2560320"/>
            <a:ext cx="2011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Platform Stickiness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3200400"/>
            <a:ext cx="3474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2A5"/>
                </a:solidFill>
              </a:rPr>
              <a:t>Deeply embeds into core HR &amp; Ops workflows.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297680"/>
            <a:ext cx="3840480" cy="1645920"/>
          </a:xfrm>
          <a:prstGeom prst="rect">
            <a:avLst>
              <a:gd name="adj" fmla="val 5556"/>
            </a:avLst>
          </a:prstGeom>
          <a:solidFill>
            <a:srgbClr val="2A2A2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57200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7CD8"/>
                </a:solidFill>
              </a:rPr>
              <a:t>-30%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103120" y="4572000"/>
            <a:ext cx="2011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SaaS Churn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474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2A5"/>
                </a:solidFill>
              </a:rPr>
              <a:t>Managers rely on it as a critical retention tool.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4297680"/>
            <a:ext cx="3840480" cy="1645920"/>
          </a:xfrm>
          <a:prstGeom prst="rect">
            <a:avLst>
              <a:gd name="adj" fmla="val 5556"/>
            </a:avLst>
          </a:prstGeom>
          <a:solidFill>
            <a:srgbClr val="2A2A2A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457200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7CD8"/>
                </a:solidFill>
              </a:rPr>
              <a:t>Top 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217920" y="4572000"/>
            <a:ext cx="2011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Differentiation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5212080"/>
            <a:ext cx="3474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2A5"/>
                </a:solidFill>
              </a:rPr>
              <a:t>Unique moat vs basic time-tracking clones.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0"/>
            <a:ext cx="4572000" cy="6858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MY EXPERIENCE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PhonePe ML Scale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8B92A5"/>
                </a:solidFill>
              </a:rPr>
              <a:t>• Led ML-driven Propensity-to-Transact modeling for 350M+ users.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8B92A5"/>
                </a:solidFill>
              </a:rPr>
              <a:t>• Abstracted complex ML logic into clear, actionable dashboards.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8B92A5"/>
                </a:solidFill>
              </a:rPr>
              <a:t>• Optimized checkout workflows to drive +22% conversion lift.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0" y="45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TOGGL ALIGNMENT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0" y="9144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</a:rPr>
              <a:t>Why I fit this role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</a:rPr>
              <a:t>• Proven ability to leverage data &amp; ML for intelligent products.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</a:rPr>
              <a:t>• Embedded highly with engineering and design to execute complex architectures.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</a:rPr>
              <a:t>• Deeply problem-first, obsessed with uncovering user utility.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5029200"/>
            <a:ext cx="8229600" cy="1371600"/>
          </a:xfrm>
          <a:prstGeom prst="rect">
            <a:avLst>
              <a:gd name="adj" fmla="val 6667"/>
            </a:avLst>
          </a:prstGeom>
          <a:solidFill>
            <a:srgbClr val="E57CD8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512064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F1F1F"/>
                </a:solidFill>
              </a:rPr>
              <a:t>"The best PMs do not just organize tickets. They use ML and data logic to fundamentally shift how users perceive value and scale product-led growth."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ROLLOUT PLAN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Execution Milestones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2560320" cy="1828800"/>
          </a:xfrm>
          <a:prstGeom prst="rect">
            <a:avLst>
              <a:gd name="adj" fmla="val 5000"/>
            </a:avLst>
          </a:prstGeom>
          <a:solidFill>
            <a:srgbClr val="2A2A2A"/>
          </a:solidFill>
          <a:ln w="25400">
            <a:solidFill>
              <a:srgbClr val="E57C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560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1: Discovery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Analyze historical time-tracking data for predictive burn signatures.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2286000"/>
            <a:ext cx="2560320" cy="1828800"/>
          </a:xfrm>
          <a:prstGeom prst="rect">
            <a:avLst>
              <a:gd name="adj" fmla="val 5000"/>
            </a:avLst>
          </a:prstGeom>
          <a:solidFill>
            <a:srgbClr val="2A2A2A"/>
          </a:solidFill>
          <a:ln w="25400">
            <a:solidFill>
              <a:srgbClr val="E57C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560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2: Alpha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0" y="32004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Internal dogfooding with engineering managers to tune ML risk thresholds.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2286000"/>
            <a:ext cx="2560320" cy="1828800"/>
          </a:xfrm>
          <a:prstGeom prst="rect">
            <a:avLst>
              <a:gd name="adj" fmla="val 5000"/>
            </a:avLst>
          </a:prstGeom>
          <a:solidFill>
            <a:srgbClr val="2A2A2A"/>
          </a:solidFill>
          <a:ln w="25400">
            <a:solidFill>
              <a:srgbClr val="E57C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560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3: Scale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09360" y="32004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Launch CapacityPulse tier as a premium add-on for Enterprise customers.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8229600" cy="1097280"/>
          </a:xfrm>
          <a:prstGeom prst="rect">
            <a:avLst>
              <a:gd name="adj" fmla="val 8333"/>
            </a:avLst>
          </a:prstGeom>
          <a:solidFill>
            <a:srgbClr val="2A2A2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8463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7CD8"/>
                </a:solidFill>
              </a:rPr>
              <a:t>What I Need: A 20-minute chat to discuss Toggl Focus AI aspirations.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2179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2A5"/>
                </a:solidFill>
              </a:rPr>
              <a:t>Ajay Avaghade | avaghadeajay009@gmail.com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2026-06-05T18:39:42Z</dcterms:created>
  <dcterms:modified xsi:type="dcterms:W3CDTF">2026-06-05T18:39:42Z</dcterms:modified>
</cp:coreProperties>
</file>