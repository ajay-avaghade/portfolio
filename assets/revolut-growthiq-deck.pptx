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F14"/>
        </a:solidFill>
      </p:bgPr>
    </p:bg>
    <p:spTree>
      <p:nvGrpSpPr>
        <p:cNvPr id="1" name=""/>
        <p:cNvGrpSpPr/>
        <p:nvPr/>
      </p:nvGrpSpPr>
      <p:grpSpPr>
        <a:xfrm>
          <a:off x="0" y="0"/>
          <a:ext cx="0" cy="0"/>
          <a:chOff x="0" y="0"/>
          <a:chExt cx="0" cy="0"/>
        </a:xfrm>
      </p:grpSpPr>
      <p:sp>
        <p:nvSpPr>
          <p:cNvPr id="2" name="Shape 0"/>
          <p:cNvSpPr/>
          <p:nvPr/>
        </p:nvSpPr>
        <p:spPr>
          <a:xfrm rot="2100000">
            <a:off x="-457200" y="0"/>
            <a:ext cx="3200400" cy="0"/>
          </a:xfrm>
          <a:prstGeom prst="line">
            <a:avLst/>
          </a:prstGeom>
          <a:noFill/>
          <a:ln w="5080">
            <a:solidFill>
              <a:srgbClr val="0668E1">
                <a:alpha val="12000"/>
              </a:srgbClr>
            </a:solidFill>
            <a:prstDash val="solid"/>
          </a:ln>
        </p:spPr>
      </p:sp>
      <p:sp>
        <p:nvSpPr>
          <p:cNvPr id="3" name="Shape 1"/>
          <p:cNvSpPr/>
          <p:nvPr/>
        </p:nvSpPr>
        <p:spPr>
          <a:xfrm rot="2100000">
            <a:off x="914400" y="0"/>
            <a:ext cx="3200400" cy="0"/>
          </a:xfrm>
          <a:prstGeom prst="line">
            <a:avLst/>
          </a:prstGeom>
          <a:noFill/>
          <a:ln w="5080">
            <a:solidFill>
              <a:srgbClr val="0668E1">
                <a:alpha val="12000"/>
              </a:srgbClr>
            </a:solidFill>
            <a:prstDash val="solid"/>
          </a:ln>
        </p:spPr>
      </p:sp>
      <p:sp>
        <p:nvSpPr>
          <p:cNvPr id="4" name="Shape 2"/>
          <p:cNvSpPr/>
          <p:nvPr/>
        </p:nvSpPr>
        <p:spPr>
          <a:xfrm rot="2100000">
            <a:off x="2286000" y="0"/>
            <a:ext cx="3200400" cy="0"/>
          </a:xfrm>
          <a:prstGeom prst="line">
            <a:avLst/>
          </a:prstGeom>
          <a:noFill/>
          <a:ln w="5080">
            <a:solidFill>
              <a:srgbClr val="0668E1">
                <a:alpha val="12000"/>
              </a:srgbClr>
            </a:solidFill>
            <a:prstDash val="solid"/>
          </a:ln>
        </p:spPr>
      </p:sp>
      <p:sp>
        <p:nvSpPr>
          <p:cNvPr id="5" name="Shape 3"/>
          <p:cNvSpPr/>
          <p:nvPr/>
        </p:nvSpPr>
        <p:spPr>
          <a:xfrm rot="2100000">
            <a:off x="3657600" y="0"/>
            <a:ext cx="3200400" cy="0"/>
          </a:xfrm>
          <a:prstGeom prst="line">
            <a:avLst/>
          </a:prstGeom>
          <a:noFill/>
          <a:ln w="5080">
            <a:solidFill>
              <a:srgbClr val="0668E1">
                <a:alpha val="12000"/>
              </a:srgbClr>
            </a:solidFill>
            <a:prstDash val="solid"/>
          </a:ln>
        </p:spPr>
      </p:sp>
      <p:sp>
        <p:nvSpPr>
          <p:cNvPr id="6" name="Shape 4"/>
          <p:cNvSpPr/>
          <p:nvPr/>
        </p:nvSpPr>
        <p:spPr>
          <a:xfrm rot="2100000">
            <a:off x="5029200" y="0"/>
            <a:ext cx="3200400" cy="0"/>
          </a:xfrm>
          <a:prstGeom prst="line">
            <a:avLst/>
          </a:prstGeom>
          <a:noFill/>
          <a:ln w="5080">
            <a:solidFill>
              <a:srgbClr val="0668E1">
                <a:alpha val="12000"/>
              </a:srgbClr>
            </a:solidFill>
            <a:prstDash val="solid"/>
          </a:ln>
        </p:spPr>
      </p:sp>
      <p:sp>
        <p:nvSpPr>
          <p:cNvPr id="7" name="Shape 5"/>
          <p:cNvSpPr/>
          <p:nvPr/>
        </p:nvSpPr>
        <p:spPr>
          <a:xfrm rot="2100000">
            <a:off x="6400800" y="0"/>
            <a:ext cx="3200400" cy="0"/>
          </a:xfrm>
          <a:prstGeom prst="line">
            <a:avLst/>
          </a:prstGeom>
          <a:noFill/>
          <a:ln w="5080">
            <a:solidFill>
              <a:srgbClr val="0668E1">
                <a:alpha val="12000"/>
              </a:srgbClr>
            </a:solidFill>
            <a:prstDash val="solid"/>
          </a:ln>
        </p:spPr>
      </p:sp>
      <p:sp>
        <p:nvSpPr>
          <p:cNvPr id="8" name="Shape 6"/>
          <p:cNvSpPr/>
          <p:nvPr/>
        </p:nvSpPr>
        <p:spPr>
          <a:xfrm rot="2100000">
            <a:off x="7772400" y="0"/>
            <a:ext cx="3200400" cy="0"/>
          </a:xfrm>
          <a:prstGeom prst="line">
            <a:avLst/>
          </a:prstGeom>
          <a:noFill/>
          <a:ln w="5080">
            <a:solidFill>
              <a:srgbClr val="0668E1">
                <a:alpha val="12000"/>
              </a:srgbClr>
            </a:solidFill>
            <a:prstDash val="solid"/>
          </a:ln>
        </p:spPr>
      </p:sp>
      <p:sp>
        <p:nvSpPr>
          <p:cNvPr id="9" name="Shape 7"/>
          <p:cNvSpPr/>
          <p:nvPr/>
        </p:nvSpPr>
        <p:spPr>
          <a:xfrm rot="2100000">
            <a:off x="9144000" y="0"/>
            <a:ext cx="3200400" cy="0"/>
          </a:xfrm>
          <a:prstGeom prst="line">
            <a:avLst/>
          </a:prstGeom>
          <a:noFill/>
          <a:ln w="5080">
            <a:solidFill>
              <a:srgbClr val="0668E1">
                <a:alpha val="12000"/>
              </a:srgbClr>
            </a:solidFill>
            <a:prstDash val="solid"/>
          </a:ln>
        </p:spPr>
      </p:sp>
      <p:sp>
        <p:nvSpPr>
          <p:cNvPr id="10" name="Text 8"/>
          <p:cNvSpPr/>
          <p:nvPr/>
        </p:nvSpPr>
        <p:spPr>
          <a:xfrm>
            <a:off x="457200" y="256032"/>
            <a:ext cx="8229600" cy="201168"/>
          </a:xfrm>
          <a:prstGeom prst="rect">
            <a:avLst/>
          </a:prstGeom>
          <a:noFill/>
          <a:ln/>
        </p:spPr>
        <p:txBody>
          <a:bodyPr wrap="square" rtlCol="0" anchor="ctr"/>
          <a:lstStyle/>
          <a:p>
            <a:pPr indent="0" marL="0">
              <a:buNone/>
            </a:pPr>
            <a:r>
              <a:rPr lang="en-US" sz="850" spc="200" kern="0" dirty="0">
                <a:solidFill>
                  <a:srgbClr val="0668E1"/>
                </a:solidFill>
                <a:latin typeface="Calibri" pitchFamily="34" charset="0"/>
                <a:ea typeface="Calibri" pitchFamily="34" charset="-122"/>
                <a:cs typeface="Calibri" pitchFamily="34" charset="-120"/>
              </a:rPr>
              <a:t>REVOLUT  ·  JUNIOR PRODUCT MARKETING MANAGER — LOYALTY</a:t>
            </a:r>
            <a:endParaRPr lang="en-US" sz="850" dirty="0"/>
          </a:p>
        </p:txBody>
      </p:sp>
      <p:sp>
        <p:nvSpPr>
          <p:cNvPr id="11" name="Text 9"/>
          <p:cNvSpPr/>
          <p:nvPr/>
        </p:nvSpPr>
        <p:spPr>
          <a:xfrm>
            <a:off x="457200" y="594360"/>
            <a:ext cx="8229600" cy="1005840"/>
          </a:xfrm>
          <a:prstGeom prst="rect">
            <a:avLst/>
          </a:prstGeom>
          <a:noFill/>
          <a:ln/>
          <a:effectLst>
            <a:outerShdw sx="100000" sy="100000" kx="0" ky="0" algn="bl" rotWithShape="0" blurRad="50800" dist="25400" dir="2700000">
              <a:srgbClr val="000000">
                <a:alpha val="14000"/>
              </a:srgbClr>
            </a:outerShdw>
          </a:effectLst>
        </p:spPr>
        <p:txBody>
          <a:bodyPr wrap="square"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GrowthIQ</a:t>
            </a:r>
            <a:endParaRPr lang="en-US" sz="6600" dirty="0"/>
          </a:p>
        </p:txBody>
      </p:sp>
      <p:sp>
        <p:nvSpPr>
          <p:cNvPr id="12" name="Shape 10"/>
          <p:cNvSpPr/>
          <p:nvPr/>
        </p:nvSpPr>
        <p:spPr>
          <a:xfrm>
            <a:off x="457200" y="1572768"/>
            <a:ext cx="1463040" cy="64008"/>
          </a:xfrm>
          <a:prstGeom prst="rect">
            <a:avLst/>
          </a:prstGeom>
          <a:solidFill>
            <a:srgbClr val="0668E1"/>
          </a:solidFill>
          <a:ln w="12700">
            <a:solidFill>
              <a:srgbClr val="0668E1"/>
            </a:solidFill>
            <a:prstDash val="solid"/>
          </a:ln>
        </p:spPr>
      </p:sp>
      <p:sp>
        <p:nvSpPr>
          <p:cNvPr id="13" name="Text 11"/>
          <p:cNvSpPr/>
          <p:nvPr/>
        </p:nvSpPr>
        <p:spPr>
          <a:xfrm>
            <a:off x="457200" y="1719072"/>
            <a:ext cx="6858000" cy="347472"/>
          </a:xfrm>
          <a:prstGeom prst="rect">
            <a:avLst/>
          </a:prstGeom>
          <a:noFill/>
          <a:ln/>
        </p:spPr>
        <p:txBody>
          <a:bodyPr wrap="square" rtlCol="0" anchor="ctr"/>
          <a:lstStyle/>
          <a:p>
            <a:pPr indent="0" marL="0">
              <a:buNone/>
            </a:pPr>
            <a:r>
              <a:rPr lang="en-US" sz="1800" dirty="0">
                <a:solidFill>
                  <a:srgbClr val="C8D4F0"/>
                </a:solidFill>
                <a:latin typeface="Calibri" pitchFamily="34" charset="0"/>
                <a:ea typeface="Calibri" pitchFamily="34" charset="-122"/>
                <a:cs typeface="Calibri" pitchFamily="34" charset="-120"/>
              </a:rPr>
              <a:t>The Upgrade Intelligence Layer Revolut is Missing</a:t>
            </a:r>
            <a:endParaRPr lang="en-US" sz="1800" dirty="0"/>
          </a:p>
        </p:txBody>
      </p:sp>
      <p:sp>
        <p:nvSpPr>
          <p:cNvPr id="14" name="Text 12"/>
          <p:cNvSpPr/>
          <p:nvPr/>
        </p:nvSpPr>
        <p:spPr>
          <a:xfrm>
            <a:off x="457200" y="2176272"/>
            <a:ext cx="6858000" cy="365760"/>
          </a:xfrm>
          <a:prstGeom prst="rect">
            <a:avLst/>
          </a:prstGeom>
          <a:noFill/>
          <a:ln/>
        </p:spPr>
        <p:txBody>
          <a:bodyPr wrap="square" rtlCol="0" anchor="ctr"/>
          <a:lstStyle/>
          <a:p>
            <a:pPr indent="0" marL="0">
              <a:buNone/>
            </a:pPr>
            <a:r>
              <a:rPr lang="en-US" sz="1250" dirty="0">
                <a:solidFill>
                  <a:srgbClr val="4A6FA5"/>
                </a:solidFill>
                <a:latin typeface="Calibri" pitchFamily="34" charset="0"/>
                <a:ea typeface="Calibri" pitchFamily="34" charset="-122"/>
                <a:cs typeface="Calibri" pitchFamily="34" charset="-120"/>
              </a:rPr>
              <a:t>CDP propensity scoring · Story variant engine · Offer calibration · Campaign analytics</a:t>
            </a:r>
            <a:endParaRPr lang="en-US" sz="1250" dirty="0"/>
          </a:p>
        </p:txBody>
      </p:sp>
      <p:sp>
        <p:nvSpPr>
          <p:cNvPr id="15" name="Shape 13"/>
          <p:cNvSpPr/>
          <p:nvPr/>
        </p:nvSpPr>
        <p:spPr>
          <a:xfrm>
            <a:off x="6492240" y="3840480"/>
            <a:ext cx="2377440" cy="1828800"/>
          </a:xfrm>
          <a:prstGeom prst="rect">
            <a:avLst/>
          </a:prstGeom>
          <a:solidFill>
            <a:srgbClr val="0A1428"/>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16" name="Text 14"/>
          <p:cNvSpPr/>
          <p:nvPr/>
        </p:nvSpPr>
        <p:spPr>
          <a:xfrm>
            <a:off x="6492240" y="3977640"/>
            <a:ext cx="2377440" cy="658368"/>
          </a:xfrm>
          <a:prstGeom prst="rect">
            <a:avLst/>
          </a:prstGeom>
          <a:noFill/>
          <a:ln/>
        </p:spPr>
        <p:txBody>
          <a:bodyPr wrap="square" rtlCol="0" anchor="ctr"/>
          <a:lstStyle/>
          <a:p>
            <a:pPr algn="ctr" indent="0" marL="0">
              <a:buNone/>
            </a:pPr>
            <a:r>
              <a:rPr lang="en-US" sz="4200" b="1" dirty="0">
                <a:solidFill>
                  <a:srgbClr val="0668E1"/>
                </a:solidFill>
                <a:latin typeface="Calibri" pitchFamily="34" charset="0"/>
                <a:ea typeface="Calibri" pitchFamily="34" charset="-122"/>
                <a:cs typeface="Calibri" pitchFamily="34" charset="-120"/>
              </a:rPr>
              <a:t>+22%</a:t>
            </a:r>
            <a:endParaRPr lang="en-US" sz="4200" dirty="0"/>
          </a:p>
        </p:txBody>
      </p:sp>
      <p:sp>
        <p:nvSpPr>
          <p:cNvPr id="17" name="Text 15"/>
          <p:cNvSpPr/>
          <p:nvPr/>
        </p:nvSpPr>
        <p:spPr>
          <a:xfrm>
            <a:off x="6492240" y="4617720"/>
            <a:ext cx="2377440" cy="502920"/>
          </a:xfrm>
          <a:prstGeom prst="rect">
            <a:avLst/>
          </a:prstGeom>
          <a:noFill/>
          <a:ln/>
        </p:spPr>
        <p:txBody>
          <a:bodyPr wrap="square" rtlCol="0" anchor="ctr"/>
          <a:lstStyle/>
          <a:p>
            <a:pPr algn="ctr" indent="0" marL="0">
              <a:buNone/>
            </a:pPr>
            <a:r>
              <a:rPr lang="en-US" sz="1050" dirty="0">
                <a:solidFill>
                  <a:srgbClr val="7CA8D8"/>
                </a:solidFill>
                <a:latin typeface="Calibri" pitchFamily="34" charset="0"/>
                <a:ea typeface="Calibri" pitchFamily="34" charset="-122"/>
                <a:cs typeface="Calibri" pitchFamily="34" charset="-120"/>
              </a:rPr>
              <a:t>plan upgrade CVR</a:t>
            </a:r>
            <a:endParaRPr lang="en-US" sz="1050" dirty="0"/>
          </a:p>
          <a:p>
            <a:pPr algn="ctr" indent="0" marL="0">
              <a:buNone/>
            </a:pPr>
            <a:r>
              <a:rPr lang="en-US" sz="1050" dirty="0">
                <a:solidFill>
                  <a:srgbClr val="7CA8D8"/>
                </a:solidFill>
                <a:latin typeface="Calibri" pitchFamily="34" charset="0"/>
                <a:ea typeface="Calibri" pitchFamily="34" charset="-122"/>
                <a:cs typeface="Calibri" pitchFamily="34" charset="-120"/>
              </a:rPr>
              <a:t>vs blanket campaign</a:t>
            </a:r>
            <a:endParaRPr lang="en-US" sz="1050" dirty="0"/>
          </a:p>
        </p:txBody>
      </p:sp>
      <p:sp>
        <p:nvSpPr>
          <p:cNvPr id="18" name="Text 16"/>
          <p:cNvSpPr/>
          <p:nvPr/>
        </p:nvSpPr>
        <p:spPr>
          <a:xfrm>
            <a:off x="457200" y="6309360"/>
            <a:ext cx="5943600" cy="2286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Presented by Ajay Avaghade  ·  Growth &amp; MarTech PM</a:t>
            </a:r>
            <a:endParaRPr lang="en-US" sz="950" dirty="0"/>
          </a:p>
        </p:txBody>
      </p:sp>
      <p:sp>
        <p:nvSpPr>
          <p:cNvPr id="19" name="Text 17"/>
          <p:cNvSpPr/>
          <p:nvPr/>
        </p:nvSpPr>
        <p:spPr>
          <a:xfrm>
            <a:off x="5303520" y="1097280"/>
            <a:ext cx="4114800" cy="4572000"/>
          </a:xfrm>
          <a:prstGeom prst="rect">
            <a:avLst/>
          </a:prstGeom>
          <a:noFill/>
          <a:ln/>
        </p:spPr>
        <p:txBody>
          <a:bodyPr wrap="square" rtlCol="0" anchor="ctr"/>
          <a:lstStyle/>
          <a:p>
            <a:pPr indent="0" marL="0">
              <a:buNone/>
            </a:pPr>
            <a:r>
              <a:rPr lang="en-US" sz="32000" b="1" dirty="0">
                <a:solidFill>
                  <a:srgbClr val="0668E1">
                    <a:alpha val="6000"/>
                  </a:srgbClr>
                </a:solidFill>
                <a:latin typeface="Calibri" pitchFamily="34" charset="0"/>
                <a:ea typeface="Calibri" pitchFamily="34" charset="-122"/>
                <a:cs typeface="Calibri" pitchFamily="34" charset="-120"/>
              </a:rPr>
              <a:t>R</a:t>
            </a:r>
            <a:endParaRPr lang="en-US" sz="3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F14"/>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0668E1"/>
                </a:solidFill>
                <a:latin typeface="Calibri" pitchFamily="34" charset="0"/>
                <a:ea typeface="Calibri" pitchFamily="34" charset="-122"/>
                <a:cs typeface="Calibri" pitchFamily="34" charset="-120"/>
              </a:rPr>
              <a:t>THE PROBLEM</a:t>
            </a:r>
            <a:endParaRPr lang="en-US" sz="900" dirty="0"/>
          </a:p>
        </p:txBody>
      </p:sp>
      <p:sp>
        <p:nvSpPr>
          <p:cNvPr id="3" name="Text 1"/>
          <p:cNvSpPr/>
          <p:nvPr/>
        </p:nvSpPr>
        <p:spPr>
          <a:xfrm>
            <a:off x="457200" y="521208"/>
            <a:ext cx="8229600" cy="822960"/>
          </a:xfrm>
          <a:prstGeom prst="rect">
            <a:avLst/>
          </a:prstGeom>
          <a:noFill/>
          <a:ln/>
        </p:spPr>
        <p:txBody>
          <a:bodyPr wrap="square"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Revolut Shows the Same Upgrade Banner to 70M Users Regardless of Intent, Fit, or Financial Benefit.</a:t>
            </a:r>
            <a:endParaRPr lang="en-US" sz="2300" dirty="0"/>
          </a:p>
        </p:txBody>
      </p:sp>
      <p:sp>
        <p:nvSpPr>
          <p:cNvPr id="4" name="Shape 2"/>
          <p:cNvSpPr/>
          <p:nvPr/>
        </p:nvSpPr>
        <p:spPr>
          <a:xfrm>
            <a:off x="411480" y="1536192"/>
            <a:ext cx="2651760" cy="3017520"/>
          </a:xfrm>
          <a:prstGeom prst="rect">
            <a:avLst/>
          </a:prstGeom>
          <a:solidFill>
            <a:srgbClr val="0A1428"/>
          </a:solidFill>
          <a:ln w="10160">
            <a:solidFill>
              <a:srgbClr val="0668E1"/>
            </a:solidFill>
            <a:prstDash val="solid"/>
          </a:ln>
          <a:effectLst>
            <a:outerShdw sx="100000" sy="100000" kx="0" ky="0" algn="bl" rotWithShape="0" blurRad="50800" dist="25400" dir="2700000">
              <a:srgbClr val="000000">
                <a:alpha val="14000"/>
              </a:srgbClr>
            </a:outerShdw>
          </a:effectLst>
        </p:spPr>
      </p:sp>
      <p:sp>
        <p:nvSpPr>
          <p:cNvPr id="5" name="Text 3"/>
          <p:cNvSpPr/>
          <p:nvPr/>
        </p:nvSpPr>
        <p:spPr>
          <a:xfrm>
            <a:off x="411480" y="1691640"/>
            <a:ext cx="265176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411480" y="2121408"/>
            <a:ext cx="2651760" cy="658368"/>
          </a:xfrm>
          <a:prstGeom prst="rect">
            <a:avLst/>
          </a:prstGeom>
          <a:noFill/>
          <a:ln/>
        </p:spPr>
        <p:txBody>
          <a:bodyPr wrap="square"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70M</a:t>
            </a:r>
            <a:endParaRPr lang="en-US" sz="3800" dirty="0"/>
          </a:p>
        </p:txBody>
      </p:sp>
      <p:sp>
        <p:nvSpPr>
          <p:cNvPr id="7" name="Text 5"/>
          <p:cNvSpPr/>
          <p:nvPr/>
        </p:nvSpPr>
        <p:spPr>
          <a:xfrm>
            <a:off x="521208" y="2788920"/>
            <a:ext cx="2423160" cy="56692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Users receive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identical upgrade CTA</a:t>
            </a:r>
            <a:endParaRPr lang="en-US" sz="1150" dirty="0"/>
          </a:p>
        </p:txBody>
      </p:sp>
      <p:sp>
        <p:nvSpPr>
          <p:cNvPr id="8" name="Text 6"/>
          <p:cNvSpPr/>
          <p:nvPr/>
        </p:nvSpPr>
        <p:spPr>
          <a:xfrm>
            <a:off x="502920" y="3383280"/>
            <a:ext cx="2468880" cy="685800"/>
          </a:xfrm>
          <a:prstGeom prst="rect">
            <a:avLst/>
          </a:prstGeom>
          <a:noFill/>
          <a:ln/>
        </p:spPr>
        <p:txBody>
          <a:bodyPr wrap="square" rtlCol="0" anchor="ctr"/>
          <a:lstStyle/>
          <a:p>
            <a:pPr algn="ctr" indent="0" marL="0">
              <a:buNone/>
            </a:pPr>
            <a:r>
              <a:rPr lang="en-US" sz="950" dirty="0">
                <a:solidFill>
                  <a:srgbClr val="7CA8D8"/>
                </a:solidFill>
                <a:latin typeface="Calibri" pitchFamily="34" charset="0"/>
                <a:ea typeface="Calibri" pitchFamily="34" charset="-122"/>
                <a:cs typeface="Calibri" pitchFamily="34" charset="-120"/>
              </a:rPr>
              <a:t>Standard, Premium, Metal — same banner</a:t>
            </a:r>
            <a:endParaRPr lang="en-US" sz="950" dirty="0"/>
          </a:p>
          <a:p>
            <a:pPr algn="ctr" indent="0" marL="0">
              <a:buNone/>
            </a:pPr>
            <a:r>
              <a:rPr lang="en-US" sz="950" dirty="0">
                <a:solidFill>
                  <a:srgbClr val="7CA8D8"/>
                </a:solidFill>
                <a:latin typeface="Calibri" pitchFamily="34" charset="0"/>
                <a:ea typeface="Calibri" pitchFamily="34" charset="-122"/>
                <a:cs typeface="Calibri" pitchFamily="34" charset="-120"/>
              </a:rPr>
              <a:t>regardless of usage signals or plan fit</a:t>
            </a:r>
            <a:endParaRPr lang="en-US" sz="950" dirty="0"/>
          </a:p>
        </p:txBody>
      </p:sp>
      <p:sp>
        <p:nvSpPr>
          <p:cNvPr id="9" name="Shape 7"/>
          <p:cNvSpPr/>
          <p:nvPr/>
        </p:nvSpPr>
        <p:spPr>
          <a:xfrm>
            <a:off x="3246120" y="1536192"/>
            <a:ext cx="2651760" cy="3017520"/>
          </a:xfrm>
          <a:prstGeom prst="rect">
            <a:avLst/>
          </a:prstGeom>
          <a:solidFill>
            <a:srgbClr val="0A1428"/>
          </a:solidFill>
          <a:ln w="10160">
            <a:solidFill>
              <a:srgbClr val="0668E1"/>
            </a:solidFill>
            <a:prstDash val="solid"/>
          </a:ln>
          <a:effectLst>
            <a:outerShdw sx="100000" sy="100000" kx="0" ky="0" algn="bl" rotWithShape="0" blurRad="50800" dist="25400" dir="2700000">
              <a:srgbClr val="000000">
                <a:alpha val="14000"/>
              </a:srgbClr>
            </a:outerShdw>
          </a:effectLst>
        </p:spPr>
      </p:sp>
      <p:sp>
        <p:nvSpPr>
          <p:cNvPr id="10" name="Text 8"/>
          <p:cNvSpPr/>
          <p:nvPr/>
        </p:nvSpPr>
        <p:spPr>
          <a:xfrm>
            <a:off x="3246120" y="1691640"/>
            <a:ext cx="265176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3246120" y="2121408"/>
            <a:ext cx="2651760" cy="658368"/>
          </a:xfrm>
          <a:prstGeom prst="rect">
            <a:avLst/>
          </a:prstGeom>
          <a:noFill/>
          <a:ln/>
        </p:spPr>
        <p:txBody>
          <a:bodyPr wrap="square"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−89%</a:t>
            </a:r>
            <a:endParaRPr lang="en-US" sz="3800" dirty="0"/>
          </a:p>
        </p:txBody>
      </p:sp>
      <p:sp>
        <p:nvSpPr>
          <p:cNvPr id="12" name="Text 10"/>
          <p:cNvSpPr/>
          <p:nvPr/>
        </p:nvSpPr>
        <p:spPr>
          <a:xfrm>
            <a:off x="3355848" y="2788920"/>
            <a:ext cx="2423160" cy="56692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Offer budget wasted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on non-convertible users</a:t>
            </a:r>
            <a:endParaRPr lang="en-US" sz="1150" dirty="0"/>
          </a:p>
        </p:txBody>
      </p:sp>
      <p:sp>
        <p:nvSpPr>
          <p:cNvPr id="13" name="Text 11"/>
          <p:cNvSpPr/>
          <p:nvPr/>
        </p:nvSpPr>
        <p:spPr>
          <a:xfrm>
            <a:off x="3337560" y="3383280"/>
            <a:ext cx="2468880" cy="685800"/>
          </a:xfrm>
          <a:prstGeom prst="rect">
            <a:avLst/>
          </a:prstGeom>
          <a:noFill/>
          <a:ln/>
        </p:spPr>
        <p:txBody>
          <a:bodyPr wrap="square" rtlCol="0" anchor="ctr"/>
          <a:lstStyle/>
          <a:p>
            <a:pPr algn="ctr" indent="0" marL="0">
              <a:buNone/>
            </a:pPr>
            <a:r>
              <a:rPr lang="en-US" sz="950" dirty="0">
                <a:solidFill>
                  <a:srgbClr val="7CA8D8"/>
                </a:solidFill>
                <a:latin typeface="Calibri" pitchFamily="34" charset="0"/>
                <a:ea typeface="Calibri" pitchFamily="34" charset="-122"/>
                <a:cs typeface="Calibri" pitchFamily="34" charset="-120"/>
              </a:rPr>
              <a:t>HIGH-intent users (upgrade anyway) and LOW-intent</a:t>
            </a:r>
            <a:endParaRPr lang="en-US" sz="950" dirty="0"/>
          </a:p>
          <a:p>
            <a:pPr algn="ctr" indent="0" marL="0">
              <a:buNone/>
            </a:pPr>
            <a:r>
              <a:rPr lang="en-US" sz="950" dirty="0">
                <a:solidFill>
                  <a:srgbClr val="7CA8D8"/>
                </a:solidFill>
                <a:latin typeface="Calibri" pitchFamily="34" charset="0"/>
                <a:ea typeface="Calibri" pitchFamily="34" charset="-122"/>
                <a:cs typeface="Calibri" pitchFamily="34" charset="-120"/>
              </a:rPr>
              <a:t>users (will not convert) receive costly incentives</a:t>
            </a:r>
            <a:endParaRPr lang="en-US" sz="950" dirty="0"/>
          </a:p>
        </p:txBody>
      </p:sp>
      <p:sp>
        <p:nvSpPr>
          <p:cNvPr id="14" name="Shape 12"/>
          <p:cNvSpPr/>
          <p:nvPr/>
        </p:nvSpPr>
        <p:spPr>
          <a:xfrm>
            <a:off x="6080760" y="1536192"/>
            <a:ext cx="2651760" cy="3017520"/>
          </a:xfrm>
          <a:prstGeom prst="rect">
            <a:avLst/>
          </a:prstGeom>
          <a:solidFill>
            <a:srgbClr val="0A1428"/>
          </a:solidFill>
          <a:ln w="10160">
            <a:solidFill>
              <a:srgbClr val="0668E1"/>
            </a:solidFill>
            <a:prstDash val="solid"/>
          </a:ln>
          <a:effectLst>
            <a:outerShdw sx="100000" sy="100000" kx="0" ky="0" algn="bl" rotWithShape="0" blurRad="50800" dist="25400" dir="2700000">
              <a:srgbClr val="000000">
                <a:alpha val="14000"/>
              </a:srgbClr>
            </a:outerShdw>
          </a:effectLst>
        </p:spPr>
      </p:sp>
      <p:sp>
        <p:nvSpPr>
          <p:cNvPr id="15" name="Text 13"/>
          <p:cNvSpPr/>
          <p:nvPr/>
        </p:nvSpPr>
        <p:spPr>
          <a:xfrm>
            <a:off x="6080760" y="1691640"/>
            <a:ext cx="265176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6080760" y="2121408"/>
            <a:ext cx="2651760" cy="658368"/>
          </a:xfrm>
          <a:prstGeom prst="rect">
            <a:avLst/>
          </a:prstGeom>
          <a:noFill/>
          <a:ln/>
        </p:spPr>
        <p:txBody>
          <a:bodyPr wrap="square"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11%</a:t>
            </a:r>
            <a:endParaRPr lang="en-US" sz="3800" dirty="0"/>
          </a:p>
        </p:txBody>
      </p:sp>
      <p:sp>
        <p:nvSpPr>
          <p:cNvPr id="17" name="Text 15"/>
          <p:cNvSpPr/>
          <p:nvPr/>
        </p:nvSpPr>
        <p:spPr>
          <a:xfrm>
            <a:off x="6190488" y="2788920"/>
            <a:ext cx="2423160" cy="56692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Baseline upgrade CVR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on blanket campaigns</a:t>
            </a:r>
            <a:endParaRPr lang="en-US" sz="1150" dirty="0"/>
          </a:p>
        </p:txBody>
      </p:sp>
      <p:sp>
        <p:nvSpPr>
          <p:cNvPr id="18" name="Text 16"/>
          <p:cNvSpPr/>
          <p:nvPr/>
        </p:nvSpPr>
        <p:spPr>
          <a:xfrm>
            <a:off x="6172200" y="3383280"/>
            <a:ext cx="2468880" cy="685800"/>
          </a:xfrm>
          <a:prstGeom prst="rect">
            <a:avLst/>
          </a:prstGeom>
          <a:noFill/>
          <a:ln/>
        </p:spPr>
        <p:txBody>
          <a:bodyPr wrap="square" rtlCol="0" anchor="ctr"/>
          <a:lstStyle/>
          <a:p>
            <a:pPr algn="ctr" indent="0" marL="0">
              <a:buNone/>
            </a:pPr>
            <a:r>
              <a:rPr lang="en-US" sz="950" dirty="0">
                <a:solidFill>
                  <a:srgbClr val="7CA8D8"/>
                </a:solidFill>
                <a:latin typeface="Calibri" pitchFamily="34" charset="0"/>
                <a:ea typeface="Calibri" pitchFamily="34" charset="-122"/>
                <a:cs typeface="Calibri" pitchFamily="34" charset="-120"/>
              </a:rPr>
              <a:t>Industry-leading CVR sits at 22–28% with</a:t>
            </a:r>
            <a:endParaRPr lang="en-US" sz="950" dirty="0"/>
          </a:p>
          <a:p>
            <a:pPr algn="ctr" indent="0" marL="0">
              <a:buNone/>
            </a:pPr>
            <a:r>
              <a:rPr lang="en-US" sz="950" dirty="0">
                <a:solidFill>
                  <a:srgbClr val="7CA8D8"/>
                </a:solidFill>
                <a:latin typeface="Calibri" pitchFamily="34" charset="0"/>
                <a:ea typeface="Calibri" pitchFamily="34" charset="-122"/>
                <a:cs typeface="Calibri" pitchFamily="34" charset="-120"/>
              </a:rPr>
              <a:t>propensity-targeted messaging — gap is 2× revenue</a:t>
            </a:r>
            <a:endParaRPr lang="en-US" sz="950" dirty="0"/>
          </a:p>
        </p:txBody>
      </p:sp>
      <p:sp>
        <p:nvSpPr>
          <p:cNvPr id="19" name="Shape 17"/>
          <p:cNvSpPr/>
          <p:nvPr/>
        </p:nvSpPr>
        <p:spPr>
          <a:xfrm>
            <a:off x="411480" y="4754880"/>
            <a:ext cx="8412480" cy="822960"/>
          </a:xfrm>
          <a:prstGeom prst="rect">
            <a:avLst/>
          </a:prstGeom>
          <a:solidFill>
            <a:srgbClr val="0A1428"/>
          </a:solidFill>
          <a:ln w="12700">
            <a:solidFill>
              <a:srgbClr val="0668E1"/>
            </a:solidFill>
            <a:prstDash val="solid"/>
          </a:ln>
        </p:spPr>
      </p:sp>
      <p:sp>
        <p:nvSpPr>
          <p:cNvPr id="20" name="Text 18"/>
          <p:cNvSpPr/>
          <p:nvPr/>
        </p:nvSpPr>
        <p:spPr>
          <a:xfrm>
            <a:off x="594360" y="4828032"/>
            <a:ext cx="8138160" cy="658368"/>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Root cause: No intelligence between CDP data and campaign execution. Revolut knows exactly which users would benefit financially from upgrading — but that signal never reaches the upgrade nudge. The result is wasted offer budget, low CVR, and premium revenue left on the table.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2F7"/>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0F172A"/>
                </a:solidFill>
                <a:latin typeface="Calibri" pitchFamily="34" charset="0"/>
                <a:ea typeface="Calibri" pitchFamily="34" charset="-122"/>
                <a:cs typeface="Calibri" pitchFamily="34" charset="-120"/>
              </a:rPr>
              <a:t>THE INSIGHT</a:t>
            </a:r>
            <a:endParaRPr lang="en-US" sz="900" dirty="0"/>
          </a:p>
        </p:txBody>
      </p:sp>
      <p:sp>
        <p:nvSpPr>
          <p:cNvPr id="3" name="Text 1"/>
          <p:cNvSpPr/>
          <p:nvPr/>
        </p:nvSpPr>
        <p:spPr>
          <a:xfrm>
            <a:off x="457200" y="521208"/>
            <a:ext cx="8229600" cy="749808"/>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The Upgrade Decision Is Already Made in the Data. GrowthIQ Just Surfaces It at the Right Moment.</a:t>
            </a:r>
            <a:endParaRPr lang="en-US" sz="2200" dirty="0"/>
          </a:p>
        </p:txBody>
      </p:sp>
      <p:sp>
        <p:nvSpPr>
          <p:cNvPr id="4" name="Shape 2"/>
          <p:cNvSpPr/>
          <p:nvPr/>
        </p:nvSpPr>
        <p:spPr>
          <a:xfrm>
            <a:off x="347472" y="1417320"/>
            <a:ext cx="3840480" cy="3611880"/>
          </a:xfrm>
          <a:prstGeom prst="rect">
            <a:avLst/>
          </a:prstGeom>
          <a:solidFill>
            <a:srgbClr val="FFF3F3"/>
          </a:solidFill>
          <a:ln w="15240">
            <a:solidFill>
              <a:srgbClr val="E57373"/>
            </a:solidFill>
            <a:prstDash val="solid"/>
          </a:ln>
          <a:effectLst>
            <a:outerShdw sx="100000" sy="100000" kx="0" ky="0" algn="bl" rotWithShape="0" blurRad="50800" dist="25400" dir="2700000">
              <a:srgbClr val="000000">
                <a:alpha val="14000"/>
              </a:srgbClr>
            </a:outerShdw>
          </a:effectLst>
        </p:spPr>
      </p:sp>
      <p:sp>
        <p:nvSpPr>
          <p:cNvPr id="5" name="Text 3"/>
          <p:cNvSpPr/>
          <p:nvPr/>
        </p:nvSpPr>
        <p:spPr>
          <a:xfrm>
            <a:off x="484632" y="1527048"/>
            <a:ext cx="3657600" cy="320040"/>
          </a:xfrm>
          <a:prstGeom prst="rect">
            <a:avLst/>
          </a:prstGeom>
          <a:noFill/>
          <a:ln/>
        </p:spPr>
        <p:txBody>
          <a:bodyPr wrap="square" rtlCol="0" anchor="ctr"/>
          <a:lstStyle/>
          <a:p>
            <a:pPr indent="0" marL="0">
              <a:buNone/>
            </a:pPr>
            <a:r>
              <a:rPr lang="en-US" sz="1350" b="1" dirty="0">
                <a:solidFill>
                  <a:srgbClr val="C62828"/>
                </a:solidFill>
                <a:latin typeface="Calibri" pitchFamily="34" charset="0"/>
                <a:ea typeface="Calibri" pitchFamily="34" charset="-122"/>
                <a:cs typeface="Calibri" pitchFamily="34" charset="-120"/>
              </a:rPr>
              <a:t>❌  Current: One Banner, 70M Users</a:t>
            </a:r>
            <a:endParaRPr lang="en-US" sz="1350" dirty="0"/>
          </a:p>
        </p:txBody>
      </p:sp>
      <p:sp>
        <p:nvSpPr>
          <p:cNvPr id="6" name="Text 4"/>
          <p:cNvSpPr/>
          <p:nvPr/>
        </p:nvSpPr>
        <p:spPr>
          <a:xfrm>
            <a:off x="530352" y="1938528"/>
            <a:ext cx="3547872" cy="420624"/>
          </a:xfrm>
          <a:prstGeom prst="rect">
            <a:avLst/>
          </a:prstGeom>
          <a:noFill/>
          <a:ln/>
        </p:spPr>
        <p:txBody>
          <a:bodyPr wrap="square" rtlCol="0" anchor="ctr"/>
          <a:lstStyle/>
          <a:p>
            <a:pPr indent="0" marL="0">
              <a:buNone/>
            </a:pPr>
            <a:r>
              <a:rPr lang="en-US" sz="1150" dirty="0">
                <a:solidFill>
                  <a:srgbClr val="4A1A1A"/>
                </a:solidFill>
                <a:latin typeface="Calibri" pitchFamily="34" charset="0"/>
                <a:ea typeface="Calibri" pitchFamily="34" charset="-122"/>
                <a:cs typeface="Calibri" pitchFamily="34" charset="-120"/>
              </a:rPr>
              <a:t>• Same "Upgrade to Premium" CTA for every user</a:t>
            </a:r>
            <a:endParaRPr lang="en-US" sz="1150" dirty="0"/>
          </a:p>
        </p:txBody>
      </p:sp>
      <p:sp>
        <p:nvSpPr>
          <p:cNvPr id="7" name="Text 5"/>
          <p:cNvSpPr/>
          <p:nvPr/>
        </p:nvSpPr>
        <p:spPr>
          <a:xfrm>
            <a:off x="530352" y="2423160"/>
            <a:ext cx="3547872" cy="420624"/>
          </a:xfrm>
          <a:prstGeom prst="rect">
            <a:avLst/>
          </a:prstGeom>
          <a:noFill/>
          <a:ln/>
        </p:spPr>
        <p:txBody>
          <a:bodyPr wrap="square" rtlCol="0" anchor="ctr"/>
          <a:lstStyle/>
          <a:p>
            <a:pPr indent="0" marL="0">
              <a:buNone/>
            </a:pPr>
            <a:r>
              <a:rPr lang="en-US" sz="1150" dirty="0">
                <a:solidFill>
                  <a:srgbClr val="4A1A1A"/>
                </a:solidFill>
                <a:latin typeface="Calibri" pitchFamily="34" charset="0"/>
                <a:ea typeface="Calibri" pitchFamily="34" charset="-122"/>
                <a:cs typeface="Calibri" pitchFamily="34" charset="-120"/>
              </a:rPr>
              <a:t>• Offer size fixed — regardless of user value or intent</a:t>
            </a:r>
            <a:endParaRPr lang="en-US" sz="1150" dirty="0"/>
          </a:p>
        </p:txBody>
      </p:sp>
      <p:sp>
        <p:nvSpPr>
          <p:cNvPr id="8" name="Text 6"/>
          <p:cNvSpPr/>
          <p:nvPr/>
        </p:nvSpPr>
        <p:spPr>
          <a:xfrm>
            <a:off x="530352" y="2907792"/>
            <a:ext cx="3547872" cy="420624"/>
          </a:xfrm>
          <a:prstGeom prst="rect">
            <a:avLst/>
          </a:prstGeom>
          <a:noFill/>
          <a:ln/>
        </p:spPr>
        <p:txBody>
          <a:bodyPr wrap="square" rtlCol="0" anchor="ctr"/>
          <a:lstStyle/>
          <a:p>
            <a:pPr indent="0" marL="0">
              <a:buNone/>
            </a:pPr>
            <a:r>
              <a:rPr lang="en-US" sz="1150" dirty="0">
                <a:solidFill>
                  <a:srgbClr val="4A1A1A"/>
                </a:solidFill>
                <a:latin typeface="Calibri" pitchFamily="34" charset="0"/>
                <a:ea typeface="Calibri" pitchFamily="34" charset="-122"/>
                <a:cs typeface="Calibri" pitchFamily="34" charset="-120"/>
              </a:rPr>
              <a:t>• No signal from usage data (FX limit hits, blocked features)</a:t>
            </a:r>
            <a:endParaRPr lang="en-US" sz="1150" dirty="0"/>
          </a:p>
        </p:txBody>
      </p:sp>
      <p:sp>
        <p:nvSpPr>
          <p:cNvPr id="9" name="Text 7"/>
          <p:cNvSpPr/>
          <p:nvPr/>
        </p:nvSpPr>
        <p:spPr>
          <a:xfrm>
            <a:off x="530352" y="3392424"/>
            <a:ext cx="3547872" cy="420624"/>
          </a:xfrm>
          <a:prstGeom prst="rect">
            <a:avLst/>
          </a:prstGeom>
          <a:noFill/>
          <a:ln/>
        </p:spPr>
        <p:txBody>
          <a:bodyPr wrap="square" rtlCol="0" anchor="ctr"/>
          <a:lstStyle/>
          <a:p>
            <a:pPr indent="0" marL="0">
              <a:buNone/>
            </a:pPr>
            <a:r>
              <a:rPr lang="en-US" sz="1150" dirty="0">
                <a:solidFill>
                  <a:srgbClr val="4A1A1A"/>
                </a:solidFill>
                <a:latin typeface="Calibri" pitchFamily="34" charset="0"/>
                <a:ea typeface="Calibri" pitchFamily="34" charset="-122"/>
                <a:cs typeface="Calibri" pitchFamily="34" charset="-120"/>
              </a:rPr>
              <a:t>• HIGH-intent users receive discount they would not need</a:t>
            </a:r>
            <a:endParaRPr lang="en-US" sz="1150" dirty="0"/>
          </a:p>
        </p:txBody>
      </p:sp>
      <p:sp>
        <p:nvSpPr>
          <p:cNvPr id="10" name="Text 8"/>
          <p:cNvSpPr/>
          <p:nvPr/>
        </p:nvSpPr>
        <p:spPr>
          <a:xfrm>
            <a:off x="530352" y="3877056"/>
            <a:ext cx="3547872" cy="420624"/>
          </a:xfrm>
          <a:prstGeom prst="rect">
            <a:avLst/>
          </a:prstGeom>
          <a:noFill/>
          <a:ln/>
        </p:spPr>
        <p:txBody>
          <a:bodyPr wrap="square" rtlCol="0" anchor="ctr"/>
          <a:lstStyle/>
          <a:p>
            <a:pPr indent="0" marL="0">
              <a:buNone/>
            </a:pPr>
            <a:r>
              <a:rPr lang="en-US" sz="1150" dirty="0">
                <a:solidFill>
                  <a:srgbClr val="4A1A1A"/>
                </a:solidFill>
                <a:latin typeface="Calibri" pitchFamily="34" charset="0"/>
                <a:ea typeface="Calibri" pitchFamily="34" charset="-122"/>
                <a:cs typeface="Calibri" pitchFamily="34" charset="-120"/>
              </a:rPr>
              <a:t>• LOW-intent users receive pressure and ignore it</a:t>
            </a:r>
            <a:endParaRPr lang="en-US" sz="1150" dirty="0"/>
          </a:p>
        </p:txBody>
      </p:sp>
      <p:sp>
        <p:nvSpPr>
          <p:cNvPr id="11" name="Text 9"/>
          <p:cNvSpPr/>
          <p:nvPr/>
        </p:nvSpPr>
        <p:spPr>
          <a:xfrm>
            <a:off x="530352" y="4361688"/>
            <a:ext cx="3547872" cy="420624"/>
          </a:xfrm>
          <a:prstGeom prst="rect">
            <a:avLst/>
          </a:prstGeom>
          <a:noFill/>
          <a:ln/>
        </p:spPr>
        <p:txBody>
          <a:bodyPr wrap="square" rtlCol="0" anchor="ctr"/>
          <a:lstStyle/>
          <a:p>
            <a:pPr indent="0" marL="0">
              <a:buNone/>
            </a:pPr>
            <a:r>
              <a:rPr lang="en-US" sz="1150" dirty="0">
                <a:solidFill>
                  <a:srgbClr val="4A1A1A"/>
                </a:solidFill>
                <a:latin typeface="Calibri" pitchFamily="34" charset="0"/>
                <a:ea typeface="Calibri" pitchFamily="34" charset="-122"/>
                <a:cs typeface="Calibri" pitchFamily="34" charset="-120"/>
              </a:rPr>
              <a:t>• No narrative personalisation — one message for all segments</a:t>
            </a:r>
            <a:endParaRPr lang="en-US" sz="1150" dirty="0"/>
          </a:p>
        </p:txBody>
      </p:sp>
      <p:sp>
        <p:nvSpPr>
          <p:cNvPr id="12" name="Shape 10"/>
          <p:cNvSpPr/>
          <p:nvPr/>
        </p:nvSpPr>
        <p:spPr>
          <a:xfrm>
            <a:off x="4114800" y="2670048"/>
            <a:ext cx="640080" cy="640080"/>
          </a:xfrm>
          <a:prstGeom prst="ellipse">
            <a:avLst/>
          </a:prstGeom>
          <a:solidFill>
            <a:srgbClr val="0F172A"/>
          </a:solidFill>
          <a:ln w="12700">
            <a:solidFill>
              <a:srgbClr val="0F172A"/>
            </a:solidFill>
            <a:prstDash val="solid"/>
          </a:ln>
        </p:spPr>
      </p:sp>
      <p:sp>
        <p:nvSpPr>
          <p:cNvPr id="13" name="Text 11"/>
          <p:cNvSpPr/>
          <p:nvPr/>
        </p:nvSpPr>
        <p:spPr>
          <a:xfrm>
            <a:off x="4114800" y="2670048"/>
            <a:ext cx="64008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VS</a:t>
            </a:r>
            <a:endParaRPr lang="en-US" sz="1000" dirty="0"/>
          </a:p>
        </p:txBody>
      </p:sp>
      <p:sp>
        <p:nvSpPr>
          <p:cNvPr id="14" name="Shape 12"/>
          <p:cNvSpPr/>
          <p:nvPr/>
        </p:nvSpPr>
        <p:spPr>
          <a:xfrm>
            <a:off x="4681728" y="1417320"/>
            <a:ext cx="3931920" cy="3611880"/>
          </a:xfrm>
          <a:prstGeom prst="rect">
            <a:avLst/>
          </a:prstGeom>
          <a:solidFill>
            <a:srgbClr val="EEF3FF"/>
          </a:solidFill>
          <a:ln w="19050">
            <a:solidFill>
              <a:srgbClr val="0668E1"/>
            </a:solidFill>
            <a:prstDash val="solid"/>
          </a:ln>
          <a:effectLst>
            <a:outerShdw sx="100000" sy="100000" kx="0" ky="0" algn="bl" rotWithShape="0" blurRad="50800" dist="25400" dir="2700000">
              <a:srgbClr val="000000">
                <a:alpha val="14000"/>
              </a:srgbClr>
            </a:outerShdw>
          </a:effectLst>
        </p:spPr>
      </p:sp>
      <p:sp>
        <p:nvSpPr>
          <p:cNvPr id="15" name="Text 13"/>
          <p:cNvSpPr/>
          <p:nvPr/>
        </p:nvSpPr>
        <p:spPr>
          <a:xfrm>
            <a:off x="4818888" y="1527048"/>
            <a:ext cx="3749040" cy="320040"/>
          </a:xfrm>
          <a:prstGeom prst="rect">
            <a:avLst/>
          </a:prstGeom>
          <a:noFill/>
          <a:ln/>
        </p:spPr>
        <p:txBody>
          <a:bodyPr wrap="square" rtlCol="0" anchor="ctr"/>
          <a:lstStyle/>
          <a:p>
            <a:pPr indent="0" marL="0">
              <a:buNone/>
            </a:pPr>
            <a:r>
              <a:rPr lang="en-US" sz="1350" b="1" dirty="0">
                <a:solidFill>
                  <a:srgbClr val="1A3A8A"/>
                </a:solidFill>
                <a:latin typeface="Calibri" pitchFamily="34" charset="0"/>
                <a:ea typeface="Calibri" pitchFamily="34" charset="-122"/>
                <a:cs typeface="Calibri" pitchFamily="34" charset="-120"/>
              </a:rPr>
              <a:t>✅  GrowthIQ: Signal-Led Intelligence</a:t>
            </a:r>
            <a:endParaRPr lang="en-US" sz="1350" dirty="0"/>
          </a:p>
        </p:txBody>
      </p:sp>
      <p:sp>
        <p:nvSpPr>
          <p:cNvPr id="16" name="Text 14"/>
          <p:cNvSpPr/>
          <p:nvPr/>
        </p:nvSpPr>
        <p:spPr>
          <a:xfrm>
            <a:off x="4818888" y="1938528"/>
            <a:ext cx="3703320" cy="420624"/>
          </a:xfrm>
          <a:prstGeom prst="rect">
            <a:avLst/>
          </a:prstGeom>
          <a:noFill/>
          <a:ln/>
        </p:spPr>
        <p:txBody>
          <a:bodyPr wrap="square" rtlCol="0" anchor="ctr"/>
          <a:lstStyle/>
          <a:p>
            <a:pPr indent="0" marL="0">
              <a:buNone/>
            </a:pPr>
            <a:r>
              <a:rPr lang="en-US" sz="1150" dirty="0">
                <a:solidFill>
                  <a:srgbClr val="1A2A5A"/>
                </a:solidFill>
                <a:latin typeface="Calibri" pitchFamily="34" charset="0"/>
                <a:ea typeface="Calibri" pitchFamily="34" charset="-122"/>
                <a:cs typeface="Calibri" pitchFamily="34" charset="-120"/>
              </a:rPr>
              <a:t>• CDP scores upgrade propensity per user per tier (Plus / Premium / Metal)</a:t>
            </a:r>
            <a:endParaRPr lang="en-US" sz="1150" dirty="0"/>
          </a:p>
        </p:txBody>
      </p:sp>
      <p:sp>
        <p:nvSpPr>
          <p:cNvPr id="17" name="Text 15"/>
          <p:cNvSpPr/>
          <p:nvPr/>
        </p:nvSpPr>
        <p:spPr>
          <a:xfrm>
            <a:off x="4818888" y="2423160"/>
            <a:ext cx="3703320" cy="420624"/>
          </a:xfrm>
          <a:prstGeom prst="rect">
            <a:avLst/>
          </a:prstGeom>
          <a:noFill/>
          <a:ln/>
        </p:spPr>
        <p:txBody>
          <a:bodyPr wrap="square" rtlCol="0" anchor="ctr"/>
          <a:lstStyle/>
          <a:p>
            <a:pPr indent="0" marL="0">
              <a:buNone/>
            </a:pPr>
            <a:r>
              <a:rPr lang="en-US" sz="1150" dirty="0">
                <a:solidFill>
                  <a:srgbClr val="1A2A5A"/>
                </a:solidFill>
                <a:latin typeface="Calibri" pitchFamily="34" charset="0"/>
                <a:ea typeface="Calibri" pitchFamily="34" charset="-122"/>
                <a:cs typeface="Calibri" pitchFamily="34" charset="-120"/>
              </a:rPr>
              <a:t>• HIGH (&gt;0.75): no offer — they convert on value alone</a:t>
            </a:r>
            <a:endParaRPr lang="en-US" sz="1150" dirty="0"/>
          </a:p>
        </p:txBody>
      </p:sp>
      <p:sp>
        <p:nvSpPr>
          <p:cNvPr id="18" name="Text 16"/>
          <p:cNvSpPr/>
          <p:nvPr/>
        </p:nvSpPr>
        <p:spPr>
          <a:xfrm>
            <a:off x="4818888" y="2907792"/>
            <a:ext cx="3703320" cy="420624"/>
          </a:xfrm>
          <a:prstGeom prst="rect">
            <a:avLst/>
          </a:prstGeom>
          <a:noFill/>
          <a:ln/>
        </p:spPr>
        <p:txBody>
          <a:bodyPr wrap="square" rtlCol="0" anchor="ctr"/>
          <a:lstStyle/>
          <a:p>
            <a:pPr indent="0" marL="0">
              <a:buNone/>
            </a:pPr>
            <a:r>
              <a:rPr lang="en-US" sz="1150" dirty="0">
                <a:solidFill>
                  <a:srgbClr val="1A2A5A"/>
                </a:solidFill>
                <a:latin typeface="Calibri" pitchFamily="34" charset="0"/>
                <a:ea typeface="Calibri" pitchFamily="34" charset="-122"/>
                <a:cs typeface="Calibri" pitchFamily="34" charset="-120"/>
              </a:rPr>
              <a:t>• MED (0.55–0.74): minimum calibrated incentive (1 month free)</a:t>
            </a:r>
            <a:endParaRPr lang="en-US" sz="1150" dirty="0"/>
          </a:p>
        </p:txBody>
      </p:sp>
      <p:sp>
        <p:nvSpPr>
          <p:cNvPr id="19" name="Text 17"/>
          <p:cNvSpPr/>
          <p:nvPr/>
        </p:nvSpPr>
        <p:spPr>
          <a:xfrm>
            <a:off x="4818888" y="3392424"/>
            <a:ext cx="3703320" cy="420624"/>
          </a:xfrm>
          <a:prstGeom prst="rect">
            <a:avLst/>
          </a:prstGeom>
          <a:noFill/>
          <a:ln/>
        </p:spPr>
        <p:txBody>
          <a:bodyPr wrap="square" rtlCol="0" anchor="ctr"/>
          <a:lstStyle/>
          <a:p>
            <a:pPr indent="0" marL="0">
              <a:buNone/>
            </a:pPr>
            <a:r>
              <a:rPr lang="en-US" sz="1150" dirty="0">
                <a:solidFill>
                  <a:srgbClr val="1A2A5A"/>
                </a:solidFill>
                <a:latin typeface="Calibri" pitchFamily="34" charset="0"/>
                <a:ea typeface="Calibri" pitchFamily="34" charset="-122"/>
                <a:cs typeface="Calibri" pitchFamily="34" charset="-120"/>
              </a:rPr>
              <a:t>• LOW (&lt;0.55): suppressed — do not spend, do not pressure</a:t>
            </a:r>
            <a:endParaRPr lang="en-US" sz="1150" dirty="0"/>
          </a:p>
        </p:txBody>
      </p:sp>
      <p:sp>
        <p:nvSpPr>
          <p:cNvPr id="20" name="Text 18"/>
          <p:cNvSpPr/>
          <p:nvPr/>
        </p:nvSpPr>
        <p:spPr>
          <a:xfrm>
            <a:off x="4818888" y="3877056"/>
            <a:ext cx="3703320" cy="420624"/>
          </a:xfrm>
          <a:prstGeom prst="rect">
            <a:avLst/>
          </a:prstGeom>
          <a:noFill/>
          <a:ln/>
        </p:spPr>
        <p:txBody>
          <a:bodyPr wrap="square" rtlCol="0" anchor="ctr"/>
          <a:lstStyle/>
          <a:p>
            <a:pPr indent="0" marL="0">
              <a:buNone/>
            </a:pPr>
            <a:r>
              <a:rPr lang="en-US" sz="1150" dirty="0">
                <a:solidFill>
                  <a:srgbClr val="1A2A5A"/>
                </a:solidFill>
                <a:latin typeface="Calibri" pitchFamily="34" charset="0"/>
                <a:ea typeface="Calibri" pitchFamily="34" charset="-122"/>
                <a:cs typeface="Calibri" pitchFamily="34" charset="-120"/>
              </a:rPr>
              <a:t>• Story variant engine picks Aspiration / Fear / Social Proof per user</a:t>
            </a:r>
            <a:endParaRPr lang="en-US" sz="1150" dirty="0"/>
          </a:p>
        </p:txBody>
      </p:sp>
      <p:sp>
        <p:nvSpPr>
          <p:cNvPr id="21" name="Text 19"/>
          <p:cNvSpPr/>
          <p:nvPr/>
        </p:nvSpPr>
        <p:spPr>
          <a:xfrm>
            <a:off x="4818888" y="4361688"/>
            <a:ext cx="3703320" cy="420624"/>
          </a:xfrm>
          <a:prstGeom prst="rect">
            <a:avLst/>
          </a:prstGeom>
          <a:noFill/>
          <a:ln/>
        </p:spPr>
        <p:txBody>
          <a:bodyPr wrap="square" rtlCol="0" anchor="ctr"/>
          <a:lstStyle/>
          <a:p>
            <a:pPr indent="0" marL="0">
              <a:buNone/>
            </a:pPr>
            <a:r>
              <a:rPr lang="en-US" sz="1150" dirty="0">
                <a:solidFill>
                  <a:srgbClr val="1A2A5A"/>
                </a:solidFill>
                <a:latin typeface="Calibri" pitchFamily="34" charset="0"/>
                <a:ea typeface="Calibri" pitchFamily="34" charset="-122"/>
                <a:cs typeface="Calibri" pitchFamily="34" charset="-120"/>
              </a:rPr>
              <a:t>• Budget concentrates on the convertible middle — not the extremes</a:t>
            </a:r>
            <a:endParaRPr lang="en-US" sz="1150" dirty="0"/>
          </a:p>
        </p:txBody>
      </p:sp>
      <p:sp>
        <p:nvSpPr>
          <p:cNvPr id="22" name="Shape 20"/>
          <p:cNvSpPr/>
          <p:nvPr/>
        </p:nvSpPr>
        <p:spPr>
          <a:xfrm>
            <a:off x="347472" y="5166360"/>
            <a:ext cx="8321040" cy="658368"/>
          </a:xfrm>
          <a:prstGeom prst="rect">
            <a:avLst/>
          </a:prstGeom>
          <a:solidFill>
            <a:srgbClr val="0D0F14"/>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23" name="Text 21"/>
          <p:cNvSpPr/>
          <p:nvPr/>
        </p:nvSpPr>
        <p:spPr>
          <a:xfrm>
            <a:off x="530352" y="5239512"/>
            <a:ext cx="8046720" cy="530352"/>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Key insight: Revolut already has the data to know which users would financially benefit from upgrading. GrowthIQ is the layer that turns that data into the right message, to the right person, with the right offer — automatically.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2"/>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0668E1"/>
                </a:solidFill>
                <a:latin typeface="Calibri" pitchFamily="34" charset="0"/>
                <a:ea typeface="Calibri" pitchFamily="34" charset="-122"/>
                <a:cs typeface="Calibri" pitchFamily="34" charset="-120"/>
              </a:rPr>
              <a:t>THE MECHANIC</a:t>
            </a:r>
            <a:endParaRPr lang="en-US" sz="900" dirty="0"/>
          </a:p>
        </p:txBody>
      </p:sp>
      <p:sp>
        <p:nvSpPr>
          <p:cNvPr id="3" name="Text 1"/>
          <p:cNvSpPr/>
          <p:nvPr/>
        </p:nvSpPr>
        <p:spPr>
          <a:xfrm>
            <a:off x="457200" y="521208"/>
            <a:ext cx="8229600" cy="47548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5-Layer Stack: From Usage Signal to Calibrated Upgrade Revenue</a:t>
            </a:r>
            <a:endParaRPr lang="en-US" sz="2200" dirty="0"/>
          </a:p>
        </p:txBody>
      </p:sp>
      <p:sp>
        <p:nvSpPr>
          <p:cNvPr id="4" name="Shape 2"/>
          <p:cNvSpPr/>
          <p:nvPr/>
        </p:nvSpPr>
        <p:spPr>
          <a:xfrm>
            <a:off x="347472" y="1234440"/>
            <a:ext cx="8449056" cy="804672"/>
          </a:xfrm>
          <a:prstGeom prst="rect">
            <a:avLst/>
          </a:prstGeom>
          <a:solidFill>
            <a:srgbClr val="0D0F14"/>
          </a:solidFill>
          <a:ln w="8890">
            <a:solidFill>
              <a:srgbClr val="0668E1"/>
            </a:solidFill>
            <a:prstDash val="solid"/>
          </a:ln>
        </p:spPr>
      </p:sp>
      <p:sp>
        <p:nvSpPr>
          <p:cNvPr id="5" name="Text 3"/>
          <p:cNvSpPr/>
          <p:nvPr/>
        </p:nvSpPr>
        <p:spPr>
          <a:xfrm>
            <a:off x="475488" y="1344168"/>
            <a:ext cx="502920" cy="566928"/>
          </a:xfrm>
          <a:prstGeom prst="rect">
            <a:avLst/>
          </a:prstGeom>
          <a:noFill/>
          <a:ln/>
        </p:spPr>
        <p:txBody>
          <a:bodyPr wrap="square" rtlCol="0" anchor="ctr"/>
          <a:lstStyle/>
          <a:p>
            <a:pPr indent="0" marL="0">
              <a:buNone/>
            </a:pPr>
            <a:r>
              <a:rPr lang="en-US" sz="2600" b="1" dirty="0">
                <a:solidFill>
                  <a:srgbClr val="0668E1"/>
                </a:solidFill>
                <a:latin typeface="Calibri" pitchFamily="34" charset="0"/>
                <a:ea typeface="Calibri" pitchFamily="34" charset="-122"/>
                <a:cs typeface="Calibri" pitchFamily="34" charset="-120"/>
              </a:rPr>
              <a:t>01</a:t>
            </a:r>
            <a:endParaRPr lang="en-US" sz="2600" dirty="0"/>
          </a:p>
        </p:txBody>
      </p:sp>
      <p:sp>
        <p:nvSpPr>
          <p:cNvPr id="6" name="Text 4"/>
          <p:cNvSpPr/>
          <p:nvPr/>
        </p:nvSpPr>
        <p:spPr>
          <a:xfrm>
            <a:off x="1078992" y="1325880"/>
            <a:ext cx="28346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CDP — Unified Usage Profile</a:t>
            </a:r>
            <a:endParaRPr lang="en-US" sz="1300" dirty="0"/>
          </a:p>
        </p:txBody>
      </p:sp>
      <p:sp>
        <p:nvSpPr>
          <p:cNvPr id="7" name="Text 5"/>
          <p:cNvSpPr/>
          <p:nvPr/>
        </p:nvSpPr>
        <p:spPr>
          <a:xfrm>
            <a:off x="1078992" y="1636776"/>
            <a:ext cx="7589520" cy="347472"/>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Ingest real-time signals: FX limit hits, locked feature views, ATM blocks, spend velocity, crypto activity, travel patterns. Build a scored profile per user updated on every session.</a:t>
            </a:r>
            <a:endParaRPr lang="en-US" sz="1000" dirty="0"/>
          </a:p>
        </p:txBody>
      </p:sp>
      <p:sp>
        <p:nvSpPr>
          <p:cNvPr id="8" name="Shape 6"/>
          <p:cNvSpPr/>
          <p:nvPr/>
        </p:nvSpPr>
        <p:spPr>
          <a:xfrm>
            <a:off x="347472" y="2148840"/>
            <a:ext cx="8449056" cy="804672"/>
          </a:xfrm>
          <a:prstGeom prst="rect">
            <a:avLst/>
          </a:prstGeom>
          <a:solidFill>
            <a:srgbClr val="0D0F14"/>
          </a:solidFill>
          <a:ln w="8890">
            <a:solidFill>
              <a:srgbClr val="0668E1"/>
            </a:solidFill>
            <a:prstDash val="solid"/>
          </a:ln>
        </p:spPr>
      </p:sp>
      <p:sp>
        <p:nvSpPr>
          <p:cNvPr id="9" name="Text 7"/>
          <p:cNvSpPr/>
          <p:nvPr/>
        </p:nvSpPr>
        <p:spPr>
          <a:xfrm>
            <a:off x="475488" y="2258568"/>
            <a:ext cx="502920" cy="566928"/>
          </a:xfrm>
          <a:prstGeom prst="rect">
            <a:avLst/>
          </a:prstGeom>
          <a:noFill/>
          <a:ln/>
        </p:spPr>
        <p:txBody>
          <a:bodyPr wrap="square" rtlCol="0" anchor="ctr"/>
          <a:lstStyle/>
          <a:p>
            <a:pPr indent="0" marL="0">
              <a:buNone/>
            </a:pPr>
            <a:r>
              <a:rPr lang="en-US" sz="2600" b="1" dirty="0">
                <a:solidFill>
                  <a:srgbClr val="0668E1"/>
                </a:solidFill>
                <a:latin typeface="Calibri" pitchFamily="34" charset="0"/>
                <a:ea typeface="Calibri" pitchFamily="34" charset="-122"/>
                <a:cs typeface="Calibri" pitchFamily="34" charset="-120"/>
              </a:rPr>
              <a:t>02</a:t>
            </a:r>
            <a:endParaRPr lang="en-US" sz="2600" dirty="0"/>
          </a:p>
        </p:txBody>
      </p:sp>
      <p:sp>
        <p:nvSpPr>
          <p:cNvPr id="10" name="Text 8"/>
          <p:cNvSpPr/>
          <p:nvPr/>
        </p:nvSpPr>
        <p:spPr>
          <a:xfrm>
            <a:off x="1078992" y="2240280"/>
            <a:ext cx="28346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Propensity Scoring Per Tier</a:t>
            </a:r>
            <a:endParaRPr lang="en-US" sz="1300" dirty="0"/>
          </a:p>
        </p:txBody>
      </p:sp>
      <p:sp>
        <p:nvSpPr>
          <p:cNvPr id="11" name="Text 9"/>
          <p:cNvSpPr/>
          <p:nvPr/>
        </p:nvSpPr>
        <p:spPr>
          <a:xfrm>
            <a:off x="1078992" y="2551176"/>
            <a:ext cx="7589520" cy="347472"/>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Score each user's probability to upgrade to Plus, Premium, and Metal independently. Threshold: HIGH &gt;0.75, MED 0.55-0.74, LOW &lt;0.55. Recalculate weekly.</a:t>
            </a:r>
            <a:endParaRPr lang="en-US" sz="1000" dirty="0"/>
          </a:p>
        </p:txBody>
      </p:sp>
      <p:sp>
        <p:nvSpPr>
          <p:cNvPr id="12" name="Shape 10"/>
          <p:cNvSpPr/>
          <p:nvPr/>
        </p:nvSpPr>
        <p:spPr>
          <a:xfrm>
            <a:off x="347472" y="3063240"/>
            <a:ext cx="8449056" cy="804672"/>
          </a:xfrm>
          <a:prstGeom prst="rect">
            <a:avLst/>
          </a:prstGeom>
          <a:solidFill>
            <a:srgbClr val="0D0F14"/>
          </a:solidFill>
          <a:ln w="8890">
            <a:solidFill>
              <a:srgbClr val="7C3AED"/>
            </a:solidFill>
            <a:prstDash val="solid"/>
          </a:ln>
        </p:spPr>
      </p:sp>
      <p:sp>
        <p:nvSpPr>
          <p:cNvPr id="13" name="Text 11"/>
          <p:cNvSpPr/>
          <p:nvPr/>
        </p:nvSpPr>
        <p:spPr>
          <a:xfrm>
            <a:off x="475488" y="3172968"/>
            <a:ext cx="502920" cy="566928"/>
          </a:xfrm>
          <a:prstGeom prst="rect">
            <a:avLst/>
          </a:prstGeom>
          <a:noFill/>
          <a:ln/>
        </p:spPr>
        <p:txBody>
          <a:bodyPr wrap="square" rtlCol="0" anchor="ctr"/>
          <a:lstStyle/>
          <a:p>
            <a:pPr indent="0" marL="0">
              <a:buNone/>
            </a:pPr>
            <a:r>
              <a:rPr lang="en-US" sz="2600" b="1" dirty="0">
                <a:solidFill>
                  <a:srgbClr val="7C3AED"/>
                </a:solidFill>
                <a:latin typeface="Calibri" pitchFamily="34" charset="0"/>
                <a:ea typeface="Calibri" pitchFamily="34" charset="-122"/>
                <a:cs typeface="Calibri" pitchFamily="34" charset="-120"/>
              </a:rPr>
              <a:t>03</a:t>
            </a:r>
            <a:endParaRPr lang="en-US" sz="2600" dirty="0"/>
          </a:p>
        </p:txBody>
      </p:sp>
      <p:sp>
        <p:nvSpPr>
          <p:cNvPr id="14" name="Text 12"/>
          <p:cNvSpPr/>
          <p:nvPr/>
        </p:nvSpPr>
        <p:spPr>
          <a:xfrm>
            <a:off x="1078992" y="3154680"/>
            <a:ext cx="28346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Story Variant Selection</a:t>
            </a:r>
            <a:endParaRPr lang="en-US" sz="1300" dirty="0"/>
          </a:p>
        </p:txBody>
      </p:sp>
      <p:sp>
        <p:nvSpPr>
          <p:cNvPr id="15" name="Text 13"/>
          <p:cNvSpPr/>
          <p:nvPr/>
        </p:nvSpPr>
        <p:spPr>
          <a:xfrm>
            <a:off x="1078992" y="3465576"/>
            <a:ext cx="7589520" cy="347472"/>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Fear: user has hit FX limit 3+x or been blocked. Aspiration: high spend, travel-active, engaged crypto user. Social Proof: 3+ contacts on Premium, cohort comparison signal.</a:t>
            </a:r>
            <a:endParaRPr lang="en-US" sz="1000" dirty="0"/>
          </a:p>
        </p:txBody>
      </p:sp>
      <p:sp>
        <p:nvSpPr>
          <p:cNvPr id="16" name="Shape 14"/>
          <p:cNvSpPr/>
          <p:nvPr/>
        </p:nvSpPr>
        <p:spPr>
          <a:xfrm>
            <a:off x="347472" y="3977640"/>
            <a:ext cx="8449056" cy="804672"/>
          </a:xfrm>
          <a:prstGeom prst="rect">
            <a:avLst/>
          </a:prstGeom>
          <a:solidFill>
            <a:srgbClr val="0D0F14"/>
          </a:solidFill>
          <a:ln w="8890">
            <a:solidFill>
              <a:srgbClr val="7C3AED"/>
            </a:solidFill>
            <a:prstDash val="solid"/>
          </a:ln>
        </p:spPr>
      </p:sp>
      <p:sp>
        <p:nvSpPr>
          <p:cNvPr id="17" name="Text 15"/>
          <p:cNvSpPr/>
          <p:nvPr/>
        </p:nvSpPr>
        <p:spPr>
          <a:xfrm>
            <a:off x="475488" y="4087368"/>
            <a:ext cx="502920" cy="566928"/>
          </a:xfrm>
          <a:prstGeom prst="rect">
            <a:avLst/>
          </a:prstGeom>
          <a:noFill/>
          <a:ln/>
        </p:spPr>
        <p:txBody>
          <a:bodyPr wrap="square" rtlCol="0" anchor="ctr"/>
          <a:lstStyle/>
          <a:p>
            <a:pPr indent="0" marL="0">
              <a:buNone/>
            </a:pPr>
            <a:r>
              <a:rPr lang="en-US" sz="2600" b="1" dirty="0">
                <a:solidFill>
                  <a:srgbClr val="7C3AED"/>
                </a:solidFill>
                <a:latin typeface="Calibri" pitchFamily="34" charset="0"/>
                <a:ea typeface="Calibri" pitchFamily="34" charset="-122"/>
                <a:cs typeface="Calibri" pitchFamily="34" charset="-120"/>
              </a:rPr>
              <a:t>04</a:t>
            </a:r>
            <a:endParaRPr lang="en-US" sz="2600" dirty="0"/>
          </a:p>
        </p:txBody>
      </p:sp>
      <p:sp>
        <p:nvSpPr>
          <p:cNvPr id="18" name="Text 16"/>
          <p:cNvSpPr/>
          <p:nvPr/>
        </p:nvSpPr>
        <p:spPr>
          <a:xfrm>
            <a:off x="1078992" y="4069080"/>
            <a:ext cx="28346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Offer Calibration Engine</a:t>
            </a:r>
            <a:endParaRPr lang="en-US" sz="1300" dirty="0"/>
          </a:p>
        </p:txBody>
      </p:sp>
      <p:sp>
        <p:nvSpPr>
          <p:cNvPr id="19" name="Text 17"/>
          <p:cNvSpPr/>
          <p:nvPr/>
        </p:nvSpPr>
        <p:spPr>
          <a:xfrm>
            <a:off x="1078992" y="4379976"/>
            <a:ext cx="7589520" cy="347472"/>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HIGH band: no offer, value message only. MED band: minimum effective incentive — 1 month free trial. LOW band: suppressed entirely. Offer cost only fires when CVR probability justifies it.</a:t>
            </a:r>
            <a:endParaRPr lang="en-US" sz="1000" dirty="0"/>
          </a:p>
        </p:txBody>
      </p:sp>
      <p:sp>
        <p:nvSpPr>
          <p:cNvPr id="20" name="Shape 18"/>
          <p:cNvSpPr/>
          <p:nvPr/>
        </p:nvSpPr>
        <p:spPr>
          <a:xfrm>
            <a:off x="347472" y="4892040"/>
            <a:ext cx="8449056" cy="804672"/>
          </a:xfrm>
          <a:prstGeom prst="rect">
            <a:avLst/>
          </a:prstGeom>
          <a:solidFill>
            <a:srgbClr val="0D0F14"/>
          </a:solidFill>
          <a:ln w="8890">
            <a:solidFill>
              <a:srgbClr val="F59E0B"/>
            </a:solidFill>
            <a:prstDash val="solid"/>
          </a:ln>
        </p:spPr>
      </p:sp>
      <p:sp>
        <p:nvSpPr>
          <p:cNvPr id="21" name="Text 19"/>
          <p:cNvSpPr/>
          <p:nvPr/>
        </p:nvSpPr>
        <p:spPr>
          <a:xfrm>
            <a:off x="475488" y="5001768"/>
            <a:ext cx="502920" cy="566928"/>
          </a:xfrm>
          <a:prstGeom prst="rect">
            <a:avLst/>
          </a:prstGeom>
          <a:noFill/>
          <a:ln/>
        </p:spPr>
        <p:txBody>
          <a:bodyPr wrap="square"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05</a:t>
            </a:r>
            <a:endParaRPr lang="en-US" sz="2600" dirty="0"/>
          </a:p>
        </p:txBody>
      </p:sp>
      <p:sp>
        <p:nvSpPr>
          <p:cNvPr id="22" name="Text 20"/>
          <p:cNvSpPr/>
          <p:nvPr/>
        </p:nvSpPr>
        <p:spPr>
          <a:xfrm>
            <a:off x="1078992" y="4983480"/>
            <a:ext cx="28346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Analytics Feedback Loop</a:t>
            </a:r>
            <a:endParaRPr lang="en-US" sz="1300" dirty="0"/>
          </a:p>
        </p:txBody>
      </p:sp>
      <p:sp>
        <p:nvSpPr>
          <p:cNvPr id="23" name="Text 21"/>
          <p:cNvSpPr/>
          <p:nvPr/>
        </p:nvSpPr>
        <p:spPr>
          <a:xfrm>
            <a:off x="1078992" y="5294376"/>
            <a:ext cx="7589520" cy="347472"/>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Track CVR by variant x band x tier. Winner retrains propensity model. HIGH threshold adjusts upward if no-offer CVR holds. Every campaign cycle gets smarter than the last.</a:t>
            </a:r>
            <a:endParaRPr lang="en-US" sz="1000" dirty="0"/>
          </a:p>
        </p:txBody>
      </p:sp>
      <p:sp>
        <p:nvSpPr>
          <p:cNvPr id="24" name="Text 22"/>
          <p:cNvSpPr/>
          <p:nvPr/>
        </p:nvSpPr>
        <p:spPr>
          <a:xfrm>
            <a:off x="457200" y="6263640"/>
            <a:ext cx="8412480" cy="219456"/>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PhonePe benchmark: Propensity-to-Transact ML (same architecture) cut marketing burn 32% at 350M MAU — shipped and measured, not projected.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7"/>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0F172A"/>
                </a:solidFill>
                <a:latin typeface="Calibri" pitchFamily="34" charset="0"/>
                <a:ea typeface="Calibri" pitchFamily="34" charset="-122"/>
                <a:cs typeface="Calibri" pitchFamily="34" charset="-120"/>
              </a:rPr>
              <a:t>THE PRODUCT</a:t>
            </a:r>
            <a:endParaRPr lang="en-US" sz="900" dirty="0"/>
          </a:p>
        </p:txBody>
      </p:sp>
      <p:sp>
        <p:nvSpPr>
          <p:cNvPr id="3" name="Text 1"/>
          <p:cNvSpPr/>
          <p:nvPr/>
        </p:nvSpPr>
        <p:spPr>
          <a:xfrm>
            <a:off x="457200" y="521208"/>
            <a:ext cx="8229600" cy="438912"/>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4 Key Surfaces — Built on Revolut Design Language</a:t>
            </a:r>
            <a:endParaRPr lang="en-US" sz="2200" dirty="0"/>
          </a:p>
        </p:txBody>
      </p:sp>
      <p:sp>
        <p:nvSpPr>
          <p:cNvPr id="4" name="Shape 2"/>
          <p:cNvSpPr/>
          <p:nvPr/>
        </p:nvSpPr>
        <p:spPr>
          <a:xfrm>
            <a:off x="347472" y="1078992"/>
            <a:ext cx="1993392" cy="4681728"/>
          </a:xfrm>
          <a:prstGeom prst="rect">
            <a:avLst/>
          </a:prstGeom>
          <a:solidFill>
            <a:srgbClr val="0D0F14"/>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5" name="Text 3"/>
          <p:cNvSpPr/>
          <p:nvPr/>
        </p:nvSpPr>
        <p:spPr>
          <a:xfrm>
            <a:off x="457200" y="1170432"/>
            <a:ext cx="457200" cy="274320"/>
          </a:xfrm>
          <a:prstGeom prst="rect">
            <a:avLst/>
          </a:prstGeom>
          <a:noFill/>
          <a:ln/>
        </p:spPr>
        <p:txBody>
          <a:bodyPr wrap="square" rtlCol="0" anchor="ctr"/>
          <a:lstStyle/>
          <a:p>
            <a:pPr indent="0" marL="0">
              <a:buNone/>
            </a:pPr>
            <a:r>
              <a:rPr lang="en-US" sz="1000" b="1" dirty="0">
                <a:solidFill>
                  <a:srgbClr val="0668E1"/>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438912" y="1426464"/>
            <a:ext cx="1810512"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CDP</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User Profile</a:t>
            </a:r>
            <a:endParaRPr lang="en-US" sz="1200" dirty="0"/>
          </a:p>
        </p:txBody>
      </p:sp>
      <p:sp>
        <p:nvSpPr>
          <p:cNvPr id="7" name="Text 5"/>
          <p:cNvSpPr/>
          <p:nvPr/>
        </p:nvSpPr>
        <p:spPr>
          <a:xfrm>
            <a:off x="420624" y="1975104"/>
            <a:ext cx="1847088" cy="1783080"/>
          </a:xfrm>
          <a:prstGeom prst="rect">
            <a:avLst/>
          </a:prstGeom>
          <a:noFill/>
          <a:ln/>
        </p:spPr>
        <p:txBody>
          <a:bodyPr wrap="square" rtlCol="0" anchor="ctr"/>
          <a:lstStyle/>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│SM  72%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│Prem HIGH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│FX hit 3x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│Variant: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│FEAR ⚠️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│1mo free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p:txBody>
      </p:sp>
      <p:sp>
        <p:nvSpPr>
          <p:cNvPr id="8" name="Text 6"/>
          <p:cNvSpPr/>
          <p:nvPr/>
        </p:nvSpPr>
        <p:spPr>
          <a:xfrm>
            <a:off x="438912" y="3803904"/>
            <a:ext cx="1828800" cy="1719072"/>
          </a:xfrm>
          <a:prstGeom prst="rect">
            <a:avLst/>
          </a:prstGeom>
          <a:noFill/>
          <a:ln/>
        </p:spPr>
        <p:txBody>
          <a:bodyPr wrap="square" rtlCol="0" anchor="ctr"/>
          <a:lstStyle/>
          <a:p>
            <a:pPr indent="0" marL="0">
              <a:buNone/>
            </a:pPr>
            <a:r>
              <a:rPr lang="en-US" sz="950" dirty="0">
                <a:solidFill>
                  <a:srgbClr val="99B4CC"/>
                </a:solidFill>
                <a:latin typeface="Calibri" pitchFamily="34" charset="0"/>
                <a:ea typeface="Calibri" pitchFamily="34" charset="-122"/>
                <a:cs typeface="Calibri" pitchFamily="34" charset="-120"/>
              </a:rPr>
              <a:t>Upgrade propensity bars per tier, behavioural signal feed with dot-coded severity, auto-selected story variant, offer band + NBO chip.</a:t>
            </a:r>
            <a:endParaRPr lang="en-US" sz="950" dirty="0"/>
          </a:p>
        </p:txBody>
      </p:sp>
      <p:sp>
        <p:nvSpPr>
          <p:cNvPr id="9" name="Shape 7"/>
          <p:cNvSpPr/>
          <p:nvPr/>
        </p:nvSpPr>
        <p:spPr>
          <a:xfrm>
            <a:off x="2505456" y="1078992"/>
            <a:ext cx="1993392" cy="4681728"/>
          </a:xfrm>
          <a:prstGeom prst="rect">
            <a:avLst/>
          </a:prstGeom>
          <a:solidFill>
            <a:srgbClr val="0D0F14"/>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10" name="Text 8"/>
          <p:cNvSpPr/>
          <p:nvPr/>
        </p:nvSpPr>
        <p:spPr>
          <a:xfrm>
            <a:off x="2615184" y="1170432"/>
            <a:ext cx="457200" cy="274320"/>
          </a:xfrm>
          <a:prstGeom prst="rect">
            <a:avLst/>
          </a:prstGeom>
          <a:noFill/>
          <a:ln/>
        </p:spPr>
        <p:txBody>
          <a:bodyPr wrap="square" rtlCol="0" anchor="ctr"/>
          <a:lstStyle/>
          <a:p>
            <a:pPr indent="0" marL="0">
              <a:buNone/>
            </a:pPr>
            <a:r>
              <a:rPr lang="en-US" sz="1000" b="1" dirty="0">
                <a:solidFill>
                  <a:srgbClr val="0668E1"/>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2596896" y="1426464"/>
            <a:ext cx="1810512"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Campaign</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Builder</a:t>
            </a:r>
            <a:endParaRPr lang="en-US" sz="1200" dirty="0"/>
          </a:p>
        </p:txBody>
      </p:sp>
      <p:sp>
        <p:nvSpPr>
          <p:cNvPr id="12" name="Text 10"/>
          <p:cNvSpPr/>
          <p:nvPr/>
        </p:nvSpPr>
        <p:spPr>
          <a:xfrm>
            <a:off x="2578608" y="1975104"/>
            <a:ext cx="1847088" cy="1783080"/>
          </a:xfrm>
          <a:prstGeom prst="rect">
            <a:avLst/>
          </a:prstGeom>
          <a:noFill/>
          <a:ln/>
        </p:spPr>
        <p:txBody>
          <a:bodyPr wrap="square" rtlCol="0" anchor="ctr"/>
          <a:lstStyle/>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│1.82M usr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│MED band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│[FEAR ✓]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│[Aspira ]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│[Social ]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│LAUNCH →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p:txBody>
      </p:sp>
      <p:sp>
        <p:nvSpPr>
          <p:cNvPr id="13" name="Text 11"/>
          <p:cNvSpPr/>
          <p:nvPr/>
        </p:nvSpPr>
        <p:spPr>
          <a:xfrm>
            <a:off x="2596896" y="3803904"/>
            <a:ext cx="1828800" cy="1719072"/>
          </a:xfrm>
          <a:prstGeom prst="rect">
            <a:avLst/>
          </a:prstGeom>
          <a:noFill/>
          <a:ln/>
        </p:spPr>
        <p:txBody>
          <a:bodyPr wrap="square" rtlCol="0" anchor="ctr"/>
          <a:lstStyle/>
          <a:p>
            <a:pPr indent="0" marL="0">
              <a:buNone/>
            </a:pPr>
            <a:r>
              <a:rPr lang="en-US" sz="950" dirty="0">
                <a:solidFill>
                  <a:srgbClr val="99B4CC"/>
                </a:solidFill>
                <a:latin typeface="Calibri" pitchFamily="34" charset="0"/>
                <a:ea typeface="Calibri" pitchFamily="34" charset="-122"/>
                <a:cs typeface="Calibri" pitchFamily="34" charset="-120"/>
              </a:rPr>
              <a:t>Segment by MED band, variant card selection (Fear / Aspiration / Social Proof), offer config, message preview, one-click launch with confetti.</a:t>
            </a:r>
            <a:endParaRPr lang="en-US" sz="950" dirty="0"/>
          </a:p>
        </p:txBody>
      </p:sp>
      <p:sp>
        <p:nvSpPr>
          <p:cNvPr id="14" name="Shape 12"/>
          <p:cNvSpPr/>
          <p:nvPr/>
        </p:nvSpPr>
        <p:spPr>
          <a:xfrm>
            <a:off x="4663440" y="1078992"/>
            <a:ext cx="1993392" cy="4681728"/>
          </a:xfrm>
          <a:prstGeom prst="rect">
            <a:avLst/>
          </a:prstGeom>
          <a:solidFill>
            <a:srgbClr val="0D0F14"/>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15" name="Text 13"/>
          <p:cNvSpPr/>
          <p:nvPr/>
        </p:nvSpPr>
        <p:spPr>
          <a:xfrm>
            <a:off x="4773168" y="1170432"/>
            <a:ext cx="457200" cy="274320"/>
          </a:xfrm>
          <a:prstGeom prst="rect">
            <a:avLst/>
          </a:prstGeom>
          <a:noFill/>
          <a:ln/>
        </p:spPr>
        <p:txBody>
          <a:bodyPr wrap="square" rtlCol="0" anchor="ctr"/>
          <a:lstStyle/>
          <a:p>
            <a:pPr indent="0" marL="0">
              <a:buNone/>
            </a:pPr>
            <a:r>
              <a:rPr lang="en-US" sz="1000" b="1" dirty="0">
                <a:solidFill>
                  <a:srgbClr val="0668E1"/>
                </a:solidFill>
                <a:latin typeface="Calibri" pitchFamily="34" charset="0"/>
                <a:ea typeface="Calibri" pitchFamily="34" charset="-122"/>
                <a:cs typeface="Calibri" pitchFamily="34" charset="-120"/>
              </a:rPr>
              <a:t>03</a:t>
            </a:r>
            <a:endParaRPr lang="en-US" sz="1000" dirty="0"/>
          </a:p>
        </p:txBody>
      </p:sp>
      <p:sp>
        <p:nvSpPr>
          <p:cNvPr id="16" name="Text 14"/>
          <p:cNvSpPr/>
          <p:nvPr/>
        </p:nvSpPr>
        <p:spPr>
          <a:xfrm>
            <a:off x="4754880" y="1426464"/>
            <a:ext cx="1810512"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Consumer</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Upgrade Nudge</a:t>
            </a:r>
            <a:endParaRPr lang="en-US" sz="1200" dirty="0"/>
          </a:p>
        </p:txBody>
      </p:sp>
      <p:sp>
        <p:nvSpPr>
          <p:cNvPr id="17" name="Text 15"/>
          <p:cNvSpPr/>
          <p:nvPr/>
        </p:nvSpPr>
        <p:spPr>
          <a:xfrm>
            <a:off x="4736592" y="1975104"/>
            <a:ext cx="1847088" cy="1783080"/>
          </a:xfrm>
          <a:prstGeom prst="rect">
            <a:avLst/>
          </a:prstGeom>
          <a:noFill/>
          <a:ln/>
        </p:spPr>
        <p:txBody>
          <a:bodyPr wrap="square" rtlCol="0" anchor="ctr"/>
          <a:lstStyle/>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 Standard│</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 cost you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  £23 ↑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│FX:−£23.4│</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│Prem: £0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│Try Free→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p:txBody>
      </p:sp>
      <p:sp>
        <p:nvSpPr>
          <p:cNvPr id="18" name="Text 16"/>
          <p:cNvSpPr/>
          <p:nvPr/>
        </p:nvSpPr>
        <p:spPr>
          <a:xfrm>
            <a:off x="4754880" y="3803904"/>
            <a:ext cx="1828800" cy="1719072"/>
          </a:xfrm>
          <a:prstGeom prst="rect">
            <a:avLst/>
          </a:prstGeom>
          <a:noFill/>
          <a:ln/>
        </p:spPr>
        <p:txBody>
          <a:bodyPr wrap="square" rtlCol="0" anchor="ctr"/>
          <a:lstStyle/>
          <a:p>
            <a:pPr indent="0" marL="0">
              <a:buNone/>
            </a:pPr>
            <a:r>
              <a:rPr lang="en-US" sz="950" dirty="0">
                <a:solidFill>
                  <a:srgbClr val="99B4CC"/>
                </a:solidFill>
                <a:latin typeface="Calibri" pitchFamily="34" charset="0"/>
                <a:ea typeface="Calibri" pitchFamily="34" charset="-122"/>
                <a:cs typeface="Calibri" pitchFamily="34" charset="-120"/>
              </a:rPr>
              <a:t>In-app Fear variant card: "You left £23 on the table." Exact £ breakdown. CTA: 1 month free. Shown only to MED-band users at peak engagement moment.</a:t>
            </a:r>
            <a:endParaRPr lang="en-US" sz="950" dirty="0"/>
          </a:p>
        </p:txBody>
      </p:sp>
      <p:sp>
        <p:nvSpPr>
          <p:cNvPr id="19" name="Shape 17"/>
          <p:cNvSpPr/>
          <p:nvPr/>
        </p:nvSpPr>
        <p:spPr>
          <a:xfrm>
            <a:off x="6821424" y="1078992"/>
            <a:ext cx="1993392" cy="4681728"/>
          </a:xfrm>
          <a:prstGeom prst="rect">
            <a:avLst/>
          </a:prstGeom>
          <a:solidFill>
            <a:srgbClr val="0D0F14"/>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20" name="Text 18"/>
          <p:cNvSpPr/>
          <p:nvPr/>
        </p:nvSpPr>
        <p:spPr>
          <a:xfrm>
            <a:off x="6931152" y="1170432"/>
            <a:ext cx="457200" cy="274320"/>
          </a:xfrm>
          <a:prstGeom prst="rect">
            <a:avLst/>
          </a:prstGeom>
          <a:noFill/>
          <a:ln/>
        </p:spPr>
        <p:txBody>
          <a:bodyPr wrap="square" rtlCol="0" anchor="ctr"/>
          <a:lstStyle/>
          <a:p>
            <a:pPr indent="0" marL="0">
              <a:buNone/>
            </a:pPr>
            <a:r>
              <a:rPr lang="en-US" sz="1000" b="1" dirty="0">
                <a:solidFill>
                  <a:srgbClr val="0668E1"/>
                </a:solidFill>
                <a:latin typeface="Calibri" pitchFamily="34" charset="0"/>
                <a:ea typeface="Calibri" pitchFamily="34" charset="-122"/>
                <a:cs typeface="Calibri" pitchFamily="34" charset="-120"/>
              </a:rPr>
              <a:t>04</a:t>
            </a:r>
            <a:endParaRPr lang="en-US" sz="1000" dirty="0"/>
          </a:p>
        </p:txBody>
      </p:sp>
      <p:sp>
        <p:nvSpPr>
          <p:cNvPr id="21" name="Text 19"/>
          <p:cNvSpPr/>
          <p:nvPr/>
        </p:nvSpPr>
        <p:spPr>
          <a:xfrm>
            <a:off x="6912864" y="1426464"/>
            <a:ext cx="1810512"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Analytics</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p:txBody>
      </p:sp>
      <p:sp>
        <p:nvSpPr>
          <p:cNvPr id="22" name="Text 20"/>
          <p:cNvSpPr/>
          <p:nvPr/>
        </p:nvSpPr>
        <p:spPr>
          <a:xfrm>
            <a:off x="6894576" y="1975104"/>
            <a:ext cx="1847088" cy="1783080"/>
          </a:xfrm>
          <a:prstGeom prst="rect">
            <a:avLst/>
          </a:prstGeom>
          <a:noFill/>
          <a:ln/>
        </p:spPr>
        <p:txBody>
          <a:bodyPr wrap="square" rtlCol="0" anchor="ctr"/>
          <a:lstStyle/>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│CVR  24%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│Fear  31%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│Aspir 24%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│Soc   19%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│Saved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│£1.02M    │</a:t>
            </a:r>
            <a:endParaRPr lang="en-US" sz="800" dirty="0"/>
          </a:p>
          <a:p>
            <a:pPr indent="0" marL="0">
              <a:buNone/>
            </a:pPr>
            <a:r>
              <a:rPr lang="en-US" sz="800" dirty="0">
                <a:solidFill>
                  <a:srgbClr val="0668E1"/>
                </a:solidFill>
                <a:latin typeface="Courier New" pitchFamily="34" charset="0"/>
                <a:ea typeface="Courier New" pitchFamily="34" charset="-122"/>
                <a:cs typeface="Courier New" pitchFamily="34" charset="-120"/>
              </a:rPr>
              <a:t>└──────────┘</a:t>
            </a:r>
            <a:endParaRPr lang="en-US" sz="800" dirty="0"/>
          </a:p>
        </p:txBody>
      </p:sp>
      <p:sp>
        <p:nvSpPr>
          <p:cNvPr id="23" name="Text 21"/>
          <p:cNvSpPr/>
          <p:nvPr/>
        </p:nvSpPr>
        <p:spPr>
          <a:xfrm>
            <a:off x="6912864" y="3803904"/>
            <a:ext cx="1828800" cy="1719072"/>
          </a:xfrm>
          <a:prstGeom prst="rect">
            <a:avLst/>
          </a:prstGeom>
          <a:noFill/>
          <a:ln/>
        </p:spPr>
        <p:txBody>
          <a:bodyPr wrap="square" rtlCol="0" anchor="ctr"/>
          <a:lstStyle/>
          <a:p>
            <a:pPr indent="0" marL="0">
              <a:buNone/>
            </a:pPr>
            <a:r>
              <a:rPr lang="en-US" sz="950" dirty="0">
                <a:solidFill>
                  <a:srgbClr val="99B4CC"/>
                </a:solidFill>
                <a:latin typeface="Calibri" pitchFamily="34" charset="0"/>
                <a:ea typeface="Calibri" pitchFamily="34" charset="-122"/>
                <a:cs typeface="Calibri" pitchFamily="34" charset="-120"/>
              </a:rPr>
              <a:t>CVR by variant x band, budget efficiency waterfall (blanket £2.84M vs GrowthIQ £1.82M = £1.02M saved), cohort upgrade rate, model retrain recommendation.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F14"/>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0668E1"/>
                </a:solidFill>
                <a:latin typeface="Calibri" pitchFamily="34" charset="0"/>
                <a:ea typeface="Calibri" pitchFamily="34" charset="-122"/>
                <a:cs typeface="Calibri" pitchFamily="34" charset="-120"/>
              </a:rPr>
              <a:t>IMPACT &amp; ROI</a:t>
            </a:r>
            <a:endParaRPr lang="en-US" sz="900" dirty="0"/>
          </a:p>
        </p:txBody>
      </p:sp>
      <p:sp>
        <p:nvSpPr>
          <p:cNvPr id="3" name="Text 1"/>
          <p:cNvSpPr/>
          <p:nvPr/>
        </p:nvSpPr>
        <p:spPr>
          <a:xfrm>
            <a:off x="457200" y="521208"/>
            <a:ext cx="8229600" cy="47548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Projected Impact — Grounded in PhonePe Proof at 350M MAU Scale</a:t>
            </a:r>
            <a:endParaRPr lang="en-US" sz="2200" dirty="0"/>
          </a:p>
        </p:txBody>
      </p:sp>
      <p:sp>
        <p:nvSpPr>
          <p:cNvPr id="4" name="Shape 2"/>
          <p:cNvSpPr/>
          <p:nvPr/>
        </p:nvSpPr>
        <p:spPr>
          <a:xfrm>
            <a:off x="347472" y="1143000"/>
            <a:ext cx="4069080" cy="347472"/>
          </a:xfrm>
          <a:prstGeom prst="rect">
            <a:avLst/>
          </a:prstGeom>
          <a:solidFill>
            <a:srgbClr val="0A1428"/>
          </a:solidFill>
          <a:ln w="6350">
            <a:solidFill>
              <a:srgbClr val="0668E1"/>
            </a:solidFill>
            <a:prstDash val="solid"/>
          </a:ln>
        </p:spPr>
      </p:sp>
      <p:sp>
        <p:nvSpPr>
          <p:cNvPr id="5" name="Text 3"/>
          <p:cNvSpPr/>
          <p:nvPr/>
        </p:nvSpPr>
        <p:spPr>
          <a:xfrm>
            <a:off x="502920" y="1188720"/>
            <a:ext cx="3749040" cy="256032"/>
          </a:xfrm>
          <a:prstGeom prst="rect">
            <a:avLst/>
          </a:prstGeom>
          <a:noFill/>
          <a:ln/>
        </p:spPr>
        <p:txBody>
          <a:bodyPr wrap="square" rtlCol="0" anchor="ctr"/>
          <a:lstStyle/>
          <a:p>
            <a:pPr indent="0" marL="0">
              <a:buNone/>
            </a:pPr>
            <a:r>
              <a:rPr lang="en-US" sz="900" b="1" spc="150" kern="0" dirty="0">
                <a:solidFill>
                  <a:srgbClr val="0668E1"/>
                </a:solidFill>
                <a:latin typeface="Calibri" pitchFamily="34" charset="0"/>
                <a:ea typeface="Calibri" pitchFamily="34" charset="-122"/>
                <a:cs typeface="Calibri" pitchFamily="34" charset="-120"/>
              </a:rPr>
              <a:t>SUBSCRIBER &amp; PRODUCT IMPACT</a:t>
            </a:r>
            <a:endParaRPr lang="en-US" sz="900" dirty="0"/>
          </a:p>
        </p:txBody>
      </p:sp>
      <p:sp>
        <p:nvSpPr>
          <p:cNvPr id="6" name="Shape 4"/>
          <p:cNvSpPr/>
          <p:nvPr/>
        </p:nvSpPr>
        <p:spPr>
          <a:xfrm>
            <a:off x="347472" y="1627632"/>
            <a:ext cx="4069080" cy="749808"/>
          </a:xfrm>
          <a:prstGeom prst="rect">
            <a:avLst/>
          </a:prstGeom>
          <a:solidFill>
            <a:srgbClr val="0A1428"/>
          </a:solidFill>
          <a:ln w="6350">
            <a:solidFill>
              <a:srgbClr val="1A2A48"/>
            </a:solidFill>
            <a:prstDash val="solid"/>
          </a:ln>
        </p:spPr>
      </p:sp>
      <p:sp>
        <p:nvSpPr>
          <p:cNvPr id="7" name="Text 5"/>
          <p:cNvSpPr/>
          <p:nvPr/>
        </p:nvSpPr>
        <p:spPr>
          <a:xfrm>
            <a:off x="457200" y="1700784"/>
            <a:ext cx="1188720" cy="411480"/>
          </a:xfrm>
          <a:prstGeom prst="rect">
            <a:avLst/>
          </a:prstGeom>
          <a:noFill/>
          <a:ln/>
        </p:spPr>
        <p:txBody>
          <a:bodyPr wrap="square" rtlCol="0" anchor="ctr"/>
          <a:lstStyle/>
          <a:p>
            <a:pPr indent="0" marL="0">
              <a:buNone/>
            </a:pPr>
            <a:r>
              <a:rPr lang="en-US" sz="2800" b="1" dirty="0">
                <a:solidFill>
                  <a:srgbClr val="0668E1"/>
                </a:solidFill>
                <a:latin typeface="Calibri" pitchFamily="34" charset="0"/>
                <a:ea typeface="Calibri" pitchFamily="34" charset="-122"/>
                <a:cs typeface="Calibri" pitchFamily="34" charset="-120"/>
              </a:rPr>
              <a:t>+22%</a:t>
            </a:r>
            <a:endParaRPr lang="en-US" sz="2800" dirty="0"/>
          </a:p>
        </p:txBody>
      </p:sp>
      <p:sp>
        <p:nvSpPr>
          <p:cNvPr id="8" name="Text 6"/>
          <p:cNvSpPr/>
          <p:nvPr/>
        </p:nvSpPr>
        <p:spPr>
          <a:xfrm>
            <a:off x="1691640" y="1700784"/>
            <a:ext cx="263347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Plan upgrade CVR</a:t>
            </a:r>
            <a:endParaRPr lang="en-US" sz="1200" dirty="0"/>
          </a:p>
        </p:txBody>
      </p:sp>
      <p:sp>
        <p:nvSpPr>
          <p:cNvPr id="9" name="Text 7"/>
          <p:cNvSpPr/>
          <p:nvPr/>
        </p:nvSpPr>
        <p:spPr>
          <a:xfrm>
            <a:off x="1691640" y="1975104"/>
            <a:ext cx="2633472" cy="292608"/>
          </a:xfrm>
          <a:prstGeom prst="rect">
            <a:avLst/>
          </a:prstGeom>
          <a:noFill/>
          <a:ln/>
        </p:spPr>
        <p:txBody>
          <a:bodyPr wrap="square" rtlCol="0" anchor="ctr"/>
          <a:lstStyle/>
          <a:p>
            <a:pPr indent="0" marL="0">
              <a:buNone/>
            </a:pPr>
            <a:r>
              <a:rPr lang="en-US" sz="950" dirty="0">
                <a:solidFill>
                  <a:srgbClr val="7CA8D8"/>
                </a:solidFill>
                <a:latin typeface="Calibri" pitchFamily="34" charset="0"/>
                <a:ea typeface="Calibri" pitchFamily="34" charset="-122"/>
                <a:cs typeface="Calibri" pitchFamily="34" charset="-120"/>
              </a:rPr>
              <a:t>MED-band targeted cohort vs 11% blanket baseline</a:t>
            </a:r>
            <a:endParaRPr lang="en-US" sz="950" dirty="0"/>
          </a:p>
        </p:txBody>
      </p:sp>
      <p:sp>
        <p:nvSpPr>
          <p:cNvPr id="10" name="Shape 8"/>
          <p:cNvSpPr/>
          <p:nvPr/>
        </p:nvSpPr>
        <p:spPr>
          <a:xfrm>
            <a:off x="347472" y="2450592"/>
            <a:ext cx="4069080" cy="749808"/>
          </a:xfrm>
          <a:prstGeom prst="rect">
            <a:avLst/>
          </a:prstGeom>
          <a:solidFill>
            <a:srgbClr val="0A1428"/>
          </a:solidFill>
          <a:ln w="6350">
            <a:solidFill>
              <a:srgbClr val="1A2A48"/>
            </a:solidFill>
            <a:prstDash val="solid"/>
          </a:ln>
        </p:spPr>
      </p:sp>
      <p:sp>
        <p:nvSpPr>
          <p:cNvPr id="11" name="Text 9"/>
          <p:cNvSpPr/>
          <p:nvPr/>
        </p:nvSpPr>
        <p:spPr>
          <a:xfrm>
            <a:off x="457200" y="2523744"/>
            <a:ext cx="1188720" cy="411480"/>
          </a:xfrm>
          <a:prstGeom prst="rect">
            <a:avLst/>
          </a:prstGeom>
          <a:noFill/>
          <a:ln/>
        </p:spPr>
        <p:txBody>
          <a:bodyPr wrap="square" rtlCol="0" anchor="ctr"/>
          <a:lstStyle/>
          <a:p>
            <a:pPr indent="0" marL="0">
              <a:buNone/>
            </a:pPr>
            <a:r>
              <a:rPr lang="en-US" sz="2800" b="1" dirty="0">
                <a:solidFill>
                  <a:srgbClr val="0668E1"/>
                </a:solidFill>
                <a:latin typeface="Calibri" pitchFamily="34" charset="0"/>
                <a:ea typeface="Calibri" pitchFamily="34" charset="-122"/>
                <a:cs typeface="Calibri" pitchFamily="34" charset="-120"/>
              </a:rPr>
              <a:t>+38%</a:t>
            </a:r>
            <a:endParaRPr lang="en-US" sz="2800" dirty="0"/>
          </a:p>
        </p:txBody>
      </p:sp>
      <p:sp>
        <p:nvSpPr>
          <p:cNvPr id="12" name="Text 10"/>
          <p:cNvSpPr/>
          <p:nvPr/>
        </p:nvSpPr>
        <p:spPr>
          <a:xfrm>
            <a:off x="1691640" y="2523744"/>
            <a:ext cx="263347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HIGH-band upgrade rate (no offer)</a:t>
            </a:r>
            <a:endParaRPr lang="en-US" sz="1200" dirty="0"/>
          </a:p>
        </p:txBody>
      </p:sp>
      <p:sp>
        <p:nvSpPr>
          <p:cNvPr id="13" name="Text 11"/>
          <p:cNvSpPr/>
          <p:nvPr/>
        </p:nvSpPr>
        <p:spPr>
          <a:xfrm>
            <a:off x="1691640" y="2798064"/>
            <a:ext cx="2633472" cy="292608"/>
          </a:xfrm>
          <a:prstGeom prst="rect">
            <a:avLst/>
          </a:prstGeom>
          <a:noFill/>
          <a:ln/>
        </p:spPr>
        <p:txBody>
          <a:bodyPr wrap="square" rtlCol="0" anchor="ctr"/>
          <a:lstStyle/>
          <a:p>
            <a:pPr indent="0" marL="0">
              <a:buNone/>
            </a:pPr>
            <a:r>
              <a:rPr lang="en-US" sz="950" dirty="0">
                <a:solidFill>
                  <a:srgbClr val="7CA8D8"/>
                </a:solidFill>
                <a:latin typeface="Calibri" pitchFamily="34" charset="0"/>
                <a:ea typeface="Calibri" pitchFamily="34" charset="-122"/>
                <a:cs typeface="Calibri" pitchFamily="34" charset="-120"/>
              </a:rPr>
              <a:t>Value-only message converts at 2× previous no-offer control</a:t>
            </a:r>
            <a:endParaRPr lang="en-US" sz="950" dirty="0"/>
          </a:p>
        </p:txBody>
      </p:sp>
      <p:sp>
        <p:nvSpPr>
          <p:cNvPr id="14" name="Shape 12"/>
          <p:cNvSpPr/>
          <p:nvPr/>
        </p:nvSpPr>
        <p:spPr>
          <a:xfrm>
            <a:off x="347472" y="3273552"/>
            <a:ext cx="4069080" cy="749808"/>
          </a:xfrm>
          <a:prstGeom prst="rect">
            <a:avLst/>
          </a:prstGeom>
          <a:solidFill>
            <a:srgbClr val="0A1428"/>
          </a:solidFill>
          <a:ln w="6350">
            <a:solidFill>
              <a:srgbClr val="1A2A48"/>
            </a:solidFill>
            <a:prstDash val="solid"/>
          </a:ln>
        </p:spPr>
      </p:sp>
      <p:sp>
        <p:nvSpPr>
          <p:cNvPr id="15" name="Text 13"/>
          <p:cNvSpPr/>
          <p:nvPr/>
        </p:nvSpPr>
        <p:spPr>
          <a:xfrm>
            <a:off x="457200" y="3346704"/>
            <a:ext cx="1188720" cy="411480"/>
          </a:xfrm>
          <a:prstGeom prst="rect">
            <a:avLst/>
          </a:prstGeom>
          <a:noFill/>
          <a:ln/>
        </p:spPr>
        <p:txBody>
          <a:bodyPr wrap="square" rtlCol="0" anchor="ctr"/>
          <a:lstStyle/>
          <a:p>
            <a:pPr indent="0" marL="0">
              <a:buNone/>
            </a:pPr>
            <a:r>
              <a:rPr lang="en-US" sz="2800" b="1" dirty="0">
                <a:solidFill>
                  <a:srgbClr val="0668E1"/>
                </a:solidFill>
                <a:latin typeface="Calibri" pitchFamily="34" charset="0"/>
                <a:ea typeface="Calibri" pitchFamily="34" charset="-122"/>
                <a:cs typeface="Calibri" pitchFamily="34" charset="-120"/>
              </a:rPr>
              <a:t>−34%</a:t>
            </a:r>
            <a:endParaRPr lang="en-US" sz="2800" dirty="0"/>
          </a:p>
        </p:txBody>
      </p:sp>
      <p:sp>
        <p:nvSpPr>
          <p:cNvPr id="16" name="Text 14"/>
          <p:cNvSpPr/>
          <p:nvPr/>
        </p:nvSpPr>
        <p:spPr>
          <a:xfrm>
            <a:off x="1691640" y="3346704"/>
            <a:ext cx="263347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Upgrade campaign spend</a:t>
            </a:r>
            <a:endParaRPr lang="en-US" sz="1200" dirty="0"/>
          </a:p>
        </p:txBody>
      </p:sp>
      <p:sp>
        <p:nvSpPr>
          <p:cNvPr id="17" name="Text 15"/>
          <p:cNvSpPr/>
          <p:nvPr/>
        </p:nvSpPr>
        <p:spPr>
          <a:xfrm>
            <a:off x="1691640" y="3621024"/>
            <a:ext cx="2633472" cy="292608"/>
          </a:xfrm>
          <a:prstGeom prst="rect">
            <a:avLst/>
          </a:prstGeom>
          <a:noFill/>
          <a:ln/>
        </p:spPr>
        <p:txBody>
          <a:bodyPr wrap="square" rtlCol="0" anchor="ctr"/>
          <a:lstStyle/>
          <a:p>
            <a:pPr indent="0" marL="0">
              <a:buNone/>
            </a:pPr>
            <a:r>
              <a:rPr lang="en-US" sz="950" dirty="0">
                <a:solidFill>
                  <a:srgbClr val="7CA8D8"/>
                </a:solidFill>
                <a:latin typeface="Calibri" pitchFamily="34" charset="0"/>
                <a:ea typeface="Calibri" pitchFamily="34" charset="-122"/>
                <a:cs typeface="Calibri" pitchFamily="34" charset="-120"/>
              </a:rPr>
              <a:t>Suppressing LOW band + no offer for HIGH = £1.02M saved per cycle</a:t>
            </a:r>
            <a:endParaRPr lang="en-US" sz="950" dirty="0"/>
          </a:p>
        </p:txBody>
      </p:sp>
      <p:sp>
        <p:nvSpPr>
          <p:cNvPr id="18" name="Shape 16"/>
          <p:cNvSpPr/>
          <p:nvPr/>
        </p:nvSpPr>
        <p:spPr>
          <a:xfrm>
            <a:off x="347472" y="4096512"/>
            <a:ext cx="4069080" cy="749808"/>
          </a:xfrm>
          <a:prstGeom prst="rect">
            <a:avLst/>
          </a:prstGeom>
          <a:solidFill>
            <a:srgbClr val="0A1428"/>
          </a:solidFill>
          <a:ln w="6350">
            <a:solidFill>
              <a:srgbClr val="1A2A48"/>
            </a:solidFill>
            <a:prstDash val="solid"/>
          </a:ln>
        </p:spPr>
      </p:sp>
      <p:sp>
        <p:nvSpPr>
          <p:cNvPr id="19" name="Text 17"/>
          <p:cNvSpPr/>
          <p:nvPr/>
        </p:nvSpPr>
        <p:spPr>
          <a:xfrm>
            <a:off x="457200" y="4169664"/>
            <a:ext cx="1188720" cy="411480"/>
          </a:xfrm>
          <a:prstGeom prst="rect">
            <a:avLst/>
          </a:prstGeom>
          <a:noFill/>
          <a:ln/>
        </p:spPr>
        <p:txBody>
          <a:bodyPr wrap="square" rtlCol="0" anchor="ctr"/>
          <a:lstStyle/>
          <a:p>
            <a:pPr indent="0" marL="0">
              <a:buNone/>
            </a:pPr>
            <a:r>
              <a:rPr lang="en-US" sz="2800" b="1" dirty="0">
                <a:solidFill>
                  <a:srgbClr val="0668E1"/>
                </a:solidFill>
                <a:latin typeface="Calibri" pitchFamily="34" charset="0"/>
                <a:ea typeface="Calibri" pitchFamily="34" charset="-122"/>
                <a:cs typeface="Calibri" pitchFamily="34" charset="-120"/>
              </a:rPr>
              <a:t>+£8.40</a:t>
            </a:r>
            <a:endParaRPr lang="en-US" sz="2800" dirty="0"/>
          </a:p>
        </p:txBody>
      </p:sp>
      <p:sp>
        <p:nvSpPr>
          <p:cNvPr id="20" name="Text 18"/>
          <p:cNvSpPr/>
          <p:nvPr/>
        </p:nvSpPr>
        <p:spPr>
          <a:xfrm>
            <a:off x="1691640" y="4169664"/>
            <a:ext cx="263347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Monthly revenue uplift per converted user</a:t>
            </a:r>
            <a:endParaRPr lang="en-US" sz="1200" dirty="0"/>
          </a:p>
        </p:txBody>
      </p:sp>
      <p:sp>
        <p:nvSpPr>
          <p:cNvPr id="21" name="Text 19"/>
          <p:cNvSpPr/>
          <p:nvPr/>
        </p:nvSpPr>
        <p:spPr>
          <a:xfrm>
            <a:off x="1691640" y="4443984"/>
            <a:ext cx="2633472" cy="292608"/>
          </a:xfrm>
          <a:prstGeom prst="rect">
            <a:avLst/>
          </a:prstGeom>
          <a:noFill/>
          <a:ln/>
        </p:spPr>
        <p:txBody>
          <a:bodyPr wrap="square" rtlCol="0" anchor="ctr"/>
          <a:lstStyle/>
          <a:p>
            <a:pPr indent="0" marL="0">
              <a:buNone/>
            </a:pPr>
            <a:r>
              <a:rPr lang="en-US" sz="950" dirty="0">
                <a:solidFill>
                  <a:srgbClr val="7CA8D8"/>
                </a:solidFill>
                <a:latin typeface="Calibri" pitchFamily="34" charset="0"/>
                <a:ea typeface="Calibri" pitchFamily="34" charset="-122"/>
                <a:cs typeface="Calibri" pitchFamily="34" charset="-120"/>
              </a:rPr>
              <a:t>Standard (£0) to Premium (£9.99) net of 1-month free trial cost</a:t>
            </a:r>
            <a:endParaRPr lang="en-US" sz="950" dirty="0"/>
          </a:p>
        </p:txBody>
      </p:sp>
      <p:sp>
        <p:nvSpPr>
          <p:cNvPr id="22" name="Shape 20"/>
          <p:cNvSpPr/>
          <p:nvPr/>
        </p:nvSpPr>
        <p:spPr>
          <a:xfrm>
            <a:off x="4663440" y="1143000"/>
            <a:ext cx="4114800" cy="347472"/>
          </a:xfrm>
          <a:prstGeom prst="rect">
            <a:avLst/>
          </a:prstGeom>
          <a:solidFill>
            <a:srgbClr val="1A1000"/>
          </a:solidFill>
          <a:ln w="6350">
            <a:solidFill>
              <a:srgbClr val="F59E0B"/>
            </a:solidFill>
            <a:prstDash val="solid"/>
          </a:ln>
        </p:spPr>
      </p:sp>
      <p:sp>
        <p:nvSpPr>
          <p:cNvPr id="23" name="Text 21"/>
          <p:cNvSpPr/>
          <p:nvPr/>
        </p:nvSpPr>
        <p:spPr>
          <a:xfrm>
            <a:off x="4828032" y="1188720"/>
            <a:ext cx="3840480" cy="256032"/>
          </a:xfrm>
          <a:prstGeom prst="rect">
            <a:avLst/>
          </a:prstGeom>
          <a:noFill/>
          <a:ln/>
        </p:spPr>
        <p:txBody>
          <a:bodyPr wrap="square" rtlCol="0" anchor="ctr"/>
          <a:lstStyle/>
          <a:p>
            <a:pPr indent="0" marL="0">
              <a:buNone/>
            </a:pPr>
            <a:r>
              <a:rPr lang="en-US" sz="900" b="1" spc="150" kern="0" dirty="0">
                <a:solidFill>
                  <a:srgbClr val="F59E0B"/>
                </a:solidFill>
                <a:latin typeface="Calibri" pitchFamily="34" charset="0"/>
                <a:ea typeface="Calibri" pitchFamily="34" charset="-122"/>
                <a:cs typeface="Calibri" pitchFamily="34" charset="-120"/>
              </a:rPr>
              <a:t>COMPANY / REVENUE IMPACT</a:t>
            </a:r>
            <a:endParaRPr lang="en-US" sz="900" dirty="0"/>
          </a:p>
        </p:txBody>
      </p:sp>
      <p:sp>
        <p:nvSpPr>
          <p:cNvPr id="24" name="Shape 22"/>
          <p:cNvSpPr/>
          <p:nvPr/>
        </p:nvSpPr>
        <p:spPr>
          <a:xfrm>
            <a:off x="4663440" y="1627632"/>
            <a:ext cx="4114800" cy="749808"/>
          </a:xfrm>
          <a:prstGeom prst="rect">
            <a:avLst/>
          </a:prstGeom>
          <a:solidFill>
            <a:srgbClr val="100A00"/>
          </a:solidFill>
          <a:ln w="6350">
            <a:solidFill>
              <a:srgbClr val="2A1A00"/>
            </a:solidFill>
            <a:prstDash val="solid"/>
          </a:ln>
        </p:spPr>
      </p:sp>
      <p:sp>
        <p:nvSpPr>
          <p:cNvPr id="25" name="Text 23"/>
          <p:cNvSpPr/>
          <p:nvPr/>
        </p:nvSpPr>
        <p:spPr>
          <a:xfrm>
            <a:off x="4773168" y="1700784"/>
            <a:ext cx="1371600" cy="411480"/>
          </a:xfrm>
          <a:prstGeom prst="rect">
            <a:avLst/>
          </a:prstGeom>
          <a:noFill/>
          <a:ln/>
        </p:spPr>
        <p:txBody>
          <a:bodyPr wrap="square"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−32%</a:t>
            </a:r>
            <a:endParaRPr lang="en-US" sz="2600" dirty="0"/>
          </a:p>
        </p:txBody>
      </p:sp>
      <p:sp>
        <p:nvSpPr>
          <p:cNvPr id="26" name="Text 24"/>
          <p:cNvSpPr/>
          <p:nvPr/>
        </p:nvSpPr>
        <p:spPr>
          <a:xfrm>
            <a:off x="6181344" y="1700784"/>
            <a:ext cx="24688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Marketing spend per conversion</a:t>
            </a:r>
            <a:endParaRPr lang="en-US" sz="1200" dirty="0"/>
          </a:p>
        </p:txBody>
      </p:sp>
      <p:sp>
        <p:nvSpPr>
          <p:cNvPr id="27" name="Text 25"/>
          <p:cNvSpPr/>
          <p:nvPr/>
        </p:nvSpPr>
        <p:spPr>
          <a:xfrm>
            <a:off x="6181344" y="1975104"/>
            <a:ext cx="2468880" cy="292608"/>
          </a:xfrm>
          <a:prstGeom prst="rect">
            <a:avLst/>
          </a:prstGeom>
          <a:noFill/>
          <a:ln/>
        </p:spPr>
        <p:txBody>
          <a:bodyPr wrap="square" rtlCol="0" anchor="ctr"/>
          <a:lstStyle/>
          <a:p>
            <a:pPr indent="0" marL="0">
              <a:buNone/>
            </a:pPr>
            <a:r>
              <a:rPr lang="en-US" sz="950" dirty="0">
                <a:solidFill>
                  <a:srgbClr val="B89A30"/>
                </a:solidFill>
                <a:latin typeface="Calibri" pitchFamily="34" charset="0"/>
                <a:ea typeface="Calibri" pitchFamily="34" charset="-122"/>
                <a:cs typeface="Calibri" pitchFamily="34" charset="-120"/>
              </a:rPr>
              <a:t>PhonePe benchmark: shipped and measured at 350M MAU</a:t>
            </a:r>
            <a:endParaRPr lang="en-US" sz="950" dirty="0"/>
          </a:p>
        </p:txBody>
      </p:sp>
      <p:sp>
        <p:nvSpPr>
          <p:cNvPr id="28" name="Shape 26"/>
          <p:cNvSpPr/>
          <p:nvPr/>
        </p:nvSpPr>
        <p:spPr>
          <a:xfrm>
            <a:off x="4663440" y="2450592"/>
            <a:ext cx="4114800" cy="749808"/>
          </a:xfrm>
          <a:prstGeom prst="rect">
            <a:avLst/>
          </a:prstGeom>
          <a:solidFill>
            <a:srgbClr val="100A00"/>
          </a:solidFill>
          <a:ln w="6350">
            <a:solidFill>
              <a:srgbClr val="2A1A00"/>
            </a:solidFill>
            <a:prstDash val="solid"/>
          </a:ln>
        </p:spPr>
      </p:sp>
      <p:sp>
        <p:nvSpPr>
          <p:cNvPr id="29" name="Text 27"/>
          <p:cNvSpPr/>
          <p:nvPr/>
        </p:nvSpPr>
        <p:spPr>
          <a:xfrm>
            <a:off x="4773168" y="2523744"/>
            <a:ext cx="1371600" cy="411480"/>
          </a:xfrm>
          <a:prstGeom prst="rect">
            <a:avLst/>
          </a:prstGeom>
          <a:noFill/>
          <a:ln/>
        </p:spPr>
        <p:txBody>
          <a:bodyPr wrap="square"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£1.02M</a:t>
            </a:r>
            <a:endParaRPr lang="en-US" sz="2600" dirty="0"/>
          </a:p>
        </p:txBody>
      </p:sp>
      <p:sp>
        <p:nvSpPr>
          <p:cNvPr id="30" name="Text 28"/>
          <p:cNvSpPr/>
          <p:nvPr/>
        </p:nvSpPr>
        <p:spPr>
          <a:xfrm>
            <a:off x="6181344" y="2523744"/>
            <a:ext cx="24688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Campaign budget saved per cycle</a:t>
            </a:r>
            <a:endParaRPr lang="en-US" sz="1200" dirty="0"/>
          </a:p>
        </p:txBody>
      </p:sp>
      <p:sp>
        <p:nvSpPr>
          <p:cNvPr id="31" name="Text 29"/>
          <p:cNvSpPr/>
          <p:nvPr/>
        </p:nvSpPr>
        <p:spPr>
          <a:xfrm>
            <a:off x="6181344" y="2798064"/>
            <a:ext cx="2468880" cy="292608"/>
          </a:xfrm>
          <a:prstGeom prst="rect">
            <a:avLst/>
          </a:prstGeom>
          <a:noFill/>
          <a:ln/>
        </p:spPr>
        <p:txBody>
          <a:bodyPr wrap="square" rtlCol="0" anchor="ctr"/>
          <a:lstStyle/>
          <a:p>
            <a:pPr indent="0" marL="0">
              <a:buNone/>
            </a:pPr>
            <a:r>
              <a:rPr lang="en-US" sz="950" dirty="0">
                <a:solidFill>
                  <a:srgbClr val="B89A30"/>
                </a:solidFill>
                <a:latin typeface="Calibri" pitchFamily="34" charset="0"/>
                <a:ea typeface="Calibri" pitchFamily="34" charset="-122"/>
                <a:cs typeface="Calibri" pitchFamily="34" charset="-120"/>
              </a:rPr>
              <a:t>Blanket £2.84M vs GrowthIQ £1.82M concentrated on MED band</a:t>
            </a:r>
            <a:endParaRPr lang="en-US" sz="950" dirty="0"/>
          </a:p>
        </p:txBody>
      </p:sp>
      <p:sp>
        <p:nvSpPr>
          <p:cNvPr id="32" name="Shape 30"/>
          <p:cNvSpPr/>
          <p:nvPr/>
        </p:nvSpPr>
        <p:spPr>
          <a:xfrm>
            <a:off x="4663440" y="3273552"/>
            <a:ext cx="4114800" cy="749808"/>
          </a:xfrm>
          <a:prstGeom prst="rect">
            <a:avLst/>
          </a:prstGeom>
          <a:solidFill>
            <a:srgbClr val="100A00"/>
          </a:solidFill>
          <a:ln w="6350">
            <a:solidFill>
              <a:srgbClr val="2A1A00"/>
            </a:solidFill>
            <a:prstDash val="solid"/>
          </a:ln>
        </p:spPr>
      </p:sp>
      <p:sp>
        <p:nvSpPr>
          <p:cNvPr id="33" name="Text 31"/>
          <p:cNvSpPr/>
          <p:nvPr/>
        </p:nvSpPr>
        <p:spPr>
          <a:xfrm>
            <a:off x="4773168" y="3346704"/>
            <a:ext cx="1371600" cy="411480"/>
          </a:xfrm>
          <a:prstGeom prst="rect">
            <a:avLst/>
          </a:prstGeom>
          <a:noFill/>
          <a:ln/>
        </p:spPr>
        <p:txBody>
          <a:bodyPr wrap="square"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3×</a:t>
            </a:r>
            <a:endParaRPr lang="en-US" sz="2600" dirty="0"/>
          </a:p>
        </p:txBody>
      </p:sp>
      <p:sp>
        <p:nvSpPr>
          <p:cNvPr id="34" name="Text 32"/>
          <p:cNvSpPr/>
          <p:nvPr/>
        </p:nvSpPr>
        <p:spPr>
          <a:xfrm>
            <a:off x="6181344" y="3346704"/>
            <a:ext cx="24688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CLTV uplift: Standard to Premium user</a:t>
            </a:r>
            <a:endParaRPr lang="en-US" sz="1200" dirty="0"/>
          </a:p>
        </p:txBody>
      </p:sp>
      <p:sp>
        <p:nvSpPr>
          <p:cNvPr id="35" name="Text 33"/>
          <p:cNvSpPr/>
          <p:nvPr/>
        </p:nvSpPr>
        <p:spPr>
          <a:xfrm>
            <a:off x="6181344" y="3621024"/>
            <a:ext cx="2468880" cy="292608"/>
          </a:xfrm>
          <a:prstGeom prst="rect">
            <a:avLst/>
          </a:prstGeom>
          <a:noFill/>
          <a:ln/>
        </p:spPr>
        <p:txBody>
          <a:bodyPr wrap="square" rtlCol="0" anchor="ctr"/>
          <a:lstStyle/>
          <a:p>
            <a:pPr indent="0" marL="0">
              <a:buNone/>
            </a:pPr>
            <a:r>
              <a:rPr lang="en-US" sz="950" dirty="0">
                <a:solidFill>
                  <a:srgbClr val="B89A30"/>
                </a:solidFill>
                <a:latin typeface="Calibri" pitchFamily="34" charset="0"/>
                <a:ea typeface="Calibri" pitchFamily="34" charset="-122"/>
                <a:cs typeface="Calibri" pitchFamily="34" charset="-120"/>
              </a:rPr>
              <a:t>Premium users spend more, churn less, and use more Revolut products</a:t>
            </a:r>
            <a:endParaRPr lang="en-US" sz="950" dirty="0"/>
          </a:p>
        </p:txBody>
      </p:sp>
      <p:sp>
        <p:nvSpPr>
          <p:cNvPr id="36" name="Shape 34"/>
          <p:cNvSpPr/>
          <p:nvPr/>
        </p:nvSpPr>
        <p:spPr>
          <a:xfrm>
            <a:off x="4663440" y="4096512"/>
            <a:ext cx="4114800" cy="749808"/>
          </a:xfrm>
          <a:prstGeom prst="rect">
            <a:avLst/>
          </a:prstGeom>
          <a:solidFill>
            <a:srgbClr val="100A00"/>
          </a:solidFill>
          <a:ln w="6350">
            <a:solidFill>
              <a:srgbClr val="2A1A00"/>
            </a:solidFill>
            <a:prstDash val="solid"/>
          </a:ln>
        </p:spPr>
      </p:sp>
      <p:sp>
        <p:nvSpPr>
          <p:cNvPr id="37" name="Text 35"/>
          <p:cNvSpPr/>
          <p:nvPr/>
        </p:nvSpPr>
        <p:spPr>
          <a:xfrm>
            <a:off x="4773168" y="4169664"/>
            <a:ext cx="1371600" cy="411480"/>
          </a:xfrm>
          <a:prstGeom prst="rect">
            <a:avLst/>
          </a:prstGeom>
          <a:noFill/>
          <a:ln/>
        </p:spPr>
        <p:txBody>
          <a:bodyPr wrap="square"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+26%</a:t>
            </a:r>
            <a:endParaRPr lang="en-US" sz="2600" dirty="0"/>
          </a:p>
        </p:txBody>
      </p:sp>
      <p:sp>
        <p:nvSpPr>
          <p:cNvPr id="38" name="Text 36"/>
          <p:cNvSpPr/>
          <p:nvPr/>
        </p:nvSpPr>
        <p:spPr>
          <a:xfrm>
            <a:off x="6181344" y="4169664"/>
            <a:ext cx="24688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User engagement increase</a:t>
            </a:r>
            <a:endParaRPr lang="en-US" sz="1200" dirty="0"/>
          </a:p>
        </p:txBody>
      </p:sp>
      <p:sp>
        <p:nvSpPr>
          <p:cNvPr id="39" name="Text 37"/>
          <p:cNvSpPr/>
          <p:nvPr/>
        </p:nvSpPr>
        <p:spPr>
          <a:xfrm>
            <a:off x="6181344" y="4443984"/>
            <a:ext cx="2468880" cy="292608"/>
          </a:xfrm>
          <a:prstGeom prst="rect">
            <a:avLst/>
          </a:prstGeom>
          <a:noFill/>
          <a:ln/>
        </p:spPr>
        <p:txBody>
          <a:bodyPr wrap="square" rtlCol="0" anchor="ctr"/>
          <a:lstStyle/>
          <a:p>
            <a:pPr indent="0" marL="0">
              <a:buNone/>
            </a:pPr>
            <a:r>
              <a:rPr lang="en-US" sz="950" dirty="0">
                <a:solidFill>
                  <a:srgbClr val="B89A30"/>
                </a:solidFill>
                <a:latin typeface="Calibri" pitchFamily="34" charset="0"/>
                <a:ea typeface="Calibri" pitchFamily="34" charset="-122"/>
                <a:cs typeface="Calibri" pitchFamily="34" charset="-120"/>
              </a:rPr>
              <a:t>PhonePe benchmark: ML-driven targeting vs static campaigns</a:t>
            </a:r>
            <a:endParaRPr lang="en-US" sz="950" dirty="0"/>
          </a:p>
        </p:txBody>
      </p:sp>
      <p:sp>
        <p:nvSpPr>
          <p:cNvPr id="40" name="Shape 38"/>
          <p:cNvSpPr/>
          <p:nvPr/>
        </p:nvSpPr>
        <p:spPr>
          <a:xfrm>
            <a:off x="347472" y="5120640"/>
            <a:ext cx="8430768" cy="658368"/>
          </a:xfrm>
          <a:prstGeom prst="rect">
            <a:avLst/>
          </a:prstGeom>
          <a:solidFill>
            <a:srgbClr val="0A1428"/>
          </a:solidFill>
          <a:ln w="12700">
            <a:solidFill>
              <a:srgbClr val="0668E1"/>
            </a:solidFill>
            <a:prstDash val="solid"/>
          </a:ln>
        </p:spPr>
      </p:sp>
      <p:sp>
        <p:nvSpPr>
          <p:cNvPr id="41" name="Text 39"/>
          <p:cNvSpPr/>
          <p:nvPr/>
        </p:nvSpPr>
        <p:spPr>
          <a:xfrm>
            <a:off x="530352" y="5193792"/>
            <a:ext cx="8229600" cy="512064"/>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PhonePe proof: Propensity-to-Transact ML replaced £1,000+ Cr/yr of static targeting with real-time scoring — 32% marketing burn reduction, sustained GMV. Same architecture. Same outcome, applied to Revolut plan upgrade revenue.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7"/>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0F172A"/>
                </a:solidFill>
                <a:latin typeface="Calibri" pitchFamily="34" charset="0"/>
                <a:ea typeface="Calibri" pitchFamily="34" charset="-122"/>
                <a:cs typeface="Calibri" pitchFamily="34" charset="-120"/>
              </a:rPr>
              <a:t>PROOF OF WORK</a:t>
            </a:r>
            <a:endParaRPr lang="en-US" sz="900" dirty="0"/>
          </a:p>
        </p:txBody>
      </p:sp>
      <p:sp>
        <p:nvSpPr>
          <p:cNvPr id="3" name="Text 1"/>
          <p:cNvSpPr/>
          <p:nvPr/>
        </p:nvSpPr>
        <p:spPr>
          <a:xfrm>
            <a:off x="457200" y="521208"/>
            <a:ext cx="8229600" cy="475488"/>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Every GrowthIQ Layer Maps Directly to Something I Built and Measured at PhonePe.</a:t>
            </a:r>
            <a:endParaRPr lang="en-US" sz="2200" dirty="0"/>
          </a:p>
        </p:txBody>
      </p:sp>
      <p:sp>
        <p:nvSpPr>
          <p:cNvPr id="4" name="Shape 2"/>
          <p:cNvSpPr/>
          <p:nvPr/>
        </p:nvSpPr>
        <p:spPr>
          <a:xfrm>
            <a:off x="347472" y="1115568"/>
            <a:ext cx="4206240" cy="4133088"/>
          </a:xfrm>
          <a:prstGeom prst="rect">
            <a:avLst/>
          </a:prstGeom>
          <a:solidFill>
            <a:srgbClr val="0D0F14"/>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5" name="Text 3"/>
          <p:cNvSpPr/>
          <p:nvPr/>
        </p:nvSpPr>
        <p:spPr>
          <a:xfrm>
            <a:off x="502920" y="1234440"/>
            <a:ext cx="3840480" cy="292608"/>
          </a:xfrm>
          <a:prstGeom prst="rect">
            <a:avLst/>
          </a:prstGeom>
          <a:noFill/>
          <a:ln/>
        </p:spPr>
        <p:txBody>
          <a:bodyPr wrap="square" rtlCol="0" anchor="ctr"/>
          <a:lstStyle/>
          <a:p>
            <a:pPr indent="0" marL="0">
              <a:buNone/>
            </a:pPr>
            <a:r>
              <a:rPr lang="en-US" sz="1300" b="1" dirty="0">
                <a:solidFill>
                  <a:srgbClr val="0668E1"/>
                </a:solidFill>
                <a:latin typeface="Calibri" pitchFamily="34" charset="0"/>
                <a:ea typeface="Calibri" pitchFamily="34" charset="-122"/>
                <a:cs typeface="Calibri" pitchFamily="34" charset="-120"/>
              </a:rPr>
              <a:t>What I Built at PhonePe</a:t>
            </a:r>
            <a:endParaRPr lang="en-US" sz="1300" dirty="0"/>
          </a:p>
        </p:txBody>
      </p:sp>
      <p:sp>
        <p:nvSpPr>
          <p:cNvPr id="6" name="Text 4"/>
          <p:cNvSpPr/>
          <p:nvPr/>
        </p:nvSpPr>
        <p:spPr>
          <a:xfrm>
            <a:off x="475488" y="1664208"/>
            <a:ext cx="3931920" cy="621792"/>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  Propensity-to-Transact ML: Replaced £1,000+ Cr/yr static targeting with real-time user scoring — 32% marketing burn reduction at 350M MAU. Exact GrowthIQ CDP propensity architecture.</a:t>
            </a:r>
            <a:endParaRPr lang="en-US" sz="1050" dirty="0"/>
          </a:p>
        </p:txBody>
      </p:sp>
      <p:sp>
        <p:nvSpPr>
          <p:cNvPr id="7" name="Text 5"/>
          <p:cNvSpPr/>
          <p:nvPr/>
        </p:nvSpPr>
        <p:spPr>
          <a:xfrm>
            <a:off x="475488" y="2359152"/>
            <a:ext cx="3931920" cy="621792"/>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  Story Variant Engine (GrowthOS): Aspiration / Fear / Social Proof narrative selection per user segment — deployed in CRM builder with brand self-serve tooling.</a:t>
            </a:r>
            <a:endParaRPr lang="en-US" sz="1050" dirty="0"/>
          </a:p>
        </p:txBody>
      </p:sp>
      <p:sp>
        <p:nvSpPr>
          <p:cNvPr id="8" name="Text 6"/>
          <p:cNvSpPr/>
          <p:nvPr/>
        </p:nvSpPr>
        <p:spPr>
          <a:xfrm>
            <a:off x="475488" y="3054096"/>
            <a:ext cx="3931920" cy="621792"/>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  Offer Calibration Engine: HIGH-band suppression, MED-band minimum offer, LOW-band suppressed — £106 Cr saved per campaign cycle at Navi, 32% CAC reduction at PhonePe.</a:t>
            </a:r>
            <a:endParaRPr lang="en-US" sz="1050" dirty="0"/>
          </a:p>
        </p:txBody>
      </p:sp>
      <p:sp>
        <p:nvSpPr>
          <p:cNvPr id="9" name="Text 7"/>
          <p:cNvSpPr/>
          <p:nvPr/>
        </p:nvSpPr>
        <p:spPr>
          <a:xfrm>
            <a:off x="475488" y="3749040"/>
            <a:ext cx="3931920" cy="621792"/>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  Rewards Marketplace Redesign: Rebuilt £100 Cr/yr static portfolio into ML-driven ecosystem — 500+ brand partners, 26% engagement uplift, 11% YoY revenue growth.</a:t>
            </a:r>
            <a:endParaRPr lang="en-US" sz="1050" dirty="0"/>
          </a:p>
        </p:txBody>
      </p:sp>
      <p:sp>
        <p:nvSpPr>
          <p:cNvPr id="10" name="Text 8"/>
          <p:cNvSpPr/>
          <p:nvPr/>
        </p:nvSpPr>
        <p:spPr>
          <a:xfrm>
            <a:off x="475488" y="4443984"/>
            <a:ext cx="3931920" cy="621792"/>
          </a:xfrm>
          <a:prstGeom prst="rect">
            <a:avLst/>
          </a:prstGeom>
          <a:noFill/>
          <a:ln/>
        </p:spPr>
        <p:txBody>
          <a:bodyPr wrap="square" rtlCol="0" anchor="ctr"/>
          <a:lstStyle/>
          <a:p>
            <a:pPr indent="0" marL="0">
              <a:buNone/>
            </a:pPr>
            <a:r>
              <a:rPr lang="en-US" sz="1050" dirty="0">
                <a:solidFill>
                  <a:srgbClr val="C8D4F0"/>
                </a:solidFill>
                <a:latin typeface="Calibri" pitchFamily="34" charset="0"/>
                <a:ea typeface="Calibri" pitchFamily="34" charset="-122"/>
                <a:cs typeface="Calibri" pitchFamily="34" charset="-120"/>
              </a:rPr>
              <a:t>▸  Dynamic Incentivisation (Pincode): Context-aware triggers at cart exit — 60% abandonment reduction. Same real-time signal architecture as GrowthIQ Fear variant trigger.</a:t>
            </a:r>
            <a:endParaRPr lang="en-US" sz="1050" dirty="0"/>
          </a:p>
        </p:txBody>
      </p:sp>
      <p:sp>
        <p:nvSpPr>
          <p:cNvPr id="11" name="Shape 9"/>
          <p:cNvSpPr/>
          <p:nvPr/>
        </p:nvSpPr>
        <p:spPr>
          <a:xfrm>
            <a:off x="4754880" y="1115568"/>
            <a:ext cx="4041648" cy="4133088"/>
          </a:xfrm>
          <a:prstGeom prst="rect">
            <a:avLst/>
          </a:prstGeom>
          <a:solidFill>
            <a:srgbClr val="EEF3FF"/>
          </a:solidFill>
          <a:ln w="12700">
            <a:solidFill>
              <a:srgbClr val="0668E1"/>
            </a:solidFill>
            <a:prstDash val="solid"/>
          </a:ln>
          <a:effectLst>
            <a:outerShdw sx="100000" sy="100000" kx="0" ky="0" algn="bl" rotWithShape="0" blurRad="50800" dist="25400" dir="2700000">
              <a:srgbClr val="000000">
                <a:alpha val="14000"/>
              </a:srgbClr>
            </a:outerShdw>
          </a:effectLst>
        </p:spPr>
      </p:sp>
      <p:sp>
        <p:nvSpPr>
          <p:cNvPr id="12" name="Text 10"/>
          <p:cNvSpPr/>
          <p:nvPr/>
        </p:nvSpPr>
        <p:spPr>
          <a:xfrm>
            <a:off x="4901184" y="1234440"/>
            <a:ext cx="3749040" cy="292608"/>
          </a:xfrm>
          <a:prstGeom prst="rect">
            <a:avLst/>
          </a:prstGeom>
          <a:noFill/>
          <a:ln/>
        </p:spPr>
        <p:txBody>
          <a:bodyPr wrap="square" rtlCol="0" anchor="ctr"/>
          <a:lstStyle/>
          <a:p>
            <a:pPr indent="0" marL="0">
              <a:buNone/>
            </a:pPr>
            <a:r>
              <a:rPr lang="en-US" sz="1300" b="1" dirty="0">
                <a:solidFill>
                  <a:srgbClr val="1A3A8A"/>
                </a:solidFill>
                <a:latin typeface="Calibri" pitchFamily="34" charset="0"/>
                <a:ea typeface="Calibri" pitchFamily="34" charset="-122"/>
                <a:cs typeface="Calibri" pitchFamily="34" charset="-120"/>
              </a:rPr>
              <a:t>How It Maps to This Role</a:t>
            </a:r>
            <a:endParaRPr lang="en-US" sz="1300" dirty="0"/>
          </a:p>
        </p:txBody>
      </p:sp>
      <p:sp>
        <p:nvSpPr>
          <p:cNvPr id="13" name="Text 11"/>
          <p:cNvSpPr/>
          <p:nvPr/>
        </p:nvSpPr>
        <p:spPr>
          <a:xfrm>
            <a:off x="4901184" y="1664208"/>
            <a:ext cx="3803904" cy="621792"/>
          </a:xfrm>
          <a:prstGeom prst="rect">
            <a:avLst/>
          </a:prstGeom>
          <a:noFill/>
          <a:ln/>
        </p:spPr>
        <p:txBody>
          <a:bodyPr wrap="square" rtlCol="0" anchor="ctr"/>
          <a:lstStyle/>
          <a:p>
            <a:pPr indent="0" marL="0">
              <a:buNone/>
            </a:pPr>
            <a:r>
              <a:rPr lang="en-US" sz="1050" dirty="0">
                <a:solidFill>
                  <a:srgbClr val="1A2A5A"/>
                </a:solidFill>
                <a:latin typeface="Calibri" pitchFamily="34" charset="0"/>
                <a:ea typeface="Calibri" pitchFamily="34" charset="-122"/>
                <a:cs typeface="Calibri" pitchFamily="34" charset="-120"/>
              </a:rPr>
              <a:t>→  GrowthIQ CDP propensity scoring (same real-time ML, same band architecture)</a:t>
            </a:r>
            <a:endParaRPr lang="en-US" sz="1050" dirty="0"/>
          </a:p>
        </p:txBody>
      </p:sp>
      <p:sp>
        <p:nvSpPr>
          <p:cNvPr id="14" name="Text 12"/>
          <p:cNvSpPr/>
          <p:nvPr/>
        </p:nvSpPr>
        <p:spPr>
          <a:xfrm>
            <a:off x="4901184" y="2359152"/>
            <a:ext cx="3803904" cy="621792"/>
          </a:xfrm>
          <a:prstGeom prst="rect">
            <a:avLst/>
          </a:prstGeom>
          <a:noFill/>
          <a:ln/>
        </p:spPr>
        <p:txBody>
          <a:bodyPr wrap="square" rtlCol="0" anchor="ctr"/>
          <a:lstStyle/>
          <a:p>
            <a:pPr indent="0" marL="0">
              <a:buNone/>
            </a:pPr>
            <a:r>
              <a:rPr lang="en-US" sz="1050" dirty="0">
                <a:solidFill>
                  <a:srgbClr val="1A2A5A"/>
                </a:solidFill>
                <a:latin typeface="Calibri" pitchFamily="34" charset="0"/>
                <a:ea typeface="Calibri" pitchFamily="34" charset="-122"/>
                <a:cs typeface="Calibri" pitchFamily="34" charset="-120"/>
              </a:rPr>
              <a:t>→  GrowthIQ Story Variant Engine (same Aspiration / Fear / Social Proof selection logic)</a:t>
            </a:r>
            <a:endParaRPr lang="en-US" sz="1050" dirty="0"/>
          </a:p>
        </p:txBody>
      </p:sp>
      <p:sp>
        <p:nvSpPr>
          <p:cNvPr id="15" name="Text 13"/>
          <p:cNvSpPr/>
          <p:nvPr/>
        </p:nvSpPr>
        <p:spPr>
          <a:xfrm>
            <a:off x="4901184" y="3054096"/>
            <a:ext cx="3803904" cy="621792"/>
          </a:xfrm>
          <a:prstGeom prst="rect">
            <a:avLst/>
          </a:prstGeom>
          <a:noFill/>
          <a:ln/>
        </p:spPr>
        <p:txBody>
          <a:bodyPr wrap="square" rtlCol="0" anchor="ctr"/>
          <a:lstStyle/>
          <a:p>
            <a:pPr indent="0" marL="0">
              <a:buNone/>
            </a:pPr>
            <a:r>
              <a:rPr lang="en-US" sz="1050" dirty="0">
                <a:solidFill>
                  <a:srgbClr val="1A2A5A"/>
                </a:solidFill>
                <a:latin typeface="Calibri" pitchFamily="34" charset="0"/>
                <a:ea typeface="Calibri" pitchFamily="34" charset="-122"/>
                <a:cs typeface="Calibri" pitchFamily="34" charset="-120"/>
              </a:rPr>
              <a:t>→  GrowthIQ Offer Calibration (same suppress HIGH, calibrate MED, suppress LOW)</a:t>
            </a:r>
            <a:endParaRPr lang="en-US" sz="1050" dirty="0"/>
          </a:p>
        </p:txBody>
      </p:sp>
      <p:sp>
        <p:nvSpPr>
          <p:cNvPr id="16" name="Text 14"/>
          <p:cNvSpPr/>
          <p:nvPr/>
        </p:nvSpPr>
        <p:spPr>
          <a:xfrm>
            <a:off x="4901184" y="3749040"/>
            <a:ext cx="3803904" cy="621792"/>
          </a:xfrm>
          <a:prstGeom prst="rect">
            <a:avLst/>
          </a:prstGeom>
          <a:noFill/>
          <a:ln/>
        </p:spPr>
        <p:txBody>
          <a:bodyPr wrap="square" rtlCol="0" anchor="ctr"/>
          <a:lstStyle/>
          <a:p>
            <a:pPr indent="0" marL="0">
              <a:buNone/>
            </a:pPr>
            <a:r>
              <a:rPr lang="en-US" sz="1050" dirty="0">
                <a:solidFill>
                  <a:srgbClr val="1A2A5A"/>
                </a:solidFill>
                <a:latin typeface="Calibri" pitchFamily="34" charset="0"/>
                <a:ea typeface="Calibri" pitchFamily="34" charset="-122"/>
                <a:cs typeface="Calibri" pitchFamily="34" charset="-120"/>
              </a:rPr>
              <a:t>→  Revolut PMM campaign tooling (same self-serve brand CRM builder, same analytics loop)</a:t>
            </a:r>
            <a:endParaRPr lang="en-US" sz="1050" dirty="0"/>
          </a:p>
        </p:txBody>
      </p:sp>
      <p:sp>
        <p:nvSpPr>
          <p:cNvPr id="17" name="Text 15"/>
          <p:cNvSpPr/>
          <p:nvPr/>
        </p:nvSpPr>
        <p:spPr>
          <a:xfrm>
            <a:off x="4901184" y="4443984"/>
            <a:ext cx="3803904" cy="621792"/>
          </a:xfrm>
          <a:prstGeom prst="rect">
            <a:avLst/>
          </a:prstGeom>
          <a:noFill/>
          <a:ln/>
        </p:spPr>
        <p:txBody>
          <a:bodyPr wrap="square" rtlCol="0" anchor="ctr"/>
          <a:lstStyle/>
          <a:p>
            <a:pPr indent="0" marL="0">
              <a:buNone/>
            </a:pPr>
            <a:r>
              <a:rPr lang="en-US" sz="1050" dirty="0">
                <a:solidFill>
                  <a:srgbClr val="1A2A5A"/>
                </a:solidFill>
                <a:latin typeface="Calibri" pitchFamily="34" charset="0"/>
                <a:ea typeface="Calibri" pitchFamily="34" charset="-122"/>
                <a:cs typeface="Calibri" pitchFamily="34" charset="-120"/>
              </a:rPr>
              <a:t>→  Revolut upgrade GTM (same context-aware trigger at peak engagement moment)</a:t>
            </a:r>
            <a:endParaRPr lang="en-US" sz="1050" dirty="0"/>
          </a:p>
        </p:txBody>
      </p:sp>
      <p:sp>
        <p:nvSpPr>
          <p:cNvPr id="18" name="Shape 16"/>
          <p:cNvSpPr/>
          <p:nvPr/>
        </p:nvSpPr>
        <p:spPr>
          <a:xfrm>
            <a:off x="347472" y="5376672"/>
            <a:ext cx="8430768" cy="512064"/>
          </a:xfrm>
          <a:prstGeom prst="rect">
            <a:avLst/>
          </a:prstGeom>
          <a:solidFill>
            <a:srgbClr val="0D0F14"/>
          </a:solidFill>
          <a:ln w="12700">
            <a:solidFill>
              <a:srgbClr val="0668E1"/>
            </a:solidFill>
            <a:prstDash val="solid"/>
          </a:ln>
        </p:spPr>
      </p:sp>
      <p:sp>
        <p:nvSpPr>
          <p:cNvPr id="19" name="Text 17"/>
          <p:cNvSpPr/>
          <p:nvPr/>
        </p:nvSpPr>
        <p:spPr>
          <a:xfrm>
            <a:off x="548640" y="5449824"/>
            <a:ext cx="8046720" cy="384048"/>
          </a:xfrm>
          <a:prstGeom prst="rect">
            <a:avLst/>
          </a:prstGeom>
          <a:noFill/>
          <a:ln/>
        </p:spPr>
        <p:txBody>
          <a:bodyPr wrap="square" rtlCol="0" anchor="ctr"/>
          <a:lstStyle/>
          <a:p>
            <a:pPr indent="0" marL="0">
              <a:buNone/>
            </a:pPr>
            <a:r>
              <a:rPr lang="en-US" sz="1050" i="1" dirty="0">
                <a:solidFill>
                  <a:srgbClr val="C8D4F0"/>
                </a:solidFill>
                <a:latin typeface="Calibri" pitchFamily="34" charset="0"/>
                <a:ea typeface="Calibri" pitchFamily="34" charset="-122"/>
                <a:cs typeface="Calibri" pitchFamily="34" charset="-120"/>
              </a:rPr>
              <a:t>GrowthIQ is not a concept I designed for this application. It is an architecture I built, shipped, and measured — at a scale 5× larger than Revolut today.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F14"/>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0668E1"/>
                </a:solidFill>
                <a:latin typeface="Calibri" pitchFamily="34" charset="0"/>
                <a:ea typeface="Calibri" pitchFamily="34" charset="-122"/>
                <a:cs typeface="Calibri" pitchFamily="34" charset="-120"/>
              </a:rPr>
              <a:t>ROLLOUT PLAN</a:t>
            </a:r>
            <a:endParaRPr lang="en-US" sz="900" dirty="0"/>
          </a:p>
        </p:txBody>
      </p:sp>
      <p:sp>
        <p:nvSpPr>
          <p:cNvPr id="3" name="Text 1"/>
          <p:cNvSpPr/>
          <p:nvPr/>
        </p:nvSpPr>
        <p:spPr>
          <a:xfrm>
            <a:off x="457200" y="521208"/>
            <a:ext cx="8229600" cy="47548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CDP Foundation → Intelligence Engine → Full Calibration Loop</a:t>
            </a:r>
            <a:endParaRPr lang="en-US" sz="2200" dirty="0"/>
          </a:p>
        </p:txBody>
      </p:sp>
      <p:sp>
        <p:nvSpPr>
          <p:cNvPr id="4" name="Shape 2"/>
          <p:cNvSpPr/>
          <p:nvPr/>
        </p:nvSpPr>
        <p:spPr>
          <a:xfrm>
            <a:off x="347472" y="1170432"/>
            <a:ext cx="2724912" cy="4041648"/>
          </a:xfrm>
          <a:prstGeom prst="rect">
            <a:avLst/>
          </a:prstGeom>
          <a:solidFill>
            <a:srgbClr val="0D0F14"/>
          </a:solidFill>
          <a:ln w="15240">
            <a:solidFill>
              <a:srgbClr val="0668E1"/>
            </a:solidFill>
            <a:prstDash val="solid"/>
          </a:ln>
          <a:effectLst>
            <a:outerShdw sx="100000" sy="100000" kx="0" ky="0" algn="bl" rotWithShape="0" blurRad="50800" dist="25400" dir="2700000">
              <a:srgbClr val="000000">
                <a:alpha val="14000"/>
              </a:srgbClr>
            </a:outerShdw>
          </a:effectLst>
        </p:spPr>
      </p:sp>
      <p:sp>
        <p:nvSpPr>
          <p:cNvPr id="5" name="Shape 3"/>
          <p:cNvSpPr/>
          <p:nvPr/>
        </p:nvSpPr>
        <p:spPr>
          <a:xfrm>
            <a:off x="438912" y="1261872"/>
            <a:ext cx="1005840" cy="256032"/>
          </a:xfrm>
          <a:prstGeom prst="rect">
            <a:avLst/>
          </a:prstGeom>
          <a:solidFill>
            <a:srgbClr val="0668E1"/>
          </a:solidFill>
          <a:ln w="12700">
            <a:solidFill>
              <a:srgbClr val="0668E1"/>
            </a:solidFill>
            <a:prstDash val="solid"/>
          </a:ln>
        </p:spPr>
      </p:sp>
      <p:sp>
        <p:nvSpPr>
          <p:cNvPr id="6" name="Text 4"/>
          <p:cNvSpPr/>
          <p:nvPr/>
        </p:nvSpPr>
        <p:spPr>
          <a:xfrm>
            <a:off x="438912" y="1261872"/>
            <a:ext cx="1005840" cy="256032"/>
          </a:xfrm>
          <a:prstGeom prst="rect">
            <a:avLst/>
          </a:prstGeom>
          <a:noFill/>
          <a:ln/>
        </p:spPr>
        <p:txBody>
          <a:bodyPr wrap="square" rtlCol="0" anchor="ctr"/>
          <a:lstStyle/>
          <a:p>
            <a:pPr algn="ctr" indent="0" marL="0">
              <a:buNone/>
            </a:pPr>
            <a:r>
              <a:rPr lang="en-US" sz="900" b="1" dirty="0">
                <a:solidFill>
                  <a:srgbClr val="0D0F14"/>
                </a:solidFill>
                <a:latin typeface="Calibri" pitchFamily="34" charset="0"/>
                <a:ea typeface="Calibri" pitchFamily="34" charset="-122"/>
                <a:cs typeface="Calibri" pitchFamily="34" charset="-120"/>
              </a:rPr>
              <a:t>Phase 1</a:t>
            </a:r>
            <a:endParaRPr lang="en-US" sz="900" dirty="0"/>
          </a:p>
        </p:txBody>
      </p:sp>
      <p:sp>
        <p:nvSpPr>
          <p:cNvPr id="7" name="Text 5"/>
          <p:cNvSpPr/>
          <p:nvPr/>
        </p:nvSpPr>
        <p:spPr>
          <a:xfrm>
            <a:off x="1536192" y="1280160"/>
            <a:ext cx="1417320" cy="219456"/>
          </a:xfrm>
          <a:prstGeom prst="rect">
            <a:avLst/>
          </a:prstGeom>
          <a:noFill/>
          <a:ln/>
        </p:spPr>
        <p:txBody>
          <a:bodyPr wrap="square" rtlCol="0" anchor="ctr"/>
          <a:lstStyle/>
          <a:p>
            <a:pPr indent="0" marL="0">
              <a:buNone/>
            </a:pPr>
            <a:r>
              <a:rPr lang="en-US" sz="900" dirty="0">
                <a:solidFill>
                  <a:srgbClr val="0668E1"/>
                </a:solidFill>
                <a:latin typeface="Calibri" pitchFamily="34" charset="0"/>
                <a:ea typeface="Calibri" pitchFamily="34" charset="-122"/>
                <a:cs typeface="Calibri" pitchFamily="34" charset="-120"/>
              </a:rPr>
              <a:t>Month 1–2</a:t>
            </a:r>
            <a:endParaRPr lang="en-US" sz="900" dirty="0"/>
          </a:p>
        </p:txBody>
      </p:sp>
      <p:sp>
        <p:nvSpPr>
          <p:cNvPr id="8" name="Text 6"/>
          <p:cNvSpPr/>
          <p:nvPr/>
        </p:nvSpPr>
        <p:spPr>
          <a:xfrm>
            <a:off x="457200" y="1600200"/>
            <a:ext cx="2487168" cy="47548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CDP Signal Pipeline</a:t>
            </a:r>
            <a:endParaRPr lang="en-US" sz="1250" dirty="0"/>
          </a:p>
        </p:txBody>
      </p:sp>
      <p:sp>
        <p:nvSpPr>
          <p:cNvPr id="9" name="Text 7"/>
          <p:cNvSpPr/>
          <p:nvPr/>
        </p:nvSpPr>
        <p:spPr>
          <a:xfrm>
            <a:off x="475488" y="2148840"/>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Ingest: FX limit hits, blocked features, spend velocity, travel signals</a:t>
            </a:r>
            <a:endParaRPr lang="en-US" sz="1000" dirty="0"/>
          </a:p>
        </p:txBody>
      </p:sp>
      <p:sp>
        <p:nvSpPr>
          <p:cNvPr id="10" name="Text 8"/>
          <p:cNvSpPr/>
          <p:nvPr/>
        </p:nvSpPr>
        <p:spPr>
          <a:xfrm>
            <a:off x="475488" y="2807208"/>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Build propensity score per user per tier — Plus, Premium, Metal</a:t>
            </a:r>
            <a:endParaRPr lang="en-US" sz="1000" dirty="0"/>
          </a:p>
        </p:txBody>
      </p:sp>
      <p:sp>
        <p:nvSpPr>
          <p:cNvPr id="11" name="Text 9"/>
          <p:cNvSpPr/>
          <p:nvPr/>
        </p:nvSpPr>
        <p:spPr>
          <a:xfrm>
            <a:off x="475488" y="3465576"/>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Band users: HIGH / MED / LOW — weekly recalculation</a:t>
            </a:r>
            <a:endParaRPr lang="en-US" sz="1000" dirty="0"/>
          </a:p>
        </p:txBody>
      </p:sp>
      <p:sp>
        <p:nvSpPr>
          <p:cNvPr id="12" name="Text 10"/>
          <p:cNvSpPr/>
          <p:nvPr/>
        </p:nvSpPr>
        <p:spPr>
          <a:xfrm>
            <a:off x="475488" y="4123944"/>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Success metric: 80% of MAU scored within 6 weeks of launch</a:t>
            </a:r>
            <a:endParaRPr lang="en-US" sz="1000" dirty="0"/>
          </a:p>
        </p:txBody>
      </p:sp>
      <p:sp>
        <p:nvSpPr>
          <p:cNvPr id="13" name="Shape 11"/>
          <p:cNvSpPr/>
          <p:nvPr/>
        </p:nvSpPr>
        <p:spPr>
          <a:xfrm>
            <a:off x="3218688" y="1170432"/>
            <a:ext cx="2724912" cy="4041648"/>
          </a:xfrm>
          <a:prstGeom prst="rect">
            <a:avLst/>
          </a:prstGeom>
          <a:solidFill>
            <a:srgbClr val="0D0F14"/>
          </a:solidFill>
          <a:ln w="15240">
            <a:solidFill>
              <a:srgbClr val="7C3AED"/>
            </a:solidFill>
            <a:prstDash val="solid"/>
          </a:ln>
          <a:effectLst>
            <a:outerShdw sx="100000" sy="100000" kx="0" ky="0" algn="bl" rotWithShape="0" blurRad="50800" dist="25400" dir="2700000">
              <a:srgbClr val="000000">
                <a:alpha val="14000"/>
              </a:srgbClr>
            </a:outerShdw>
          </a:effectLst>
        </p:spPr>
      </p:sp>
      <p:sp>
        <p:nvSpPr>
          <p:cNvPr id="14" name="Shape 12"/>
          <p:cNvSpPr/>
          <p:nvPr/>
        </p:nvSpPr>
        <p:spPr>
          <a:xfrm>
            <a:off x="3310128" y="1261872"/>
            <a:ext cx="1005840" cy="256032"/>
          </a:xfrm>
          <a:prstGeom prst="rect">
            <a:avLst/>
          </a:prstGeom>
          <a:solidFill>
            <a:srgbClr val="7C3AED"/>
          </a:solidFill>
          <a:ln w="12700">
            <a:solidFill>
              <a:srgbClr val="7C3AED"/>
            </a:solidFill>
            <a:prstDash val="solid"/>
          </a:ln>
        </p:spPr>
      </p:sp>
      <p:sp>
        <p:nvSpPr>
          <p:cNvPr id="15" name="Text 13"/>
          <p:cNvSpPr/>
          <p:nvPr/>
        </p:nvSpPr>
        <p:spPr>
          <a:xfrm>
            <a:off x="3310128" y="1261872"/>
            <a:ext cx="1005840" cy="256032"/>
          </a:xfrm>
          <a:prstGeom prst="rect">
            <a:avLst/>
          </a:prstGeom>
          <a:noFill/>
          <a:ln/>
        </p:spPr>
        <p:txBody>
          <a:bodyPr wrap="square" rtlCol="0" anchor="ctr"/>
          <a:lstStyle/>
          <a:p>
            <a:pPr algn="ctr" indent="0" marL="0">
              <a:buNone/>
            </a:pPr>
            <a:r>
              <a:rPr lang="en-US" sz="900" b="1" dirty="0">
                <a:solidFill>
                  <a:srgbClr val="0D0F14"/>
                </a:solidFill>
                <a:latin typeface="Calibri" pitchFamily="34" charset="0"/>
                <a:ea typeface="Calibri" pitchFamily="34" charset="-122"/>
                <a:cs typeface="Calibri" pitchFamily="34" charset="-120"/>
              </a:rPr>
              <a:t>Phase 2</a:t>
            </a:r>
            <a:endParaRPr lang="en-US" sz="900" dirty="0"/>
          </a:p>
        </p:txBody>
      </p:sp>
      <p:sp>
        <p:nvSpPr>
          <p:cNvPr id="16" name="Text 14"/>
          <p:cNvSpPr/>
          <p:nvPr/>
        </p:nvSpPr>
        <p:spPr>
          <a:xfrm>
            <a:off x="4407408" y="1280160"/>
            <a:ext cx="1417320" cy="219456"/>
          </a:xfrm>
          <a:prstGeom prst="rect">
            <a:avLst/>
          </a:prstGeom>
          <a:noFill/>
          <a:ln/>
        </p:spPr>
        <p:txBody>
          <a:bodyPr wrap="square" rtlCol="0" anchor="ctr"/>
          <a:lstStyle/>
          <a:p>
            <a:pPr indent="0" marL="0">
              <a:buNone/>
            </a:pPr>
            <a:r>
              <a:rPr lang="en-US" sz="900" dirty="0">
                <a:solidFill>
                  <a:srgbClr val="7C3AED"/>
                </a:solidFill>
                <a:latin typeface="Calibri" pitchFamily="34" charset="0"/>
                <a:ea typeface="Calibri" pitchFamily="34" charset="-122"/>
                <a:cs typeface="Calibri" pitchFamily="34" charset="-120"/>
              </a:rPr>
              <a:t>Month 3–4</a:t>
            </a:r>
            <a:endParaRPr lang="en-US" sz="900" dirty="0"/>
          </a:p>
        </p:txBody>
      </p:sp>
      <p:sp>
        <p:nvSpPr>
          <p:cNvPr id="17" name="Text 15"/>
          <p:cNvSpPr/>
          <p:nvPr/>
        </p:nvSpPr>
        <p:spPr>
          <a:xfrm>
            <a:off x="3328416" y="1600200"/>
            <a:ext cx="2487168" cy="47548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Story Variant + Campaign Builder</a:t>
            </a:r>
            <a:endParaRPr lang="en-US" sz="1250" dirty="0"/>
          </a:p>
        </p:txBody>
      </p:sp>
      <p:sp>
        <p:nvSpPr>
          <p:cNvPr id="18" name="Text 16"/>
          <p:cNvSpPr/>
          <p:nvPr/>
        </p:nvSpPr>
        <p:spPr>
          <a:xfrm>
            <a:off x="3346704" y="2148840"/>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A/B test 3 story variants vs current control across MED band</a:t>
            </a:r>
            <a:endParaRPr lang="en-US" sz="1000" dirty="0"/>
          </a:p>
        </p:txBody>
      </p:sp>
      <p:sp>
        <p:nvSpPr>
          <p:cNvPr id="19" name="Text 17"/>
          <p:cNvSpPr/>
          <p:nvPr/>
        </p:nvSpPr>
        <p:spPr>
          <a:xfrm>
            <a:off x="3346704" y="2807208"/>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Deploy PMM self-serve campaign builder (segment, variant, offer, launch)</a:t>
            </a:r>
            <a:endParaRPr lang="en-US" sz="1000" dirty="0"/>
          </a:p>
        </p:txBody>
      </p:sp>
      <p:sp>
        <p:nvSpPr>
          <p:cNvPr id="20" name="Text 18"/>
          <p:cNvSpPr/>
          <p:nvPr/>
        </p:nvSpPr>
        <p:spPr>
          <a:xfrm>
            <a:off x="3346704" y="3465576"/>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Run first GrowthIQ campaign on Premium tier — 1.82M MED users</a:t>
            </a:r>
            <a:endParaRPr lang="en-US" sz="1000" dirty="0"/>
          </a:p>
        </p:txBody>
      </p:sp>
      <p:sp>
        <p:nvSpPr>
          <p:cNvPr id="21" name="Text 19"/>
          <p:cNvSpPr/>
          <p:nvPr/>
        </p:nvSpPr>
        <p:spPr>
          <a:xfrm>
            <a:off x="3346704" y="4123944"/>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Success metric: +15% CVR lift vs blanket campaign baseline at 4 weeks</a:t>
            </a:r>
            <a:endParaRPr lang="en-US" sz="1000" dirty="0"/>
          </a:p>
        </p:txBody>
      </p:sp>
      <p:sp>
        <p:nvSpPr>
          <p:cNvPr id="22" name="Shape 20"/>
          <p:cNvSpPr/>
          <p:nvPr/>
        </p:nvSpPr>
        <p:spPr>
          <a:xfrm>
            <a:off x="6089904" y="1170432"/>
            <a:ext cx="2724912" cy="4041648"/>
          </a:xfrm>
          <a:prstGeom prst="rect">
            <a:avLst/>
          </a:prstGeom>
          <a:solidFill>
            <a:srgbClr val="0D0F14"/>
          </a:solidFill>
          <a:ln w="15240">
            <a:solidFill>
              <a:srgbClr val="F59E0B"/>
            </a:solidFill>
            <a:prstDash val="solid"/>
          </a:ln>
          <a:effectLst>
            <a:outerShdw sx="100000" sy="100000" kx="0" ky="0" algn="bl" rotWithShape="0" blurRad="50800" dist="25400" dir="2700000">
              <a:srgbClr val="000000">
                <a:alpha val="14000"/>
              </a:srgbClr>
            </a:outerShdw>
          </a:effectLst>
        </p:spPr>
      </p:sp>
      <p:sp>
        <p:nvSpPr>
          <p:cNvPr id="23" name="Shape 21"/>
          <p:cNvSpPr/>
          <p:nvPr/>
        </p:nvSpPr>
        <p:spPr>
          <a:xfrm>
            <a:off x="6181344" y="1261872"/>
            <a:ext cx="1005840" cy="256032"/>
          </a:xfrm>
          <a:prstGeom prst="rect">
            <a:avLst/>
          </a:prstGeom>
          <a:solidFill>
            <a:srgbClr val="F59E0B"/>
          </a:solidFill>
          <a:ln w="12700">
            <a:solidFill>
              <a:srgbClr val="F59E0B"/>
            </a:solidFill>
            <a:prstDash val="solid"/>
          </a:ln>
        </p:spPr>
      </p:sp>
      <p:sp>
        <p:nvSpPr>
          <p:cNvPr id="24" name="Text 22"/>
          <p:cNvSpPr/>
          <p:nvPr/>
        </p:nvSpPr>
        <p:spPr>
          <a:xfrm>
            <a:off x="6181344" y="1261872"/>
            <a:ext cx="1005840" cy="256032"/>
          </a:xfrm>
          <a:prstGeom prst="rect">
            <a:avLst/>
          </a:prstGeom>
          <a:noFill/>
          <a:ln/>
        </p:spPr>
        <p:txBody>
          <a:bodyPr wrap="square" rtlCol="0" anchor="ctr"/>
          <a:lstStyle/>
          <a:p>
            <a:pPr algn="ctr" indent="0" marL="0">
              <a:buNone/>
            </a:pPr>
            <a:r>
              <a:rPr lang="en-US" sz="900" b="1" dirty="0">
                <a:solidFill>
                  <a:srgbClr val="0D0F14"/>
                </a:solidFill>
                <a:latin typeface="Calibri" pitchFamily="34" charset="0"/>
                <a:ea typeface="Calibri" pitchFamily="34" charset="-122"/>
                <a:cs typeface="Calibri" pitchFamily="34" charset="-120"/>
              </a:rPr>
              <a:t>Phase 3</a:t>
            </a:r>
            <a:endParaRPr lang="en-US" sz="900" dirty="0"/>
          </a:p>
        </p:txBody>
      </p:sp>
      <p:sp>
        <p:nvSpPr>
          <p:cNvPr id="25" name="Text 23"/>
          <p:cNvSpPr/>
          <p:nvPr/>
        </p:nvSpPr>
        <p:spPr>
          <a:xfrm>
            <a:off x="7278624" y="1280160"/>
            <a:ext cx="1417320" cy="219456"/>
          </a:xfrm>
          <a:prstGeom prst="rect">
            <a:avLst/>
          </a:prstGeom>
          <a:noFill/>
          <a:ln/>
        </p:spPr>
        <p:txBody>
          <a:bodyPr wrap="square" rtlCol="0" anchor="ctr"/>
          <a:lstStyle/>
          <a:p>
            <a:pPr indent="0" marL="0">
              <a:buNone/>
            </a:pPr>
            <a:r>
              <a:rPr lang="en-US" sz="900" dirty="0">
                <a:solidFill>
                  <a:srgbClr val="F59E0B"/>
                </a:solidFill>
                <a:latin typeface="Calibri" pitchFamily="34" charset="0"/>
                <a:ea typeface="Calibri" pitchFamily="34" charset="-122"/>
                <a:cs typeface="Calibri" pitchFamily="34" charset="-120"/>
              </a:rPr>
              <a:t>Month 5–6</a:t>
            </a:r>
            <a:endParaRPr lang="en-US" sz="900" dirty="0"/>
          </a:p>
        </p:txBody>
      </p:sp>
      <p:sp>
        <p:nvSpPr>
          <p:cNvPr id="26" name="Text 24"/>
          <p:cNvSpPr/>
          <p:nvPr/>
        </p:nvSpPr>
        <p:spPr>
          <a:xfrm>
            <a:off x="6199632" y="1600200"/>
            <a:ext cx="2487168" cy="47548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Full Calibration + Analytics Loop</a:t>
            </a:r>
            <a:endParaRPr lang="en-US" sz="1250" dirty="0"/>
          </a:p>
        </p:txBody>
      </p:sp>
      <p:sp>
        <p:nvSpPr>
          <p:cNvPr id="27" name="Text 25"/>
          <p:cNvSpPr/>
          <p:nvPr/>
        </p:nvSpPr>
        <p:spPr>
          <a:xfrm>
            <a:off x="6217920" y="2148840"/>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Deploy offer calibration: HIGH no-offer, MED incentive, LOW suppress</a:t>
            </a:r>
            <a:endParaRPr lang="en-US" sz="1000" dirty="0"/>
          </a:p>
        </p:txBody>
      </p:sp>
      <p:sp>
        <p:nvSpPr>
          <p:cNvPr id="28" name="Text 26"/>
          <p:cNvSpPr/>
          <p:nvPr/>
        </p:nvSpPr>
        <p:spPr>
          <a:xfrm>
            <a:off x="6217920" y="2807208"/>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Launch analytics dashboard with variant x band attribution</a:t>
            </a:r>
            <a:endParaRPr lang="en-US" sz="1000" dirty="0"/>
          </a:p>
        </p:txBody>
      </p:sp>
      <p:sp>
        <p:nvSpPr>
          <p:cNvPr id="29" name="Text 27"/>
          <p:cNvSpPr/>
          <p:nvPr/>
        </p:nvSpPr>
        <p:spPr>
          <a:xfrm>
            <a:off x="6217920" y="3465576"/>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Retrain propensity model on 2 campaign cycles of observed CVR data</a:t>
            </a:r>
            <a:endParaRPr lang="en-US" sz="1000" dirty="0"/>
          </a:p>
        </p:txBody>
      </p:sp>
      <p:sp>
        <p:nvSpPr>
          <p:cNvPr id="30" name="Text 28"/>
          <p:cNvSpPr/>
          <p:nvPr/>
        </p:nvSpPr>
        <p:spPr>
          <a:xfrm>
            <a:off x="6217920" y="4123944"/>
            <a:ext cx="2468880" cy="603504"/>
          </a:xfrm>
          <a:prstGeom prst="rect">
            <a:avLst/>
          </a:prstGeom>
          <a:noFill/>
          <a:ln/>
        </p:spPr>
        <p:txBody>
          <a:bodyPr wrap="square" rtlCol="0" anchor="ctr"/>
          <a:lstStyle/>
          <a:p>
            <a:pPr indent="0" marL="0">
              <a:buNone/>
            </a:pPr>
            <a:r>
              <a:rPr lang="en-US" sz="1000" dirty="0">
                <a:solidFill>
                  <a:srgbClr val="99B4CC"/>
                </a:solidFill>
                <a:latin typeface="Calibri" pitchFamily="34" charset="0"/>
                <a:ea typeface="Calibri" pitchFamily="34" charset="-122"/>
                <a:cs typeface="Calibri" pitchFamily="34" charset="-120"/>
              </a:rPr>
              <a:t>• Success metric: £1M+ campaign budget saving vs blanket spend confirmed</a:t>
            </a:r>
            <a:endParaRPr lang="en-US" sz="1000" dirty="0"/>
          </a:p>
        </p:txBody>
      </p:sp>
      <p:sp>
        <p:nvSpPr>
          <p:cNvPr id="31" name="Shape 29"/>
          <p:cNvSpPr/>
          <p:nvPr/>
        </p:nvSpPr>
        <p:spPr>
          <a:xfrm>
            <a:off x="347472" y="5349240"/>
            <a:ext cx="8430768" cy="502920"/>
          </a:xfrm>
          <a:prstGeom prst="rect">
            <a:avLst/>
          </a:prstGeom>
          <a:solidFill>
            <a:srgbClr val="0A1428"/>
          </a:solidFill>
          <a:ln w="12700">
            <a:solidFill>
              <a:srgbClr val="0668E1"/>
            </a:solidFill>
            <a:prstDash val="solid"/>
          </a:ln>
        </p:spPr>
      </p:sp>
      <p:sp>
        <p:nvSpPr>
          <p:cNvPr id="32" name="Text 30"/>
          <p:cNvSpPr/>
          <p:nvPr/>
        </p:nvSpPr>
        <p:spPr>
          <a:xfrm>
            <a:off x="548640" y="5422392"/>
            <a:ext cx="8046720" cy="365760"/>
          </a:xfrm>
          <a:prstGeom prst="rect">
            <a:avLst/>
          </a:prstGeom>
          <a:noFill/>
          <a:ln/>
        </p:spPr>
        <p:txBody>
          <a:bodyPr wrap="square" rtlCol="0" anchor="ctr"/>
          <a:lstStyle/>
          <a:p>
            <a:pPr indent="0" marL="0">
              <a:buNone/>
            </a:pPr>
            <a:r>
              <a:rPr lang="en-US" sz="1000" dirty="0">
                <a:solidFill>
                  <a:srgbClr val="C8D4F0"/>
                </a:solidFill>
                <a:latin typeface="Calibri" pitchFamily="34" charset="0"/>
                <a:ea typeface="Calibri" pitchFamily="34" charset="-122"/>
                <a:cs typeface="Calibri" pitchFamily="34" charset="-120"/>
              </a:rPr>
              <a:t>What I need:  CDP data access  ·  1 Data Engineer (signal ingestion)  ·  1 ML Engineer (propensity model)  ·  PMM campaign builder UI (existing Revolut CMS or new)</a:t>
            </a:r>
            <a:endParaRPr lang="en-US" sz="1000" dirty="0"/>
          </a:p>
        </p:txBody>
      </p:sp>
      <p:sp>
        <p:nvSpPr>
          <p:cNvPr id="33" name="Text 31"/>
          <p:cNvSpPr/>
          <p:nvPr/>
        </p:nvSpPr>
        <p:spPr>
          <a:xfrm>
            <a:off x="347472" y="6309360"/>
            <a:ext cx="8430768" cy="201168"/>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Ajay Avaghade  ·  avaghadeajay009@gmail.com  ·  +91 9561558439  ·  linkedin.com/in/ajay-avaghade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2026-05-24T06:34:50Z</dcterms:created>
  <dcterms:modified xsi:type="dcterms:W3CDTF">2026-05-24T06:34:50Z</dcterms:modified>
</cp:coreProperties>
</file>