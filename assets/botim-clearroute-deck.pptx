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274320" y="365760"/>
            <a:ext cx="8595360" cy="274320"/>
          </a:xfrm>
          <a:prstGeom prst="rect">
            <a:avLst/>
          </a:prstGeom>
          <a:noFill/>
          <a:ln/>
        </p:spPr>
        <p:txBody>
          <a:bodyPr wrap="square" rtlCol="0" anchor="ctr"/>
          <a:lstStyle/>
          <a:p>
            <a:pPr algn="ctr" indent="0" marL="0">
              <a:buNone/>
            </a:pPr>
            <a:r>
              <a:rPr lang="en-US" sz="900" b="1" dirty="0">
                <a:solidFill>
                  <a:srgbClr val="8B92A5"/>
                </a:solidFill>
              </a:rPr>
              <a:t>BOTIM FOR BUSINESS · CROSS-BORDER PAYMENTS</a:t>
            </a:r>
            <a:endParaRPr lang="en-US" sz="900" dirty="0"/>
          </a:p>
        </p:txBody>
      </p:sp>
      <p:sp>
        <p:nvSpPr>
          <p:cNvPr id="3" name="Text 1"/>
          <p:cNvSpPr/>
          <p:nvPr/>
        </p:nvSpPr>
        <p:spPr>
          <a:xfrm>
            <a:off x="457200" y="1097280"/>
            <a:ext cx="8229600" cy="1371600"/>
          </a:xfrm>
          <a:prstGeom prst="rect">
            <a:avLst/>
          </a:prstGeom>
          <a:noFill/>
          <a:ln/>
        </p:spPr>
        <p:txBody>
          <a:bodyPr wrap="square" rtlCol="0" anchor="ctr"/>
          <a:lstStyle/>
          <a:p>
            <a:pPr algn="ctr" indent="0" marL="0">
              <a:buNone/>
            </a:pPr>
            <a:r>
              <a:rPr lang="en-US" sz="5200" b="1" dirty="0">
                <a:solidFill>
                  <a:srgbClr val="FFFFFF"/>
                </a:solidFill>
              </a:rPr>
              <a:t>ClearRoute</a:t>
            </a:r>
            <a:endParaRPr lang="en-US" sz="5200" dirty="0"/>
          </a:p>
        </p:txBody>
      </p:sp>
      <p:sp>
        <p:nvSpPr>
          <p:cNvPr id="4" name="Text 2"/>
          <p:cNvSpPr/>
          <p:nvPr/>
        </p:nvSpPr>
        <p:spPr>
          <a:xfrm>
            <a:off x="457200" y="2560320"/>
            <a:ext cx="8229600" cy="731520"/>
          </a:xfrm>
          <a:prstGeom prst="rect">
            <a:avLst/>
          </a:prstGeom>
          <a:noFill/>
          <a:ln/>
        </p:spPr>
        <p:txBody>
          <a:bodyPr wrap="square" rtlCol="0" anchor="ctr"/>
          <a:lstStyle/>
          <a:p>
            <a:pPr algn="ctr" indent="0" marL="0">
              <a:buNone/>
            </a:pPr>
            <a:r>
              <a:rPr lang="en-US" sz="2000" dirty="0">
                <a:solidFill>
                  <a:srgbClr val="00BFA5"/>
                </a:solidFill>
              </a:rPr>
              <a:t>Intelligent Cross-Border Rail Selector — SWIFT vs Local Rails</a:t>
            </a:r>
            <a:endParaRPr lang="en-US" sz="2000" dirty="0"/>
          </a:p>
        </p:txBody>
      </p:sp>
      <p:sp>
        <p:nvSpPr>
          <p:cNvPr id="5" name="Text 3"/>
          <p:cNvSpPr/>
          <p:nvPr/>
        </p:nvSpPr>
        <p:spPr>
          <a:xfrm>
            <a:off x="457200" y="3474720"/>
            <a:ext cx="8229600" cy="365760"/>
          </a:xfrm>
          <a:prstGeom prst="rect">
            <a:avLst/>
          </a:prstGeom>
          <a:noFill/>
          <a:ln/>
        </p:spPr>
        <p:txBody>
          <a:bodyPr wrap="square" rtlCol="0" anchor="ctr"/>
          <a:lstStyle/>
          <a:p>
            <a:pPr algn="ctr" indent="0" marL="0">
              <a:buNone/>
            </a:pPr>
            <a:r>
              <a:rPr lang="en-US" sz="1200" dirty="0">
                <a:solidFill>
                  <a:srgbClr val="8B92A5"/>
                </a:solidFill>
              </a:rPr>
              <a:t>Ajay Avaghade · Product Manager</a:t>
            </a:r>
            <a:endParaRPr lang="en-US" sz="1200" dirty="0"/>
          </a:p>
        </p:txBody>
      </p:sp>
      <p:sp>
        <p:nvSpPr>
          <p:cNvPr id="6" name="Shape 4"/>
          <p:cNvSpPr/>
          <p:nvPr/>
        </p:nvSpPr>
        <p:spPr>
          <a:xfrm>
            <a:off x="6858000" y="4754880"/>
            <a:ext cx="1828800" cy="91440"/>
          </a:xfrm>
          <a:prstGeom prst="rect">
            <a:avLst/>
          </a:prstGeom>
          <a:solidFill>
            <a:srgbClr val="00BFA5"/>
          </a:solidFill>
          <a:ln/>
        </p:spPr>
      </p:sp>
      <p:sp>
        <p:nvSpPr>
          <p:cNvPr id="7" name="Text 5"/>
          <p:cNvSpPr/>
          <p:nvPr/>
        </p:nvSpPr>
        <p:spPr>
          <a:xfrm>
            <a:off x="6583680" y="4937760"/>
            <a:ext cx="2377440" cy="731520"/>
          </a:xfrm>
          <a:prstGeom prst="rect">
            <a:avLst/>
          </a:prstGeom>
          <a:noFill/>
          <a:ln/>
        </p:spPr>
        <p:txBody>
          <a:bodyPr wrap="square" rtlCol="0" anchor="ctr"/>
          <a:lstStyle/>
          <a:p>
            <a:pPr algn="r" indent="0" marL="0">
              <a:buNone/>
            </a:pPr>
            <a:r>
              <a:rPr lang="en-US" sz="1600" b="1" dirty="0">
                <a:solidFill>
                  <a:srgbClr val="00BFA5"/>
                </a:solidFill>
              </a:rPr>
              <a:t>AED 180 saved per transaction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274320" y="274320"/>
            <a:ext cx="8595360" cy="228600"/>
          </a:xfrm>
          <a:prstGeom prst="rect">
            <a:avLst/>
          </a:prstGeom>
          <a:noFill/>
          <a:ln/>
        </p:spPr>
        <p:txBody>
          <a:bodyPr wrap="square" rtlCol="0" anchor="ctr"/>
          <a:lstStyle/>
          <a:p>
            <a:pPr indent="0" marL="0">
              <a:buNone/>
            </a:pPr>
            <a:r>
              <a:rPr lang="en-US" sz="900" b="1" dirty="0">
                <a:solidFill>
                  <a:srgbClr val="8B92A5"/>
                </a:solidFill>
              </a:rPr>
              <a:t>THE PROBLEM</a:t>
            </a:r>
            <a:endParaRPr lang="en-US" sz="900" dirty="0"/>
          </a:p>
        </p:txBody>
      </p:sp>
      <p:sp>
        <p:nvSpPr>
          <p:cNvPr id="3" name="Text 1"/>
          <p:cNvSpPr/>
          <p:nvPr/>
        </p:nvSpPr>
        <p:spPr>
          <a:xfrm>
            <a:off x="457200" y="731520"/>
            <a:ext cx="8229600" cy="1188720"/>
          </a:xfrm>
          <a:prstGeom prst="rect">
            <a:avLst/>
          </a:prstGeom>
          <a:noFill/>
          <a:ln/>
        </p:spPr>
        <p:txBody>
          <a:bodyPr wrap="square" rtlCol="0" anchor="ctr"/>
          <a:lstStyle/>
          <a:p>
            <a:pPr indent="0" marL="0">
              <a:buNone/>
            </a:pPr>
            <a:r>
              <a:rPr lang="en-US" sz="2600" b="1" dirty="0">
                <a:solidFill>
                  <a:srgbClr val="FFFFFF"/>
                </a:solidFill>
              </a:rPr>
              <a:t>SMEs Default to SWIFT for All International Payments — Overpaying 40–60% on Routes With Cheaper Local Rail Alternatives</a:t>
            </a:r>
            <a:endParaRPr lang="en-US" sz="2600" dirty="0"/>
          </a:p>
        </p:txBody>
      </p:sp>
      <p:sp>
        <p:nvSpPr>
          <p:cNvPr id="4" name="Text 2"/>
          <p:cNvSpPr/>
          <p:nvPr/>
        </p:nvSpPr>
        <p:spPr>
          <a:xfrm>
            <a:off x="457200" y="2103120"/>
            <a:ext cx="2560320" cy="548640"/>
          </a:xfrm>
          <a:prstGeom prst="rect">
            <a:avLst/>
          </a:prstGeom>
          <a:noFill/>
          <a:ln/>
        </p:spPr>
        <p:txBody>
          <a:bodyPr wrap="square" rtlCol="0" anchor="ctr"/>
          <a:lstStyle/>
          <a:p>
            <a:pPr algn="ctr" indent="0" marL="0">
              <a:buNone/>
            </a:pPr>
            <a:r>
              <a:rPr lang="en-US" sz="3000" b="1" dirty="0">
                <a:solidFill>
                  <a:srgbClr val="00BFA5"/>
                </a:solidFill>
              </a:rPr>
              <a:t>AED 225</a:t>
            </a:r>
            <a:endParaRPr lang="en-US" sz="3000" dirty="0"/>
          </a:p>
        </p:txBody>
      </p:sp>
      <p:sp>
        <p:nvSpPr>
          <p:cNvPr id="5" name="Text 3"/>
          <p:cNvSpPr/>
          <p:nvPr/>
        </p:nvSpPr>
        <p:spPr>
          <a:xfrm>
            <a:off x="457200" y="2743200"/>
            <a:ext cx="2560320" cy="365760"/>
          </a:xfrm>
          <a:prstGeom prst="rect">
            <a:avLst/>
          </a:prstGeom>
          <a:noFill/>
          <a:ln/>
        </p:spPr>
        <p:txBody>
          <a:bodyPr wrap="square" rtlCol="0" anchor="ctr"/>
          <a:lstStyle/>
          <a:p>
            <a:pPr algn="ctr" indent="0" marL="0">
              <a:buNone/>
            </a:pPr>
            <a:r>
              <a:rPr lang="en-US" sz="1200" b="1" dirty="0">
                <a:solidFill>
                  <a:srgbClr val="FFFFFF"/>
                </a:solidFill>
              </a:rPr>
              <a:t>Avg SWIFT cost</a:t>
            </a:r>
            <a:endParaRPr lang="en-US" sz="1200" dirty="0"/>
          </a:p>
        </p:txBody>
      </p:sp>
      <p:sp>
        <p:nvSpPr>
          <p:cNvPr id="6" name="Text 4"/>
          <p:cNvSpPr/>
          <p:nvPr/>
        </p:nvSpPr>
        <p:spPr>
          <a:xfrm>
            <a:off x="457200" y="3200400"/>
            <a:ext cx="2560320" cy="731520"/>
          </a:xfrm>
          <a:prstGeom prst="rect">
            <a:avLst/>
          </a:prstGeom>
          <a:noFill/>
          <a:ln/>
        </p:spPr>
        <p:txBody>
          <a:bodyPr wrap="square" rtlCol="0" anchor="ctr"/>
          <a:lstStyle/>
          <a:p>
            <a:pPr algn="ctr" indent="0" marL="0">
              <a:buNone/>
            </a:pPr>
            <a:r>
              <a:rPr lang="en-US" sz="1000" dirty="0">
                <a:solidFill>
                  <a:srgbClr val="8B92A5"/>
                </a:solidFill>
              </a:rPr>
              <a:t>flat fee + FX spread per transaction</a:t>
            </a:r>
            <a:endParaRPr lang="en-US" sz="1000" dirty="0"/>
          </a:p>
        </p:txBody>
      </p:sp>
      <p:sp>
        <p:nvSpPr>
          <p:cNvPr id="7" name="Text 5"/>
          <p:cNvSpPr/>
          <p:nvPr/>
        </p:nvSpPr>
        <p:spPr>
          <a:xfrm>
            <a:off x="3291840" y="2103120"/>
            <a:ext cx="2560320" cy="548640"/>
          </a:xfrm>
          <a:prstGeom prst="rect">
            <a:avLst/>
          </a:prstGeom>
          <a:noFill/>
          <a:ln/>
        </p:spPr>
        <p:txBody>
          <a:bodyPr wrap="square" rtlCol="0" anchor="ctr"/>
          <a:lstStyle/>
          <a:p>
            <a:pPr algn="ctr" indent="0" marL="0">
              <a:buNone/>
            </a:pPr>
            <a:r>
              <a:rPr lang="en-US" sz="3000" b="1" dirty="0">
                <a:solidFill>
                  <a:srgbClr val="00BFA5"/>
                </a:solidFill>
              </a:rPr>
              <a:t>2–3 days</a:t>
            </a:r>
            <a:endParaRPr lang="en-US" sz="3000" dirty="0"/>
          </a:p>
        </p:txBody>
      </p:sp>
      <p:sp>
        <p:nvSpPr>
          <p:cNvPr id="8" name="Text 6"/>
          <p:cNvSpPr/>
          <p:nvPr/>
        </p:nvSpPr>
        <p:spPr>
          <a:xfrm>
            <a:off x="3291840" y="2743200"/>
            <a:ext cx="2560320" cy="365760"/>
          </a:xfrm>
          <a:prstGeom prst="rect">
            <a:avLst/>
          </a:prstGeom>
          <a:noFill/>
          <a:ln/>
        </p:spPr>
        <p:txBody>
          <a:bodyPr wrap="square" rtlCol="0" anchor="ctr"/>
          <a:lstStyle/>
          <a:p>
            <a:pPr algn="ctr" indent="0" marL="0">
              <a:buNone/>
            </a:pPr>
            <a:r>
              <a:rPr lang="en-US" sz="1200" b="1" dirty="0">
                <a:solidFill>
                  <a:srgbClr val="FFFFFF"/>
                </a:solidFill>
              </a:rPr>
              <a:t>SWIFT settlement TAT</a:t>
            </a:r>
            <a:endParaRPr lang="en-US" sz="1200" dirty="0"/>
          </a:p>
        </p:txBody>
      </p:sp>
      <p:sp>
        <p:nvSpPr>
          <p:cNvPr id="9" name="Text 7"/>
          <p:cNvSpPr/>
          <p:nvPr/>
        </p:nvSpPr>
        <p:spPr>
          <a:xfrm>
            <a:off x="3291840" y="3200400"/>
            <a:ext cx="2560320" cy="731520"/>
          </a:xfrm>
          <a:prstGeom prst="rect">
            <a:avLst/>
          </a:prstGeom>
          <a:noFill/>
          <a:ln/>
        </p:spPr>
        <p:txBody>
          <a:bodyPr wrap="square" rtlCol="0" anchor="ctr"/>
          <a:lstStyle/>
          <a:p>
            <a:pPr algn="ctr" indent="0" marL="0">
              <a:buNone/>
            </a:pPr>
            <a:r>
              <a:rPr lang="en-US" sz="1000" dirty="0">
                <a:solidFill>
                  <a:srgbClr val="8B92A5"/>
                </a:solidFill>
              </a:rPr>
              <a:t>vs 2–4 hours via local rail (IMPS/Raast)</a:t>
            </a:r>
            <a:endParaRPr lang="en-US" sz="1000" dirty="0"/>
          </a:p>
        </p:txBody>
      </p:sp>
      <p:sp>
        <p:nvSpPr>
          <p:cNvPr id="10" name="Text 8"/>
          <p:cNvSpPr/>
          <p:nvPr/>
        </p:nvSpPr>
        <p:spPr>
          <a:xfrm>
            <a:off x="6126480" y="2103120"/>
            <a:ext cx="2560320" cy="548640"/>
          </a:xfrm>
          <a:prstGeom prst="rect">
            <a:avLst/>
          </a:prstGeom>
          <a:noFill/>
          <a:ln/>
        </p:spPr>
        <p:txBody>
          <a:bodyPr wrap="square" rtlCol="0" anchor="ctr"/>
          <a:lstStyle/>
          <a:p>
            <a:pPr algn="ctr" indent="0" marL="0">
              <a:buNone/>
            </a:pPr>
            <a:r>
              <a:rPr lang="en-US" sz="3000" b="1" dirty="0">
                <a:solidFill>
                  <a:srgbClr val="00BFA5"/>
                </a:solidFill>
              </a:rPr>
              <a:t>40–60%</a:t>
            </a:r>
            <a:endParaRPr lang="en-US" sz="3000" dirty="0"/>
          </a:p>
        </p:txBody>
      </p:sp>
      <p:sp>
        <p:nvSpPr>
          <p:cNvPr id="11" name="Text 9"/>
          <p:cNvSpPr/>
          <p:nvPr/>
        </p:nvSpPr>
        <p:spPr>
          <a:xfrm>
            <a:off x="6126480" y="2743200"/>
            <a:ext cx="2560320" cy="365760"/>
          </a:xfrm>
          <a:prstGeom prst="rect">
            <a:avLst/>
          </a:prstGeom>
          <a:noFill/>
          <a:ln/>
        </p:spPr>
        <p:txBody>
          <a:bodyPr wrap="square" rtlCol="0" anchor="ctr"/>
          <a:lstStyle/>
          <a:p>
            <a:pPr algn="ctr" indent="0" marL="0">
              <a:buNone/>
            </a:pPr>
            <a:r>
              <a:rPr lang="en-US" sz="1200" b="1" dirty="0">
                <a:solidFill>
                  <a:srgbClr val="FFFFFF"/>
                </a:solidFill>
              </a:rPr>
              <a:t>overpayment rate</a:t>
            </a:r>
            <a:endParaRPr lang="en-US" sz="1200" dirty="0"/>
          </a:p>
        </p:txBody>
      </p:sp>
      <p:sp>
        <p:nvSpPr>
          <p:cNvPr id="12" name="Text 10"/>
          <p:cNvSpPr/>
          <p:nvPr/>
        </p:nvSpPr>
        <p:spPr>
          <a:xfrm>
            <a:off x="6126480" y="3200400"/>
            <a:ext cx="2560320" cy="731520"/>
          </a:xfrm>
          <a:prstGeom prst="rect">
            <a:avLst/>
          </a:prstGeom>
          <a:noFill/>
          <a:ln/>
        </p:spPr>
        <p:txBody>
          <a:bodyPr wrap="square" rtlCol="0" anchor="ctr"/>
          <a:lstStyle/>
          <a:p>
            <a:pPr algn="ctr" indent="0" marL="0">
              <a:buNone/>
            </a:pPr>
            <a:r>
              <a:rPr lang="en-US" sz="1000" dirty="0">
                <a:solidFill>
                  <a:srgbClr val="8B92A5"/>
                </a:solidFill>
              </a:rPr>
              <a:t>on corridors with cheaper local rail options</a:t>
            </a:r>
            <a:endParaRPr lang="en-US" sz="1000" dirty="0"/>
          </a:p>
        </p:txBody>
      </p:sp>
      <p:sp>
        <p:nvSpPr>
          <p:cNvPr id="13" name="Shape 11"/>
          <p:cNvSpPr/>
          <p:nvPr/>
        </p:nvSpPr>
        <p:spPr>
          <a:xfrm>
            <a:off x="457200" y="4754880"/>
            <a:ext cx="8229600" cy="1554480"/>
          </a:xfrm>
          <a:prstGeom prst="rect">
            <a:avLst/>
          </a:prstGeom>
          <a:solidFill>
            <a:srgbClr val="0F1E3A"/>
          </a:solidFill>
          <a:ln w="12700">
            <a:solidFill>
              <a:srgbClr val="00BFA5"/>
            </a:solidFill>
            <a:prstDash val="solid"/>
          </a:ln>
        </p:spPr>
      </p:sp>
      <p:sp>
        <p:nvSpPr>
          <p:cNvPr id="14" name="Text 12"/>
          <p:cNvSpPr/>
          <p:nvPr/>
        </p:nvSpPr>
        <p:spPr>
          <a:xfrm>
            <a:off x="640080" y="4892040"/>
            <a:ext cx="7863840" cy="1280160"/>
          </a:xfrm>
          <a:prstGeom prst="rect">
            <a:avLst/>
          </a:prstGeom>
          <a:noFill/>
          <a:ln/>
        </p:spPr>
        <p:txBody>
          <a:bodyPr wrap="square" rtlCol="0" anchor="ctr"/>
          <a:lstStyle/>
          <a:p>
            <a:pPr indent="0" marL="0">
              <a:buNone/>
            </a:pPr>
            <a:r>
              <a:rPr lang="en-US" sz="1000" dirty="0">
                <a:solidFill>
                  <a:srgbClr val="FFFFFF"/>
                </a:solidFill>
              </a:rPr>
              <a:t>Root cause: No intelligence layer exists between the SME and the payment rail. SWIFT is the default because it is the only option the business knows. Local rails (India IMPS, Pakistan Raast, Philippines InstaPay, UAE AANI) are cheaper and faster — but invisible to the user.</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274320" y="274320"/>
            <a:ext cx="8595360" cy="228600"/>
          </a:xfrm>
          <a:prstGeom prst="rect">
            <a:avLst/>
          </a:prstGeom>
          <a:noFill/>
          <a:ln/>
        </p:spPr>
        <p:txBody>
          <a:bodyPr wrap="square" rtlCol="0" anchor="ctr"/>
          <a:lstStyle/>
          <a:p>
            <a:pPr indent="0" marL="0">
              <a:buNone/>
            </a:pPr>
            <a:r>
              <a:rPr lang="en-US" sz="900" b="1" dirty="0">
                <a:solidFill>
                  <a:srgbClr val="8B92A5"/>
                </a:solidFill>
              </a:rPr>
              <a:t>THE INSIGHT</a:t>
            </a:r>
            <a:endParaRPr lang="en-US" sz="900" dirty="0"/>
          </a:p>
        </p:txBody>
      </p:sp>
      <p:sp>
        <p:nvSpPr>
          <p:cNvPr id="3" name="Text 1"/>
          <p:cNvSpPr/>
          <p:nvPr/>
        </p:nvSpPr>
        <p:spPr>
          <a:xfrm>
            <a:off x="457200" y="731520"/>
            <a:ext cx="8229600" cy="822960"/>
          </a:xfrm>
          <a:prstGeom prst="rect">
            <a:avLst/>
          </a:prstGeom>
          <a:noFill/>
          <a:ln/>
        </p:spPr>
        <p:txBody>
          <a:bodyPr wrap="square" rtlCol="0" anchor="ctr"/>
          <a:lstStyle/>
          <a:p>
            <a:pPr indent="0" marL="0">
              <a:buNone/>
            </a:pPr>
            <a:r>
              <a:rPr lang="en-US" sz="2800" b="1" dirty="0">
                <a:solidFill>
                  <a:srgbClr val="0A1628"/>
                </a:solidFill>
              </a:rPr>
              <a:t>Rail Selection Is a Product Problem, Not a Treasury Problem</a:t>
            </a:r>
            <a:endParaRPr lang="en-US" sz="2800" dirty="0"/>
          </a:p>
        </p:txBody>
      </p:sp>
      <p:sp>
        <p:nvSpPr>
          <p:cNvPr id="4" name="Shape 2"/>
          <p:cNvSpPr/>
          <p:nvPr/>
        </p:nvSpPr>
        <p:spPr>
          <a:xfrm>
            <a:off x="457200" y="1828800"/>
            <a:ext cx="3840480" cy="3474720"/>
          </a:xfrm>
          <a:prstGeom prst="rect">
            <a:avLst/>
          </a:prstGeom>
          <a:solidFill>
            <a:srgbClr val="FFFFFF"/>
          </a:solidFill>
          <a:ln w="12700">
            <a:solidFill>
              <a:srgbClr val="8B92A5"/>
            </a:solidFill>
            <a:prstDash val="solid"/>
          </a:ln>
        </p:spPr>
      </p:sp>
      <p:sp>
        <p:nvSpPr>
          <p:cNvPr id="5" name="Text 3"/>
          <p:cNvSpPr/>
          <p:nvPr/>
        </p:nvSpPr>
        <p:spPr>
          <a:xfrm>
            <a:off x="640080" y="2011680"/>
            <a:ext cx="3474720" cy="365760"/>
          </a:xfrm>
          <a:prstGeom prst="rect">
            <a:avLst/>
          </a:prstGeom>
          <a:noFill/>
          <a:ln/>
        </p:spPr>
        <p:txBody>
          <a:bodyPr wrap="square" rtlCol="0" anchor="ctr"/>
          <a:lstStyle/>
          <a:p>
            <a:pPr indent="0" marL="0">
              <a:buNone/>
            </a:pPr>
            <a:r>
              <a:rPr lang="en-US" sz="1200" b="1" dirty="0">
                <a:solidFill>
                  <a:srgbClr val="FF6B35"/>
                </a:solidFill>
              </a:rPr>
              <a:t>❌ Today: SWIFT Default</a:t>
            </a:r>
            <a:endParaRPr lang="en-US" sz="1200" dirty="0"/>
          </a:p>
        </p:txBody>
      </p:sp>
      <p:sp>
        <p:nvSpPr>
          <p:cNvPr id="6" name="Text 4"/>
          <p:cNvSpPr/>
          <p:nvPr/>
        </p:nvSpPr>
        <p:spPr>
          <a:xfrm>
            <a:off x="822960" y="2560320"/>
            <a:ext cx="3291840" cy="457200"/>
          </a:xfrm>
          <a:prstGeom prst="rect">
            <a:avLst/>
          </a:prstGeom>
          <a:noFill/>
          <a:ln/>
        </p:spPr>
        <p:txBody>
          <a:bodyPr wrap="square" rtlCol="0" anchor="ctr"/>
          <a:lstStyle/>
          <a:p>
            <a:pPr indent="0" marL="0">
              <a:buNone/>
            </a:pPr>
            <a:r>
              <a:rPr lang="en-US" sz="1000" dirty="0">
                <a:solidFill>
                  <a:srgbClr val="0A1628"/>
                </a:solidFill>
              </a:rPr>
              <a:t>SME initiates AED→INR payment</a:t>
            </a:r>
            <a:endParaRPr lang="en-US" sz="1000" dirty="0"/>
          </a:p>
        </p:txBody>
      </p:sp>
      <p:sp>
        <p:nvSpPr>
          <p:cNvPr id="7" name="Text 5"/>
          <p:cNvSpPr/>
          <p:nvPr/>
        </p:nvSpPr>
        <p:spPr>
          <a:xfrm>
            <a:off x="822960" y="3090672"/>
            <a:ext cx="3291840" cy="457200"/>
          </a:xfrm>
          <a:prstGeom prst="rect">
            <a:avLst/>
          </a:prstGeom>
          <a:noFill/>
          <a:ln/>
        </p:spPr>
        <p:txBody>
          <a:bodyPr wrap="square" rtlCol="0" anchor="ctr"/>
          <a:lstStyle/>
          <a:p>
            <a:pPr indent="0" marL="0">
              <a:buNone/>
            </a:pPr>
            <a:r>
              <a:rPr lang="en-US" sz="1000" dirty="0">
                <a:solidFill>
                  <a:srgbClr val="0A1628"/>
                </a:solidFill>
              </a:rPr>
              <a:t>Default route: SWIFT</a:t>
            </a:r>
            <a:endParaRPr lang="en-US" sz="1000" dirty="0"/>
          </a:p>
        </p:txBody>
      </p:sp>
      <p:sp>
        <p:nvSpPr>
          <p:cNvPr id="8" name="Text 6"/>
          <p:cNvSpPr/>
          <p:nvPr/>
        </p:nvSpPr>
        <p:spPr>
          <a:xfrm>
            <a:off x="822960" y="3621024"/>
            <a:ext cx="3291840" cy="457200"/>
          </a:xfrm>
          <a:prstGeom prst="rect">
            <a:avLst/>
          </a:prstGeom>
          <a:noFill/>
          <a:ln/>
        </p:spPr>
        <p:txBody>
          <a:bodyPr wrap="square" rtlCol="0" anchor="ctr"/>
          <a:lstStyle/>
          <a:p>
            <a:pPr indent="0" marL="0">
              <a:buNone/>
            </a:pPr>
            <a:r>
              <a:rPr lang="en-US" sz="1000" dirty="0">
                <a:solidFill>
                  <a:srgbClr val="0A1628"/>
                </a:solidFill>
              </a:rPr>
              <a:t>Fee: AED 225 flat + spread</a:t>
            </a:r>
            <a:endParaRPr lang="en-US" sz="1000" dirty="0"/>
          </a:p>
        </p:txBody>
      </p:sp>
      <p:sp>
        <p:nvSpPr>
          <p:cNvPr id="9" name="Text 7"/>
          <p:cNvSpPr/>
          <p:nvPr/>
        </p:nvSpPr>
        <p:spPr>
          <a:xfrm>
            <a:off x="822960" y="4151376"/>
            <a:ext cx="3291840" cy="457200"/>
          </a:xfrm>
          <a:prstGeom prst="rect">
            <a:avLst/>
          </a:prstGeom>
          <a:noFill/>
          <a:ln/>
        </p:spPr>
        <p:txBody>
          <a:bodyPr wrap="square" rtlCol="0" anchor="ctr"/>
          <a:lstStyle/>
          <a:p>
            <a:pPr indent="0" marL="0">
              <a:buNone/>
            </a:pPr>
            <a:r>
              <a:rPr lang="en-US" sz="1000" dirty="0">
                <a:solidFill>
                  <a:srgbClr val="0A1628"/>
                </a:solidFill>
              </a:rPr>
              <a:t>Settlement: 2–3 business days</a:t>
            </a:r>
            <a:endParaRPr lang="en-US" sz="1000" dirty="0"/>
          </a:p>
        </p:txBody>
      </p:sp>
      <p:sp>
        <p:nvSpPr>
          <p:cNvPr id="10" name="Text 8"/>
          <p:cNvSpPr/>
          <p:nvPr/>
        </p:nvSpPr>
        <p:spPr>
          <a:xfrm>
            <a:off x="822960" y="4681728"/>
            <a:ext cx="3291840" cy="457200"/>
          </a:xfrm>
          <a:prstGeom prst="rect">
            <a:avLst/>
          </a:prstGeom>
          <a:noFill/>
          <a:ln/>
        </p:spPr>
        <p:txBody>
          <a:bodyPr wrap="square" rtlCol="0" anchor="ctr"/>
          <a:lstStyle/>
          <a:p>
            <a:pPr indent="0" marL="0">
              <a:buNone/>
            </a:pPr>
            <a:r>
              <a:rPr lang="en-US" sz="1000" dirty="0">
                <a:solidFill>
                  <a:srgbClr val="0A1628"/>
                </a:solidFill>
              </a:rPr>
              <a:t>User has no visibility into alternatives</a:t>
            </a:r>
            <a:endParaRPr lang="en-US" sz="1000" dirty="0"/>
          </a:p>
        </p:txBody>
      </p:sp>
      <p:sp>
        <p:nvSpPr>
          <p:cNvPr id="11" name="Shape 9"/>
          <p:cNvSpPr/>
          <p:nvPr/>
        </p:nvSpPr>
        <p:spPr>
          <a:xfrm>
            <a:off x="4846320" y="1828800"/>
            <a:ext cx="3840480" cy="3474720"/>
          </a:xfrm>
          <a:prstGeom prst="rect">
            <a:avLst/>
          </a:prstGeom>
          <a:solidFill>
            <a:srgbClr val="0F1E3A"/>
          </a:solidFill>
          <a:ln w="12700">
            <a:solidFill>
              <a:srgbClr val="00BFA5"/>
            </a:solidFill>
            <a:prstDash val="solid"/>
          </a:ln>
        </p:spPr>
      </p:sp>
      <p:sp>
        <p:nvSpPr>
          <p:cNvPr id="12" name="Text 10"/>
          <p:cNvSpPr/>
          <p:nvPr/>
        </p:nvSpPr>
        <p:spPr>
          <a:xfrm>
            <a:off x="5029200" y="2011680"/>
            <a:ext cx="3474720" cy="365760"/>
          </a:xfrm>
          <a:prstGeom prst="rect">
            <a:avLst/>
          </a:prstGeom>
          <a:noFill/>
          <a:ln/>
        </p:spPr>
        <p:txBody>
          <a:bodyPr wrap="square" rtlCol="0" anchor="ctr"/>
          <a:lstStyle/>
          <a:p>
            <a:pPr indent="0" marL="0">
              <a:buNone/>
            </a:pPr>
            <a:r>
              <a:rPr lang="en-US" sz="1200" b="1" dirty="0">
                <a:solidFill>
                  <a:srgbClr val="00BFA5"/>
                </a:solidFill>
              </a:rPr>
              <a:t>✅ ClearRoute: Intelligent</a:t>
            </a:r>
            <a:endParaRPr lang="en-US" sz="1200" dirty="0"/>
          </a:p>
        </p:txBody>
      </p:sp>
      <p:sp>
        <p:nvSpPr>
          <p:cNvPr id="13" name="Text 11"/>
          <p:cNvSpPr/>
          <p:nvPr/>
        </p:nvSpPr>
        <p:spPr>
          <a:xfrm>
            <a:off x="5212080" y="2560320"/>
            <a:ext cx="3291840" cy="457200"/>
          </a:xfrm>
          <a:prstGeom prst="rect">
            <a:avLst/>
          </a:prstGeom>
          <a:noFill/>
          <a:ln/>
        </p:spPr>
        <p:txBody>
          <a:bodyPr wrap="square" rtlCol="0" anchor="ctr"/>
          <a:lstStyle/>
          <a:p>
            <a:pPr indent="0" marL="0">
              <a:buNone/>
            </a:pPr>
            <a:r>
              <a:rPr lang="en-US" sz="1000" dirty="0">
                <a:solidFill>
                  <a:srgbClr val="FFFFFF"/>
                </a:solidFill>
              </a:rPr>
              <a:t>ML scores SWIFT vs IMPS vs Correspondent</a:t>
            </a:r>
            <a:endParaRPr lang="en-US" sz="1000" dirty="0"/>
          </a:p>
        </p:txBody>
      </p:sp>
      <p:sp>
        <p:nvSpPr>
          <p:cNvPr id="14" name="Text 12"/>
          <p:cNvSpPr/>
          <p:nvPr/>
        </p:nvSpPr>
        <p:spPr>
          <a:xfrm>
            <a:off x="5212080" y="3090672"/>
            <a:ext cx="3291840" cy="457200"/>
          </a:xfrm>
          <a:prstGeom prst="rect">
            <a:avLst/>
          </a:prstGeom>
          <a:noFill/>
          <a:ln/>
        </p:spPr>
        <p:txBody>
          <a:bodyPr wrap="square" rtlCol="0" anchor="ctr"/>
          <a:lstStyle/>
          <a:p>
            <a:pPr indent="0" marL="0">
              <a:buNone/>
            </a:pPr>
            <a:r>
              <a:rPr lang="en-US" sz="1000" dirty="0">
                <a:solidFill>
                  <a:srgbClr val="FFFFFF"/>
                </a:solidFill>
              </a:rPr>
              <a:t>Recommends IMPS: AED 45, 2–4 hrs</a:t>
            </a:r>
            <a:endParaRPr lang="en-US" sz="1000" dirty="0"/>
          </a:p>
        </p:txBody>
      </p:sp>
      <p:sp>
        <p:nvSpPr>
          <p:cNvPr id="15" name="Text 13"/>
          <p:cNvSpPr/>
          <p:nvPr/>
        </p:nvSpPr>
        <p:spPr>
          <a:xfrm>
            <a:off x="5212080" y="3621024"/>
            <a:ext cx="3291840" cy="457200"/>
          </a:xfrm>
          <a:prstGeom prst="rect">
            <a:avLst/>
          </a:prstGeom>
          <a:noFill/>
          <a:ln/>
        </p:spPr>
        <p:txBody>
          <a:bodyPr wrap="square" rtlCol="0" anchor="ctr"/>
          <a:lstStyle/>
          <a:p>
            <a:pPr indent="0" marL="0">
              <a:buNone/>
            </a:pPr>
            <a:r>
              <a:rPr lang="en-US" sz="1000" dirty="0">
                <a:solidFill>
                  <a:srgbClr val="FFFFFF"/>
                </a:solidFill>
              </a:rPr>
              <a:t>Side-by-side comparison in-app</a:t>
            </a:r>
            <a:endParaRPr lang="en-US" sz="1000" dirty="0"/>
          </a:p>
        </p:txBody>
      </p:sp>
      <p:sp>
        <p:nvSpPr>
          <p:cNvPr id="16" name="Text 14"/>
          <p:cNvSpPr/>
          <p:nvPr/>
        </p:nvSpPr>
        <p:spPr>
          <a:xfrm>
            <a:off x="5212080" y="4151376"/>
            <a:ext cx="3291840" cy="457200"/>
          </a:xfrm>
          <a:prstGeom prst="rect">
            <a:avLst/>
          </a:prstGeom>
          <a:noFill/>
          <a:ln/>
        </p:spPr>
        <p:txBody>
          <a:bodyPr wrap="square" rtlCol="0" anchor="ctr"/>
          <a:lstStyle/>
          <a:p>
            <a:pPr indent="0" marL="0">
              <a:buNone/>
            </a:pPr>
            <a:r>
              <a:rPr lang="en-US" sz="1000" dirty="0">
                <a:solidFill>
                  <a:srgbClr val="FFFFFF"/>
                </a:solidFill>
              </a:rPr>
              <a:t>One-tap confirm</a:t>
            </a:r>
            <a:endParaRPr lang="en-US" sz="1000" dirty="0"/>
          </a:p>
        </p:txBody>
      </p:sp>
      <p:sp>
        <p:nvSpPr>
          <p:cNvPr id="17" name="Text 15"/>
          <p:cNvSpPr/>
          <p:nvPr/>
        </p:nvSpPr>
        <p:spPr>
          <a:xfrm>
            <a:off x="5212080" y="4681728"/>
            <a:ext cx="3291840" cy="457200"/>
          </a:xfrm>
          <a:prstGeom prst="rect">
            <a:avLst/>
          </a:prstGeom>
          <a:noFill/>
          <a:ln/>
        </p:spPr>
        <p:txBody>
          <a:bodyPr wrap="square" rtlCol="0" anchor="ctr"/>
          <a:lstStyle/>
          <a:p>
            <a:pPr indent="0" marL="0">
              <a:buNone/>
            </a:pPr>
            <a:r>
              <a:rPr lang="en-US" sz="1000" dirty="0">
                <a:solidFill>
                  <a:srgbClr val="FFFFFF"/>
                </a:solidFill>
              </a:rPr>
              <a:t>"You saved AED 180" moment at success</a:t>
            </a:r>
            <a:endParaRPr lang="en-US" sz="1000" dirty="0"/>
          </a:p>
        </p:txBody>
      </p:sp>
      <p:sp>
        <p:nvSpPr>
          <p:cNvPr id="18" name="Shape 16"/>
          <p:cNvSpPr/>
          <p:nvPr/>
        </p:nvSpPr>
        <p:spPr>
          <a:xfrm>
            <a:off x="4206240" y="3200400"/>
            <a:ext cx="731520" cy="731520"/>
          </a:xfrm>
          <a:prstGeom prst="ellipse">
            <a:avLst/>
          </a:prstGeom>
          <a:solidFill>
            <a:srgbClr val="0A1628"/>
          </a:solidFill>
          <a:ln w="25400">
            <a:solidFill>
              <a:srgbClr val="00BFA5"/>
            </a:solidFill>
            <a:prstDash val="solid"/>
          </a:ln>
        </p:spPr>
      </p:sp>
      <p:sp>
        <p:nvSpPr>
          <p:cNvPr id="19" name="Text 17"/>
          <p:cNvSpPr/>
          <p:nvPr/>
        </p:nvSpPr>
        <p:spPr>
          <a:xfrm>
            <a:off x="4206240" y="3246120"/>
            <a:ext cx="731520" cy="640080"/>
          </a:xfrm>
          <a:prstGeom prst="rect">
            <a:avLst/>
          </a:prstGeom>
          <a:noFill/>
          <a:ln/>
        </p:spPr>
        <p:txBody>
          <a:bodyPr wrap="square" rtlCol="0" anchor="ctr"/>
          <a:lstStyle/>
          <a:p>
            <a:pPr algn="ctr" indent="0" marL="0">
              <a:buNone/>
            </a:pPr>
            <a:r>
              <a:rPr lang="en-US" sz="1400" b="1" dirty="0">
                <a:solidFill>
                  <a:srgbClr val="00BFA5"/>
                </a:solidFill>
              </a:rPr>
              <a:t>VS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274320" y="274320"/>
            <a:ext cx="8595360" cy="228600"/>
          </a:xfrm>
          <a:prstGeom prst="rect">
            <a:avLst/>
          </a:prstGeom>
          <a:noFill/>
          <a:ln/>
        </p:spPr>
        <p:txBody>
          <a:bodyPr wrap="square" rtlCol="0" anchor="ctr"/>
          <a:lstStyle/>
          <a:p>
            <a:pPr indent="0" marL="0">
              <a:buNone/>
            </a:pPr>
            <a:r>
              <a:rPr lang="en-US" sz="900" b="1" dirty="0">
                <a:solidFill>
                  <a:srgbClr val="8B92A5"/>
                </a:solidFill>
              </a:rPr>
              <a:t>THE MECHANIC</a:t>
            </a:r>
            <a:endParaRPr lang="en-US" sz="900" dirty="0"/>
          </a:p>
        </p:txBody>
      </p:sp>
      <p:sp>
        <p:nvSpPr>
          <p:cNvPr id="3" name="Text 1"/>
          <p:cNvSpPr/>
          <p:nvPr/>
        </p:nvSpPr>
        <p:spPr>
          <a:xfrm>
            <a:off x="457200" y="731520"/>
            <a:ext cx="8229600" cy="457200"/>
          </a:xfrm>
          <a:prstGeom prst="rect">
            <a:avLst/>
          </a:prstGeom>
          <a:noFill/>
          <a:ln/>
        </p:spPr>
        <p:txBody>
          <a:bodyPr wrap="square" rtlCol="0" anchor="ctr"/>
          <a:lstStyle/>
          <a:p>
            <a:pPr indent="0" marL="0">
              <a:buNone/>
            </a:pPr>
            <a:r>
              <a:rPr lang="en-US" sz="2200" b="1" dirty="0">
                <a:solidFill>
                  <a:srgbClr val="FFFFFF"/>
                </a:solidFill>
              </a:rPr>
              <a:t>5-Signal ML Model → Optimal Rail → Transparent Choice → Confirm</a:t>
            </a:r>
            <a:endParaRPr lang="en-US" sz="2200" dirty="0"/>
          </a:p>
        </p:txBody>
      </p:sp>
      <p:sp>
        <p:nvSpPr>
          <p:cNvPr id="4" name="Shape 2"/>
          <p:cNvSpPr/>
          <p:nvPr/>
        </p:nvSpPr>
        <p:spPr>
          <a:xfrm>
            <a:off x="457200" y="1463040"/>
            <a:ext cx="365760" cy="365760"/>
          </a:xfrm>
          <a:prstGeom prst="ellipse">
            <a:avLst/>
          </a:prstGeom>
          <a:solidFill>
            <a:srgbClr val="00BFA5"/>
          </a:solidFill>
          <a:ln/>
        </p:spPr>
      </p:sp>
      <p:sp>
        <p:nvSpPr>
          <p:cNvPr id="5" name="Text 3"/>
          <p:cNvSpPr/>
          <p:nvPr/>
        </p:nvSpPr>
        <p:spPr>
          <a:xfrm>
            <a:off x="457200" y="1463040"/>
            <a:ext cx="365760" cy="365760"/>
          </a:xfrm>
          <a:prstGeom prst="rect">
            <a:avLst/>
          </a:prstGeom>
          <a:noFill/>
          <a:ln/>
        </p:spPr>
        <p:txBody>
          <a:bodyPr wrap="square" rtlCol="0" anchor="ctr"/>
          <a:lstStyle/>
          <a:p>
            <a:pPr algn="ctr" indent="0" marL="0">
              <a:buNone/>
            </a:pPr>
            <a:r>
              <a:rPr lang="en-US" sz="1400" b="1" dirty="0">
                <a:solidFill>
                  <a:srgbClr val="0A1628"/>
                </a:solidFill>
              </a:rPr>
              <a:t>1</a:t>
            </a:r>
            <a:endParaRPr lang="en-US" sz="1400" dirty="0"/>
          </a:p>
        </p:txBody>
      </p:sp>
      <p:sp>
        <p:nvSpPr>
          <p:cNvPr id="6" name="Text 4"/>
          <p:cNvSpPr/>
          <p:nvPr/>
        </p:nvSpPr>
        <p:spPr>
          <a:xfrm>
            <a:off x="1005840" y="1463040"/>
            <a:ext cx="2103120" cy="201168"/>
          </a:xfrm>
          <a:prstGeom prst="rect">
            <a:avLst/>
          </a:prstGeom>
          <a:noFill/>
          <a:ln/>
        </p:spPr>
        <p:txBody>
          <a:bodyPr wrap="square" rtlCol="0" anchor="ctr"/>
          <a:lstStyle/>
          <a:p>
            <a:pPr indent="0" marL="0">
              <a:buNone/>
            </a:pPr>
            <a:r>
              <a:rPr lang="en-US" sz="1000" b="1" dirty="0">
                <a:solidFill>
                  <a:srgbClr val="FFFFFF"/>
                </a:solidFill>
              </a:rPr>
              <a:t>Signal Capture</a:t>
            </a:r>
            <a:endParaRPr lang="en-US" sz="1000" dirty="0"/>
          </a:p>
        </p:txBody>
      </p:sp>
      <p:sp>
        <p:nvSpPr>
          <p:cNvPr id="7" name="Text 5"/>
          <p:cNvSpPr/>
          <p:nvPr/>
        </p:nvSpPr>
        <p:spPr>
          <a:xfrm>
            <a:off x="1005840" y="1691640"/>
            <a:ext cx="2103120" cy="256032"/>
          </a:xfrm>
          <a:prstGeom prst="rect">
            <a:avLst/>
          </a:prstGeom>
          <a:noFill/>
          <a:ln/>
        </p:spPr>
        <p:txBody>
          <a:bodyPr wrap="square" rtlCol="0" anchor="ctr"/>
          <a:lstStyle/>
          <a:p>
            <a:pPr indent="0" marL="0">
              <a:buNone/>
            </a:pPr>
            <a:r>
              <a:rPr lang="en-US" sz="800" dirty="0">
                <a:solidFill>
                  <a:srgbClr val="8B92A5"/>
                </a:solidFill>
              </a:rPr>
              <a:t>Corridor + amount + urgency + currency + business type captured</a:t>
            </a:r>
            <a:endParaRPr lang="en-US" sz="800" dirty="0"/>
          </a:p>
        </p:txBody>
      </p:sp>
      <p:sp>
        <p:nvSpPr>
          <p:cNvPr id="8" name="Shape 6"/>
          <p:cNvSpPr/>
          <p:nvPr/>
        </p:nvSpPr>
        <p:spPr>
          <a:xfrm>
            <a:off x="640080" y="1874520"/>
            <a:ext cx="0" cy="228600"/>
          </a:xfrm>
          <a:prstGeom prst="line">
            <a:avLst/>
          </a:prstGeom>
          <a:noFill/>
          <a:ln w="25400">
            <a:solidFill>
              <a:srgbClr val="00BFA5"/>
            </a:solidFill>
            <a:prstDash val="dash"/>
          </a:ln>
        </p:spPr>
      </p:sp>
      <p:sp>
        <p:nvSpPr>
          <p:cNvPr id="9" name="Shape 7"/>
          <p:cNvSpPr/>
          <p:nvPr/>
        </p:nvSpPr>
        <p:spPr>
          <a:xfrm>
            <a:off x="457200" y="2240280"/>
            <a:ext cx="365760" cy="365760"/>
          </a:xfrm>
          <a:prstGeom prst="ellipse">
            <a:avLst/>
          </a:prstGeom>
          <a:solidFill>
            <a:srgbClr val="00BFA5"/>
          </a:solidFill>
          <a:ln/>
        </p:spPr>
      </p:sp>
      <p:sp>
        <p:nvSpPr>
          <p:cNvPr id="10" name="Text 8"/>
          <p:cNvSpPr/>
          <p:nvPr/>
        </p:nvSpPr>
        <p:spPr>
          <a:xfrm>
            <a:off x="457200" y="2240280"/>
            <a:ext cx="365760" cy="365760"/>
          </a:xfrm>
          <a:prstGeom prst="rect">
            <a:avLst/>
          </a:prstGeom>
          <a:noFill/>
          <a:ln/>
        </p:spPr>
        <p:txBody>
          <a:bodyPr wrap="square" rtlCol="0" anchor="ctr"/>
          <a:lstStyle/>
          <a:p>
            <a:pPr algn="ctr" indent="0" marL="0">
              <a:buNone/>
            </a:pPr>
            <a:r>
              <a:rPr lang="en-US" sz="1400" b="1" dirty="0">
                <a:solidFill>
                  <a:srgbClr val="0A1628"/>
                </a:solidFill>
              </a:rPr>
              <a:t>2</a:t>
            </a:r>
            <a:endParaRPr lang="en-US" sz="1400" dirty="0"/>
          </a:p>
        </p:txBody>
      </p:sp>
      <p:sp>
        <p:nvSpPr>
          <p:cNvPr id="11" name="Text 9"/>
          <p:cNvSpPr/>
          <p:nvPr/>
        </p:nvSpPr>
        <p:spPr>
          <a:xfrm>
            <a:off x="1005840" y="2240280"/>
            <a:ext cx="2103120" cy="201168"/>
          </a:xfrm>
          <a:prstGeom prst="rect">
            <a:avLst/>
          </a:prstGeom>
          <a:noFill/>
          <a:ln/>
        </p:spPr>
        <p:txBody>
          <a:bodyPr wrap="square" rtlCol="0" anchor="ctr"/>
          <a:lstStyle/>
          <a:p>
            <a:pPr indent="0" marL="0">
              <a:buNone/>
            </a:pPr>
            <a:r>
              <a:rPr lang="en-US" sz="1000" b="1" dirty="0">
                <a:solidFill>
                  <a:srgbClr val="FFFFFF"/>
                </a:solidFill>
              </a:rPr>
              <a:t>Rail Scoring</a:t>
            </a:r>
            <a:endParaRPr lang="en-US" sz="1000" dirty="0"/>
          </a:p>
        </p:txBody>
      </p:sp>
      <p:sp>
        <p:nvSpPr>
          <p:cNvPr id="12" name="Text 10"/>
          <p:cNvSpPr/>
          <p:nvPr/>
        </p:nvSpPr>
        <p:spPr>
          <a:xfrm>
            <a:off x="1005840" y="2468880"/>
            <a:ext cx="2103120" cy="256032"/>
          </a:xfrm>
          <a:prstGeom prst="rect">
            <a:avLst/>
          </a:prstGeom>
          <a:noFill/>
          <a:ln/>
        </p:spPr>
        <p:txBody>
          <a:bodyPr wrap="square" rtlCol="0" anchor="ctr"/>
          <a:lstStyle/>
          <a:p>
            <a:pPr indent="0" marL="0">
              <a:buNone/>
            </a:pPr>
            <a:r>
              <a:rPr lang="en-US" sz="800" dirty="0">
                <a:solidFill>
                  <a:srgbClr val="8B92A5"/>
                </a:solidFill>
              </a:rPr>
              <a:t>ML scores SWIFT / local rail / correspondent on cost, TAT, reliability</a:t>
            </a:r>
            <a:endParaRPr lang="en-US" sz="800" dirty="0"/>
          </a:p>
        </p:txBody>
      </p:sp>
      <p:sp>
        <p:nvSpPr>
          <p:cNvPr id="13" name="Shape 11"/>
          <p:cNvSpPr/>
          <p:nvPr/>
        </p:nvSpPr>
        <p:spPr>
          <a:xfrm>
            <a:off x="640080" y="2651760"/>
            <a:ext cx="0" cy="228600"/>
          </a:xfrm>
          <a:prstGeom prst="line">
            <a:avLst/>
          </a:prstGeom>
          <a:noFill/>
          <a:ln w="25400">
            <a:solidFill>
              <a:srgbClr val="00BFA5"/>
            </a:solidFill>
            <a:prstDash val="dash"/>
          </a:ln>
        </p:spPr>
      </p:sp>
      <p:sp>
        <p:nvSpPr>
          <p:cNvPr id="14" name="Shape 12"/>
          <p:cNvSpPr/>
          <p:nvPr/>
        </p:nvSpPr>
        <p:spPr>
          <a:xfrm>
            <a:off x="457200" y="3017520"/>
            <a:ext cx="365760" cy="365760"/>
          </a:xfrm>
          <a:prstGeom prst="ellipse">
            <a:avLst/>
          </a:prstGeom>
          <a:solidFill>
            <a:srgbClr val="00BFA5"/>
          </a:solidFill>
          <a:ln/>
        </p:spPr>
      </p:sp>
      <p:sp>
        <p:nvSpPr>
          <p:cNvPr id="15" name="Text 13"/>
          <p:cNvSpPr/>
          <p:nvPr/>
        </p:nvSpPr>
        <p:spPr>
          <a:xfrm>
            <a:off x="457200" y="3017520"/>
            <a:ext cx="365760" cy="365760"/>
          </a:xfrm>
          <a:prstGeom prst="rect">
            <a:avLst/>
          </a:prstGeom>
          <a:noFill/>
          <a:ln/>
        </p:spPr>
        <p:txBody>
          <a:bodyPr wrap="square" rtlCol="0" anchor="ctr"/>
          <a:lstStyle/>
          <a:p>
            <a:pPr algn="ctr" indent="0" marL="0">
              <a:buNone/>
            </a:pPr>
            <a:r>
              <a:rPr lang="en-US" sz="1400" b="1" dirty="0">
                <a:solidFill>
                  <a:srgbClr val="0A1628"/>
                </a:solidFill>
              </a:rPr>
              <a:t>3</a:t>
            </a:r>
            <a:endParaRPr lang="en-US" sz="1400" dirty="0"/>
          </a:p>
        </p:txBody>
      </p:sp>
      <p:sp>
        <p:nvSpPr>
          <p:cNvPr id="16" name="Text 14"/>
          <p:cNvSpPr/>
          <p:nvPr/>
        </p:nvSpPr>
        <p:spPr>
          <a:xfrm>
            <a:off x="1005840" y="3017520"/>
            <a:ext cx="2103120" cy="201168"/>
          </a:xfrm>
          <a:prstGeom prst="rect">
            <a:avLst/>
          </a:prstGeom>
          <a:noFill/>
          <a:ln/>
        </p:spPr>
        <p:txBody>
          <a:bodyPr wrap="square" rtlCol="0" anchor="ctr"/>
          <a:lstStyle/>
          <a:p>
            <a:pPr indent="0" marL="0">
              <a:buNone/>
            </a:pPr>
            <a:r>
              <a:rPr lang="en-US" sz="1000" b="1" dirty="0">
                <a:solidFill>
                  <a:srgbClr val="FFFFFF"/>
                </a:solidFill>
              </a:rPr>
              <a:t>Recommendation</a:t>
            </a:r>
            <a:endParaRPr lang="en-US" sz="1000" dirty="0"/>
          </a:p>
        </p:txBody>
      </p:sp>
      <p:sp>
        <p:nvSpPr>
          <p:cNvPr id="17" name="Text 15"/>
          <p:cNvSpPr/>
          <p:nvPr/>
        </p:nvSpPr>
        <p:spPr>
          <a:xfrm>
            <a:off x="1005840" y="3246120"/>
            <a:ext cx="2103120" cy="256032"/>
          </a:xfrm>
          <a:prstGeom prst="rect">
            <a:avLst/>
          </a:prstGeom>
          <a:noFill/>
          <a:ln/>
        </p:spPr>
        <p:txBody>
          <a:bodyPr wrap="square" rtlCol="0" anchor="ctr"/>
          <a:lstStyle/>
          <a:p>
            <a:pPr indent="0" marL="0">
              <a:buNone/>
            </a:pPr>
            <a:r>
              <a:rPr lang="en-US" sz="800" dirty="0">
                <a:solidFill>
                  <a:srgbClr val="8B92A5"/>
                </a:solidFill>
              </a:rPr>
              <a:t>Best route shown with cost, TAT, success rate. Side-by-side comparison</a:t>
            </a:r>
            <a:endParaRPr lang="en-US" sz="800" dirty="0"/>
          </a:p>
        </p:txBody>
      </p:sp>
      <p:sp>
        <p:nvSpPr>
          <p:cNvPr id="18" name="Shape 16"/>
          <p:cNvSpPr/>
          <p:nvPr/>
        </p:nvSpPr>
        <p:spPr>
          <a:xfrm>
            <a:off x="640080" y="3429000"/>
            <a:ext cx="0" cy="228600"/>
          </a:xfrm>
          <a:prstGeom prst="line">
            <a:avLst/>
          </a:prstGeom>
          <a:noFill/>
          <a:ln w="25400">
            <a:solidFill>
              <a:srgbClr val="00BFA5"/>
            </a:solidFill>
            <a:prstDash val="dash"/>
          </a:ln>
        </p:spPr>
      </p:sp>
      <p:sp>
        <p:nvSpPr>
          <p:cNvPr id="19" name="Shape 17"/>
          <p:cNvSpPr/>
          <p:nvPr/>
        </p:nvSpPr>
        <p:spPr>
          <a:xfrm>
            <a:off x="457200" y="3794760"/>
            <a:ext cx="365760" cy="365760"/>
          </a:xfrm>
          <a:prstGeom prst="ellipse">
            <a:avLst/>
          </a:prstGeom>
          <a:solidFill>
            <a:srgbClr val="00BFA5"/>
          </a:solidFill>
          <a:ln/>
        </p:spPr>
      </p:sp>
      <p:sp>
        <p:nvSpPr>
          <p:cNvPr id="20" name="Text 18"/>
          <p:cNvSpPr/>
          <p:nvPr/>
        </p:nvSpPr>
        <p:spPr>
          <a:xfrm>
            <a:off x="457200" y="3794760"/>
            <a:ext cx="365760" cy="365760"/>
          </a:xfrm>
          <a:prstGeom prst="rect">
            <a:avLst/>
          </a:prstGeom>
          <a:noFill/>
          <a:ln/>
        </p:spPr>
        <p:txBody>
          <a:bodyPr wrap="square" rtlCol="0" anchor="ctr"/>
          <a:lstStyle/>
          <a:p>
            <a:pPr algn="ctr" indent="0" marL="0">
              <a:buNone/>
            </a:pPr>
            <a:r>
              <a:rPr lang="en-US" sz="1400" b="1" dirty="0">
                <a:solidFill>
                  <a:srgbClr val="0A1628"/>
                </a:solidFill>
              </a:rPr>
              <a:t>4</a:t>
            </a:r>
            <a:endParaRPr lang="en-US" sz="1400" dirty="0"/>
          </a:p>
        </p:txBody>
      </p:sp>
      <p:sp>
        <p:nvSpPr>
          <p:cNvPr id="21" name="Text 19"/>
          <p:cNvSpPr/>
          <p:nvPr/>
        </p:nvSpPr>
        <p:spPr>
          <a:xfrm>
            <a:off x="1005840" y="3794760"/>
            <a:ext cx="2103120" cy="201168"/>
          </a:xfrm>
          <a:prstGeom prst="rect">
            <a:avLst/>
          </a:prstGeom>
          <a:noFill/>
          <a:ln/>
        </p:spPr>
        <p:txBody>
          <a:bodyPr wrap="square" rtlCol="0" anchor="ctr"/>
          <a:lstStyle/>
          <a:p>
            <a:pPr indent="0" marL="0">
              <a:buNone/>
            </a:pPr>
            <a:r>
              <a:rPr lang="en-US" sz="1000" b="1" dirty="0">
                <a:solidFill>
                  <a:srgbClr val="FFFFFF"/>
                </a:solidFill>
              </a:rPr>
              <a:t>One-Tap Confirm</a:t>
            </a:r>
            <a:endParaRPr lang="en-US" sz="1000" dirty="0"/>
          </a:p>
        </p:txBody>
      </p:sp>
      <p:sp>
        <p:nvSpPr>
          <p:cNvPr id="22" name="Text 20"/>
          <p:cNvSpPr/>
          <p:nvPr/>
        </p:nvSpPr>
        <p:spPr>
          <a:xfrm>
            <a:off x="1005840" y="4023360"/>
            <a:ext cx="2103120" cy="256032"/>
          </a:xfrm>
          <a:prstGeom prst="rect">
            <a:avLst/>
          </a:prstGeom>
          <a:noFill/>
          <a:ln/>
        </p:spPr>
        <p:txBody>
          <a:bodyPr wrap="square" rtlCol="0" anchor="ctr"/>
          <a:lstStyle/>
          <a:p>
            <a:pPr indent="0" marL="0">
              <a:buNone/>
            </a:pPr>
            <a:r>
              <a:rPr lang="en-US" sz="800" dirty="0">
                <a:solidFill>
                  <a:srgbClr val="8B92A5"/>
                </a:solidFill>
              </a:rPr>
              <a:t>Business confirms. FX rate locked. Payment initiated on optimal rail</a:t>
            </a:r>
            <a:endParaRPr lang="en-US" sz="800" dirty="0"/>
          </a:p>
        </p:txBody>
      </p:sp>
      <p:sp>
        <p:nvSpPr>
          <p:cNvPr id="23" name="Shape 21"/>
          <p:cNvSpPr/>
          <p:nvPr/>
        </p:nvSpPr>
        <p:spPr>
          <a:xfrm>
            <a:off x="640080" y="4206240"/>
            <a:ext cx="0" cy="228600"/>
          </a:xfrm>
          <a:prstGeom prst="line">
            <a:avLst/>
          </a:prstGeom>
          <a:noFill/>
          <a:ln w="25400">
            <a:solidFill>
              <a:srgbClr val="00BFA5"/>
            </a:solidFill>
            <a:prstDash val="dash"/>
          </a:ln>
        </p:spPr>
      </p:sp>
      <p:sp>
        <p:nvSpPr>
          <p:cNvPr id="24" name="Shape 22"/>
          <p:cNvSpPr/>
          <p:nvPr/>
        </p:nvSpPr>
        <p:spPr>
          <a:xfrm>
            <a:off x="457200" y="4572000"/>
            <a:ext cx="365760" cy="365760"/>
          </a:xfrm>
          <a:prstGeom prst="ellipse">
            <a:avLst/>
          </a:prstGeom>
          <a:solidFill>
            <a:srgbClr val="00BFA5"/>
          </a:solidFill>
          <a:ln/>
        </p:spPr>
      </p:sp>
      <p:sp>
        <p:nvSpPr>
          <p:cNvPr id="25" name="Text 23"/>
          <p:cNvSpPr/>
          <p:nvPr/>
        </p:nvSpPr>
        <p:spPr>
          <a:xfrm>
            <a:off x="457200" y="4572000"/>
            <a:ext cx="365760" cy="365760"/>
          </a:xfrm>
          <a:prstGeom prst="rect">
            <a:avLst/>
          </a:prstGeom>
          <a:noFill/>
          <a:ln/>
        </p:spPr>
        <p:txBody>
          <a:bodyPr wrap="square" rtlCol="0" anchor="ctr"/>
          <a:lstStyle/>
          <a:p>
            <a:pPr algn="ctr" indent="0" marL="0">
              <a:buNone/>
            </a:pPr>
            <a:r>
              <a:rPr lang="en-US" sz="1400" b="1" dirty="0">
                <a:solidFill>
                  <a:srgbClr val="0A1628"/>
                </a:solidFill>
              </a:rPr>
              <a:t>5</a:t>
            </a:r>
            <a:endParaRPr lang="en-US" sz="1400" dirty="0"/>
          </a:p>
        </p:txBody>
      </p:sp>
      <p:sp>
        <p:nvSpPr>
          <p:cNvPr id="26" name="Text 24"/>
          <p:cNvSpPr/>
          <p:nvPr/>
        </p:nvSpPr>
        <p:spPr>
          <a:xfrm>
            <a:off x="1005840" y="4572000"/>
            <a:ext cx="2103120" cy="201168"/>
          </a:xfrm>
          <a:prstGeom prst="rect">
            <a:avLst/>
          </a:prstGeom>
          <a:noFill/>
          <a:ln/>
        </p:spPr>
        <p:txBody>
          <a:bodyPr wrap="square" rtlCol="0" anchor="ctr"/>
          <a:lstStyle/>
          <a:p>
            <a:pPr indent="0" marL="0">
              <a:buNone/>
            </a:pPr>
            <a:r>
              <a:rPr lang="en-US" sz="1000" b="1" dirty="0">
                <a:solidFill>
                  <a:srgbClr val="FFFFFF"/>
                </a:solidFill>
              </a:rPr>
              <a:t>Feedback Loop</a:t>
            </a:r>
            <a:endParaRPr lang="en-US" sz="1000" dirty="0"/>
          </a:p>
        </p:txBody>
      </p:sp>
      <p:sp>
        <p:nvSpPr>
          <p:cNvPr id="27" name="Text 25"/>
          <p:cNvSpPr/>
          <p:nvPr/>
        </p:nvSpPr>
        <p:spPr>
          <a:xfrm>
            <a:off x="1005840" y="4800600"/>
            <a:ext cx="2103120" cy="256032"/>
          </a:xfrm>
          <a:prstGeom prst="rect">
            <a:avLst/>
          </a:prstGeom>
          <a:noFill/>
          <a:ln/>
        </p:spPr>
        <p:txBody>
          <a:bodyPr wrap="square" rtlCol="0" anchor="ctr"/>
          <a:lstStyle/>
          <a:p>
            <a:pPr indent="0" marL="0">
              <a:buNone/>
            </a:pPr>
            <a:r>
              <a:rPr lang="en-US" sz="800" dirty="0">
                <a:solidFill>
                  <a:srgbClr val="8B92A5"/>
                </a:solidFill>
              </a:rPr>
              <a:t>Success/failure data retrains model. Rail health alerts trigger automatic rerouting</a:t>
            </a:r>
            <a:endParaRPr lang="en-US" sz="800" dirty="0"/>
          </a:p>
        </p:txBody>
      </p:sp>
      <p:sp>
        <p:nvSpPr>
          <p:cNvPr id="28" name="Shape 26"/>
          <p:cNvSpPr/>
          <p:nvPr/>
        </p:nvSpPr>
        <p:spPr>
          <a:xfrm>
            <a:off x="3474720" y="1463040"/>
            <a:ext cx="5212080" cy="3931920"/>
          </a:xfrm>
          <a:prstGeom prst="rect">
            <a:avLst/>
          </a:prstGeom>
          <a:solidFill>
            <a:srgbClr val="0F1E3A"/>
          </a:solidFill>
          <a:ln w="12700">
            <a:solidFill>
              <a:srgbClr val="00BFA5"/>
            </a:solidFill>
            <a:prstDash val="solid"/>
          </a:ln>
        </p:spPr>
      </p:sp>
      <p:sp>
        <p:nvSpPr>
          <p:cNvPr id="29" name="Text 27"/>
          <p:cNvSpPr/>
          <p:nvPr/>
        </p:nvSpPr>
        <p:spPr>
          <a:xfrm>
            <a:off x="3657600" y="1645920"/>
            <a:ext cx="4846320" cy="365760"/>
          </a:xfrm>
          <a:prstGeom prst="rect">
            <a:avLst/>
          </a:prstGeom>
          <a:noFill/>
          <a:ln/>
        </p:spPr>
        <p:txBody>
          <a:bodyPr wrap="square" rtlCol="0" anchor="ctr"/>
          <a:lstStyle/>
          <a:p>
            <a:pPr indent="0" marL="0">
              <a:buNone/>
            </a:pPr>
            <a:r>
              <a:rPr lang="en-US" sz="1000" b="1" dirty="0">
                <a:solidFill>
                  <a:srgbClr val="00BFA5"/>
                </a:solidFill>
              </a:rPr>
              <a:t>Proof: PhonePe Propensity-to-Transact ML (350M MAU)</a:t>
            </a:r>
            <a:endParaRPr lang="en-US" sz="1000" dirty="0"/>
          </a:p>
        </p:txBody>
      </p:sp>
      <p:sp>
        <p:nvSpPr>
          <p:cNvPr id="30" name="Text 28"/>
          <p:cNvSpPr/>
          <p:nvPr/>
        </p:nvSpPr>
        <p:spPr>
          <a:xfrm>
            <a:off x="3840480" y="2194560"/>
            <a:ext cx="4663440" cy="512064"/>
          </a:xfrm>
          <a:prstGeom prst="rect">
            <a:avLst/>
          </a:prstGeom>
          <a:noFill/>
          <a:ln/>
        </p:spPr>
        <p:txBody>
          <a:bodyPr wrap="square" rtlCol="0" anchor="ctr"/>
          <a:lstStyle/>
          <a:p>
            <a:pPr indent="0" marL="0">
              <a:buNone/>
            </a:pPr>
            <a:r>
              <a:rPr lang="en-US" sz="900" dirty="0">
                <a:solidFill>
                  <a:srgbClr val="FFFFFF"/>
                </a:solidFill>
              </a:rPr>
              <a:t>ML replaced manual rule-based cohort targeting at PhonePe</a:t>
            </a:r>
            <a:endParaRPr lang="en-US" sz="900" dirty="0"/>
          </a:p>
        </p:txBody>
      </p:sp>
      <p:sp>
        <p:nvSpPr>
          <p:cNvPr id="31" name="Text 29"/>
          <p:cNvSpPr/>
          <p:nvPr/>
        </p:nvSpPr>
        <p:spPr>
          <a:xfrm>
            <a:off x="3840480" y="2761488"/>
            <a:ext cx="4663440" cy="512064"/>
          </a:xfrm>
          <a:prstGeom prst="rect">
            <a:avLst/>
          </a:prstGeom>
          <a:noFill/>
          <a:ln/>
        </p:spPr>
        <p:txBody>
          <a:bodyPr wrap="square" rtlCol="0" anchor="ctr"/>
          <a:lstStyle/>
          <a:p>
            <a:pPr indent="0" marL="0">
              <a:buNone/>
            </a:pPr>
            <a:r>
              <a:rPr lang="en-US" sz="900" dirty="0">
                <a:solidFill>
                  <a:srgbClr val="FFFFFF"/>
                </a:solidFill>
              </a:rPr>
              <a:t>Real-time user-level scoring → optimal offer selected per user</a:t>
            </a:r>
            <a:endParaRPr lang="en-US" sz="900" dirty="0"/>
          </a:p>
        </p:txBody>
      </p:sp>
      <p:sp>
        <p:nvSpPr>
          <p:cNvPr id="32" name="Text 30"/>
          <p:cNvSpPr/>
          <p:nvPr/>
        </p:nvSpPr>
        <p:spPr>
          <a:xfrm>
            <a:off x="3840480" y="3328416"/>
            <a:ext cx="4663440" cy="512064"/>
          </a:xfrm>
          <a:prstGeom prst="rect">
            <a:avLst/>
          </a:prstGeom>
          <a:noFill/>
          <a:ln/>
        </p:spPr>
        <p:txBody>
          <a:bodyPr wrap="square" rtlCol="0" anchor="ctr"/>
          <a:lstStyle/>
          <a:p>
            <a:pPr indent="0" marL="0">
              <a:buNone/>
            </a:pPr>
            <a:r>
              <a:rPr lang="en-US" sz="900" dirty="0">
                <a:solidFill>
                  <a:srgbClr val="FFFFFF"/>
                </a:solidFill>
              </a:rPr>
              <a:t>Result: 32% marketing burn reduction, sustained GMV growth</a:t>
            </a:r>
            <a:endParaRPr lang="en-US" sz="900" dirty="0"/>
          </a:p>
        </p:txBody>
      </p:sp>
      <p:sp>
        <p:nvSpPr>
          <p:cNvPr id="33" name="Text 31"/>
          <p:cNvSpPr/>
          <p:nvPr/>
        </p:nvSpPr>
        <p:spPr>
          <a:xfrm>
            <a:off x="3840480" y="3895344"/>
            <a:ext cx="4663440" cy="512064"/>
          </a:xfrm>
          <a:prstGeom prst="rect">
            <a:avLst/>
          </a:prstGeom>
          <a:noFill/>
          <a:ln/>
        </p:spPr>
        <p:txBody>
          <a:bodyPr wrap="square" rtlCol="0" anchor="ctr"/>
          <a:lstStyle/>
          <a:p>
            <a:pPr indent="0" marL="0">
              <a:buNone/>
            </a:pPr>
            <a:r>
              <a:rPr lang="en-US" sz="900" dirty="0">
                <a:solidFill>
                  <a:srgbClr val="FFFFFF"/>
                </a:solidFill>
              </a:rPr>
              <a:t>ClearRoute: same ML-for-routing architecture, different domain</a:t>
            </a:r>
            <a:endParaRPr lang="en-US" sz="900" dirty="0"/>
          </a:p>
        </p:txBody>
      </p:sp>
      <p:sp>
        <p:nvSpPr>
          <p:cNvPr id="34" name="Text 32"/>
          <p:cNvSpPr/>
          <p:nvPr/>
        </p:nvSpPr>
        <p:spPr>
          <a:xfrm>
            <a:off x="3840480" y="4462272"/>
            <a:ext cx="4663440" cy="512064"/>
          </a:xfrm>
          <a:prstGeom prst="rect">
            <a:avLst/>
          </a:prstGeom>
          <a:noFill/>
          <a:ln/>
        </p:spPr>
        <p:txBody>
          <a:bodyPr wrap="square" rtlCol="0" anchor="ctr"/>
          <a:lstStyle/>
          <a:p>
            <a:pPr indent="0" marL="0">
              <a:buNone/>
            </a:pPr>
            <a:r>
              <a:rPr lang="en-US" sz="900" dirty="0">
                <a:solidFill>
                  <a:srgbClr val="FFFFFF"/>
                </a:solidFill>
              </a:rPr>
              <a:t>Signal inputs differ; model architecture and business logic identical</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274320" y="274320"/>
            <a:ext cx="8595360" cy="228600"/>
          </a:xfrm>
          <a:prstGeom prst="rect">
            <a:avLst/>
          </a:prstGeom>
          <a:noFill/>
          <a:ln/>
        </p:spPr>
        <p:txBody>
          <a:bodyPr wrap="square" rtlCol="0" anchor="ctr"/>
          <a:lstStyle/>
          <a:p>
            <a:pPr indent="0" marL="0">
              <a:buNone/>
            </a:pPr>
            <a:r>
              <a:rPr lang="en-US" sz="900" b="1" dirty="0">
                <a:solidFill>
                  <a:srgbClr val="8B92A5"/>
                </a:solidFill>
              </a:rPr>
              <a:t>THE PRODUCT</a:t>
            </a:r>
            <a:endParaRPr lang="en-US" sz="900" dirty="0"/>
          </a:p>
        </p:txBody>
      </p:sp>
      <p:sp>
        <p:nvSpPr>
          <p:cNvPr id="3" name="Text 1"/>
          <p:cNvSpPr/>
          <p:nvPr/>
        </p:nvSpPr>
        <p:spPr>
          <a:xfrm>
            <a:off x="457200" y="731520"/>
            <a:ext cx="8229600" cy="457200"/>
          </a:xfrm>
          <a:prstGeom prst="rect">
            <a:avLst/>
          </a:prstGeom>
          <a:noFill/>
          <a:ln/>
        </p:spPr>
        <p:txBody>
          <a:bodyPr wrap="square" rtlCol="0" anchor="ctr"/>
          <a:lstStyle/>
          <a:p>
            <a:pPr indent="0" marL="0">
              <a:buNone/>
            </a:pPr>
            <a:r>
              <a:rPr lang="en-US" sz="2400" b="1" dirty="0">
                <a:solidFill>
                  <a:srgbClr val="0A1628"/>
                </a:solidFill>
              </a:rPr>
              <a:t>4 Screens — Initiation to Ops Intelligence</a:t>
            </a:r>
            <a:endParaRPr lang="en-US" sz="2400" dirty="0"/>
          </a:p>
        </p:txBody>
      </p:sp>
      <p:sp>
        <p:nvSpPr>
          <p:cNvPr id="4" name="Shape 2"/>
          <p:cNvSpPr/>
          <p:nvPr/>
        </p:nvSpPr>
        <p:spPr>
          <a:xfrm>
            <a:off x="457200" y="1463040"/>
            <a:ext cx="8229600" cy="1097280"/>
          </a:xfrm>
          <a:prstGeom prst="rect">
            <a:avLst/>
          </a:prstGeom>
          <a:solidFill>
            <a:srgbClr val="FFFFFF"/>
          </a:solidFill>
          <a:ln w="12700">
            <a:solidFill>
              <a:srgbClr val="8B92A5"/>
            </a:solidFill>
            <a:prstDash val="solid"/>
          </a:ln>
        </p:spPr>
      </p:sp>
      <p:sp>
        <p:nvSpPr>
          <p:cNvPr id="5" name="Text 3"/>
          <p:cNvSpPr/>
          <p:nvPr/>
        </p:nvSpPr>
        <p:spPr>
          <a:xfrm>
            <a:off x="640080" y="1600200"/>
            <a:ext cx="3200400" cy="274320"/>
          </a:xfrm>
          <a:prstGeom prst="rect">
            <a:avLst/>
          </a:prstGeom>
          <a:noFill/>
          <a:ln/>
        </p:spPr>
        <p:txBody>
          <a:bodyPr wrap="square" rtlCol="0" anchor="ctr"/>
          <a:lstStyle/>
          <a:p>
            <a:pPr indent="0" marL="0">
              <a:buNone/>
            </a:pPr>
            <a:r>
              <a:rPr lang="en-US" sz="1100" b="1" dirty="0">
                <a:solidFill>
                  <a:srgbClr val="0A1628"/>
                </a:solidFill>
              </a:rPr>
              <a:t>01 — Payment Initiation</a:t>
            </a:r>
            <a:endParaRPr lang="en-US" sz="1100" dirty="0"/>
          </a:p>
        </p:txBody>
      </p:sp>
      <p:sp>
        <p:nvSpPr>
          <p:cNvPr id="6" name="Text 4"/>
          <p:cNvSpPr/>
          <p:nvPr/>
        </p:nvSpPr>
        <p:spPr>
          <a:xfrm>
            <a:off x="640080" y="1920240"/>
            <a:ext cx="7863840" cy="502920"/>
          </a:xfrm>
          <a:prstGeom prst="rect">
            <a:avLst/>
          </a:prstGeom>
          <a:noFill/>
          <a:ln/>
        </p:spPr>
        <p:txBody>
          <a:bodyPr wrap="square" rtlCol="0" anchor="ctr"/>
          <a:lstStyle/>
          <a:p>
            <a:pPr indent="0" marL="0">
              <a:buNone/>
            </a:pPr>
            <a:r>
              <a:rPr lang="en-US" sz="900" dirty="0">
                <a:solidFill>
                  <a:srgbClr val="0A1628"/>
                </a:solidFill>
              </a:rPr>
              <a:t>ClearRoute recommendation card. Best route (IMPS) vs default SWIFT. Cost, TAT, success rate side-by-side. AED 180 saving highlighted.</a:t>
            </a:r>
            <a:endParaRPr lang="en-US" sz="900" dirty="0"/>
          </a:p>
        </p:txBody>
      </p:sp>
      <p:sp>
        <p:nvSpPr>
          <p:cNvPr id="7" name="Shape 5"/>
          <p:cNvSpPr/>
          <p:nvPr/>
        </p:nvSpPr>
        <p:spPr>
          <a:xfrm>
            <a:off x="457200" y="2697480"/>
            <a:ext cx="8229600" cy="1097280"/>
          </a:xfrm>
          <a:prstGeom prst="rect">
            <a:avLst/>
          </a:prstGeom>
          <a:solidFill>
            <a:srgbClr val="FFFFFF"/>
          </a:solidFill>
          <a:ln w="12700">
            <a:solidFill>
              <a:srgbClr val="8B92A5"/>
            </a:solidFill>
            <a:prstDash val="solid"/>
          </a:ln>
        </p:spPr>
      </p:sp>
      <p:sp>
        <p:nvSpPr>
          <p:cNvPr id="8" name="Text 6"/>
          <p:cNvSpPr/>
          <p:nvPr/>
        </p:nvSpPr>
        <p:spPr>
          <a:xfrm>
            <a:off x="640080" y="2834640"/>
            <a:ext cx="3200400" cy="274320"/>
          </a:xfrm>
          <a:prstGeom prst="rect">
            <a:avLst/>
          </a:prstGeom>
          <a:noFill/>
          <a:ln/>
        </p:spPr>
        <p:txBody>
          <a:bodyPr wrap="square" rtlCol="0" anchor="ctr"/>
          <a:lstStyle/>
          <a:p>
            <a:pPr indent="0" marL="0">
              <a:buNone/>
            </a:pPr>
            <a:r>
              <a:rPr lang="en-US" sz="1100" b="1" dirty="0">
                <a:solidFill>
                  <a:srgbClr val="0A1628"/>
                </a:solidFill>
              </a:rPr>
              <a:t>02 — Route Comparison</a:t>
            </a:r>
            <a:endParaRPr lang="en-US" sz="1100" dirty="0"/>
          </a:p>
        </p:txBody>
      </p:sp>
      <p:sp>
        <p:nvSpPr>
          <p:cNvPr id="9" name="Text 7"/>
          <p:cNvSpPr/>
          <p:nvPr/>
        </p:nvSpPr>
        <p:spPr>
          <a:xfrm>
            <a:off x="640080" y="3154680"/>
            <a:ext cx="7863840" cy="502920"/>
          </a:xfrm>
          <a:prstGeom prst="rect">
            <a:avLst/>
          </a:prstGeom>
          <a:noFill/>
          <a:ln/>
        </p:spPr>
        <p:txBody>
          <a:bodyPr wrap="square" rtlCol="0" anchor="ctr"/>
          <a:lstStyle/>
          <a:p>
            <a:pPr indent="0" marL="0">
              <a:buNone/>
            </a:pPr>
            <a:r>
              <a:rPr lang="en-US" sz="900" dirty="0">
                <a:solidFill>
                  <a:srgbClr val="0A1628"/>
                </a:solidFill>
              </a:rPr>
              <a:t>Full 3-route comparison table: CBUAE IMPS / SWIFT / Correspondent. Fee, FX rate, settlement time, success rate, partner bank.</a:t>
            </a:r>
            <a:endParaRPr lang="en-US" sz="900" dirty="0"/>
          </a:p>
        </p:txBody>
      </p:sp>
      <p:sp>
        <p:nvSpPr>
          <p:cNvPr id="10" name="Shape 8"/>
          <p:cNvSpPr/>
          <p:nvPr/>
        </p:nvSpPr>
        <p:spPr>
          <a:xfrm>
            <a:off x="457200" y="3931920"/>
            <a:ext cx="8229600" cy="1097280"/>
          </a:xfrm>
          <a:prstGeom prst="rect">
            <a:avLst/>
          </a:prstGeom>
          <a:solidFill>
            <a:srgbClr val="FFFFFF"/>
          </a:solidFill>
          <a:ln w="12700">
            <a:solidFill>
              <a:srgbClr val="8B92A5"/>
            </a:solidFill>
            <a:prstDash val="solid"/>
          </a:ln>
        </p:spPr>
      </p:sp>
      <p:sp>
        <p:nvSpPr>
          <p:cNvPr id="11" name="Text 9"/>
          <p:cNvSpPr/>
          <p:nvPr/>
        </p:nvSpPr>
        <p:spPr>
          <a:xfrm>
            <a:off x="640080" y="4069080"/>
            <a:ext cx="3200400" cy="274320"/>
          </a:xfrm>
          <a:prstGeom prst="rect">
            <a:avLst/>
          </a:prstGeom>
          <a:noFill/>
          <a:ln/>
        </p:spPr>
        <p:txBody>
          <a:bodyPr wrap="square" rtlCol="0" anchor="ctr"/>
          <a:lstStyle/>
          <a:p>
            <a:pPr indent="0" marL="0">
              <a:buNone/>
            </a:pPr>
            <a:r>
              <a:rPr lang="en-US" sz="1100" b="1" dirty="0">
                <a:solidFill>
                  <a:srgbClr val="0A1628"/>
                </a:solidFill>
              </a:rPr>
              <a:t>03 — Payment Confirmed</a:t>
            </a:r>
            <a:endParaRPr lang="en-US" sz="1100" dirty="0"/>
          </a:p>
        </p:txBody>
      </p:sp>
      <p:sp>
        <p:nvSpPr>
          <p:cNvPr id="12" name="Text 10"/>
          <p:cNvSpPr/>
          <p:nvPr/>
        </p:nvSpPr>
        <p:spPr>
          <a:xfrm>
            <a:off x="640080" y="4389120"/>
            <a:ext cx="7863840" cy="502920"/>
          </a:xfrm>
          <a:prstGeom prst="rect">
            <a:avLst/>
          </a:prstGeom>
          <a:noFill/>
          <a:ln/>
        </p:spPr>
        <p:txBody>
          <a:bodyPr wrap="square" rtlCol="0" anchor="ctr"/>
          <a:lstStyle/>
          <a:p>
            <a:pPr indent="0" marL="0">
              <a:buNone/>
            </a:pPr>
            <a:r>
              <a:rPr lang="en-US" sz="900" dirty="0">
                <a:solidFill>
                  <a:srgbClr val="0A1628"/>
                </a:solidFill>
              </a:rPr>
              <a:t>Confetti success state. Amount sent, FX rate locked, expected arrival. Saving highlighted: "You saved AED 180 vs default SWIFT."</a:t>
            </a:r>
            <a:endParaRPr lang="en-US" sz="900" dirty="0"/>
          </a:p>
        </p:txBody>
      </p:sp>
      <p:sp>
        <p:nvSpPr>
          <p:cNvPr id="13" name="Shape 11"/>
          <p:cNvSpPr/>
          <p:nvPr/>
        </p:nvSpPr>
        <p:spPr>
          <a:xfrm>
            <a:off x="457200" y="5166360"/>
            <a:ext cx="8229600" cy="1097280"/>
          </a:xfrm>
          <a:prstGeom prst="rect">
            <a:avLst/>
          </a:prstGeom>
          <a:solidFill>
            <a:srgbClr val="FFFFFF"/>
          </a:solidFill>
          <a:ln w="12700">
            <a:solidFill>
              <a:srgbClr val="8B92A5"/>
            </a:solidFill>
            <a:prstDash val="solid"/>
          </a:ln>
        </p:spPr>
      </p:sp>
      <p:sp>
        <p:nvSpPr>
          <p:cNvPr id="14" name="Text 12"/>
          <p:cNvSpPr/>
          <p:nvPr/>
        </p:nvSpPr>
        <p:spPr>
          <a:xfrm>
            <a:off x="640080" y="5303520"/>
            <a:ext cx="3200400" cy="274320"/>
          </a:xfrm>
          <a:prstGeom prst="rect">
            <a:avLst/>
          </a:prstGeom>
          <a:noFill/>
          <a:ln/>
        </p:spPr>
        <p:txBody>
          <a:bodyPr wrap="square" rtlCol="0" anchor="ctr"/>
          <a:lstStyle/>
          <a:p>
            <a:pPr indent="0" marL="0">
              <a:buNone/>
            </a:pPr>
            <a:r>
              <a:rPr lang="en-US" sz="1100" b="1" dirty="0">
                <a:solidFill>
                  <a:srgbClr val="0A1628"/>
                </a:solidFill>
              </a:rPr>
              <a:t>04 — Ops Analytics</a:t>
            </a:r>
            <a:endParaRPr lang="en-US" sz="1100" dirty="0"/>
          </a:p>
        </p:txBody>
      </p:sp>
      <p:sp>
        <p:nvSpPr>
          <p:cNvPr id="15" name="Text 13"/>
          <p:cNvSpPr/>
          <p:nvPr/>
        </p:nvSpPr>
        <p:spPr>
          <a:xfrm>
            <a:off x="640080" y="5623560"/>
            <a:ext cx="7863840" cy="502920"/>
          </a:xfrm>
          <a:prstGeom prst="rect">
            <a:avLst/>
          </a:prstGeom>
          <a:noFill/>
          <a:ln/>
        </p:spPr>
        <p:txBody>
          <a:bodyPr wrap="square" rtlCol="0" anchor="ctr"/>
          <a:lstStyle/>
          <a:p>
            <a:pPr indent="0" marL="0">
              <a:buNone/>
            </a:pPr>
            <a:r>
              <a:rPr lang="en-US" sz="900" dirty="0">
                <a:solidFill>
                  <a:srgbClr val="0A1628"/>
                </a:solidFill>
              </a:rPr>
              <a:t>Routing console: avg saving/txn, success rates, SWIFT→local rail shift %, corridor-level rail usage, real-time alert on rail degradation.</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274320" y="274320"/>
            <a:ext cx="8595360" cy="228600"/>
          </a:xfrm>
          <a:prstGeom prst="rect">
            <a:avLst/>
          </a:prstGeom>
          <a:noFill/>
          <a:ln/>
        </p:spPr>
        <p:txBody>
          <a:bodyPr wrap="square" rtlCol="0" anchor="ctr"/>
          <a:lstStyle/>
          <a:p>
            <a:pPr indent="0" marL="0">
              <a:buNone/>
            </a:pPr>
            <a:r>
              <a:rPr lang="en-US" sz="900" b="1" dirty="0">
                <a:solidFill>
                  <a:srgbClr val="8B92A5"/>
                </a:solidFill>
              </a:rPr>
              <a:t>IMPACT &amp; ROI</a:t>
            </a:r>
            <a:endParaRPr lang="en-US" sz="900" dirty="0"/>
          </a:p>
        </p:txBody>
      </p:sp>
      <p:sp>
        <p:nvSpPr>
          <p:cNvPr id="3" name="Text 1"/>
          <p:cNvSpPr/>
          <p:nvPr/>
        </p:nvSpPr>
        <p:spPr>
          <a:xfrm>
            <a:off x="457200" y="731520"/>
            <a:ext cx="8229600" cy="457200"/>
          </a:xfrm>
          <a:prstGeom prst="rect">
            <a:avLst/>
          </a:prstGeom>
          <a:noFill/>
          <a:ln/>
        </p:spPr>
        <p:txBody>
          <a:bodyPr wrap="square" rtlCol="0" anchor="ctr"/>
          <a:lstStyle/>
          <a:p>
            <a:pPr indent="0" marL="0">
              <a:buNone/>
            </a:pPr>
            <a:r>
              <a:rPr lang="en-US" sz="2200" b="1" dirty="0">
                <a:solidFill>
                  <a:srgbClr val="FFFFFF"/>
                </a:solidFill>
              </a:rPr>
              <a:t>Cost Savings, Speed &amp; Volume Growth — Built on PhonePe ML Proof Points</a:t>
            </a:r>
            <a:endParaRPr lang="en-US" sz="2200" dirty="0"/>
          </a:p>
        </p:txBody>
      </p:sp>
      <p:sp>
        <p:nvSpPr>
          <p:cNvPr id="4" name="Shape 2"/>
          <p:cNvSpPr/>
          <p:nvPr/>
        </p:nvSpPr>
        <p:spPr>
          <a:xfrm>
            <a:off x="457200" y="1463040"/>
            <a:ext cx="3657600" cy="1645920"/>
          </a:xfrm>
          <a:prstGeom prst="rect">
            <a:avLst/>
          </a:prstGeom>
          <a:solidFill>
            <a:srgbClr val="0F1E3A"/>
          </a:solidFill>
          <a:ln w="12700">
            <a:solidFill>
              <a:srgbClr val="00BFA5"/>
            </a:solidFill>
            <a:prstDash val="solid"/>
          </a:ln>
        </p:spPr>
      </p:sp>
      <p:sp>
        <p:nvSpPr>
          <p:cNvPr id="5" name="Text 3"/>
          <p:cNvSpPr/>
          <p:nvPr/>
        </p:nvSpPr>
        <p:spPr>
          <a:xfrm>
            <a:off x="640080" y="1554480"/>
            <a:ext cx="3291840" cy="365760"/>
          </a:xfrm>
          <a:prstGeom prst="rect">
            <a:avLst/>
          </a:prstGeom>
          <a:noFill/>
          <a:ln/>
        </p:spPr>
        <p:txBody>
          <a:bodyPr wrap="square" rtlCol="0" anchor="ctr"/>
          <a:lstStyle/>
          <a:p>
            <a:pPr algn="l" indent="0" marL="0">
              <a:buNone/>
            </a:pPr>
            <a:r>
              <a:rPr lang="en-US" sz="2200" dirty="0">
                <a:solidFill>
                  <a:srgbClr val="000000"/>
                </a:solidFill>
              </a:rPr>
              <a:t>💰</a:t>
            </a:r>
            <a:endParaRPr lang="en-US" sz="2200" dirty="0"/>
          </a:p>
        </p:txBody>
      </p:sp>
      <p:sp>
        <p:nvSpPr>
          <p:cNvPr id="6" name="Text 4"/>
          <p:cNvSpPr/>
          <p:nvPr/>
        </p:nvSpPr>
        <p:spPr>
          <a:xfrm>
            <a:off x="640080" y="1938528"/>
            <a:ext cx="3291840" cy="347472"/>
          </a:xfrm>
          <a:prstGeom prst="rect">
            <a:avLst/>
          </a:prstGeom>
          <a:noFill/>
          <a:ln/>
        </p:spPr>
        <p:txBody>
          <a:bodyPr wrap="square" rtlCol="0" anchor="ctr"/>
          <a:lstStyle/>
          <a:p>
            <a:pPr algn="l" indent="0" marL="0">
              <a:buNone/>
            </a:pPr>
            <a:r>
              <a:rPr lang="en-US" sz="2000" b="1" dirty="0">
                <a:solidFill>
                  <a:srgbClr val="00BFA5"/>
                </a:solidFill>
              </a:rPr>
              <a:t>AED 180</a:t>
            </a:r>
            <a:endParaRPr lang="en-US" sz="2000" dirty="0"/>
          </a:p>
        </p:txBody>
      </p:sp>
      <p:sp>
        <p:nvSpPr>
          <p:cNvPr id="7" name="Text 5"/>
          <p:cNvSpPr/>
          <p:nvPr/>
        </p:nvSpPr>
        <p:spPr>
          <a:xfrm>
            <a:off x="640080" y="2340864"/>
            <a:ext cx="3291840" cy="256032"/>
          </a:xfrm>
          <a:prstGeom prst="rect">
            <a:avLst/>
          </a:prstGeom>
          <a:noFill/>
          <a:ln/>
        </p:spPr>
        <p:txBody>
          <a:bodyPr wrap="square" rtlCol="0" anchor="ctr"/>
          <a:lstStyle/>
          <a:p>
            <a:pPr algn="l" indent="0" marL="0">
              <a:buNone/>
            </a:pPr>
            <a:r>
              <a:rPr lang="en-US" sz="1000" b="1" dirty="0">
                <a:solidFill>
                  <a:srgbClr val="FFFFFF"/>
                </a:solidFill>
              </a:rPr>
              <a:t>Avg saving per txn</a:t>
            </a:r>
            <a:endParaRPr lang="en-US" sz="1000" dirty="0"/>
          </a:p>
        </p:txBody>
      </p:sp>
      <p:sp>
        <p:nvSpPr>
          <p:cNvPr id="8" name="Text 6"/>
          <p:cNvSpPr/>
          <p:nvPr/>
        </p:nvSpPr>
        <p:spPr>
          <a:xfrm>
            <a:off x="640080" y="2633472"/>
            <a:ext cx="3291840" cy="347472"/>
          </a:xfrm>
          <a:prstGeom prst="rect">
            <a:avLst/>
          </a:prstGeom>
          <a:noFill/>
          <a:ln/>
        </p:spPr>
        <p:txBody>
          <a:bodyPr wrap="square" rtlCol="0" anchor="ctr"/>
          <a:lstStyle/>
          <a:p>
            <a:pPr algn="l" indent="0" marL="0">
              <a:buNone/>
            </a:pPr>
            <a:r>
              <a:rPr lang="en-US" sz="800" dirty="0">
                <a:solidFill>
                  <a:srgbClr val="8B92A5"/>
                </a:solidFill>
              </a:rPr>
              <a:t>vs default SWIFT (40–60% cost reduction)</a:t>
            </a:r>
            <a:endParaRPr lang="en-US" sz="800" dirty="0"/>
          </a:p>
        </p:txBody>
      </p:sp>
      <p:sp>
        <p:nvSpPr>
          <p:cNvPr id="9" name="Shape 7"/>
          <p:cNvSpPr/>
          <p:nvPr/>
        </p:nvSpPr>
        <p:spPr>
          <a:xfrm>
            <a:off x="4663440" y="1463040"/>
            <a:ext cx="3657600" cy="1645920"/>
          </a:xfrm>
          <a:prstGeom prst="rect">
            <a:avLst/>
          </a:prstGeom>
          <a:solidFill>
            <a:srgbClr val="0F1E3A"/>
          </a:solidFill>
          <a:ln w="12700">
            <a:solidFill>
              <a:srgbClr val="00BFA5"/>
            </a:solidFill>
            <a:prstDash val="solid"/>
          </a:ln>
        </p:spPr>
      </p:sp>
      <p:sp>
        <p:nvSpPr>
          <p:cNvPr id="10" name="Text 8"/>
          <p:cNvSpPr/>
          <p:nvPr/>
        </p:nvSpPr>
        <p:spPr>
          <a:xfrm>
            <a:off x="4846320" y="1554480"/>
            <a:ext cx="3291840" cy="365760"/>
          </a:xfrm>
          <a:prstGeom prst="rect">
            <a:avLst/>
          </a:prstGeom>
          <a:noFill/>
          <a:ln/>
        </p:spPr>
        <p:txBody>
          <a:bodyPr wrap="square" rtlCol="0" anchor="ctr"/>
          <a:lstStyle/>
          <a:p>
            <a:pPr algn="l" indent="0" marL="0">
              <a:buNone/>
            </a:pPr>
            <a:r>
              <a:rPr lang="en-US" sz="2200" dirty="0">
                <a:solidFill>
                  <a:srgbClr val="000000"/>
                </a:solidFill>
              </a:rPr>
              <a:t>⚡</a:t>
            </a:r>
            <a:endParaRPr lang="en-US" sz="2200" dirty="0"/>
          </a:p>
        </p:txBody>
      </p:sp>
      <p:sp>
        <p:nvSpPr>
          <p:cNvPr id="11" name="Text 9"/>
          <p:cNvSpPr/>
          <p:nvPr/>
        </p:nvSpPr>
        <p:spPr>
          <a:xfrm>
            <a:off x="4846320" y="1938528"/>
            <a:ext cx="3291840" cy="347472"/>
          </a:xfrm>
          <a:prstGeom prst="rect">
            <a:avLst/>
          </a:prstGeom>
          <a:noFill/>
          <a:ln/>
        </p:spPr>
        <p:txBody>
          <a:bodyPr wrap="square" rtlCol="0" anchor="ctr"/>
          <a:lstStyle/>
          <a:p>
            <a:pPr algn="l" indent="0" marL="0">
              <a:buNone/>
            </a:pPr>
            <a:r>
              <a:rPr lang="en-US" sz="2000" b="1" dirty="0">
                <a:solidFill>
                  <a:srgbClr val="00BFA5"/>
                </a:solidFill>
              </a:rPr>
              <a:t>3.2 hrs</a:t>
            </a:r>
            <a:endParaRPr lang="en-US" sz="2000" dirty="0"/>
          </a:p>
        </p:txBody>
      </p:sp>
      <p:sp>
        <p:nvSpPr>
          <p:cNvPr id="12" name="Text 10"/>
          <p:cNvSpPr/>
          <p:nvPr/>
        </p:nvSpPr>
        <p:spPr>
          <a:xfrm>
            <a:off x="4846320" y="2340864"/>
            <a:ext cx="3291840" cy="256032"/>
          </a:xfrm>
          <a:prstGeom prst="rect">
            <a:avLst/>
          </a:prstGeom>
          <a:noFill/>
          <a:ln/>
        </p:spPr>
        <p:txBody>
          <a:bodyPr wrap="square" rtlCol="0" anchor="ctr"/>
          <a:lstStyle/>
          <a:p>
            <a:pPr algn="l" indent="0" marL="0">
              <a:buNone/>
            </a:pPr>
            <a:r>
              <a:rPr lang="en-US" sz="1000" b="1" dirty="0">
                <a:solidFill>
                  <a:srgbClr val="FFFFFF"/>
                </a:solidFill>
              </a:rPr>
              <a:t>Avg settlement TAT</a:t>
            </a:r>
            <a:endParaRPr lang="en-US" sz="1000" dirty="0"/>
          </a:p>
        </p:txBody>
      </p:sp>
      <p:sp>
        <p:nvSpPr>
          <p:cNvPr id="13" name="Text 11"/>
          <p:cNvSpPr/>
          <p:nvPr/>
        </p:nvSpPr>
        <p:spPr>
          <a:xfrm>
            <a:off x="4846320" y="2633472"/>
            <a:ext cx="3291840" cy="347472"/>
          </a:xfrm>
          <a:prstGeom prst="rect">
            <a:avLst/>
          </a:prstGeom>
          <a:noFill/>
          <a:ln/>
        </p:spPr>
        <p:txBody>
          <a:bodyPr wrap="square" rtlCol="0" anchor="ctr"/>
          <a:lstStyle/>
          <a:p>
            <a:pPr algn="l" indent="0" marL="0">
              <a:buNone/>
            </a:pPr>
            <a:r>
              <a:rPr lang="en-US" sz="800" dirty="0">
                <a:solidFill>
                  <a:srgbClr val="8B92A5"/>
                </a:solidFill>
              </a:rPr>
              <a:t>vs 2–3 business days SWIFT (10× faster)</a:t>
            </a:r>
            <a:endParaRPr lang="en-US" sz="800" dirty="0"/>
          </a:p>
        </p:txBody>
      </p:sp>
      <p:sp>
        <p:nvSpPr>
          <p:cNvPr id="14" name="Shape 12"/>
          <p:cNvSpPr/>
          <p:nvPr/>
        </p:nvSpPr>
        <p:spPr>
          <a:xfrm>
            <a:off x="457200" y="3291840"/>
            <a:ext cx="3657600" cy="1645920"/>
          </a:xfrm>
          <a:prstGeom prst="rect">
            <a:avLst/>
          </a:prstGeom>
          <a:solidFill>
            <a:srgbClr val="0F1E3A"/>
          </a:solidFill>
          <a:ln w="12700">
            <a:solidFill>
              <a:srgbClr val="00BFA5"/>
            </a:solidFill>
            <a:prstDash val="solid"/>
          </a:ln>
        </p:spPr>
      </p:sp>
      <p:sp>
        <p:nvSpPr>
          <p:cNvPr id="15" name="Text 13"/>
          <p:cNvSpPr/>
          <p:nvPr/>
        </p:nvSpPr>
        <p:spPr>
          <a:xfrm>
            <a:off x="640080" y="3383280"/>
            <a:ext cx="3291840" cy="365760"/>
          </a:xfrm>
          <a:prstGeom prst="rect">
            <a:avLst/>
          </a:prstGeom>
          <a:noFill/>
          <a:ln/>
        </p:spPr>
        <p:txBody>
          <a:bodyPr wrap="square" rtlCol="0" anchor="ctr"/>
          <a:lstStyle/>
          <a:p>
            <a:pPr algn="l" indent="0" marL="0">
              <a:buNone/>
            </a:pPr>
            <a:r>
              <a:rPr lang="en-US" sz="2200" dirty="0">
                <a:solidFill>
                  <a:srgbClr val="000000"/>
                </a:solidFill>
              </a:rPr>
              <a:t>📈</a:t>
            </a:r>
            <a:endParaRPr lang="en-US" sz="2200" dirty="0"/>
          </a:p>
        </p:txBody>
      </p:sp>
      <p:sp>
        <p:nvSpPr>
          <p:cNvPr id="16" name="Text 14"/>
          <p:cNvSpPr/>
          <p:nvPr/>
        </p:nvSpPr>
        <p:spPr>
          <a:xfrm>
            <a:off x="640080" y="3767328"/>
            <a:ext cx="3291840" cy="347472"/>
          </a:xfrm>
          <a:prstGeom prst="rect">
            <a:avLst/>
          </a:prstGeom>
          <a:noFill/>
          <a:ln/>
        </p:spPr>
        <p:txBody>
          <a:bodyPr wrap="square" rtlCol="0" anchor="ctr"/>
          <a:lstStyle/>
          <a:p>
            <a:pPr algn="l" indent="0" marL="0">
              <a:buNone/>
            </a:pPr>
            <a:r>
              <a:rPr lang="en-US" sz="2000" b="1" dirty="0">
                <a:solidFill>
                  <a:srgbClr val="00BFA5"/>
                </a:solidFill>
              </a:rPr>
              <a:t>72%</a:t>
            </a:r>
            <a:endParaRPr lang="en-US" sz="2000" dirty="0"/>
          </a:p>
        </p:txBody>
      </p:sp>
      <p:sp>
        <p:nvSpPr>
          <p:cNvPr id="17" name="Text 15"/>
          <p:cNvSpPr/>
          <p:nvPr/>
        </p:nvSpPr>
        <p:spPr>
          <a:xfrm>
            <a:off x="640080" y="4169664"/>
            <a:ext cx="3291840" cy="256032"/>
          </a:xfrm>
          <a:prstGeom prst="rect">
            <a:avLst/>
          </a:prstGeom>
          <a:noFill/>
          <a:ln/>
        </p:spPr>
        <p:txBody>
          <a:bodyPr wrap="square" rtlCol="0" anchor="ctr"/>
          <a:lstStyle/>
          <a:p>
            <a:pPr algn="l" indent="0" marL="0">
              <a:buNone/>
            </a:pPr>
            <a:r>
              <a:rPr lang="en-US" sz="1000" b="1" dirty="0">
                <a:solidFill>
                  <a:srgbClr val="FFFFFF"/>
                </a:solidFill>
              </a:rPr>
              <a:t>Local rail shift</a:t>
            </a:r>
            <a:endParaRPr lang="en-US" sz="1000" dirty="0"/>
          </a:p>
        </p:txBody>
      </p:sp>
      <p:sp>
        <p:nvSpPr>
          <p:cNvPr id="18" name="Text 16"/>
          <p:cNvSpPr/>
          <p:nvPr/>
        </p:nvSpPr>
        <p:spPr>
          <a:xfrm>
            <a:off x="640080" y="4462272"/>
            <a:ext cx="3291840" cy="347472"/>
          </a:xfrm>
          <a:prstGeom prst="rect">
            <a:avLst/>
          </a:prstGeom>
          <a:noFill/>
          <a:ln/>
        </p:spPr>
        <p:txBody>
          <a:bodyPr wrap="square" rtlCol="0" anchor="ctr"/>
          <a:lstStyle/>
          <a:p>
            <a:pPr algn="l" indent="0" marL="0">
              <a:buNone/>
            </a:pPr>
            <a:r>
              <a:rPr lang="en-US" sz="800" dirty="0">
                <a:solidFill>
                  <a:srgbClr val="8B92A5"/>
                </a:solidFill>
              </a:rPr>
              <a:t>of SWIFT transactions migrated to local rails</a:t>
            </a:r>
            <a:endParaRPr lang="en-US" sz="800" dirty="0"/>
          </a:p>
        </p:txBody>
      </p:sp>
      <p:sp>
        <p:nvSpPr>
          <p:cNvPr id="19" name="Shape 17"/>
          <p:cNvSpPr/>
          <p:nvPr/>
        </p:nvSpPr>
        <p:spPr>
          <a:xfrm>
            <a:off x="4663440" y="3291840"/>
            <a:ext cx="3657600" cy="1645920"/>
          </a:xfrm>
          <a:prstGeom prst="rect">
            <a:avLst/>
          </a:prstGeom>
          <a:solidFill>
            <a:srgbClr val="0F1E3A"/>
          </a:solidFill>
          <a:ln w="12700">
            <a:solidFill>
              <a:srgbClr val="00BFA5"/>
            </a:solidFill>
            <a:prstDash val="solid"/>
          </a:ln>
        </p:spPr>
      </p:sp>
      <p:sp>
        <p:nvSpPr>
          <p:cNvPr id="20" name="Text 18"/>
          <p:cNvSpPr/>
          <p:nvPr/>
        </p:nvSpPr>
        <p:spPr>
          <a:xfrm>
            <a:off x="4846320" y="3383280"/>
            <a:ext cx="3291840" cy="365760"/>
          </a:xfrm>
          <a:prstGeom prst="rect">
            <a:avLst/>
          </a:prstGeom>
          <a:noFill/>
          <a:ln/>
        </p:spPr>
        <p:txBody>
          <a:bodyPr wrap="square" rtlCol="0" anchor="ctr"/>
          <a:lstStyle/>
          <a:p>
            <a:pPr algn="l" indent="0" marL="0">
              <a:buNone/>
            </a:pPr>
            <a:r>
              <a:rPr lang="en-US" sz="2200" dirty="0">
                <a:solidFill>
                  <a:srgbClr val="000000"/>
                </a:solidFill>
              </a:rPr>
              <a:t>✅</a:t>
            </a:r>
            <a:endParaRPr lang="en-US" sz="2200" dirty="0"/>
          </a:p>
        </p:txBody>
      </p:sp>
      <p:sp>
        <p:nvSpPr>
          <p:cNvPr id="21" name="Text 19"/>
          <p:cNvSpPr/>
          <p:nvPr/>
        </p:nvSpPr>
        <p:spPr>
          <a:xfrm>
            <a:off x="4846320" y="3767328"/>
            <a:ext cx="3291840" cy="347472"/>
          </a:xfrm>
          <a:prstGeom prst="rect">
            <a:avLst/>
          </a:prstGeom>
          <a:noFill/>
          <a:ln/>
        </p:spPr>
        <p:txBody>
          <a:bodyPr wrap="square" rtlCol="0" anchor="ctr"/>
          <a:lstStyle/>
          <a:p>
            <a:pPr algn="l" indent="0" marL="0">
              <a:buNone/>
            </a:pPr>
            <a:r>
              <a:rPr lang="en-US" sz="2000" b="1" dirty="0">
                <a:solidFill>
                  <a:srgbClr val="00BFA5"/>
                </a:solidFill>
              </a:rPr>
              <a:t>98.6%</a:t>
            </a:r>
            <a:endParaRPr lang="en-US" sz="2000" dirty="0"/>
          </a:p>
        </p:txBody>
      </p:sp>
      <p:sp>
        <p:nvSpPr>
          <p:cNvPr id="22" name="Text 20"/>
          <p:cNvSpPr/>
          <p:nvPr/>
        </p:nvSpPr>
        <p:spPr>
          <a:xfrm>
            <a:off x="4846320" y="4169664"/>
            <a:ext cx="3291840" cy="256032"/>
          </a:xfrm>
          <a:prstGeom prst="rect">
            <a:avLst/>
          </a:prstGeom>
          <a:noFill/>
          <a:ln/>
        </p:spPr>
        <p:txBody>
          <a:bodyPr wrap="square" rtlCol="0" anchor="ctr"/>
          <a:lstStyle/>
          <a:p>
            <a:pPr algn="l" indent="0" marL="0">
              <a:buNone/>
            </a:pPr>
            <a:r>
              <a:rPr lang="en-US" sz="1000" b="1" dirty="0">
                <a:solidFill>
                  <a:srgbClr val="FFFFFF"/>
                </a:solidFill>
              </a:rPr>
              <a:t>Route success rate</a:t>
            </a:r>
            <a:endParaRPr lang="en-US" sz="1000" dirty="0"/>
          </a:p>
        </p:txBody>
      </p:sp>
      <p:sp>
        <p:nvSpPr>
          <p:cNvPr id="23" name="Text 21"/>
          <p:cNvSpPr/>
          <p:nvPr/>
        </p:nvSpPr>
        <p:spPr>
          <a:xfrm>
            <a:off x="4846320" y="4462272"/>
            <a:ext cx="3291840" cy="347472"/>
          </a:xfrm>
          <a:prstGeom prst="rect">
            <a:avLst/>
          </a:prstGeom>
          <a:noFill/>
          <a:ln/>
        </p:spPr>
        <p:txBody>
          <a:bodyPr wrap="square" rtlCol="0" anchor="ctr"/>
          <a:lstStyle/>
          <a:p>
            <a:pPr algn="l" indent="0" marL="0">
              <a:buNone/>
            </a:pPr>
            <a:r>
              <a:rPr lang="en-US" sz="800" dirty="0">
                <a:solidFill>
                  <a:srgbClr val="8B92A5"/>
                </a:solidFill>
              </a:rPr>
              <a:t>with automatic rerouting on rail degradation</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274320" y="274320"/>
            <a:ext cx="8595360" cy="228600"/>
          </a:xfrm>
          <a:prstGeom prst="rect">
            <a:avLst/>
          </a:prstGeom>
          <a:noFill/>
          <a:ln/>
        </p:spPr>
        <p:txBody>
          <a:bodyPr wrap="square" rtlCol="0" anchor="ctr"/>
          <a:lstStyle/>
          <a:p>
            <a:pPr indent="0" marL="0">
              <a:buNone/>
            </a:pPr>
            <a:r>
              <a:rPr lang="en-US" sz="900" b="1" dirty="0">
                <a:solidFill>
                  <a:srgbClr val="8B92A5"/>
                </a:solidFill>
              </a:rPr>
              <a:t>PROOF OF WORK</a:t>
            </a:r>
            <a:endParaRPr lang="en-US" sz="900" dirty="0"/>
          </a:p>
        </p:txBody>
      </p:sp>
      <p:sp>
        <p:nvSpPr>
          <p:cNvPr id="3" name="Text 1"/>
          <p:cNvSpPr/>
          <p:nvPr/>
        </p:nvSpPr>
        <p:spPr>
          <a:xfrm>
            <a:off x="457200" y="731520"/>
            <a:ext cx="8229600" cy="548640"/>
          </a:xfrm>
          <a:prstGeom prst="rect">
            <a:avLst/>
          </a:prstGeom>
          <a:noFill/>
          <a:ln/>
        </p:spPr>
        <p:txBody>
          <a:bodyPr wrap="square" rtlCol="0" anchor="ctr"/>
          <a:lstStyle/>
          <a:p>
            <a:pPr indent="0" marL="0">
              <a:buNone/>
            </a:pPr>
            <a:r>
              <a:rPr lang="en-US" sz="2400" b="1" dirty="0">
                <a:solidFill>
                  <a:srgbClr val="0A1628"/>
                </a:solidFill>
              </a:rPr>
              <a:t>PhonePe Propensity ML: Same Architecture, Different Domain</a:t>
            </a:r>
            <a:endParaRPr lang="en-US" sz="2400" dirty="0"/>
          </a:p>
        </p:txBody>
      </p:sp>
      <p:sp>
        <p:nvSpPr>
          <p:cNvPr id="4" name="Shape 2"/>
          <p:cNvSpPr/>
          <p:nvPr/>
        </p:nvSpPr>
        <p:spPr>
          <a:xfrm>
            <a:off x="457200" y="1463040"/>
            <a:ext cx="3931920" cy="4023360"/>
          </a:xfrm>
          <a:prstGeom prst="rect">
            <a:avLst/>
          </a:prstGeom>
          <a:solidFill>
            <a:srgbClr val="0A1628"/>
          </a:solidFill>
          <a:ln w="12700">
            <a:solidFill>
              <a:srgbClr val="00BFA5"/>
            </a:solidFill>
            <a:prstDash val="solid"/>
          </a:ln>
        </p:spPr>
      </p:sp>
      <p:sp>
        <p:nvSpPr>
          <p:cNvPr id="5" name="Text 3"/>
          <p:cNvSpPr/>
          <p:nvPr/>
        </p:nvSpPr>
        <p:spPr>
          <a:xfrm>
            <a:off x="640080" y="1645920"/>
            <a:ext cx="3566160" cy="274320"/>
          </a:xfrm>
          <a:prstGeom prst="rect">
            <a:avLst/>
          </a:prstGeom>
          <a:noFill/>
          <a:ln/>
        </p:spPr>
        <p:txBody>
          <a:bodyPr wrap="square" rtlCol="0" anchor="ctr"/>
          <a:lstStyle/>
          <a:p>
            <a:pPr indent="0" marL="0">
              <a:buNone/>
            </a:pPr>
            <a:r>
              <a:rPr lang="en-US" sz="1100" b="1" dirty="0">
                <a:solidFill>
                  <a:srgbClr val="00BFA5"/>
                </a:solidFill>
              </a:rPr>
              <a:t>PhonePe: What I Built</a:t>
            </a:r>
            <a:endParaRPr lang="en-US" sz="1100" dirty="0"/>
          </a:p>
        </p:txBody>
      </p:sp>
      <p:sp>
        <p:nvSpPr>
          <p:cNvPr id="6" name="Text 4"/>
          <p:cNvSpPr/>
          <p:nvPr/>
        </p:nvSpPr>
        <p:spPr>
          <a:xfrm>
            <a:off x="822960" y="2103120"/>
            <a:ext cx="3383280" cy="475488"/>
          </a:xfrm>
          <a:prstGeom prst="rect">
            <a:avLst/>
          </a:prstGeom>
          <a:noFill/>
          <a:ln/>
        </p:spPr>
        <p:txBody>
          <a:bodyPr wrap="square" rtlCol="0" anchor="ctr"/>
          <a:lstStyle/>
          <a:p>
            <a:pPr indent="0" marL="0">
              <a:buNone/>
            </a:pPr>
            <a:r>
              <a:rPr lang="en-US" sz="900" dirty="0">
                <a:solidFill>
                  <a:srgbClr val="FFFFFF"/>
                </a:solidFill>
              </a:rPr>
              <a:t>Inherited rule-based offer targeting across 350M users</a:t>
            </a:r>
            <a:endParaRPr lang="en-US" sz="900" dirty="0"/>
          </a:p>
        </p:txBody>
      </p:sp>
      <p:sp>
        <p:nvSpPr>
          <p:cNvPr id="7" name="Text 5"/>
          <p:cNvSpPr/>
          <p:nvPr/>
        </p:nvSpPr>
        <p:spPr>
          <a:xfrm>
            <a:off x="822960" y="2633472"/>
            <a:ext cx="3383280" cy="475488"/>
          </a:xfrm>
          <a:prstGeom prst="rect">
            <a:avLst/>
          </a:prstGeom>
          <a:noFill/>
          <a:ln/>
        </p:spPr>
        <p:txBody>
          <a:bodyPr wrap="square" rtlCol="0" anchor="ctr"/>
          <a:lstStyle/>
          <a:p>
            <a:pPr indent="0" marL="0">
              <a:buNone/>
            </a:pPr>
            <a:r>
              <a:rPr lang="en-US" sz="900" dirty="0">
                <a:solidFill>
                  <a:srgbClr val="FFFFFF"/>
                </a:solidFill>
              </a:rPr>
              <a:t>Replaced with Propensity-to-Transact ML model</a:t>
            </a:r>
            <a:endParaRPr lang="en-US" sz="900" dirty="0"/>
          </a:p>
        </p:txBody>
      </p:sp>
      <p:sp>
        <p:nvSpPr>
          <p:cNvPr id="8" name="Text 6"/>
          <p:cNvSpPr/>
          <p:nvPr/>
        </p:nvSpPr>
        <p:spPr>
          <a:xfrm>
            <a:off x="822960" y="3163824"/>
            <a:ext cx="3383280" cy="475488"/>
          </a:xfrm>
          <a:prstGeom prst="rect">
            <a:avLst/>
          </a:prstGeom>
          <a:noFill/>
          <a:ln/>
        </p:spPr>
        <p:txBody>
          <a:bodyPr wrap="square" rtlCol="0" anchor="ctr"/>
          <a:lstStyle/>
          <a:p>
            <a:pPr indent="0" marL="0">
              <a:buNone/>
            </a:pPr>
            <a:r>
              <a:rPr lang="en-US" sz="900" dirty="0">
                <a:solidFill>
                  <a:srgbClr val="FFFFFF"/>
                </a:solidFill>
              </a:rPr>
              <a:t>Real-time user scoring: signal capture → model → optimal action</a:t>
            </a:r>
            <a:endParaRPr lang="en-US" sz="900" dirty="0"/>
          </a:p>
        </p:txBody>
      </p:sp>
      <p:sp>
        <p:nvSpPr>
          <p:cNvPr id="9" name="Text 7"/>
          <p:cNvSpPr/>
          <p:nvPr/>
        </p:nvSpPr>
        <p:spPr>
          <a:xfrm>
            <a:off x="822960" y="3694176"/>
            <a:ext cx="3383280" cy="475488"/>
          </a:xfrm>
          <a:prstGeom prst="rect">
            <a:avLst/>
          </a:prstGeom>
          <a:noFill/>
          <a:ln/>
        </p:spPr>
        <p:txBody>
          <a:bodyPr wrap="square" rtlCol="0" anchor="ctr"/>
          <a:lstStyle/>
          <a:p>
            <a:pPr indent="0" marL="0">
              <a:buNone/>
            </a:pPr>
            <a:r>
              <a:rPr lang="en-US" sz="900" dirty="0">
                <a:solidFill>
                  <a:srgbClr val="FFFFFF"/>
                </a:solidFill>
              </a:rPr>
              <a:t>Result: 32% marketing burn reduction, sustained GMV</a:t>
            </a:r>
            <a:endParaRPr lang="en-US" sz="900" dirty="0"/>
          </a:p>
        </p:txBody>
      </p:sp>
      <p:sp>
        <p:nvSpPr>
          <p:cNvPr id="10" name="Text 8"/>
          <p:cNvSpPr/>
          <p:nvPr/>
        </p:nvSpPr>
        <p:spPr>
          <a:xfrm>
            <a:off x="822960" y="4224528"/>
            <a:ext cx="3383280" cy="475488"/>
          </a:xfrm>
          <a:prstGeom prst="rect">
            <a:avLst/>
          </a:prstGeom>
          <a:noFill/>
          <a:ln/>
        </p:spPr>
        <p:txBody>
          <a:bodyPr wrap="square" rtlCol="0" anchor="ctr"/>
          <a:lstStyle/>
          <a:p>
            <a:pPr indent="0" marL="0">
              <a:buNone/>
            </a:pPr>
            <a:r>
              <a:rPr lang="en-US" sz="900" dirty="0">
                <a:solidFill>
                  <a:srgbClr val="FFFFFF"/>
                </a:solidFill>
              </a:rPr>
              <a:t>Managed ₹1,000Cr+ annual marketing budget optimisation</a:t>
            </a:r>
            <a:endParaRPr lang="en-US" sz="900" dirty="0"/>
          </a:p>
        </p:txBody>
      </p:sp>
      <p:sp>
        <p:nvSpPr>
          <p:cNvPr id="11" name="Shape 9"/>
          <p:cNvSpPr/>
          <p:nvPr/>
        </p:nvSpPr>
        <p:spPr>
          <a:xfrm>
            <a:off x="4754880" y="1463040"/>
            <a:ext cx="3931920" cy="4023360"/>
          </a:xfrm>
          <a:prstGeom prst="rect">
            <a:avLst/>
          </a:prstGeom>
          <a:solidFill>
            <a:srgbClr val="FFFFFF"/>
          </a:solidFill>
          <a:ln w="12700">
            <a:solidFill>
              <a:srgbClr val="00BFA5"/>
            </a:solidFill>
            <a:prstDash val="solid"/>
          </a:ln>
        </p:spPr>
      </p:sp>
      <p:sp>
        <p:nvSpPr>
          <p:cNvPr id="12" name="Text 10"/>
          <p:cNvSpPr/>
          <p:nvPr/>
        </p:nvSpPr>
        <p:spPr>
          <a:xfrm>
            <a:off x="4937760" y="1645920"/>
            <a:ext cx="3566160" cy="274320"/>
          </a:xfrm>
          <a:prstGeom prst="rect">
            <a:avLst/>
          </a:prstGeom>
          <a:noFill/>
          <a:ln/>
        </p:spPr>
        <p:txBody>
          <a:bodyPr wrap="square" rtlCol="0" anchor="ctr"/>
          <a:lstStyle/>
          <a:p>
            <a:pPr indent="0" marL="0">
              <a:buNone/>
            </a:pPr>
            <a:r>
              <a:rPr lang="en-US" sz="1100" b="1" dirty="0">
                <a:solidFill>
                  <a:srgbClr val="00BFA5"/>
                </a:solidFill>
              </a:rPr>
              <a:t>ClearRoute: Application</a:t>
            </a:r>
            <a:endParaRPr lang="en-US" sz="1100" dirty="0"/>
          </a:p>
        </p:txBody>
      </p:sp>
      <p:sp>
        <p:nvSpPr>
          <p:cNvPr id="13" name="Text 11"/>
          <p:cNvSpPr/>
          <p:nvPr/>
        </p:nvSpPr>
        <p:spPr>
          <a:xfrm>
            <a:off x="4937760" y="2103120"/>
            <a:ext cx="3566160" cy="475488"/>
          </a:xfrm>
          <a:prstGeom prst="rect">
            <a:avLst/>
          </a:prstGeom>
          <a:noFill/>
          <a:ln/>
        </p:spPr>
        <p:txBody>
          <a:bodyPr wrap="square" rtlCol="0" anchor="ctr"/>
          <a:lstStyle/>
          <a:p>
            <a:pPr indent="0" marL="0">
              <a:buNone/>
            </a:pPr>
            <a:r>
              <a:rPr lang="en-US" sz="900" dirty="0">
                <a:solidFill>
                  <a:srgbClr val="0A1628"/>
                </a:solidFill>
              </a:rPr>
              <a:t>Input: corridor + amount + urgency + currency</a:t>
            </a:r>
            <a:endParaRPr lang="en-US" sz="900" dirty="0"/>
          </a:p>
        </p:txBody>
      </p:sp>
      <p:sp>
        <p:nvSpPr>
          <p:cNvPr id="14" name="Text 12"/>
          <p:cNvSpPr/>
          <p:nvPr/>
        </p:nvSpPr>
        <p:spPr>
          <a:xfrm>
            <a:off x="4937760" y="2633472"/>
            <a:ext cx="3566160" cy="475488"/>
          </a:xfrm>
          <a:prstGeom prst="rect">
            <a:avLst/>
          </a:prstGeom>
          <a:noFill/>
          <a:ln/>
        </p:spPr>
        <p:txBody>
          <a:bodyPr wrap="square" rtlCol="0" anchor="ctr"/>
          <a:lstStyle/>
          <a:p>
            <a:pPr indent="0" marL="0">
              <a:buNone/>
            </a:pPr>
            <a:r>
              <a:rPr lang="en-US" sz="900" dirty="0">
                <a:solidFill>
                  <a:srgbClr val="0A1628"/>
                </a:solidFill>
              </a:rPr>
              <a:t>ML scores 3 rails: cost, TAT, reliability</a:t>
            </a:r>
            <a:endParaRPr lang="en-US" sz="900" dirty="0"/>
          </a:p>
        </p:txBody>
      </p:sp>
      <p:sp>
        <p:nvSpPr>
          <p:cNvPr id="15" name="Text 13"/>
          <p:cNvSpPr/>
          <p:nvPr/>
        </p:nvSpPr>
        <p:spPr>
          <a:xfrm>
            <a:off x="4937760" y="3163824"/>
            <a:ext cx="3566160" cy="475488"/>
          </a:xfrm>
          <a:prstGeom prst="rect">
            <a:avLst/>
          </a:prstGeom>
          <a:noFill/>
          <a:ln/>
        </p:spPr>
        <p:txBody>
          <a:bodyPr wrap="square" rtlCol="0" anchor="ctr"/>
          <a:lstStyle/>
          <a:p>
            <a:pPr indent="0" marL="0">
              <a:buNone/>
            </a:pPr>
            <a:r>
              <a:rPr lang="en-US" sz="900" dirty="0">
                <a:solidFill>
                  <a:srgbClr val="0A1628"/>
                </a:solidFill>
              </a:rPr>
              <a:t>Output: optimal rail recommendation + comparison</a:t>
            </a:r>
            <a:endParaRPr lang="en-US" sz="900" dirty="0"/>
          </a:p>
        </p:txBody>
      </p:sp>
      <p:sp>
        <p:nvSpPr>
          <p:cNvPr id="16" name="Text 14"/>
          <p:cNvSpPr/>
          <p:nvPr/>
        </p:nvSpPr>
        <p:spPr>
          <a:xfrm>
            <a:off x="4937760" y="3694176"/>
            <a:ext cx="3566160" cy="475488"/>
          </a:xfrm>
          <a:prstGeom prst="rect">
            <a:avLst/>
          </a:prstGeom>
          <a:noFill/>
          <a:ln/>
        </p:spPr>
        <p:txBody>
          <a:bodyPr wrap="square" rtlCol="0" anchor="ctr"/>
          <a:lstStyle/>
          <a:p>
            <a:pPr indent="0" marL="0">
              <a:buNone/>
            </a:pPr>
            <a:r>
              <a:rPr lang="en-US" sz="900" dirty="0">
                <a:solidFill>
                  <a:srgbClr val="0A1628"/>
                </a:solidFill>
              </a:rPr>
              <a:t>User saves AED 180 per transaction on average</a:t>
            </a:r>
            <a:endParaRPr lang="en-US" sz="900" dirty="0"/>
          </a:p>
        </p:txBody>
      </p:sp>
      <p:sp>
        <p:nvSpPr>
          <p:cNvPr id="17" name="Text 15"/>
          <p:cNvSpPr/>
          <p:nvPr/>
        </p:nvSpPr>
        <p:spPr>
          <a:xfrm>
            <a:off x="4937760" y="4224528"/>
            <a:ext cx="3566160" cy="475488"/>
          </a:xfrm>
          <a:prstGeom prst="rect">
            <a:avLst/>
          </a:prstGeom>
          <a:noFill/>
          <a:ln/>
        </p:spPr>
        <p:txBody>
          <a:bodyPr wrap="square" rtlCol="0" anchor="ctr"/>
          <a:lstStyle/>
          <a:p>
            <a:pPr indent="0" marL="0">
              <a:buNone/>
            </a:pPr>
            <a:r>
              <a:rPr lang="en-US" sz="900" dirty="0">
                <a:solidFill>
                  <a:srgbClr val="0A1628"/>
                </a:solidFill>
              </a:rPr>
              <a:t>Model self-improves from success/failure feedback</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274320" y="274320"/>
            <a:ext cx="8595360" cy="228600"/>
          </a:xfrm>
          <a:prstGeom prst="rect">
            <a:avLst/>
          </a:prstGeom>
          <a:noFill/>
          <a:ln/>
        </p:spPr>
        <p:txBody>
          <a:bodyPr wrap="square" rtlCol="0" anchor="ctr"/>
          <a:lstStyle/>
          <a:p>
            <a:pPr indent="0" marL="0">
              <a:buNone/>
            </a:pPr>
            <a:r>
              <a:rPr lang="en-US" sz="900" b="1" dirty="0">
                <a:solidFill>
                  <a:srgbClr val="8B92A5"/>
                </a:solidFill>
              </a:rPr>
              <a:t>ROLLOUT PLAN</a:t>
            </a:r>
            <a:endParaRPr lang="en-US" sz="900" dirty="0"/>
          </a:p>
        </p:txBody>
      </p:sp>
      <p:sp>
        <p:nvSpPr>
          <p:cNvPr id="3" name="Text 1"/>
          <p:cNvSpPr/>
          <p:nvPr/>
        </p:nvSpPr>
        <p:spPr>
          <a:xfrm>
            <a:off x="457200" y="731520"/>
            <a:ext cx="8229600" cy="457200"/>
          </a:xfrm>
          <a:prstGeom prst="rect">
            <a:avLst/>
          </a:prstGeom>
          <a:noFill/>
          <a:ln/>
        </p:spPr>
        <p:txBody>
          <a:bodyPr wrap="square" rtlCol="0" anchor="ctr"/>
          <a:lstStyle/>
          <a:p>
            <a:pPr indent="0" marL="0">
              <a:buNone/>
            </a:pPr>
            <a:r>
              <a:rPr lang="en-US" sz="2200" b="1" dirty="0">
                <a:solidFill>
                  <a:srgbClr val="FFFFFF"/>
                </a:solidFill>
              </a:rPr>
              <a:t>Three Phases — India/Pakistan Pilot to Full Multi-Corridor Coverage</a:t>
            </a:r>
            <a:endParaRPr lang="en-US" sz="2200" dirty="0"/>
          </a:p>
        </p:txBody>
      </p:sp>
      <p:sp>
        <p:nvSpPr>
          <p:cNvPr id="4" name="Shape 2"/>
          <p:cNvSpPr/>
          <p:nvPr/>
        </p:nvSpPr>
        <p:spPr>
          <a:xfrm>
            <a:off x="457200" y="1371600"/>
            <a:ext cx="8229600" cy="1463040"/>
          </a:xfrm>
          <a:prstGeom prst="rect">
            <a:avLst/>
          </a:prstGeom>
          <a:solidFill>
            <a:srgbClr val="0F1E3A"/>
          </a:solidFill>
          <a:ln w="12700">
            <a:solidFill>
              <a:srgbClr val="00BFA5"/>
            </a:solidFill>
            <a:prstDash val="solid"/>
          </a:ln>
        </p:spPr>
      </p:sp>
      <p:sp>
        <p:nvSpPr>
          <p:cNvPr id="5" name="Text 3"/>
          <p:cNvSpPr/>
          <p:nvPr/>
        </p:nvSpPr>
        <p:spPr>
          <a:xfrm>
            <a:off x="640080" y="1508760"/>
            <a:ext cx="7863840" cy="274320"/>
          </a:xfrm>
          <a:prstGeom prst="rect">
            <a:avLst/>
          </a:prstGeom>
          <a:noFill/>
          <a:ln/>
        </p:spPr>
        <p:txBody>
          <a:bodyPr wrap="square" rtlCol="0" anchor="ctr"/>
          <a:lstStyle/>
          <a:p>
            <a:pPr indent="0" marL="0">
              <a:buNone/>
            </a:pPr>
            <a:r>
              <a:rPr lang="en-US" sz="1100" b="1" dirty="0">
                <a:solidFill>
                  <a:srgbClr val="00BFA5"/>
                </a:solidFill>
              </a:rPr>
              <a:t>Phase 1 — Pilot (Month 1–2)</a:t>
            </a:r>
            <a:endParaRPr lang="en-US" sz="1100" dirty="0"/>
          </a:p>
        </p:txBody>
      </p:sp>
      <p:sp>
        <p:nvSpPr>
          <p:cNvPr id="6" name="Text 4"/>
          <p:cNvSpPr/>
          <p:nvPr/>
        </p:nvSpPr>
        <p:spPr>
          <a:xfrm>
            <a:off x="822960" y="1847088"/>
            <a:ext cx="7498080" cy="777240"/>
          </a:xfrm>
          <a:prstGeom prst="rect">
            <a:avLst/>
          </a:prstGeom>
          <a:noFill/>
          <a:ln/>
        </p:spPr>
        <p:txBody>
          <a:bodyPr wrap="square" rtlCol="0" anchor="ctr"/>
          <a:lstStyle/>
          <a:p>
            <a:pPr indent="0" marL="0">
              <a:buNone/>
            </a:pPr>
            <a:r>
              <a:rPr lang="en-US" sz="900" dirty="0">
                <a:solidFill>
                  <a:srgbClr val="FFFFFF"/>
                </a:solidFill>
              </a:rPr>
              <a:t>Deploy ClearRoute on India (IMPS) + Pakistan (Raast). A/B: ClearRoute vs control (SWIFT default). Measure: saving per txn, TAT reduction, rail success rate.</a:t>
            </a:r>
            <a:endParaRPr lang="en-US" sz="900" dirty="0"/>
          </a:p>
        </p:txBody>
      </p:sp>
      <p:sp>
        <p:nvSpPr>
          <p:cNvPr id="7" name="Shape 5"/>
          <p:cNvSpPr/>
          <p:nvPr/>
        </p:nvSpPr>
        <p:spPr>
          <a:xfrm>
            <a:off x="457200" y="2971800"/>
            <a:ext cx="8229600" cy="1463040"/>
          </a:xfrm>
          <a:prstGeom prst="rect">
            <a:avLst/>
          </a:prstGeom>
          <a:solidFill>
            <a:srgbClr val="0F1E3A"/>
          </a:solidFill>
          <a:ln w="12700">
            <a:solidFill>
              <a:srgbClr val="00BFA5"/>
            </a:solidFill>
            <a:prstDash val="solid"/>
          </a:ln>
        </p:spPr>
      </p:sp>
      <p:sp>
        <p:nvSpPr>
          <p:cNvPr id="8" name="Text 6"/>
          <p:cNvSpPr/>
          <p:nvPr/>
        </p:nvSpPr>
        <p:spPr>
          <a:xfrm>
            <a:off x="640080" y="3108960"/>
            <a:ext cx="7863840" cy="274320"/>
          </a:xfrm>
          <a:prstGeom prst="rect">
            <a:avLst/>
          </a:prstGeom>
          <a:noFill/>
          <a:ln/>
        </p:spPr>
        <p:txBody>
          <a:bodyPr wrap="square" rtlCol="0" anchor="ctr"/>
          <a:lstStyle/>
          <a:p>
            <a:pPr indent="0" marL="0">
              <a:buNone/>
            </a:pPr>
            <a:r>
              <a:rPr lang="en-US" sz="1100" b="1" dirty="0">
                <a:solidFill>
                  <a:srgbClr val="00BFA5"/>
                </a:solidFill>
              </a:rPr>
              <a:t>Phase 2 — Corridors + Rerouting (Month 3–4)</a:t>
            </a:r>
            <a:endParaRPr lang="en-US" sz="1100" dirty="0"/>
          </a:p>
        </p:txBody>
      </p:sp>
      <p:sp>
        <p:nvSpPr>
          <p:cNvPr id="9" name="Text 7"/>
          <p:cNvSpPr/>
          <p:nvPr/>
        </p:nvSpPr>
        <p:spPr>
          <a:xfrm>
            <a:off x="822960" y="3447288"/>
            <a:ext cx="7498080" cy="777240"/>
          </a:xfrm>
          <a:prstGeom prst="rect">
            <a:avLst/>
          </a:prstGeom>
          <a:noFill/>
          <a:ln/>
        </p:spPr>
        <p:txBody>
          <a:bodyPr wrap="square" rtlCol="0" anchor="ctr"/>
          <a:lstStyle/>
          <a:p>
            <a:pPr indent="0" marL="0">
              <a:buNone/>
            </a:pPr>
            <a:r>
              <a:rPr lang="en-US" sz="900" dirty="0">
                <a:solidFill>
                  <a:srgbClr val="FFFFFF"/>
                </a:solidFill>
              </a:rPr>
              <a:t>Add Philippines (InstaPay), UK (FPS). Auto-rerouting logic on rail degradation. Ops console live for payment ops team.</a:t>
            </a:r>
            <a:endParaRPr lang="en-US" sz="900" dirty="0"/>
          </a:p>
        </p:txBody>
      </p:sp>
      <p:sp>
        <p:nvSpPr>
          <p:cNvPr id="10" name="Shape 8"/>
          <p:cNvSpPr/>
          <p:nvPr/>
        </p:nvSpPr>
        <p:spPr>
          <a:xfrm>
            <a:off x="457200" y="4572000"/>
            <a:ext cx="8229600" cy="1463040"/>
          </a:xfrm>
          <a:prstGeom prst="rect">
            <a:avLst/>
          </a:prstGeom>
          <a:solidFill>
            <a:srgbClr val="0F1E3A"/>
          </a:solidFill>
          <a:ln w="12700">
            <a:solidFill>
              <a:srgbClr val="00BFA5"/>
            </a:solidFill>
            <a:prstDash val="solid"/>
          </a:ln>
        </p:spPr>
      </p:sp>
      <p:sp>
        <p:nvSpPr>
          <p:cNvPr id="11" name="Text 9"/>
          <p:cNvSpPr/>
          <p:nvPr/>
        </p:nvSpPr>
        <p:spPr>
          <a:xfrm>
            <a:off x="640080" y="4709160"/>
            <a:ext cx="7863840" cy="274320"/>
          </a:xfrm>
          <a:prstGeom prst="rect">
            <a:avLst/>
          </a:prstGeom>
          <a:noFill/>
          <a:ln/>
        </p:spPr>
        <p:txBody>
          <a:bodyPr wrap="square" rtlCol="0" anchor="ctr"/>
          <a:lstStyle/>
          <a:p>
            <a:pPr indent="0" marL="0">
              <a:buNone/>
            </a:pPr>
            <a:r>
              <a:rPr lang="en-US" sz="1100" b="1" dirty="0">
                <a:solidFill>
                  <a:srgbClr val="00BFA5"/>
                </a:solidFill>
              </a:rPr>
              <a:t>Phase 3 — Full Scale (Month 5–6)</a:t>
            </a:r>
            <a:endParaRPr lang="en-US" sz="1100" dirty="0"/>
          </a:p>
        </p:txBody>
      </p:sp>
      <p:sp>
        <p:nvSpPr>
          <p:cNvPr id="12" name="Text 10"/>
          <p:cNvSpPr/>
          <p:nvPr/>
        </p:nvSpPr>
        <p:spPr>
          <a:xfrm>
            <a:off x="822960" y="5047488"/>
            <a:ext cx="7498080" cy="777240"/>
          </a:xfrm>
          <a:prstGeom prst="rect">
            <a:avLst/>
          </a:prstGeom>
          <a:noFill/>
          <a:ln/>
        </p:spPr>
        <p:txBody>
          <a:bodyPr wrap="square" rtlCol="0" anchor="ctr"/>
          <a:lstStyle/>
          <a:p>
            <a:pPr indent="0" marL="0">
              <a:buNone/>
            </a:pPr>
            <a:r>
              <a:rPr lang="en-US" sz="900" dirty="0">
                <a:solidFill>
                  <a:srgbClr val="FFFFFF"/>
                </a:solidFill>
              </a:rPr>
              <a:t>All live corridors under ClearRoute. Model retraining loop active. Expand to Africa (M-Pesa), Europe (SEPA). Cross-sell FX rate lock (FXGuard).</a:t>
            </a:r>
            <a:endParaRPr lang="en-US" sz="900" dirty="0"/>
          </a:p>
        </p:txBody>
      </p:sp>
      <p:sp>
        <p:nvSpPr>
          <p:cNvPr id="13" name="Shape 11"/>
          <p:cNvSpPr/>
          <p:nvPr/>
        </p:nvSpPr>
        <p:spPr>
          <a:xfrm>
            <a:off x="457200" y="5943600"/>
            <a:ext cx="8229600" cy="731520"/>
          </a:xfrm>
          <a:prstGeom prst="rect">
            <a:avLst/>
          </a:prstGeom>
          <a:solidFill>
            <a:srgbClr val="0F1E3A"/>
          </a:solidFill>
          <a:ln w="25400">
            <a:solidFill>
              <a:srgbClr val="FF6B35"/>
            </a:solidFill>
            <a:prstDash val="solid"/>
          </a:ln>
        </p:spPr>
      </p:sp>
      <p:sp>
        <p:nvSpPr>
          <p:cNvPr id="14" name="Text 12"/>
          <p:cNvSpPr/>
          <p:nvPr/>
        </p:nvSpPr>
        <p:spPr>
          <a:xfrm>
            <a:off x="640080" y="6035040"/>
            <a:ext cx="7863840" cy="548640"/>
          </a:xfrm>
          <a:prstGeom prst="rect">
            <a:avLst/>
          </a:prstGeom>
          <a:noFill/>
          <a:ln/>
        </p:spPr>
        <p:txBody>
          <a:bodyPr wrap="square" rtlCol="0" anchor="ctr"/>
          <a:lstStyle/>
          <a:p>
            <a:pPr indent="0" marL="0">
              <a:buNone/>
            </a:pPr>
            <a:r>
              <a:rPr lang="en-US" sz="1000" b="1" dirty="0">
                <a:solidFill>
                  <a:srgbClr val="FF6B35"/>
                </a:solidFill>
              </a:rPr>
              <a:t>What I Need: Banking API credentials (YES Bank, BDO) · ML engineer (rail scoring model) · Payments ops team alignment on rerouting logic</a:t>
            </a:r>
            <a:endParaRPr lang="en-US" sz="1000" dirty="0"/>
          </a:p>
        </p:txBody>
      </p:sp>
      <p:sp>
        <p:nvSpPr>
          <p:cNvPr id="15" name="Text 13"/>
          <p:cNvSpPr/>
          <p:nvPr/>
        </p:nvSpPr>
        <p:spPr>
          <a:xfrm>
            <a:off x="457200" y="6537960"/>
            <a:ext cx="8229600" cy="228600"/>
          </a:xfrm>
          <a:prstGeom prst="rect">
            <a:avLst/>
          </a:prstGeom>
          <a:noFill/>
          <a:ln/>
        </p:spPr>
        <p:txBody>
          <a:bodyPr wrap="square" rtlCol="0" anchor="ctr"/>
          <a:lstStyle/>
          <a:p>
            <a:pPr algn="ctr" indent="0" marL="0">
              <a:buNone/>
            </a:pPr>
            <a:r>
              <a:rPr lang="en-US" sz="900" dirty="0">
                <a:solidFill>
                  <a:srgbClr val="8B92A5"/>
                </a:solidFill>
              </a:rPr>
              <a:t>Ajay Avaghade | avaghadeajay009@gmail.com | +91 9561558439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2026-06-04T14:44:59Z</dcterms:created>
  <dcterms:modified xsi:type="dcterms:W3CDTF">2026-06-04T14:44:59Z</dcterms:modified>
</cp:coreProperties>
</file>