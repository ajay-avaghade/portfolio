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E0E"/>
        </a:solidFill>
      </p:bgPr>
    </p:bg>
    <p:spTree>
      <p:nvGrpSpPr>
        <p:cNvPr id="1" name=""/>
        <p:cNvGrpSpPr/>
        <p:nvPr/>
      </p:nvGrpSpPr>
      <p:grpSpPr>
        <a:xfrm>
          <a:off x="0" y="0"/>
          <a:ext cx="0" cy="0"/>
          <a:chOff x="0" y="0"/>
          <a:chExt cx="0" cy="0"/>
        </a:xfrm>
      </p:grpSpPr>
      <p:sp>
        <p:nvSpPr>
          <p:cNvPr id="2" name="Shape 0"/>
          <p:cNvSpPr/>
          <p:nvPr/>
        </p:nvSpPr>
        <p:spPr>
          <a:xfrm>
            <a:off x="7772400" y="0"/>
            <a:ext cx="1371600" cy="6858000"/>
          </a:xfrm>
          <a:prstGeom prst="rect">
            <a:avLst/>
          </a:prstGeom>
          <a:solidFill>
            <a:srgbClr val="FF0000">
              <a:alpha val="85000"/>
            </a:srgbClr>
          </a:solidFill>
          <a:ln/>
        </p:spPr>
      </p:sp>
      <p:sp>
        <p:nvSpPr>
          <p:cNvPr id="3" name="Shape 1"/>
          <p:cNvSpPr/>
          <p:nvPr/>
        </p:nvSpPr>
        <p:spPr>
          <a:xfrm>
            <a:off x="7132320" y="0"/>
            <a:ext cx="2011680" cy="6858000"/>
          </a:xfrm>
          <a:prstGeom prst="rect">
            <a:avLst/>
          </a:prstGeom>
          <a:solidFill>
            <a:srgbClr val="FFB81C">
              <a:alpha val="78000"/>
            </a:srgbClr>
          </a:solidFill>
          <a:ln/>
        </p:spPr>
      </p:sp>
      <p:sp>
        <p:nvSpPr>
          <p:cNvPr id="4" name="Text 2"/>
          <p:cNvSpPr/>
          <p:nvPr/>
        </p:nvSpPr>
        <p:spPr>
          <a:xfrm>
            <a:off x="274320" y="365760"/>
            <a:ext cx="3657600" cy="274320"/>
          </a:xfrm>
          <a:prstGeom prst="rect">
            <a:avLst/>
          </a:prstGeom>
          <a:noFill/>
          <a:ln/>
        </p:spPr>
        <p:txBody>
          <a:bodyPr wrap="square" rtlCol="0" anchor="ctr"/>
          <a:lstStyle/>
          <a:p>
            <a:pPr indent="0" marL="0">
              <a:buNone/>
            </a:pPr>
            <a:r>
              <a:rPr lang="en-US" sz="900" b="1" dirty="0">
                <a:solidFill>
                  <a:srgbClr val="FFB81C"/>
                </a:solidFill>
                <a:latin typeface="Arial" pitchFamily="34" charset="0"/>
                <a:ea typeface="Arial" pitchFamily="34" charset="-122"/>
                <a:cs typeface="Arial" pitchFamily="34" charset="-120"/>
              </a:rPr>
              <a:t>ADOBE DSP · PRODUCT CASE STUDY</a:t>
            </a:r>
            <a:endParaRPr lang="en-US" sz="900" dirty="0"/>
          </a:p>
        </p:txBody>
      </p:sp>
      <p:sp>
        <p:nvSpPr>
          <p:cNvPr id="5" name="Text 3"/>
          <p:cNvSpPr/>
          <p:nvPr/>
        </p:nvSpPr>
        <p:spPr>
          <a:xfrm>
            <a:off x="274320" y="1645920"/>
            <a:ext cx="6400800" cy="109728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PaceIQ</a:t>
            </a:r>
            <a:endParaRPr lang="en-US" sz="4400" dirty="0"/>
          </a:p>
        </p:txBody>
      </p:sp>
      <p:sp>
        <p:nvSpPr>
          <p:cNvPr id="6" name="Text 4"/>
          <p:cNvSpPr/>
          <p:nvPr/>
        </p:nvSpPr>
        <p:spPr>
          <a:xfrm>
            <a:off x="274320" y="2743200"/>
            <a:ext cx="6400800" cy="365760"/>
          </a:xfrm>
          <a:prstGeom prst="rect">
            <a:avLst/>
          </a:prstGeom>
          <a:noFill/>
          <a:ln/>
        </p:spPr>
        <p:txBody>
          <a:bodyPr wrap="square" rtlCol="0" anchor="ctr"/>
          <a:lstStyle/>
          <a:p>
            <a:pPr indent="0" marL="0">
              <a:buNone/>
            </a:pPr>
            <a:r>
              <a:rPr lang="en-US" sz="1800" dirty="0">
                <a:solidFill>
                  <a:srgbClr val="FFB81C"/>
                </a:solidFill>
                <a:latin typeface="Arial" pitchFamily="34" charset="0"/>
                <a:ea typeface="Arial" pitchFamily="34" charset="-122"/>
                <a:cs typeface="Arial" pitchFamily="34" charset="-120"/>
              </a:rPr>
              <a:t>Real-Time Budget Pacing &amp; Impression Diagnostics</a:t>
            </a:r>
            <a:endParaRPr lang="en-US" sz="1800" dirty="0"/>
          </a:p>
        </p:txBody>
      </p:sp>
      <p:sp>
        <p:nvSpPr>
          <p:cNvPr id="7" name="Text 5"/>
          <p:cNvSpPr/>
          <p:nvPr/>
        </p:nvSpPr>
        <p:spPr>
          <a:xfrm>
            <a:off x="274320" y="3291840"/>
            <a:ext cx="6400800" cy="274320"/>
          </a:xfrm>
          <a:prstGeom prst="rect">
            <a:avLst/>
          </a:prstGeom>
          <a:noFill/>
          <a:ln/>
        </p:spPr>
        <p:txBody>
          <a:bodyPr wrap="square" rtlCol="0" anchor="ctr"/>
          <a:lstStyle/>
          <a:p>
            <a:pPr indent="0" marL="0">
              <a:buNone/>
            </a:pPr>
            <a:r>
              <a:rPr lang="en-US" sz="1200" dirty="0">
                <a:solidFill>
                  <a:srgbClr val="757575"/>
                </a:solidFill>
                <a:latin typeface="Arial" pitchFamily="34" charset="0"/>
                <a:ea typeface="Arial" pitchFamily="34" charset="-122"/>
                <a:cs typeface="Arial" pitchFamily="34" charset="-120"/>
              </a:rPr>
              <a:t>Ajay Avaghade · Product Manager</a:t>
            </a:r>
            <a:endParaRPr lang="en-US" sz="1200" dirty="0"/>
          </a:p>
        </p:txBody>
      </p:sp>
      <p:sp>
        <p:nvSpPr>
          <p:cNvPr id="8" name="Shape 6"/>
          <p:cNvSpPr/>
          <p:nvPr/>
        </p:nvSpPr>
        <p:spPr>
          <a:xfrm>
            <a:off x="5943600" y="5303520"/>
            <a:ext cx="2743200" cy="1188720"/>
          </a:xfrm>
          <a:prstGeom prst="rect">
            <a:avLst/>
          </a:prstGeom>
          <a:solidFill>
            <a:srgbClr val="2A2A2A"/>
          </a:solidFill>
          <a:ln/>
        </p:spPr>
      </p:sp>
      <p:sp>
        <p:nvSpPr>
          <p:cNvPr id="9" name="Text 7"/>
          <p:cNvSpPr/>
          <p:nvPr/>
        </p:nvSpPr>
        <p:spPr>
          <a:xfrm>
            <a:off x="5943600" y="5440680"/>
            <a:ext cx="2743200" cy="365760"/>
          </a:xfrm>
          <a:prstGeom prst="rect">
            <a:avLst/>
          </a:prstGeom>
          <a:noFill/>
          <a:ln/>
        </p:spPr>
        <p:txBody>
          <a:bodyPr wrap="square" rtlCol="0" anchor="ctr"/>
          <a:lstStyle/>
          <a:p>
            <a:pPr algn="ctr" indent="0" marL="0">
              <a:buNone/>
            </a:pPr>
            <a:r>
              <a:rPr lang="en-US" sz="3200" b="1" dirty="0">
                <a:solidFill>
                  <a:srgbClr val="FFB81C"/>
                </a:solidFill>
                <a:latin typeface="Arial" pitchFamily="34" charset="0"/>
                <a:ea typeface="Arial" pitchFamily="34" charset="-122"/>
                <a:cs typeface="Arial" pitchFamily="34" charset="-120"/>
              </a:rPr>
              <a:t>+19% Budget Recovery</a:t>
            </a:r>
            <a:endParaRPr lang="en-US" sz="3200" dirty="0"/>
          </a:p>
        </p:txBody>
      </p:sp>
      <p:sp>
        <p:nvSpPr>
          <p:cNvPr id="10" name="Text 8"/>
          <p:cNvSpPr/>
          <p:nvPr/>
        </p:nvSpPr>
        <p:spPr>
          <a:xfrm>
            <a:off x="5943600" y="5852160"/>
            <a:ext cx="2743200" cy="320040"/>
          </a:xfrm>
          <a:prstGeom prst="rect">
            <a:avLst/>
          </a:prstGeom>
          <a:noFill/>
          <a:ln/>
        </p:spPr>
        <p:txBody>
          <a:bodyPr wrap="square" rtlCol="0" anchor="ctr"/>
          <a:lstStyle/>
          <a:p>
            <a:pPr algn="ctr" indent="0" marL="0">
              <a:buNone/>
            </a:pPr>
            <a:r>
              <a:rPr lang="en-US" sz="1000" dirty="0">
                <a:solidFill>
                  <a:srgbClr val="757575"/>
                </a:solidFill>
                <a:latin typeface="Arial" pitchFamily="34" charset="0"/>
                <a:ea typeface="Arial" pitchFamily="34" charset="-122"/>
                <a:cs typeface="Arial" pitchFamily="34" charset="-120"/>
              </a:rPr>
              <a:t>From lost impression diagnostics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E0E"/>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B81C"/>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274320" y="731520"/>
            <a:ext cx="8229600" cy="7315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27% of Daily Budget Evaporates Invisibly—Advertisers Have No Idea Why</a:t>
            </a:r>
            <a:endParaRPr lang="en-US" sz="2600" dirty="0"/>
          </a:p>
        </p:txBody>
      </p:sp>
      <p:sp>
        <p:nvSpPr>
          <p:cNvPr id="4" name="Text 2"/>
          <p:cNvSpPr/>
          <p:nvPr/>
        </p:nvSpPr>
        <p:spPr>
          <a:xfrm>
            <a:off x="274320" y="2011680"/>
            <a:ext cx="2743200" cy="457200"/>
          </a:xfrm>
          <a:prstGeom prst="rect">
            <a:avLst/>
          </a:prstGeom>
          <a:noFill/>
          <a:ln/>
        </p:spPr>
        <p:txBody>
          <a:bodyPr wrap="square" rtlCol="0" anchor="ctr"/>
          <a:lstStyle/>
          <a:p>
            <a:pPr algn="ctr" indent="0" marL="0">
              <a:buNone/>
            </a:pPr>
            <a:r>
              <a:rPr lang="en-US" sz="2800" b="1" dirty="0">
                <a:solidFill>
                  <a:srgbClr val="FF0000"/>
                </a:solidFill>
                <a:latin typeface="Arial" pitchFamily="34" charset="0"/>
                <a:ea typeface="Arial" pitchFamily="34" charset="-122"/>
                <a:cs typeface="Arial" pitchFamily="34" charset="-120"/>
              </a:rPr>
              <a:t>27%</a:t>
            </a:r>
            <a:endParaRPr lang="en-US" sz="2800" dirty="0"/>
          </a:p>
        </p:txBody>
      </p:sp>
      <p:sp>
        <p:nvSpPr>
          <p:cNvPr id="5" name="Text 3"/>
          <p:cNvSpPr/>
          <p:nvPr/>
        </p:nvSpPr>
        <p:spPr>
          <a:xfrm>
            <a:off x="274320" y="2560320"/>
            <a:ext cx="274320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Unspent / Day</a:t>
            </a:r>
            <a:endParaRPr lang="en-US" sz="1200" dirty="0"/>
          </a:p>
        </p:txBody>
      </p:sp>
      <p:sp>
        <p:nvSpPr>
          <p:cNvPr id="6" name="Text 4"/>
          <p:cNvSpPr/>
          <p:nvPr/>
        </p:nvSpPr>
        <p:spPr>
          <a:xfrm>
            <a:off x="274320" y="2880360"/>
            <a:ext cx="2743200" cy="548640"/>
          </a:xfrm>
          <a:prstGeom prst="rect">
            <a:avLst/>
          </a:prstGeom>
          <a:noFill/>
          <a:ln/>
        </p:spPr>
        <p:txBody>
          <a:bodyPr wrap="square" rtlCol="0" anchor="ctr"/>
          <a:lstStyle/>
          <a:p>
            <a:pPr algn="ctr" indent="0" marL="0">
              <a:buNone/>
            </a:pPr>
            <a:r>
              <a:rPr lang="en-US" sz="1000" dirty="0">
                <a:solidFill>
                  <a:srgbClr val="757575"/>
                </a:solidFill>
                <a:latin typeface="Arial" pitchFamily="34" charset="0"/>
                <a:ea typeface="Arial" pitchFamily="34" charset="-122"/>
                <a:cs typeface="Arial" pitchFamily="34" charset="-120"/>
              </a:rPr>
              <a:t>No transparency into why</a:t>
            </a:r>
            <a:endParaRPr lang="en-US" sz="1000" dirty="0"/>
          </a:p>
        </p:txBody>
      </p:sp>
      <p:sp>
        <p:nvSpPr>
          <p:cNvPr id="7" name="Text 5"/>
          <p:cNvSpPr/>
          <p:nvPr/>
        </p:nvSpPr>
        <p:spPr>
          <a:xfrm>
            <a:off x="3200400" y="2011680"/>
            <a:ext cx="2743200" cy="457200"/>
          </a:xfrm>
          <a:prstGeom prst="rect">
            <a:avLst/>
          </a:prstGeom>
          <a:noFill/>
          <a:ln/>
        </p:spPr>
        <p:txBody>
          <a:bodyPr wrap="square" rtlCol="0" anchor="ctr"/>
          <a:lstStyle/>
          <a:p>
            <a:pPr algn="ctr" indent="0" marL="0">
              <a:buNone/>
            </a:pPr>
            <a:r>
              <a:rPr lang="en-US" sz="2800" b="1" dirty="0">
                <a:solidFill>
                  <a:srgbClr val="FF0000"/>
                </a:solidFill>
                <a:latin typeface="Arial" pitchFamily="34" charset="0"/>
                <a:ea typeface="Arial" pitchFamily="34" charset="-122"/>
                <a:cs typeface="Arial" pitchFamily="34" charset="-120"/>
              </a:rPr>
              <a:t>42%</a:t>
            </a:r>
            <a:endParaRPr lang="en-US" sz="2800" dirty="0"/>
          </a:p>
        </p:txBody>
      </p:sp>
      <p:sp>
        <p:nvSpPr>
          <p:cNvPr id="8" name="Text 6"/>
          <p:cNvSpPr/>
          <p:nvPr/>
        </p:nvSpPr>
        <p:spPr>
          <a:xfrm>
            <a:off x="3200400" y="2560320"/>
            <a:ext cx="274320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Blind Budget Waste</a:t>
            </a:r>
            <a:endParaRPr lang="en-US" sz="1200" dirty="0"/>
          </a:p>
        </p:txBody>
      </p:sp>
      <p:sp>
        <p:nvSpPr>
          <p:cNvPr id="9" name="Text 7"/>
          <p:cNvSpPr/>
          <p:nvPr/>
        </p:nvSpPr>
        <p:spPr>
          <a:xfrm>
            <a:off x="3200400" y="2880360"/>
            <a:ext cx="2743200" cy="548640"/>
          </a:xfrm>
          <a:prstGeom prst="rect">
            <a:avLst/>
          </a:prstGeom>
          <a:noFill/>
          <a:ln/>
        </p:spPr>
        <p:txBody>
          <a:bodyPr wrap="square" rtlCol="0" anchor="ctr"/>
          <a:lstStyle/>
          <a:p>
            <a:pPr algn="ctr" indent="0" marL="0">
              <a:buNone/>
            </a:pPr>
            <a:r>
              <a:rPr lang="en-US" sz="1000" dirty="0">
                <a:solidFill>
                  <a:srgbClr val="757575"/>
                </a:solidFill>
                <a:latin typeface="Arial" pitchFamily="34" charset="0"/>
                <a:ea typeface="Arial" pitchFamily="34" charset="-122"/>
                <a:cs typeface="Arial" pitchFamily="34" charset="-120"/>
              </a:rPr>
              <a:t>vs diagnosed spend</a:t>
            </a:r>
            <a:endParaRPr lang="en-US" sz="1000" dirty="0"/>
          </a:p>
        </p:txBody>
      </p:sp>
      <p:sp>
        <p:nvSpPr>
          <p:cNvPr id="10" name="Text 8"/>
          <p:cNvSpPr/>
          <p:nvPr/>
        </p:nvSpPr>
        <p:spPr>
          <a:xfrm>
            <a:off x="6126480" y="2011680"/>
            <a:ext cx="2743200" cy="457200"/>
          </a:xfrm>
          <a:prstGeom prst="rect">
            <a:avLst/>
          </a:prstGeom>
          <a:noFill/>
          <a:ln/>
        </p:spPr>
        <p:txBody>
          <a:bodyPr wrap="square" rtlCol="0" anchor="ctr"/>
          <a:lstStyle/>
          <a:p>
            <a:pPr algn="ctr" indent="0" marL="0">
              <a:buNone/>
            </a:pPr>
            <a:r>
              <a:rPr lang="en-US" sz="2800" b="1" dirty="0">
                <a:solidFill>
                  <a:srgbClr val="FF0000"/>
                </a:solidFill>
                <a:latin typeface="Arial" pitchFamily="34" charset="0"/>
                <a:ea typeface="Arial" pitchFamily="34" charset="-122"/>
                <a:cs typeface="Arial" pitchFamily="34" charset="-120"/>
              </a:rPr>
              <a:t>−27%</a:t>
            </a:r>
            <a:endParaRPr lang="en-US" sz="2800" dirty="0"/>
          </a:p>
        </p:txBody>
      </p:sp>
      <p:sp>
        <p:nvSpPr>
          <p:cNvPr id="11" name="Text 9"/>
          <p:cNvSpPr/>
          <p:nvPr/>
        </p:nvSpPr>
        <p:spPr>
          <a:xfrm>
            <a:off x="6126480" y="2560320"/>
            <a:ext cx="274320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Churn to Competitors</a:t>
            </a:r>
            <a:endParaRPr lang="en-US" sz="1200" dirty="0"/>
          </a:p>
        </p:txBody>
      </p:sp>
      <p:sp>
        <p:nvSpPr>
          <p:cNvPr id="12" name="Text 10"/>
          <p:cNvSpPr/>
          <p:nvPr/>
        </p:nvSpPr>
        <p:spPr>
          <a:xfrm>
            <a:off x="6126480" y="2880360"/>
            <a:ext cx="2743200" cy="548640"/>
          </a:xfrm>
          <a:prstGeom prst="rect">
            <a:avLst/>
          </a:prstGeom>
          <a:noFill/>
          <a:ln/>
        </p:spPr>
        <p:txBody>
          <a:bodyPr wrap="square" rtlCol="0" anchor="ctr"/>
          <a:lstStyle/>
          <a:p>
            <a:pPr algn="ctr" indent="0" marL="0">
              <a:buNone/>
            </a:pPr>
            <a:r>
              <a:rPr lang="en-US" sz="1000" dirty="0">
                <a:solidFill>
                  <a:srgbClr val="757575"/>
                </a:solidFill>
                <a:latin typeface="Arial" pitchFamily="34" charset="0"/>
                <a:ea typeface="Arial" pitchFamily="34" charset="-122"/>
                <a:cs typeface="Arial" pitchFamily="34" charset="-120"/>
              </a:rPr>
              <a:t>From perceived DSP failure</a:t>
            </a:r>
            <a:endParaRPr lang="en-US" sz="1000" dirty="0"/>
          </a:p>
        </p:txBody>
      </p:sp>
      <p:sp>
        <p:nvSpPr>
          <p:cNvPr id="13" name="Shape 11"/>
          <p:cNvSpPr/>
          <p:nvPr/>
        </p:nvSpPr>
        <p:spPr>
          <a:xfrm>
            <a:off x="274320" y="3840480"/>
            <a:ext cx="8412480" cy="2560320"/>
          </a:xfrm>
          <a:prstGeom prst="rect">
            <a:avLst/>
          </a:prstGeom>
          <a:solidFill>
            <a:srgbClr val="2A2A2A"/>
          </a:solidFill>
          <a:ln w="25400">
            <a:solidFill>
              <a:srgbClr val="FF0000"/>
            </a:solidFill>
            <a:prstDash val="solid"/>
          </a:ln>
          <a:effectLst>
            <a:outerShdw sx="100000" sy="100000" kx="0" ky="0" algn="bl" rotWithShape="0" blurRad="38100" dist="12700" dir="2700000">
              <a:srgbClr val="000000">
                <a:alpha val="12000"/>
              </a:srgbClr>
            </a:outerShdw>
          </a:effectLst>
        </p:spPr>
      </p:sp>
      <p:sp>
        <p:nvSpPr>
          <p:cNvPr id="14" name="Text 12"/>
          <p:cNvSpPr/>
          <p:nvPr/>
        </p:nvSpPr>
        <p:spPr>
          <a:xfrm>
            <a:off x="457200" y="3977640"/>
            <a:ext cx="8046720" cy="182880"/>
          </a:xfrm>
          <a:prstGeom prst="rect">
            <a:avLst/>
          </a:prstGeom>
          <a:noFill/>
          <a:ln/>
        </p:spPr>
        <p:txBody>
          <a:bodyPr wrap="square" rtlCol="0" anchor="ctr"/>
          <a:lstStyle/>
          <a:p>
            <a:pPr indent="0" marL="0">
              <a:buNone/>
            </a:pPr>
            <a:r>
              <a:rPr lang="en-US" sz="1000" b="1" dirty="0">
                <a:solidFill>
                  <a:srgbClr val="FFB81C"/>
                </a:solidFill>
                <a:latin typeface="Arial" pitchFamily="34" charset="0"/>
                <a:ea typeface="Arial" pitchFamily="34" charset="-122"/>
                <a:cs typeface="Arial" pitchFamily="34" charset="-120"/>
              </a:rPr>
              <a:t>Root Cause</a:t>
            </a:r>
            <a:endParaRPr lang="en-US" sz="1000" dirty="0"/>
          </a:p>
        </p:txBody>
      </p:sp>
      <p:sp>
        <p:nvSpPr>
          <p:cNvPr id="15" name="Text 13"/>
          <p:cNvSpPr/>
          <p:nvPr/>
        </p:nvSpPr>
        <p:spPr>
          <a:xfrm>
            <a:off x="457200" y="4251960"/>
            <a:ext cx="8046720" cy="19202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When a campaign underspends, advertisers see a flat "Budget Used: 73% of $10K" with no context. Hidden losses: auction loss (didn't win price), frequency cap (saw too many times), budget constraint (hit daily limit early), low intent (below quality threshold). Without diagnostics, advertisers assume the DSP is broken and move budget elsewhere.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0000"/>
                </a:solidFill>
                <a:latin typeface="Arial" pitchFamily="34" charset="0"/>
                <a:ea typeface="Arial" pitchFamily="34" charset="-122"/>
                <a:cs typeface="Arial" pitchFamily="34" charset="-120"/>
              </a:rPr>
              <a:t>THE INSIGHT</a:t>
            </a:r>
            <a:endParaRPr lang="en-US" sz="900" dirty="0"/>
          </a:p>
        </p:txBody>
      </p:sp>
      <p:sp>
        <p:nvSpPr>
          <p:cNvPr id="3" name="Text 1"/>
          <p:cNvSpPr/>
          <p:nvPr/>
        </p:nvSpPr>
        <p:spPr>
          <a:xfrm>
            <a:off x="274320" y="731520"/>
            <a:ext cx="8229600" cy="640080"/>
          </a:xfrm>
          <a:prstGeom prst="rect">
            <a:avLst/>
          </a:prstGeom>
          <a:noFill/>
          <a:ln/>
        </p:spPr>
        <p:txBody>
          <a:bodyPr wrap="square" rtlCol="0" anchor="ctr"/>
          <a:lstStyle/>
          <a:p>
            <a:pPr indent="0" marL="0">
              <a:buNone/>
            </a:pPr>
            <a:r>
              <a:rPr lang="en-US" sz="2600" b="1" dirty="0">
                <a:solidFill>
                  <a:srgbClr val="0F0E0E"/>
                </a:solidFill>
                <a:latin typeface="Arial" pitchFamily="34" charset="0"/>
                <a:ea typeface="Arial" pitchFamily="34" charset="-122"/>
                <a:cs typeface="Arial" pitchFamily="34" charset="-120"/>
              </a:rPr>
              <a:t>Transparency Builds Confidence. Diagnostics Drive Optimization.</a:t>
            </a:r>
            <a:endParaRPr lang="en-US" sz="2600" dirty="0"/>
          </a:p>
        </p:txBody>
      </p:sp>
      <p:sp>
        <p:nvSpPr>
          <p:cNvPr id="4" name="Shape 2"/>
          <p:cNvSpPr/>
          <p:nvPr/>
        </p:nvSpPr>
        <p:spPr>
          <a:xfrm>
            <a:off x="274320" y="1554480"/>
            <a:ext cx="3931920" cy="4572000"/>
          </a:xfrm>
          <a:prstGeom prst="rect">
            <a:avLst/>
          </a:prstGeom>
          <a:solidFill>
            <a:srgbClr val="F7F7F7"/>
          </a:solidFill>
          <a:ln/>
        </p:spPr>
      </p:sp>
      <p:sp>
        <p:nvSpPr>
          <p:cNvPr id="5" name="Text 3"/>
          <p:cNvSpPr/>
          <p:nvPr/>
        </p:nvSpPr>
        <p:spPr>
          <a:xfrm>
            <a:off x="365760" y="1691640"/>
            <a:ext cx="3749040" cy="274320"/>
          </a:xfrm>
          <a:prstGeom prst="rect">
            <a:avLst/>
          </a:prstGeom>
          <a:noFill/>
          <a:ln/>
        </p:spPr>
        <p:txBody>
          <a:bodyPr wrap="square" rtlCol="0" anchor="ctr"/>
          <a:lstStyle/>
          <a:p>
            <a:pPr indent="0" marL="0">
              <a:buNone/>
            </a:pPr>
            <a:r>
              <a:rPr lang="en-US" sz="1300" b="1" dirty="0">
                <a:solidFill>
                  <a:srgbClr val="0F0E0E"/>
                </a:solidFill>
                <a:latin typeface="Arial" pitchFamily="34" charset="0"/>
                <a:ea typeface="Arial" pitchFamily="34" charset="-122"/>
                <a:cs typeface="Arial" pitchFamily="34" charset="-120"/>
              </a:rPr>
              <a:t>❌ Status Quo</a:t>
            </a:r>
            <a:endParaRPr lang="en-US" sz="1300" dirty="0"/>
          </a:p>
        </p:txBody>
      </p:sp>
      <p:sp>
        <p:nvSpPr>
          <p:cNvPr id="6" name="Text 4"/>
          <p:cNvSpPr/>
          <p:nvPr/>
        </p:nvSpPr>
        <p:spPr>
          <a:xfrm>
            <a:off x="411480" y="214884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"Budget Used: 73%"</a:t>
            </a:r>
            <a:endParaRPr lang="en-US" sz="1100" dirty="0"/>
          </a:p>
        </p:txBody>
      </p:sp>
      <p:sp>
        <p:nvSpPr>
          <p:cNvPr id="7" name="Text 5"/>
          <p:cNvSpPr/>
          <p:nvPr/>
        </p:nvSpPr>
        <p:spPr>
          <a:xfrm>
            <a:off x="411480" y="274320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Black box — no root cause</a:t>
            </a:r>
            <a:endParaRPr lang="en-US" sz="1100" dirty="0"/>
          </a:p>
        </p:txBody>
      </p:sp>
      <p:sp>
        <p:nvSpPr>
          <p:cNvPr id="8" name="Text 6"/>
          <p:cNvSpPr/>
          <p:nvPr/>
        </p:nvSpPr>
        <p:spPr>
          <a:xfrm>
            <a:off x="411480" y="333756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Assume DSP is broken</a:t>
            </a:r>
            <a:endParaRPr lang="en-US" sz="1100" dirty="0"/>
          </a:p>
        </p:txBody>
      </p:sp>
      <p:sp>
        <p:nvSpPr>
          <p:cNvPr id="9" name="Text 7"/>
          <p:cNvSpPr/>
          <p:nvPr/>
        </p:nvSpPr>
        <p:spPr>
          <a:xfrm>
            <a:off x="411480" y="393192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Move budget to competitor</a:t>
            </a:r>
            <a:endParaRPr lang="en-US" sz="1100" dirty="0"/>
          </a:p>
        </p:txBody>
      </p:sp>
      <p:sp>
        <p:nvSpPr>
          <p:cNvPr id="10" name="Shape 8"/>
          <p:cNvSpPr/>
          <p:nvPr/>
        </p:nvSpPr>
        <p:spPr>
          <a:xfrm>
            <a:off x="4937760" y="1554480"/>
            <a:ext cx="3931920" cy="4572000"/>
          </a:xfrm>
          <a:prstGeom prst="rect">
            <a:avLst/>
          </a:prstGeom>
          <a:solidFill>
            <a:srgbClr val="F7F7F7"/>
          </a:solidFill>
          <a:ln/>
        </p:spPr>
      </p:sp>
      <p:sp>
        <p:nvSpPr>
          <p:cNvPr id="11" name="Text 9"/>
          <p:cNvSpPr/>
          <p:nvPr/>
        </p:nvSpPr>
        <p:spPr>
          <a:xfrm>
            <a:off x="5029200" y="1691640"/>
            <a:ext cx="3749040" cy="274320"/>
          </a:xfrm>
          <a:prstGeom prst="rect">
            <a:avLst/>
          </a:prstGeom>
          <a:noFill/>
          <a:ln/>
        </p:spPr>
        <p:txBody>
          <a:bodyPr wrap="square" rtlCol="0" anchor="ctr"/>
          <a:lstStyle/>
          <a:p>
            <a:pPr indent="0" marL="0">
              <a:buNone/>
            </a:pPr>
            <a:r>
              <a:rPr lang="en-US" sz="1300" b="1" dirty="0">
                <a:solidFill>
                  <a:srgbClr val="FFB81C"/>
                </a:solidFill>
                <a:latin typeface="Arial" pitchFamily="34" charset="0"/>
                <a:ea typeface="Arial" pitchFamily="34" charset="-122"/>
                <a:cs typeface="Arial" pitchFamily="34" charset="-120"/>
              </a:rPr>
              <a:t>✓ PaceIQ</a:t>
            </a:r>
            <a:endParaRPr lang="en-US" sz="1300" dirty="0"/>
          </a:p>
        </p:txBody>
      </p:sp>
      <p:sp>
        <p:nvSpPr>
          <p:cNvPr id="12" name="Text 10"/>
          <p:cNvSpPr/>
          <p:nvPr/>
        </p:nvSpPr>
        <p:spPr>
          <a:xfrm>
            <a:off x="5074920" y="214884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24% auction loss, 31% freq cap, ...</a:t>
            </a:r>
            <a:endParaRPr lang="en-US" sz="1100" dirty="0"/>
          </a:p>
        </p:txBody>
      </p:sp>
      <p:sp>
        <p:nvSpPr>
          <p:cNvPr id="13" name="Text 11"/>
          <p:cNvSpPr/>
          <p:nvPr/>
        </p:nvSpPr>
        <p:spPr>
          <a:xfrm>
            <a:off x="5074920" y="274320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Categorized loss breakdown</a:t>
            </a:r>
            <a:endParaRPr lang="en-US" sz="1100" dirty="0"/>
          </a:p>
        </p:txBody>
      </p:sp>
      <p:sp>
        <p:nvSpPr>
          <p:cNvPr id="14" name="Text 12"/>
          <p:cNvSpPr/>
          <p:nvPr/>
        </p:nvSpPr>
        <p:spPr>
          <a:xfrm>
            <a:off x="5074920" y="333756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Real-time agent recommendations</a:t>
            </a:r>
            <a:endParaRPr lang="en-US" sz="1100" dirty="0"/>
          </a:p>
        </p:txBody>
      </p:sp>
      <p:sp>
        <p:nvSpPr>
          <p:cNvPr id="15" name="Text 13"/>
          <p:cNvSpPr/>
          <p:nvPr/>
        </p:nvSpPr>
        <p:spPr>
          <a:xfrm>
            <a:off x="5074920" y="3931920"/>
            <a:ext cx="3657600" cy="548640"/>
          </a:xfrm>
          <a:prstGeom prst="rect">
            <a:avLst/>
          </a:prstGeom>
          <a:noFill/>
          <a:ln/>
        </p:spPr>
        <p:txBody>
          <a:bodyPr wrap="square" rtlCol="0" anchor="ctr"/>
          <a:lstStyle/>
          <a:p>
            <a:pPr indent="0" marL="0">
              <a:buNone/>
            </a:pPr>
            <a:r>
              <a:rPr lang="en-US" sz="1100" dirty="0">
                <a:solidFill>
                  <a:srgbClr val="0F0E0E"/>
                </a:solidFill>
                <a:latin typeface="Arial" pitchFamily="34" charset="0"/>
                <a:ea typeface="Arial" pitchFamily="34" charset="-122"/>
                <a:cs typeface="Arial" pitchFamily="34" charset="-120"/>
              </a:rPr>
              <a:t>• Advertiser adjusts and profits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E0E"/>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B81C"/>
                </a:solidFill>
                <a:latin typeface="Arial" pitchFamily="34" charset="0"/>
                <a:ea typeface="Arial" pitchFamily="34" charset="-122"/>
                <a:cs typeface="Arial" pitchFamily="34" charset="-120"/>
              </a:rPr>
              <a:t>THE MECHANIC</a:t>
            </a:r>
            <a:endParaRPr lang="en-US" sz="900" dirty="0"/>
          </a:p>
        </p:txBody>
      </p:sp>
      <p:sp>
        <p:nvSpPr>
          <p:cNvPr id="3" name="Text 1"/>
          <p:cNvSpPr/>
          <p:nvPr/>
        </p:nvSpPr>
        <p:spPr>
          <a:xfrm>
            <a:off x="274320" y="73152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Five-Step Real-Time Diagnostics &amp; Nudge Loop</a:t>
            </a:r>
            <a:endParaRPr lang="en-US" sz="2400" dirty="0"/>
          </a:p>
        </p:txBody>
      </p:sp>
      <p:sp>
        <p:nvSpPr>
          <p:cNvPr id="4" name="Text 2"/>
          <p:cNvSpPr/>
          <p:nvPr/>
        </p:nvSpPr>
        <p:spPr>
          <a:xfrm>
            <a:off x="274320" y="1463040"/>
            <a:ext cx="1554480" cy="365760"/>
          </a:xfrm>
          <a:prstGeom prst="rect">
            <a:avLst/>
          </a:prstGeom>
          <a:noFill/>
          <a:ln/>
        </p:spPr>
        <p:txBody>
          <a:bodyPr wrap="square" rtlCol="0" anchor="ctr"/>
          <a:lstStyle/>
          <a:p>
            <a:pPr algn="ctr" indent="0" marL="0">
              <a:buNone/>
            </a:pPr>
            <a:r>
              <a:rPr lang="en-US" sz="1600" b="1" dirty="0">
                <a:solidFill>
                  <a:srgbClr val="FFB81C"/>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274320" y="1920240"/>
            <a:ext cx="155448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Budget Tracking</a:t>
            </a:r>
            <a:endParaRPr lang="en-US" sz="1100" dirty="0"/>
          </a:p>
        </p:txBody>
      </p:sp>
      <p:sp>
        <p:nvSpPr>
          <p:cNvPr id="6" name="Text 4"/>
          <p:cNvSpPr/>
          <p:nvPr/>
        </p:nvSpPr>
        <p:spPr>
          <a:xfrm>
            <a:off x="274320" y="2240280"/>
            <a:ext cx="1554480" cy="54864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Impression-by-impression spend</a:t>
            </a:r>
            <a:endParaRPr lang="en-US" sz="900" dirty="0"/>
          </a:p>
        </p:txBody>
      </p:sp>
      <p:sp>
        <p:nvSpPr>
          <p:cNvPr id="7" name="Shape 5"/>
          <p:cNvSpPr/>
          <p:nvPr/>
        </p:nvSpPr>
        <p:spPr>
          <a:xfrm>
            <a:off x="1965960" y="1645920"/>
            <a:ext cx="274320" cy="0"/>
          </a:xfrm>
          <a:prstGeom prst="line">
            <a:avLst/>
          </a:prstGeom>
          <a:noFill/>
          <a:ln w="25400">
            <a:solidFill>
              <a:srgbClr val="FFB81C"/>
            </a:solidFill>
            <a:prstDash val="dash"/>
          </a:ln>
        </p:spPr>
      </p:sp>
      <p:sp>
        <p:nvSpPr>
          <p:cNvPr id="8" name="Text 6"/>
          <p:cNvSpPr/>
          <p:nvPr/>
        </p:nvSpPr>
        <p:spPr>
          <a:xfrm>
            <a:off x="1965960" y="1463040"/>
            <a:ext cx="1554480" cy="365760"/>
          </a:xfrm>
          <a:prstGeom prst="rect">
            <a:avLst/>
          </a:prstGeom>
          <a:noFill/>
          <a:ln/>
        </p:spPr>
        <p:txBody>
          <a:bodyPr wrap="square" rtlCol="0" anchor="ctr"/>
          <a:lstStyle/>
          <a:p>
            <a:pPr algn="ctr" indent="0" marL="0">
              <a:buNone/>
            </a:pPr>
            <a:r>
              <a:rPr lang="en-US" sz="1600" b="1" dirty="0">
                <a:solidFill>
                  <a:srgbClr val="FFB81C"/>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965960" y="1920240"/>
            <a:ext cx="155448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Loss Attribution</a:t>
            </a:r>
            <a:endParaRPr lang="en-US" sz="1100" dirty="0"/>
          </a:p>
        </p:txBody>
      </p:sp>
      <p:sp>
        <p:nvSpPr>
          <p:cNvPr id="10" name="Text 8"/>
          <p:cNvSpPr/>
          <p:nvPr/>
        </p:nvSpPr>
        <p:spPr>
          <a:xfrm>
            <a:off x="1965960" y="2240280"/>
            <a:ext cx="1554480" cy="54864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Categorize unspent (auction/freq/cap)</a:t>
            </a:r>
            <a:endParaRPr lang="en-US" sz="900" dirty="0"/>
          </a:p>
        </p:txBody>
      </p:sp>
      <p:sp>
        <p:nvSpPr>
          <p:cNvPr id="11" name="Shape 9"/>
          <p:cNvSpPr/>
          <p:nvPr/>
        </p:nvSpPr>
        <p:spPr>
          <a:xfrm>
            <a:off x="3657600" y="1645920"/>
            <a:ext cx="274320" cy="0"/>
          </a:xfrm>
          <a:prstGeom prst="line">
            <a:avLst/>
          </a:prstGeom>
          <a:noFill/>
          <a:ln w="25400">
            <a:solidFill>
              <a:srgbClr val="FFB81C"/>
            </a:solidFill>
            <a:prstDash val="dash"/>
          </a:ln>
        </p:spPr>
      </p:sp>
      <p:sp>
        <p:nvSpPr>
          <p:cNvPr id="12" name="Text 10"/>
          <p:cNvSpPr/>
          <p:nvPr/>
        </p:nvSpPr>
        <p:spPr>
          <a:xfrm>
            <a:off x="3657600" y="1463040"/>
            <a:ext cx="1554480" cy="365760"/>
          </a:xfrm>
          <a:prstGeom prst="rect">
            <a:avLst/>
          </a:prstGeom>
          <a:noFill/>
          <a:ln/>
        </p:spPr>
        <p:txBody>
          <a:bodyPr wrap="square" rtlCol="0" anchor="ctr"/>
          <a:lstStyle/>
          <a:p>
            <a:pPr algn="ctr" indent="0" marL="0">
              <a:buNone/>
            </a:pPr>
            <a:r>
              <a:rPr lang="en-US" sz="1600" b="1" dirty="0">
                <a:solidFill>
                  <a:srgbClr val="FFB81C"/>
                </a:solidFill>
                <a:latin typeface="Arial" pitchFamily="34" charset="0"/>
                <a:ea typeface="Arial" pitchFamily="34" charset="-122"/>
                <a:cs typeface="Arial" pitchFamily="34" charset="-120"/>
              </a:rPr>
              <a:t>3</a:t>
            </a:r>
            <a:endParaRPr lang="en-US" sz="1600" dirty="0"/>
          </a:p>
        </p:txBody>
      </p:sp>
      <p:sp>
        <p:nvSpPr>
          <p:cNvPr id="13" name="Text 11"/>
          <p:cNvSpPr/>
          <p:nvPr/>
        </p:nvSpPr>
        <p:spPr>
          <a:xfrm>
            <a:off x="3657600" y="1920240"/>
            <a:ext cx="155448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Intent Monitoring</a:t>
            </a:r>
            <a:endParaRPr lang="en-US" sz="1100" dirty="0"/>
          </a:p>
        </p:txBody>
      </p:sp>
      <p:sp>
        <p:nvSpPr>
          <p:cNvPr id="14" name="Text 12"/>
          <p:cNvSpPr/>
          <p:nvPr/>
        </p:nvSpPr>
        <p:spPr>
          <a:xfrm>
            <a:off x="3657600" y="2240280"/>
            <a:ext cx="1554480" cy="54864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Heatmap vs peer baseline</a:t>
            </a:r>
            <a:endParaRPr lang="en-US" sz="900" dirty="0"/>
          </a:p>
        </p:txBody>
      </p:sp>
      <p:sp>
        <p:nvSpPr>
          <p:cNvPr id="15" name="Shape 13"/>
          <p:cNvSpPr/>
          <p:nvPr/>
        </p:nvSpPr>
        <p:spPr>
          <a:xfrm>
            <a:off x="5349240" y="1645920"/>
            <a:ext cx="274320" cy="0"/>
          </a:xfrm>
          <a:prstGeom prst="line">
            <a:avLst/>
          </a:prstGeom>
          <a:noFill/>
          <a:ln w="25400">
            <a:solidFill>
              <a:srgbClr val="FFB81C"/>
            </a:solidFill>
            <a:prstDash val="dash"/>
          </a:ln>
        </p:spPr>
      </p:sp>
      <p:sp>
        <p:nvSpPr>
          <p:cNvPr id="16" name="Text 14"/>
          <p:cNvSpPr/>
          <p:nvPr/>
        </p:nvSpPr>
        <p:spPr>
          <a:xfrm>
            <a:off x="5349240" y="1463040"/>
            <a:ext cx="1554480" cy="365760"/>
          </a:xfrm>
          <a:prstGeom prst="rect">
            <a:avLst/>
          </a:prstGeom>
          <a:noFill/>
          <a:ln/>
        </p:spPr>
        <p:txBody>
          <a:bodyPr wrap="square" rtlCol="0" anchor="ctr"/>
          <a:lstStyle/>
          <a:p>
            <a:pPr algn="ctr" indent="0" marL="0">
              <a:buNone/>
            </a:pPr>
            <a:r>
              <a:rPr lang="en-US" sz="1600" b="1" dirty="0">
                <a:solidFill>
                  <a:srgbClr val="FFB81C"/>
                </a:solidFill>
                <a:latin typeface="Arial" pitchFamily="34" charset="0"/>
                <a:ea typeface="Arial" pitchFamily="34" charset="-122"/>
                <a:cs typeface="Arial" pitchFamily="34" charset="-120"/>
              </a:rPr>
              <a:t>4</a:t>
            </a:r>
            <a:endParaRPr lang="en-US" sz="1600" dirty="0"/>
          </a:p>
        </p:txBody>
      </p:sp>
      <p:sp>
        <p:nvSpPr>
          <p:cNvPr id="17" name="Text 15"/>
          <p:cNvSpPr/>
          <p:nvPr/>
        </p:nvSpPr>
        <p:spPr>
          <a:xfrm>
            <a:off x="5349240" y="1920240"/>
            <a:ext cx="155448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Diagnostics</a:t>
            </a:r>
            <a:endParaRPr lang="en-US" sz="1100" dirty="0"/>
          </a:p>
        </p:txBody>
      </p:sp>
      <p:sp>
        <p:nvSpPr>
          <p:cNvPr id="18" name="Text 16"/>
          <p:cNvSpPr/>
          <p:nvPr/>
        </p:nvSpPr>
        <p:spPr>
          <a:xfrm>
            <a:off x="5349240" y="2240280"/>
            <a:ext cx="1554480" cy="54864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Top 3 issues + recommended fixes</a:t>
            </a:r>
            <a:endParaRPr lang="en-US" sz="900" dirty="0"/>
          </a:p>
        </p:txBody>
      </p:sp>
      <p:sp>
        <p:nvSpPr>
          <p:cNvPr id="19" name="Shape 17"/>
          <p:cNvSpPr/>
          <p:nvPr/>
        </p:nvSpPr>
        <p:spPr>
          <a:xfrm>
            <a:off x="7040880" y="1645920"/>
            <a:ext cx="274320" cy="0"/>
          </a:xfrm>
          <a:prstGeom prst="line">
            <a:avLst/>
          </a:prstGeom>
          <a:noFill/>
          <a:ln w="25400">
            <a:solidFill>
              <a:srgbClr val="FFB81C"/>
            </a:solidFill>
            <a:prstDash val="dash"/>
          </a:ln>
        </p:spPr>
      </p:sp>
      <p:sp>
        <p:nvSpPr>
          <p:cNvPr id="20" name="Text 18"/>
          <p:cNvSpPr/>
          <p:nvPr/>
        </p:nvSpPr>
        <p:spPr>
          <a:xfrm>
            <a:off x="7040880" y="1463040"/>
            <a:ext cx="1554480" cy="365760"/>
          </a:xfrm>
          <a:prstGeom prst="rect">
            <a:avLst/>
          </a:prstGeom>
          <a:noFill/>
          <a:ln/>
        </p:spPr>
        <p:txBody>
          <a:bodyPr wrap="square" rtlCol="0" anchor="ctr"/>
          <a:lstStyle/>
          <a:p>
            <a:pPr algn="ctr" indent="0" marL="0">
              <a:buNone/>
            </a:pPr>
            <a:r>
              <a:rPr lang="en-US" sz="1600" b="1" dirty="0">
                <a:solidFill>
                  <a:srgbClr val="FFB81C"/>
                </a:solidFill>
                <a:latin typeface="Arial" pitchFamily="34" charset="0"/>
                <a:ea typeface="Arial" pitchFamily="34" charset="-122"/>
                <a:cs typeface="Arial" pitchFamily="34" charset="-120"/>
              </a:rPr>
              <a:t>5</a:t>
            </a:r>
            <a:endParaRPr lang="en-US" sz="1600" dirty="0"/>
          </a:p>
        </p:txBody>
      </p:sp>
      <p:sp>
        <p:nvSpPr>
          <p:cNvPr id="21" name="Text 19"/>
          <p:cNvSpPr/>
          <p:nvPr/>
        </p:nvSpPr>
        <p:spPr>
          <a:xfrm>
            <a:off x="7040880" y="1920240"/>
            <a:ext cx="155448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One-Tap Nudge</a:t>
            </a:r>
            <a:endParaRPr lang="en-US" sz="1100" dirty="0"/>
          </a:p>
        </p:txBody>
      </p:sp>
      <p:sp>
        <p:nvSpPr>
          <p:cNvPr id="22" name="Text 20"/>
          <p:cNvSpPr/>
          <p:nvPr/>
        </p:nvSpPr>
        <p:spPr>
          <a:xfrm>
            <a:off x="7040880" y="2240280"/>
            <a:ext cx="1554480" cy="54864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Adjust bid/cap without leaving dashboard</a:t>
            </a:r>
            <a:endParaRPr lang="en-US" sz="900" dirty="0"/>
          </a:p>
        </p:txBody>
      </p:sp>
      <p:sp>
        <p:nvSpPr>
          <p:cNvPr id="23" name="Shape 21"/>
          <p:cNvSpPr/>
          <p:nvPr/>
        </p:nvSpPr>
        <p:spPr>
          <a:xfrm>
            <a:off x="274320" y="3474720"/>
            <a:ext cx="8412480" cy="2651760"/>
          </a:xfrm>
          <a:prstGeom prst="rect">
            <a:avLst/>
          </a:prstGeom>
          <a:solidFill>
            <a:srgbClr val="2A2A2A"/>
          </a:solidFill>
          <a:ln w="25400">
            <a:solidFill>
              <a:srgbClr val="0078D4"/>
            </a:solidFill>
            <a:prstDash val="solid"/>
          </a:ln>
          <a:effectLst>
            <a:outerShdw sx="100000" sy="100000" kx="0" ky="0" algn="bl" rotWithShape="0" blurRad="38100" dist="12700" dir="2700000">
              <a:srgbClr val="000000">
                <a:alpha val="12000"/>
              </a:srgbClr>
            </a:outerShdw>
          </a:effectLst>
        </p:spPr>
      </p:sp>
      <p:sp>
        <p:nvSpPr>
          <p:cNvPr id="24" name="Text 22"/>
          <p:cNvSpPr/>
          <p:nvPr/>
        </p:nvSpPr>
        <p:spPr>
          <a:xfrm>
            <a:off x="457200" y="3611880"/>
            <a:ext cx="8046720" cy="182880"/>
          </a:xfrm>
          <a:prstGeom prst="rect">
            <a:avLst/>
          </a:prstGeom>
          <a:noFill/>
          <a:ln/>
        </p:spPr>
        <p:txBody>
          <a:bodyPr wrap="square" rtlCol="0" anchor="ctr"/>
          <a:lstStyle/>
          <a:p>
            <a:pPr indent="0" marL="0">
              <a:buNone/>
            </a:pPr>
            <a:r>
              <a:rPr lang="en-US" sz="1000" b="1" dirty="0">
                <a:solidFill>
                  <a:srgbClr val="FFB81C"/>
                </a:solidFill>
                <a:latin typeface="Arial" pitchFamily="34" charset="0"/>
                <a:ea typeface="Arial" pitchFamily="34" charset="-122"/>
                <a:cs typeface="Arial" pitchFamily="34" charset="-120"/>
              </a:rPr>
              <a:t>PhonePe Proof Point</a:t>
            </a:r>
            <a:endParaRPr lang="en-US" sz="1000" dirty="0"/>
          </a:p>
        </p:txBody>
      </p:sp>
      <p:sp>
        <p:nvSpPr>
          <p:cNvPr id="25" name="Text 23"/>
          <p:cNvSpPr/>
          <p:nvPr/>
        </p:nvSpPr>
        <p:spPr>
          <a:xfrm>
            <a:off x="457200" y="3886200"/>
            <a:ext cx="8046720" cy="21031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Rebuilt 6 siloed payment ops workflows into 1 unified ops intelligence layer with auto-categorization and routing. Result: TAT 2 days → 4 hours, −68% escalation tickets. Freed ops capacity from firefighting to strategy. PaceIQ brings the same ops intelligence to DSP impression diagnostics.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0000"/>
                </a:solidFill>
                <a:latin typeface="Arial" pitchFamily="34" charset="0"/>
                <a:ea typeface="Arial" pitchFamily="34" charset="-122"/>
                <a:cs typeface="Arial" pitchFamily="34" charset="-120"/>
              </a:rPr>
              <a:t>THE PRODUCT</a:t>
            </a:r>
            <a:endParaRPr lang="en-US" sz="900" dirty="0"/>
          </a:p>
        </p:txBody>
      </p:sp>
      <p:sp>
        <p:nvSpPr>
          <p:cNvPr id="3" name="Text 1"/>
          <p:cNvSpPr/>
          <p:nvPr/>
        </p:nvSpPr>
        <p:spPr>
          <a:xfrm>
            <a:off x="274320" y="731520"/>
            <a:ext cx="8229600" cy="365760"/>
          </a:xfrm>
          <a:prstGeom prst="rect">
            <a:avLst/>
          </a:prstGeom>
          <a:noFill/>
          <a:ln/>
        </p:spPr>
        <p:txBody>
          <a:bodyPr wrap="square" rtlCol="0" anchor="ctr"/>
          <a:lstStyle/>
          <a:p>
            <a:pPr indent="0" marL="0">
              <a:buNone/>
            </a:pPr>
            <a:r>
              <a:rPr lang="en-US" sz="2200" b="1" dirty="0">
                <a:solidFill>
                  <a:srgbClr val="0F0E0E"/>
                </a:solidFill>
                <a:latin typeface="Arial" pitchFamily="34" charset="0"/>
                <a:ea typeface="Arial" pitchFamily="34" charset="-122"/>
                <a:cs typeface="Arial" pitchFamily="34" charset="-120"/>
              </a:rPr>
              <a:t>Four Screens — Dashboard to Ops Console</a:t>
            </a:r>
            <a:endParaRPr lang="en-US" sz="2200" dirty="0"/>
          </a:p>
        </p:txBody>
      </p:sp>
      <p:sp>
        <p:nvSpPr>
          <p:cNvPr id="4" name="Shape 2"/>
          <p:cNvSpPr/>
          <p:nvPr/>
        </p:nvSpPr>
        <p:spPr>
          <a:xfrm>
            <a:off x="274320" y="1371600"/>
            <a:ext cx="4114800" cy="2468880"/>
          </a:xfrm>
          <a:prstGeom prst="rect">
            <a:avLst/>
          </a:prstGeom>
          <a:solidFill>
            <a:srgbClr val="F7F7F7"/>
          </a:solidFill>
          <a:ln w="12700">
            <a:solidFill>
              <a:srgbClr val="FFB81C"/>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457200" y="1554480"/>
            <a:ext cx="3749040" cy="320040"/>
          </a:xfrm>
          <a:prstGeom prst="rect">
            <a:avLst/>
          </a:prstGeom>
          <a:noFill/>
          <a:ln/>
        </p:spPr>
        <p:txBody>
          <a:bodyPr wrap="square" rtlCol="0" anchor="ctr"/>
          <a:lstStyle/>
          <a:p>
            <a:pPr indent="0" marL="0">
              <a:buNone/>
            </a:pPr>
            <a:r>
              <a:rPr lang="en-US" sz="1200" b="1" dirty="0">
                <a:solidFill>
                  <a:srgbClr val="0F0E0E"/>
                </a:solidFill>
                <a:latin typeface="Arial" pitchFamily="34" charset="0"/>
                <a:ea typeface="Arial" pitchFamily="34" charset="-122"/>
                <a:cs typeface="Arial" pitchFamily="34" charset="-120"/>
              </a:rPr>
              <a:t>01 · Dashboard</a:t>
            </a:r>
            <a:endParaRPr lang="en-US" sz="1200" dirty="0"/>
          </a:p>
        </p:txBody>
      </p:sp>
      <p:sp>
        <p:nvSpPr>
          <p:cNvPr id="6" name="Text 4"/>
          <p:cNvSpPr/>
          <p:nvPr/>
        </p:nvSpPr>
        <p:spPr>
          <a:xfrm>
            <a:off x="457200" y="1965960"/>
            <a:ext cx="3749040" cy="16459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Health score + budget pacing bar</a:t>
            </a:r>
            <a:endParaRPr lang="en-US" sz="1000" dirty="0"/>
          </a:p>
        </p:txBody>
      </p:sp>
      <p:sp>
        <p:nvSpPr>
          <p:cNvPr id="7" name="Shape 5"/>
          <p:cNvSpPr/>
          <p:nvPr/>
        </p:nvSpPr>
        <p:spPr>
          <a:xfrm>
            <a:off x="4663440" y="1371600"/>
            <a:ext cx="4114800" cy="2468880"/>
          </a:xfrm>
          <a:prstGeom prst="rect">
            <a:avLst/>
          </a:prstGeom>
          <a:solidFill>
            <a:srgbClr val="F7F7F7"/>
          </a:solidFill>
          <a:ln w="12700">
            <a:solidFill>
              <a:srgbClr val="FFB81C"/>
            </a:solidFill>
            <a:prstDash val="solid"/>
          </a:ln>
          <a:effectLst>
            <a:outerShdw sx="100000" sy="100000" kx="0" ky="0" algn="bl" rotWithShape="0" blurRad="38100" dist="12700" dir="2700000">
              <a:srgbClr val="000000">
                <a:alpha val="12000"/>
              </a:srgbClr>
            </a:outerShdw>
          </a:effectLst>
        </p:spPr>
      </p:sp>
      <p:sp>
        <p:nvSpPr>
          <p:cNvPr id="8" name="Text 6"/>
          <p:cNvSpPr/>
          <p:nvPr/>
        </p:nvSpPr>
        <p:spPr>
          <a:xfrm>
            <a:off x="4846320" y="1554480"/>
            <a:ext cx="3749040" cy="320040"/>
          </a:xfrm>
          <a:prstGeom prst="rect">
            <a:avLst/>
          </a:prstGeom>
          <a:noFill/>
          <a:ln/>
        </p:spPr>
        <p:txBody>
          <a:bodyPr wrap="square" rtlCol="0" anchor="ctr"/>
          <a:lstStyle/>
          <a:p>
            <a:pPr indent="0" marL="0">
              <a:buNone/>
            </a:pPr>
            <a:r>
              <a:rPr lang="en-US" sz="1200" b="1" dirty="0">
                <a:solidFill>
                  <a:srgbClr val="0F0E0E"/>
                </a:solidFill>
                <a:latin typeface="Arial" pitchFamily="34" charset="0"/>
                <a:ea typeface="Arial" pitchFamily="34" charset="-122"/>
                <a:cs typeface="Arial" pitchFamily="34" charset="-120"/>
              </a:rPr>
              <a:t>02 · Diagnostics</a:t>
            </a:r>
            <a:endParaRPr lang="en-US" sz="1200" dirty="0"/>
          </a:p>
        </p:txBody>
      </p:sp>
      <p:sp>
        <p:nvSpPr>
          <p:cNvPr id="9" name="Text 7"/>
          <p:cNvSpPr/>
          <p:nvPr/>
        </p:nvSpPr>
        <p:spPr>
          <a:xfrm>
            <a:off x="4846320" y="1965960"/>
            <a:ext cx="3749040" cy="16459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Spend breakdown by loss reason + heatmap</a:t>
            </a:r>
            <a:endParaRPr lang="en-US" sz="1000" dirty="0"/>
          </a:p>
        </p:txBody>
      </p:sp>
      <p:sp>
        <p:nvSpPr>
          <p:cNvPr id="10" name="Shape 8"/>
          <p:cNvSpPr/>
          <p:nvPr/>
        </p:nvSpPr>
        <p:spPr>
          <a:xfrm>
            <a:off x="274320" y="4023360"/>
            <a:ext cx="4114800" cy="2468880"/>
          </a:xfrm>
          <a:prstGeom prst="rect">
            <a:avLst/>
          </a:prstGeom>
          <a:solidFill>
            <a:srgbClr val="F7F7F7"/>
          </a:solidFill>
          <a:ln w="12700">
            <a:solidFill>
              <a:srgbClr val="FFB81C"/>
            </a:solidFill>
            <a:prstDash val="solid"/>
          </a:ln>
          <a:effectLst>
            <a:outerShdw sx="100000" sy="100000" kx="0" ky="0" algn="bl" rotWithShape="0" blurRad="38100" dist="12700" dir="2700000">
              <a:srgbClr val="000000">
                <a:alpha val="12000"/>
              </a:srgbClr>
            </a:outerShdw>
          </a:effectLst>
        </p:spPr>
      </p:sp>
      <p:sp>
        <p:nvSpPr>
          <p:cNvPr id="11" name="Text 9"/>
          <p:cNvSpPr/>
          <p:nvPr/>
        </p:nvSpPr>
        <p:spPr>
          <a:xfrm>
            <a:off x="457200" y="4206240"/>
            <a:ext cx="3749040" cy="320040"/>
          </a:xfrm>
          <a:prstGeom prst="rect">
            <a:avLst/>
          </a:prstGeom>
          <a:noFill/>
          <a:ln/>
        </p:spPr>
        <p:txBody>
          <a:bodyPr wrap="square" rtlCol="0" anchor="ctr"/>
          <a:lstStyle/>
          <a:p>
            <a:pPr indent="0" marL="0">
              <a:buNone/>
            </a:pPr>
            <a:r>
              <a:rPr lang="en-US" sz="1200" b="1" dirty="0">
                <a:solidFill>
                  <a:srgbClr val="0F0E0E"/>
                </a:solidFill>
                <a:latin typeface="Arial" pitchFamily="34" charset="0"/>
                <a:ea typeface="Arial" pitchFamily="34" charset="-122"/>
                <a:cs typeface="Arial" pitchFamily="34" charset="-120"/>
              </a:rPr>
              <a:t>03 · Quality Deep-Dive</a:t>
            </a:r>
            <a:endParaRPr lang="en-US" sz="1200" dirty="0"/>
          </a:p>
        </p:txBody>
      </p:sp>
      <p:sp>
        <p:nvSpPr>
          <p:cNvPr id="12" name="Text 10"/>
          <p:cNvSpPr/>
          <p:nvPr/>
        </p:nvSpPr>
        <p:spPr>
          <a:xfrm>
            <a:off x="457200" y="4617720"/>
            <a:ext cx="3749040" cy="16459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7-day intent trend + recommendations</a:t>
            </a:r>
            <a:endParaRPr lang="en-US" sz="1000" dirty="0"/>
          </a:p>
        </p:txBody>
      </p:sp>
      <p:sp>
        <p:nvSpPr>
          <p:cNvPr id="13" name="Shape 11"/>
          <p:cNvSpPr/>
          <p:nvPr/>
        </p:nvSpPr>
        <p:spPr>
          <a:xfrm>
            <a:off x="4663440" y="4023360"/>
            <a:ext cx="4114800" cy="2468880"/>
          </a:xfrm>
          <a:prstGeom prst="rect">
            <a:avLst/>
          </a:prstGeom>
          <a:solidFill>
            <a:srgbClr val="F7F7F7"/>
          </a:solidFill>
          <a:ln w="12700">
            <a:solidFill>
              <a:srgbClr val="FFB81C"/>
            </a:solidFill>
            <a:prstDash val="solid"/>
          </a:ln>
          <a:effectLst>
            <a:outerShdw sx="100000" sy="100000" kx="0" ky="0" algn="bl" rotWithShape="0" blurRad="38100" dist="12700" dir="2700000">
              <a:srgbClr val="000000">
                <a:alpha val="12000"/>
              </a:srgbClr>
            </a:outerShdw>
          </a:effectLst>
        </p:spPr>
      </p:sp>
      <p:sp>
        <p:nvSpPr>
          <p:cNvPr id="14" name="Text 12"/>
          <p:cNvSpPr/>
          <p:nvPr/>
        </p:nvSpPr>
        <p:spPr>
          <a:xfrm>
            <a:off x="4846320" y="4206240"/>
            <a:ext cx="3749040" cy="320040"/>
          </a:xfrm>
          <a:prstGeom prst="rect">
            <a:avLst/>
          </a:prstGeom>
          <a:noFill/>
          <a:ln/>
        </p:spPr>
        <p:txBody>
          <a:bodyPr wrap="square" rtlCol="0" anchor="ctr"/>
          <a:lstStyle/>
          <a:p>
            <a:pPr indent="0" marL="0">
              <a:buNone/>
            </a:pPr>
            <a:r>
              <a:rPr lang="en-US" sz="1200" b="1" dirty="0">
                <a:solidFill>
                  <a:srgbClr val="0F0E0E"/>
                </a:solidFill>
                <a:latin typeface="Arial" pitchFamily="34" charset="0"/>
                <a:ea typeface="Arial" pitchFamily="34" charset="-122"/>
                <a:cs typeface="Arial" pitchFamily="34" charset="-120"/>
              </a:rPr>
              <a:t>04 · Ops Console</a:t>
            </a:r>
            <a:endParaRPr lang="en-US" sz="1200" dirty="0"/>
          </a:p>
        </p:txBody>
      </p:sp>
      <p:sp>
        <p:nvSpPr>
          <p:cNvPr id="15" name="Text 13"/>
          <p:cNvSpPr/>
          <p:nvPr/>
        </p:nvSpPr>
        <p:spPr>
          <a:xfrm>
            <a:off x="4846320" y="4617720"/>
            <a:ext cx="3749040" cy="16459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All campaigns health grid + bulk action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E0E"/>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B81C"/>
                </a:solidFill>
                <a:latin typeface="Arial" pitchFamily="34" charset="0"/>
                <a:ea typeface="Arial" pitchFamily="34" charset="-122"/>
                <a:cs typeface="Arial" pitchFamily="34" charset="-120"/>
              </a:rPr>
              <a:t>IMPACT &amp; ROI</a:t>
            </a:r>
            <a:endParaRPr lang="en-US" sz="900" dirty="0"/>
          </a:p>
        </p:txBody>
      </p:sp>
      <p:sp>
        <p:nvSpPr>
          <p:cNvPr id="3" name="Text 1"/>
          <p:cNvSpPr/>
          <p:nvPr/>
        </p:nvSpPr>
        <p:spPr>
          <a:xfrm>
            <a:off x="274320" y="731520"/>
            <a:ext cx="8229600" cy="2743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Proven on PhonePe—Adjusted for Adobe Scale</a:t>
            </a:r>
            <a:endParaRPr lang="en-US" sz="1800" dirty="0"/>
          </a:p>
        </p:txBody>
      </p:sp>
      <p:sp>
        <p:nvSpPr>
          <p:cNvPr id="4" name="Text 2"/>
          <p:cNvSpPr/>
          <p:nvPr/>
        </p:nvSpPr>
        <p:spPr>
          <a:xfrm>
            <a:off x="274320" y="1280160"/>
            <a:ext cx="4114800" cy="228600"/>
          </a:xfrm>
          <a:prstGeom prst="rect">
            <a:avLst/>
          </a:prstGeom>
          <a:noFill/>
          <a:ln/>
        </p:spPr>
        <p:txBody>
          <a:bodyPr wrap="square" rtlCol="0" anchor="ctr"/>
          <a:lstStyle/>
          <a:p>
            <a:pPr indent="0" marL="0">
              <a:buNone/>
            </a:pPr>
            <a:r>
              <a:rPr lang="en-US" sz="1200" b="1" dirty="0">
                <a:solidFill>
                  <a:srgbClr val="FFB81C"/>
                </a:solidFill>
                <a:latin typeface="Arial" pitchFamily="34" charset="0"/>
                <a:ea typeface="Arial" pitchFamily="34" charset="-122"/>
                <a:cs typeface="Arial" pitchFamily="34" charset="-120"/>
              </a:rPr>
              <a:t>Advertiser Impact</a:t>
            </a:r>
            <a:endParaRPr lang="en-US" sz="1200" dirty="0"/>
          </a:p>
        </p:txBody>
      </p:sp>
      <p:sp>
        <p:nvSpPr>
          <p:cNvPr id="5" name="Text 3"/>
          <p:cNvSpPr/>
          <p:nvPr/>
        </p:nvSpPr>
        <p:spPr>
          <a:xfrm>
            <a:off x="274320" y="1691640"/>
            <a:ext cx="1828800" cy="274320"/>
          </a:xfrm>
          <a:prstGeom prst="rect">
            <a:avLst/>
          </a:prstGeom>
          <a:noFill/>
          <a:ln/>
        </p:spPr>
        <p:txBody>
          <a:bodyPr wrap="square" rtlCol="0" anchor="ctr"/>
          <a:lstStyle/>
          <a:p>
            <a:pPr indent="0" marL="0">
              <a:buNone/>
            </a:pPr>
            <a:r>
              <a:rPr lang="en-US" sz="1600" b="1" dirty="0">
                <a:solidFill>
                  <a:srgbClr val="FFB81C"/>
                </a:solidFill>
                <a:latin typeface="Arial" pitchFamily="34" charset="0"/>
                <a:ea typeface="Arial" pitchFamily="34" charset="-122"/>
                <a:cs typeface="Arial" pitchFamily="34" charset="-120"/>
              </a:rPr>
              <a:t>+19%</a:t>
            </a:r>
            <a:endParaRPr lang="en-US" sz="1600" dirty="0"/>
          </a:p>
        </p:txBody>
      </p:sp>
      <p:sp>
        <p:nvSpPr>
          <p:cNvPr id="6" name="Text 4"/>
          <p:cNvSpPr/>
          <p:nvPr/>
        </p:nvSpPr>
        <p:spPr>
          <a:xfrm>
            <a:off x="2194560" y="169164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Budget Recovery (via diagnostics)</a:t>
            </a:r>
            <a:endParaRPr lang="en-US" sz="1000" dirty="0"/>
          </a:p>
        </p:txBody>
      </p:sp>
      <p:sp>
        <p:nvSpPr>
          <p:cNvPr id="7" name="Text 5"/>
          <p:cNvSpPr/>
          <p:nvPr/>
        </p:nvSpPr>
        <p:spPr>
          <a:xfrm>
            <a:off x="274320" y="2514600"/>
            <a:ext cx="1828800" cy="274320"/>
          </a:xfrm>
          <a:prstGeom prst="rect">
            <a:avLst/>
          </a:prstGeom>
          <a:noFill/>
          <a:ln/>
        </p:spPr>
        <p:txBody>
          <a:bodyPr wrap="square" rtlCol="0" anchor="ctr"/>
          <a:lstStyle/>
          <a:p>
            <a:pPr indent="0" marL="0">
              <a:buNone/>
            </a:pPr>
            <a:r>
              <a:rPr lang="en-US" sz="1600" b="1" dirty="0">
                <a:solidFill>
                  <a:srgbClr val="FFB81C"/>
                </a:solidFill>
                <a:latin typeface="Arial" pitchFamily="34" charset="0"/>
                <a:ea typeface="Arial" pitchFamily="34" charset="-122"/>
                <a:cs typeface="Arial" pitchFamily="34" charset="-120"/>
              </a:rPr>
              <a:t>−42%</a:t>
            </a:r>
            <a:endParaRPr lang="en-US" sz="1600" dirty="0"/>
          </a:p>
        </p:txBody>
      </p:sp>
      <p:sp>
        <p:nvSpPr>
          <p:cNvPr id="8" name="Text 6"/>
          <p:cNvSpPr/>
          <p:nvPr/>
        </p:nvSpPr>
        <p:spPr>
          <a:xfrm>
            <a:off x="2194560" y="251460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Blind Spend Waste</a:t>
            </a:r>
            <a:endParaRPr lang="en-US" sz="1000" dirty="0"/>
          </a:p>
        </p:txBody>
      </p:sp>
      <p:sp>
        <p:nvSpPr>
          <p:cNvPr id="9" name="Text 7"/>
          <p:cNvSpPr/>
          <p:nvPr/>
        </p:nvSpPr>
        <p:spPr>
          <a:xfrm>
            <a:off x="274320" y="3337560"/>
            <a:ext cx="1828800" cy="274320"/>
          </a:xfrm>
          <a:prstGeom prst="rect">
            <a:avLst/>
          </a:prstGeom>
          <a:noFill/>
          <a:ln/>
        </p:spPr>
        <p:txBody>
          <a:bodyPr wrap="square" rtlCol="0" anchor="ctr"/>
          <a:lstStyle/>
          <a:p>
            <a:pPr indent="0" marL="0">
              <a:buNone/>
            </a:pPr>
            <a:r>
              <a:rPr lang="en-US" sz="1600" b="1" dirty="0">
                <a:solidFill>
                  <a:srgbClr val="FFB81C"/>
                </a:solidFill>
                <a:latin typeface="Arial" pitchFamily="34" charset="0"/>
                <a:ea typeface="Arial" pitchFamily="34" charset="-122"/>
                <a:cs typeface="Arial" pitchFamily="34" charset="-120"/>
              </a:rPr>
              <a:t>−31%</a:t>
            </a:r>
            <a:endParaRPr lang="en-US" sz="1600" dirty="0"/>
          </a:p>
        </p:txBody>
      </p:sp>
      <p:sp>
        <p:nvSpPr>
          <p:cNvPr id="10" name="Text 8"/>
          <p:cNvSpPr/>
          <p:nvPr/>
        </p:nvSpPr>
        <p:spPr>
          <a:xfrm>
            <a:off x="2194560" y="333756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Troubleshooting Time</a:t>
            </a:r>
            <a:endParaRPr lang="en-US" sz="1000" dirty="0"/>
          </a:p>
        </p:txBody>
      </p:sp>
      <p:sp>
        <p:nvSpPr>
          <p:cNvPr id="11" name="Text 9"/>
          <p:cNvSpPr/>
          <p:nvPr/>
        </p:nvSpPr>
        <p:spPr>
          <a:xfrm>
            <a:off x="274320" y="4160520"/>
            <a:ext cx="1828800" cy="274320"/>
          </a:xfrm>
          <a:prstGeom prst="rect">
            <a:avLst/>
          </a:prstGeom>
          <a:noFill/>
          <a:ln/>
        </p:spPr>
        <p:txBody>
          <a:bodyPr wrap="square" rtlCol="0" anchor="ctr"/>
          <a:lstStyle/>
          <a:p>
            <a:pPr indent="0" marL="0">
              <a:buNone/>
            </a:pPr>
            <a:r>
              <a:rPr lang="en-US" sz="1600" b="1" dirty="0">
                <a:solidFill>
                  <a:srgbClr val="FFB81C"/>
                </a:solidFill>
                <a:latin typeface="Arial" pitchFamily="34" charset="0"/>
                <a:ea typeface="Arial" pitchFamily="34" charset="-122"/>
                <a:cs typeface="Arial" pitchFamily="34" charset="-120"/>
              </a:rPr>
              <a:t>+$1,890</a:t>
            </a:r>
            <a:endParaRPr lang="en-US" sz="1600" dirty="0"/>
          </a:p>
        </p:txBody>
      </p:sp>
      <p:sp>
        <p:nvSpPr>
          <p:cNvPr id="12" name="Text 10"/>
          <p:cNvSpPr/>
          <p:nvPr/>
        </p:nvSpPr>
        <p:spPr>
          <a:xfrm>
            <a:off x="2194560" y="416052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Monthly GMV recovered</a:t>
            </a:r>
            <a:endParaRPr lang="en-US" sz="1000" dirty="0"/>
          </a:p>
        </p:txBody>
      </p:sp>
      <p:sp>
        <p:nvSpPr>
          <p:cNvPr id="13" name="Text 11"/>
          <p:cNvSpPr/>
          <p:nvPr/>
        </p:nvSpPr>
        <p:spPr>
          <a:xfrm>
            <a:off x="4754880" y="1280160"/>
            <a:ext cx="4114800" cy="228600"/>
          </a:xfrm>
          <a:prstGeom prst="rect">
            <a:avLst/>
          </a:prstGeom>
          <a:noFill/>
          <a:ln/>
        </p:spPr>
        <p:txBody>
          <a:bodyPr wrap="square" rtlCol="0" anchor="ctr"/>
          <a:lstStyle/>
          <a:p>
            <a:pPr indent="0" marL="0">
              <a:buNone/>
            </a:pPr>
            <a:r>
              <a:rPr lang="en-US" sz="1200" b="1" dirty="0">
                <a:solidFill>
                  <a:srgbClr val="FF0000"/>
                </a:solidFill>
                <a:latin typeface="Arial" pitchFamily="34" charset="0"/>
                <a:ea typeface="Arial" pitchFamily="34" charset="-122"/>
                <a:cs typeface="Arial" pitchFamily="34" charset="-120"/>
              </a:rPr>
              <a:t>Adobe Platform Impact</a:t>
            </a:r>
            <a:endParaRPr lang="en-US" sz="1200" dirty="0"/>
          </a:p>
        </p:txBody>
      </p:sp>
      <p:sp>
        <p:nvSpPr>
          <p:cNvPr id="14" name="Text 12"/>
          <p:cNvSpPr/>
          <p:nvPr/>
        </p:nvSpPr>
        <p:spPr>
          <a:xfrm>
            <a:off x="4754880" y="1691640"/>
            <a:ext cx="1828800" cy="274320"/>
          </a:xfrm>
          <a:prstGeom prst="rect">
            <a:avLst/>
          </a:prstGeom>
          <a:noFill/>
          <a:ln/>
        </p:spPr>
        <p:txBody>
          <a:bodyPr wrap="square" rtlCol="0" anchor="ctr"/>
          <a:lstStyle/>
          <a:p>
            <a:pPr indent="0" marL="0">
              <a:buNone/>
            </a:pPr>
            <a:r>
              <a:rPr lang="en-US" sz="1600" b="1" dirty="0">
                <a:solidFill>
                  <a:srgbClr val="FF0000"/>
                </a:solidFill>
                <a:latin typeface="Arial" pitchFamily="34" charset="0"/>
                <a:ea typeface="Arial" pitchFamily="34" charset="-122"/>
                <a:cs typeface="Arial" pitchFamily="34" charset="-120"/>
              </a:rPr>
              <a:t>−27%</a:t>
            </a:r>
            <a:endParaRPr lang="en-US" sz="1600" dirty="0"/>
          </a:p>
        </p:txBody>
      </p:sp>
      <p:sp>
        <p:nvSpPr>
          <p:cNvPr id="15" name="Text 13"/>
          <p:cNvSpPr/>
          <p:nvPr/>
        </p:nvSpPr>
        <p:spPr>
          <a:xfrm>
            <a:off x="6675120" y="169164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Churn to Competitors</a:t>
            </a:r>
            <a:endParaRPr lang="en-US" sz="1000" dirty="0"/>
          </a:p>
        </p:txBody>
      </p:sp>
      <p:sp>
        <p:nvSpPr>
          <p:cNvPr id="16" name="Text 14"/>
          <p:cNvSpPr/>
          <p:nvPr/>
        </p:nvSpPr>
        <p:spPr>
          <a:xfrm>
            <a:off x="4754880" y="2514600"/>
            <a:ext cx="1828800" cy="274320"/>
          </a:xfrm>
          <a:prstGeom prst="rect">
            <a:avLst/>
          </a:prstGeom>
          <a:noFill/>
          <a:ln/>
        </p:spPr>
        <p:txBody>
          <a:bodyPr wrap="square" rtlCol="0" anchor="ctr"/>
          <a:lstStyle/>
          <a:p>
            <a:pPr indent="0" marL="0">
              <a:buNone/>
            </a:pPr>
            <a:r>
              <a:rPr lang="en-US" sz="1600" b="1" dirty="0">
                <a:solidFill>
                  <a:srgbClr val="FF0000"/>
                </a:solidFill>
                <a:latin typeface="Arial" pitchFamily="34" charset="0"/>
                <a:ea typeface="Arial" pitchFamily="34" charset="-122"/>
                <a:cs typeface="Arial" pitchFamily="34" charset="-120"/>
              </a:rPr>
              <a:t>+34%</a:t>
            </a:r>
            <a:endParaRPr lang="en-US" sz="1600" dirty="0"/>
          </a:p>
        </p:txBody>
      </p:sp>
      <p:sp>
        <p:nvSpPr>
          <p:cNvPr id="17" name="Text 15"/>
          <p:cNvSpPr/>
          <p:nvPr/>
        </p:nvSpPr>
        <p:spPr>
          <a:xfrm>
            <a:off x="6675120" y="251460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NRR (from transparency feature)</a:t>
            </a:r>
            <a:endParaRPr lang="en-US" sz="1000" dirty="0"/>
          </a:p>
        </p:txBody>
      </p:sp>
      <p:sp>
        <p:nvSpPr>
          <p:cNvPr id="18" name="Text 16"/>
          <p:cNvSpPr/>
          <p:nvPr/>
        </p:nvSpPr>
        <p:spPr>
          <a:xfrm>
            <a:off x="4754880" y="3337560"/>
            <a:ext cx="1828800" cy="274320"/>
          </a:xfrm>
          <a:prstGeom prst="rect">
            <a:avLst/>
          </a:prstGeom>
          <a:noFill/>
          <a:ln/>
        </p:spPr>
        <p:txBody>
          <a:bodyPr wrap="square" rtlCol="0" anchor="ctr"/>
          <a:lstStyle/>
          <a:p>
            <a:pPr indent="0" marL="0">
              <a:buNone/>
            </a:pPr>
            <a:r>
              <a:rPr lang="en-US" sz="1600" b="1" dirty="0">
                <a:solidFill>
                  <a:srgbClr val="FF0000"/>
                </a:solidFill>
                <a:latin typeface="Arial" pitchFamily="34" charset="0"/>
                <a:ea typeface="Arial" pitchFamily="34" charset="-122"/>
                <a:cs typeface="Arial" pitchFamily="34" charset="-120"/>
              </a:rPr>
              <a:t>+12%</a:t>
            </a:r>
            <a:endParaRPr lang="en-US" sz="1600" dirty="0"/>
          </a:p>
        </p:txBody>
      </p:sp>
      <p:sp>
        <p:nvSpPr>
          <p:cNvPr id="19" name="Text 17"/>
          <p:cNvSpPr/>
          <p:nvPr/>
        </p:nvSpPr>
        <p:spPr>
          <a:xfrm>
            <a:off x="6675120" y="333756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Feature Adoption</a:t>
            </a:r>
            <a:endParaRPr lang="en-US" sz="1000" dirty="0"/>
          </a:p>
        </p:txBody>
      </p:sp>
      <p:sp>
        <p:nvSpPr>
          <p:cNvPr id="20" name="Text 18"/>
          <p:cNvSpPr/>
          <p:nvPr/>
        </p:nvSpPr>
        <p:spPr>
          <a:xfrm>
            <a:off x="4754880" y="4160520"/>
            <a:ext cx="1828800" cy="274320"/>
          </a:xfrm>
          <a:prstGeom prst="rect">
            <a:avLst/>
          </a:prstGeom>
          <a:noFill/>
          <a:ln/>
        </p:spPr>
        <p:txBody>
          <a:bodyPr wrap="square" rtlCol="0" anchor="ctr"/>
          <a:lstStyle/>
          <a:p>
            <a:pPr indent="0" marL="0">
              <a:buNone/>
            </a:pPr>
            <a:r>
              <a:rPr lang="en-US" sz="1600" b="1" dirty="0">
                <a:solidFill>
                  <a:srgbClr val="FF0000"/>
                </a:solidFill>
                <a:latin typeface="Arial" pitchFamily="34" charset="0"/>
                <a:ea typeface="Arial" pitchFamily="34" charset="-122"/>
                <a:cs typeface="Arial" pitchFamily="34" charset="-120"/>
              </a:rPr>
              <a:t>+$52M</a:t>
            </a:r>
            <a:endParaRPr lang="en-US" sz="1600" dirty="0"/>
          </a:p>
        </p:txBody>
      </p:sp>
      <p:sp>
        <p:nvSpPr>
          <p:cNvPr id="21" name="Text 19"/>
          <p:cNvSpPr/>
          <p:nvPr/>
        </p:nvSpPr>
        <p:spPr>
          <a:xfrm>
            <a:off x="6675120" y="4160520"/>
            <a:ext cx="2194560" cy="274320"/>
          </a:xfrm>
          <a:prstGeom prst="rect">
            <a:avLst/>
          </a:prstGeom>
          <a:noFill/>
          <a:ln/>
        </p:spPr>
        <p:txBody>
          <a:bodyPr wrap="square" rtlCol="0" anchor="ctr"/>
          <a:lstStyle/>
          <a:p>
            <a:pPr indent="0" marL="0">
              <a:buNone/>
            </a:pPr>
            <a:r>
              <a:rPr lang="en-US" sz="1000" dirty="0">
                <a:solidFill>
                  <a:srgbClr val="757575"/>
                </a:solidFill>
                <a:latin typeface="Arial" pitchFamily="34" charset="0"/>
                <a:ea typeface="Arial" pitchFamily="34" charset="-122"/>
                <a:cs typeface="Arial" pitchFamily="34" charset="-120"/>
              </a:rPr>
              <a:t>Annual Incremental Revenue</a:t>
            </a:r>
            <a:endParaRPr lang="en-US" sz="1000" dirty="0"/>
          </a:p>
        </p:txBody>
      </p:sp>
      <p:sp>
        <p:nvSpPr>
          <p:cNvPr id="22" name="Shape 20"/>
          <p:cNvSpPr/>
          <p:nvPr/>
        </p:nvSpPr>
        <p:spPr>
          <a:xfrm>
            <a:off x="274320" y="4937760"/>
            <a:ext cx="8412480" cy="1554480"/>
          </a:xfrm>
          <a:prstGeom prst="rect">
            <a:avLst/>
          </a:prstGeom>
          <a:solidFill>
            <a:srgbClr val="2A2A2A"/>
          </a:solidFill>
          <a:ln w="25400">
            <a:solidFill>
              <a:srgbClr val="FFB81C"/>
            </a:solidFill>
            <a:prstDash val="solid"/>
          </a:ln>
          <a:effectLst>
            <a:outerShdw sx="100000" sy="100000" kx="0" ky="0" algn="bl" rotWithShape="0" blurRad="38100" dist="12700" dir="2700000">
              <a:srgbClr val="000000">
                <a:alpha val="12000"/>
              </a:srgbClr>
            </a:outerShdw>
          </a:effectLst>
        </p:spPr>
      </p:sp>
      <p:sp>
        <p:nvSpPr>
          <p:cNvPr id="23" name="Text 21"/>
          <p:cNvSpPr/>
          <p:nvPr/>
        </p:nvSpPr>
        <p:spPr>
          <a:xfrm>
            <a:off x="457200" y="5074920"/>
            <a:ext cx="8046720" cy="12801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Key Insight: Transparency is the strongest retention lever. Advertisers who understand *why* they're underspending stay; those who don't, leave. PaceIQ converts ad spend uncertainty into actionable optimization opportunities.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0000"/>
                </a:solidFill>
                <a:latin typeface="Arial" pitchFamily="34" charset="0"/>
                <a:ea typeface="Arial" pitchFamily="34" charset="-122"/>
                <a:cs typeface="Arial" pitchFamily="34" charset="-120"/>
              </a:rPr>
              <a:t>PROOF OF WORK</a:t>
            </a:r>
            <a:endParaRPr lang="en-US" sz="900" dirty="0"/>
          </a:p>
        </p:txBody>
      </p:sp>
      <p:sp>
        <p:nvSpPr>
          <p:cNvPr id="3" name="Text 1"/>
          <p:cNvSpPr/>
          <p:nvPr/>
        </p:nvSpPr>
        <p:spPr>
          <a:xfrm>
            <a:off x="274320" y="731520"/>
            <a:ext cx="8229600" cy="457200"/>
          </a:xfrm>
          <a:prstGeom prst="rect">
            <a:avLst/>
          </a:prstGeom>
          <a:noFill/>
          <a:ln/>
        </p:spPr>
        <p:txBody>
          <a:bodyPr wrap="square" rtlCol="0" anchor="ctr"/>
          <a:lstStyle/>
          <a:p>
            <a:pPr indent="0" marL="0">
              <a:buNone/>
            </a:pPr>
            <a:r>
              <a:rPr lang="en-US" sz="2000" b="1" dirty="0">
                <a:solidFill>
                  <a:srgbClr val="0F0E0E"/>
                </a:solidFill>
                <a:latin typeface="Arial" pitchFamily="34" charset="0"/>
                <a:ea typeface="Arial" pitchFamily="34" charset="-122"/>
                <a:cs typeface="Arial" pitchFamily="34" charset="-120"/>
              </a:rPr>
              <a:t>I Built This at PhonePe. Here's the Map.</a:t>
            </a:r>
            <a:endParaRPr lang="en-US" sz="2000" dirty="0"/>
          </a:p>
        </p:txBody>
      </p:sp>
      <p:sp>
        <p:nvSpPr>
          <p:cNvPr id="4" name="Shape 2"/>
          <p:cNvSpPr/>
          <p:nvPr/>
        </p:nvSpPr>
        <p:spPr>
          <a:xfrm>
            <a:off x="274320" y="1371600"/>
            <a:ext cx="4114800" cy="5029200"/>
          </a:xfrm>
          <a:prstGeom prst="rect">
            <a:avLst/>
          </a:prstGeom>
          <a:solidFill>
            <a:srgbClr val="0F0E0E"/>
          </a:solidFill>
          <a:ln/>
          <a:effectLst>
            <a:outerShdw sx="100000" sy="100000" kx="0" ky="0" algn="bl" rotWithShape="0" blurRad="38100" dist="12700" dir="2700000">
              <a:srgbClr val="000000">
                <a:alpha val="12000"/>
              </a:srgbClr>
            </a:outerShdw>
          </a:effectLst>
        </p:spPr>
      </p:sp>
      <p:sp>
        <p:nvSpPr>
          <p:cNvPr id="5" name="Text 3"/>
          <p:cNvSpPr/>
          <p:nvPr/>
        </p:nvSpPr>
        <p:spPr>
          <a:xfrm>
            <a:off x="365760" y="1508760"/>
            <a:ext cx="3931920" cy="228600"/>
          </a:xfrm>
          <a:prstGeom prst="rect">
            <a:avLst/>
          </a:prstGeom>
          <a:noFill/>
          <a:ln/>
        </p:spPr>
        <p:txBody>
          <a:bodyPr wrap="square" rtlCol="0" anchor="ctr"/>
          <a:lstStyle/>
          <a:p>
            <a:pPr indent="0" marL="0">
              <a:buNone/>
            </a:pPr>
            <a:r>
              <a:rPr lang="en-US" sz="1100" b="1" dirty="0">
                <a:solidFill>
                  <a:srgbClr val="0078D4"/>
                </a:solidFill>
                <a:latin typeface="Arial" pitchFamily="34" charset="0"/>
                <a:ea typeface="Arial" pitchFamily="34" charset="-122"/>
                <a:cs typeface="Arial" pitchFamily="34" charset="-120"/>
              </a:rPr>
              <a:t>PhonePe (PM &amp; APM, 2022–Now)</a:t>
            </a:r>
            <a:endParaRPr lang="en-US" sz="1100" dirty="0"/>
          </a:p>
        </p:txBody>
      </p:sp>
      <p:sp>
        <p:nvSpPr>
          <p:cNvPr id="6" name="Text 4"/>
          <p:cNvSpPr/>
          <p:nvPr/>
        </p:nvSpPr>
        <p:spPr>
          <a:xfrm>
            <a:off x="411480" y="1874520"/>
            <a:ext cx="3840480" cy="68580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6 siloed ops workflows unified into 1 dashboard</a:t>
            </a:r>
            <a:endParaRPr lang="en-US" sz="1000" dirty="0"/>
          </a:p>
        </p:txBody>
      </p:sp>
      <p:sp>
        <p:nvSpPr>
          <p:cNvPr id="7" name="Text 5"/>
          <p:cNvSpPr/>
          <p:nvPr/>
        </p:nvSpPr>
        <p:spPr>
          <a:xfrm>
            <a:off x="411480" y="2606040"/>
            <a:ext cx="3840480" cy="68580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TAT: 2 days → 4 hours via auto-categorization</a:t>
            </a:r>
            <a:endParaRPr lang="en-US" sz="1000" dirty="0"/>
          </a:p>
        </p:txBody>
      </p:sp>
      <p:sp>
        <p:nvSpPr>
          <p:cNvPr id="8" name="Text 6"/>
          <p:cNvSpPr/>
          <p:nvPr/>
        </p:nvSpPr>
        <p:spPr>
          <a:xfrm>
            <a:off x="411480" y="3337560"/>
            <a:ext cx="3840480" cy="68580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−68% escalation tickets (via diagnosis)</a:t>
            </a:r>
            <a:endParaRPr lang="en-US" sz="1000" dirty="0"/>
          </a:p>
        </p:txBody>
      </p:sp>
      <p:sp>
        <p:nvSpPr>
          <p:cNvPr id="9" name="Text 7"/>
          <p:cNvSpPr/>
          <p:nvPr/>
        </p:nvSpPr>
        <p:spPr>
          <a:xfrm>
            <a:off x="411480" y="4069080"/>
            <a:ext cx="3840480" cy="68580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Freed ops to strategic work instead of fire-fighting</a:t>
            </a:r>
            <a:endParaRPr lang="en-US" sz="1000" dirty="0"/>
          </a:p>
        </p:txBody>
      </p:sp>
      <p:sp>
        <p:nvSpPr>
          <p:cNvPr id="10" name="Text 8"/>
          <p:cNvSpPr/>
          <p:nvPr/>
        </p:nvSpPr>
        <p:spPr>
          <a:xfrm>
            <a:off x="411480" y="4800600"/>
            <a:ext cx="3840480" cy="68580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Real-time categorization of payment failures</a:t>
            </a:r>
            <a:endParaRPr lang="en-US" sz="1000" dirty="0"/>
          </a:p>
        </p:txBody>
      </p:sp>
      <p:sp>
        <p:nvSpPr>
          <p:cNvPr id="11" name="Shape 9"/>
          <p:cNvSpPr/>
          <p:nvPr/>
        </p:nvSpPr>
        <p:spPr>
          <a:xfrm>
            <a:off x="4754880" y="1371600"/>
            <a:ext cx="4114800" cy="5029200"/>
          </a:xfrm>
          <a:prstGeom prst="rect">
            <a:avLst/>
          </a:prstGeom>
          <a:solidFill>
            <a:srgbClr val="F7F7F7"/>
          </a:solidFill>
          <a:ln/>
          <a:effectLst>
            <a:outerShdw sx="100000" sy="100000" kx="0" ky="0" algn="bl" rotWithShape="0" blurRad="38100" dist="12700" dir="2700000">
              <a:srgbClr val="000000">
                <a:alpha val="12000"/>
              </a:srgbClr>
            </a:outerShdw>
          </a:effectLst>
        </p:spPr>
      </p:sp>
      <p:sp>
        <p:nvSpPr>
          <p:cNvPr id="12" name="Text 10"/>
          <p:cNvSpPr/>
          <p:nvPr/>
        </p:nvSpPr>
        <p:spPr>
          <a:xfrm>
            <a:off x="4846320" y="1508760"/>
            <a:ext cx="3931920" cy="228600"/>
          </a:xfrm>
          <a:prstGeom prst="rect">
            <a:avLst/>
          </a:prstGeom>
          <a:noFill/>
          <a:ln/>
        </p:spPr>
        <p:txBody>
          <a:bodyPr wrap="square" rtlCol="0" anchor="ctr"/>
          <a:lstStyle/>
          <a:p>
            <a:pPr indent="0" marL="0">
              <a:buNone/>
            </a:pPr>
            <a:r>
              <a:rPr lang="en-US" sz="1100" b="1" dirty="0">
                <a:solidFill>
                  <a:srgbClr val="0078D4"/>
                </a:solidFill>
                <a:latin typeface="Arial" pitchFamily="34" charset="0"/>
                <a:ea typeface="Arial" pitchFamily="34" charset="-122"/>
                <a:cs typeface="Arial" pitchFamily="34" charset="-120"/>
              </a:rPr>
              <a:t>→ Maps to PaceIQ</a:t>
            </a:r>
            <a:endParaRPr lang="en-US" sz="1100" dirty="0"/>
          </a:p>
        </p:txBody>
      </p:sp>
      <p:sp>
        <p:nvSpPr>
          <p:cNvPr id="13" name="Text 11"/>
          <p:cNvSpPr/>
          <p:nvPr/>
        </p:nvSpPr>
        <p:spPr>
          <a:xfrm>
            <a:off x="4892040" y="1874520"/>
            <a:ext cx="3840480" cy="685800"/>
          </a:xfrm>
          <a:prstGeom prst="rect">
            <a:avLst/>
          </a:prstGeom>
          <a:noFill/>
          <a:ln/>
        </p:spPr>
        <p:txBody>
          <a:bodyPr wrap="square" rtlCol="0" anchor="ctr"/>
          <a:lstStyle/>
          <a:p>
            <a:pPr indent="0" marL="0">
              <a:buNone/>
            </a:pPr>
            <a:r>
              <a:rPr lang="en-US" sz="1000" dirty="0">
                <a:solidFill>
                  <a:srgbClr val="0F0E0E"/>
                </a:solidFill>
                <a:latin typeface="Arial" pitchFamily="34" charset="0"/>
                <a:ea typeface="Arial" pitchFamily="34" charset="-122"/>
                <a:cs typeface="Arial" pitchFamily="34" charset="-120"/>
              </a:rPr>
              <a:t>• Unified impression loss categorization</a:t>
            </a:r>
            <a:endParaRPr lang="en-US" sz="1000" dirty="0"/>
          </a:p>
        </p:txBody>
      </p:sp>
      <p:sp>
        <p:nvSpPr>
          <p:cNvPr id="14" name="Text 12"/>
          <p:cNvSpPr/>
          <p:nvPr/>
        </p:nvSpPr>
        <p:spPr>
          <a:xfrm>
            <a:off x="4892040" y="2606040"/>
            <a:ext cx="3840480" cy="685800"/>
          </a:xfrm>
          <a:prstGeom prst="rect">
            <a:avLst/>
          </a:prstGeom>
          <a:noFill/>
          <a:ln/>
        </p:spPr>
        <p:txBody>
          <a:bodyPr wrap="square" rtlCol="0" anchor="ctr"/>
          <a:lstStyle/>
          <a:p>
            <a:pPr indent="0" marL="0">
              <a:buNone/>
            </a:pPr>
            <a:r>
              <a:rPr lang="en-US" sz="1000" dirty="0">
                <a:solidFill>
                  <a:srgbClr val="0F0E0E"/>
                </a:solidFill>
                <a:latin typeface="Arial" pitchFamily="34" charset="0"/>
                <a:ea typeface="Arial" pitchFamily="34" charset="-122"/>
                <a:cs typeface="Arial" pitchFamily="34" charset="-120"/>
              </a:rPr>
              <a:t>• Real-time diagnostics (impression-level)</a:t>
            </a:r>
            <a:endParaRPr lang="en-US" sz="1000" dirty="0"/>
          </a:p>
        </p:txBody>
      </p:sp>
      <p:sp>
        <p:nvSpPr>
          <p:cNvPr id="15" name="Text 13"/>
          <p:cNvSpPr/>
          <p:nvPr/>
        </p:nvSpPr>
        <p:spPr>
          <a:xfrm>
            <a:off x="4892040" y="3337560"/>
            <a:ext cx="3840480" cy="685800"/>
          </a:xfrm>
          <a:prstGeom prst="rect">
            <a:avLst/>
          </a:prstGeom>
          <a:noFill/>
          <a:ln/>
        </p:spPr>
        <p:txBody>
          <a:bodyPr wrap="square" rtlCol="0" anchor="ctr"/>
          <a:lstStyle/>
          <a:p>
            <a:pPr indent="0" marL="0">
              <a:buNone/>
            </a:pPr>
            <a:r>
              <a:rPr lang="en-US" sz="1000" dirty="0">
                <a:solidFill>
                  <a:srgbClr val="0F0E0E"/>
                </a:solidFill>
                <a:latin typeface="Arial" pitchFamily="34" charset="0"/>
                <a:ea typeface="Arial" pitchFamily="34" charset="-122"/>
                <a:cs typeface="Arial" pitchFamily="34" charset="-120"/>
              </a:rPr>
              <a:t>• Auto-categorization (auction/freq/cap/intent)</a:t>
            </a:r>
            <a:endParaRPr lang="en-US" sz="1000" dirty="0"/>
          </a:p>
        </p:txBody>
      </p:sp>
      <p:sp>
        <p:nvSpPr>
          <p:cNvPr id="16" name="Text 14"/>
          <p:cNvSpPr/>
          <p:nvPr/>
        </p:nvSpPr>
        <p:spPr>
          <a:xfrm>
            <a:off x="4892040" y="4069080"/>
            <a:ext cx="3840480" cy="685800"/>
          </a:xfrm>
          <a:prstGeom prst="rect">
            <a:avLst/>
          </a:prstGeom>
          <a:noFill/>
          <a:ln/>
        </p:spPr>
        <p:txBody>
          <a:bodyPr wrap="square" rtlCol="0" anchor="ctr"/>
          <a:lstStyle/>
          <a:p>
            <a:pPr indent="0" marL="0">
              <a:buNone/>
            </a:pPr>
            <a:r>
              <a:rPr lang="en-US" sz="1000" dirty="0">
                <a:solidFill>
                  <a:srgbClr val="0F0E0E"/>
                </a:solidFill>
                <a:latin typeface="Arial" pitchFamily="34" charset="0"/>
                <a:ea typeface="Arial" pitchFamily="34" charset="-122"/>
                <a:cs typeface="Arial" pitchFamily="34" charset="-120"/>
              </a:rPr>
              <a:t>• Frees media team from manual debugging</a:t>
            </a:r>
            <a:endParaRPr lang="en-US" sz="1000" dirty="0"/>
          </a:p>
        </p:txBody>
      </p:sp>
      <p:sp>
        <p:nvSpPr>
          <p:cNvPr id="17" name="Text 15"/>
          <p:cNvSpPr/>
          <p:nvPr/>
        </p:nvSpPr>
        <p:spPr>
          <a:xfrm>
            <a:off x="4892040" y="4800600"/>
            <a:ext cx="3840480" cy="685800"/>
          </a:xfrm>
          <a:prstGeom prst="rect">
            <a:avLst/>
          </a:prstGeom>
          <a:noFill/>
          <a:ln/>
        </p:spPr>
        <p:txBody>
          <a:bodyPr wrap="square" rtlCol="0" anchor="ctr"/>
          <a:lstStyle/>
          <a:p>
            <a:pPr indent="0" marL="0">
              <a:buNone/>
            </a:pPr>
            <a:r>
              <a:rPr lang="en-US" sz="1000" dirty="0">
                <a:solidFill>
                  <a:srgbClr val="0F0E0E"/>
                </a:solidFill>
                <a:latin typeface="Arial" pitchFamily="34" charset="0"/>
                <a:ea typeface="Arial" pitchFamily="34" charset="-122"/>
                <a:cs typeface="Arial" pitchFamily="34" charset="-120"/>
              </a:rPr>
              <a:t>• Impression-level failure taxonomy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E0E"/>
        </a:solidFill>
      </p:bgPr>
    </p:bg>
    <p:spTree>
      <p:nvGrpSpPr>
        <p:cNvPr id="1" name=""/>
        <p:cNvGrpSpPr/>
        <p:nvPr/>
      </p:nvGrpSpPr>
      <p:grpSpPr>
        <a:xfrm>
          <a:off x="0" y="0"/>
          <a:ext cx="0" cy="0"/>
          <a:chOff x="0" y="0"/>
          <a:chExt cx="0" cy="0"/>
        </a:xfrm>
      </p:grpSpPr>
      <p:sp>
        <p:nvSpPr>
          <p:cNvPr id="2" name="Text 0"/>
          <p:cNvSpPr/>
          <p:nvPr/>
        </p:nvSpPr>
        <p:spPr>
          <a:xfrm>
            <a:off x="274320" y="274320"/>
            <a:ext cx="8229600" cy="228600"/>
          </a:xfrm>
          <a:prstGeom prst="rect">
            <a:avLst/>
          </a:prstGeom>
          <a:noFill/>
          <a:ln/>
        </p:spPr>
        <p:txBody>
          <a:bodyPr wrap="square" rtlCol="0" anchor="ctr"/>
          <a:lstStyle/>
          <a:p>
            <a:pPr indent="0" marL="0">
              <a:buNone/>
            </a:pPr>
            <a:r>
              <a:rPr lang="en-US" sz="900" b="1" dirty="0">
                <a:solidFill>
                  <a:srgbClr val="FFB81C"/>
                </a:solidFill>
                <a:latin typeface="Arial" pitchFamily="34" charset="0"/>
                <a:ea typeface="Arial" pitchFamily="34" charset="-122"/>
                <a:cs typeface="Arial" pitchFamily="34" charset="-120"/>
              </a:rPr>
              <a:t>ROLLOUT PLAN</a:t>
            </a:r>
            <a:endParaRPr lang="en-US" sz="900" dirty="0"/>
          </a:p>
        </p:txBody>
      </p:sp>
      <p:sp>
        <p:nvSpPr>
          <p:cNvPr id="3" name="Text 1"/>
          <p:cNvSpPr/>
          <p:nvPr/>
        </p:nvSpPr>
        <p:spPr>
          <a:xfrm>
            <a:off x="274320" y="731520"/>
            <a:ext cx="8229600" cy="27432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Three Phases: Diagnostics to Predictive</a:t>
            </a:r>
            <a:endParaRPr lang="en-US" sz="2000" dirty="0"/>
          </a:p>
        </p:txBody>
      </p:sp>
      <p:sp>
        <p:nvSpPr>
          <p:cNvPr id="4" name="Shape 2"/>
          <p:cNvSpPr/>
          <p:nvPr/>
        </p:nvSpPr>
        <p:spPr>
          <a:xfrm>
            <a:off x="274320" y="1280160"/>
            <a:ext cx="2743200" cy="4114800"/>
          </a:xfrm>
          <a:prstGeom prst="rect">
            <a:avLst/>
          </a:prstGeom>
          <a:solidFill>
            <a:srgbClr val="2A2A2A"/>
          </a:solidFill>
          <a:ln w="25400">
            <a:solidFill>
              <a:srgbClr val="FFB81C"/>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365760" y="1463040"/>
            <a:ext cx="2560320" cy="320040"/>
          </a:xfrm>
          <a:prstGeom prst="rect">
            <a:avLst/>
          </a:prstGeom>
          <a:noFill/>
          <a:ln/>
        </p:spPr>
        <p:txBody>
          <a:bodyPr wrap="square" rtlCol="0" anchor="ctr"/>
          <a:lstStyle/>
          <a:p>
            <a:pPr algn="ctr" indent="0" marL="0">
              <a:buNone/>
            </a:pPr>
            <a:r>
              <a:rPr lang="en-US" sz="1200" b="1" dirty="0">
                <a:solidFill>
                  <a:srgbClr val="FFB81C"/>
                </a:solidFill>
                <a:latin typeface="Arial" pitchFamily="34" charset="0"/>
                <a:ea typeface="Arial" pitchFamily="34" charset="-122"/>
                <a:cs typeface="Arial" pitchFamily="34" charset="-120"/>
              </a:rPr>
              <a:t>Month 1–2: Closed Beta</a:t>
            </a:r>
            <a:endParaRPr lang="en-US" sz="1200" dirty="0"/>
          </a:p>
        </p:txBody>
      </p:sp>
      <p:sp>
        <p:nvSpPr>
          <p:cNvPr id="6" name="Text 4"/>
          <p:cNvSpPr/>
          <p:nvPr/>
        </p:nvSpPr>
        <p:spPr>
          <a:xfrm>
            <a:off x="365760" y="1920240"/>
            <a:ext cx="2560320" cy="3200400"/>
          </a:xfrm>
          <a:prstGeom prst="rect">
            <a:avLst/>
          </a:prstGeom>
          <a:noFill/>
          <a:ln/>
        </p:spPr>
        <p:txBody>
          <a:bodyPr wrap="square" rtlCol="0" anchor="ctr"/>
          <a:lstStyle/>
          <a:p>
            <a:pPr algn="l" indent="0" marL="0">
              <a:buNone/>
            </a:pPr>
            <a:r>
              <a:rPr lang="en-US" sz="1000" dirty="0">
                <a:solidFill>
                  <a:srgbClr val="FFFFFF"/>
                </a:solidFill>
                <a:latin typeface="Arial" pitchFamily="34" charset="0"/>
                <a:ea typeface="Arial" pitchFamily="34" charset="-122"/>
                <a:cs typeface="Arial" pitchFamily="34" charset="-120"/>
              </a:rPr>
              <a:t>30 campaigns, validate loss categorization accuracy, build confidence.</a:t>
            </a:r>
            <a:endParaRPr lang="en-US" sz="1000" dirty="0"/>
          </a:p>
        </p:txBody>
      </p:sp>
      <p:sp>
        <p:nvSpPr>
          <p:cNvPr id="7" name="Shape 5"/>
          <p:cNvSpPr/>
          <p:nvPr/>
        </p:nvSpPr>
        <p:spPr>
          <a:xfrm>
            <a:off x="3200400" y="1280160"/>
            <a:ext cx="2743200" cy="4114800"/>
          </a:xfrm>
          <a:prstGeom prst="rect">
            <a:avLst/>
          </a:prstGeom>
          <a:solidFill>
            <a:srgbClr val="2A2A2A"/>
          </a:solidFill>
          <a:ln w="25400">
            <a:solidFill>
              <a:srgbClr val="FFB81C"/>
            </a:solidFill>
            <a:prstDash val="solid"/>
          </a:ln>
          <a:effectLst>
            <a:outerShdw sx="100000" sy="100000" kx="0" ky="0" algn="bl" rotWithShape="0" blurRad="38100" dist="12700" dir="2700000">
              <a:srgbClr val="000000">
                <a:alpha val="12000"/>
              </a:srgbClr>
            </a:outerShdw>
          </a:effectLst>
        </p:spPr>
      </p:sp>
      <p:sp>
        <p:nvSpPr>
          <p:cNvPr id="8" name="Text 6"/>
          <p:cNvSpPr/>
          <p:nvPr/>
        </p:nvSpPr>
        <p:spPr>
          <a:xfrm>
            <a:off x="3291840" y="1463040"/>
            <a:ext cx="2560320" cy="320040"/>
          </a:xfrm>
          <a:prstGeom prst="rect">
            <a:avLst/>
          </a:prstGeom>
          <a:noFill/>
          <a:ln/>
        </p:spPr>
        <p:txBody>
          <a:bodyPr wrap="square" rtlCol="0" anchor="ctr"/>
          <a:lstStyle/>
          <a:p>
            <a:pPr algn="ctr" indent="0" marL="0">
              <a:buNone/>
            </a:pPr>
            <a:r>
              <a:rPr lang="en-US" sz="1200" b="1" dirty="0">
                <a:solidFill>
                  <a:srgbClr val="FFB81C"/>
                </a:solidFill>
                <a:latin typeface="Arial" pitchFamily="34" charset="0"/>
                <a:ea typeface="Arial" pitchFamily="34" charset="-122"/>
                <a:cs typeface="Arial" pitchFamily="34" charset="-120"/>
              </a:rPr>
              <a:t>Month 3–4: Public Beta</a:t>
            </a:r>
            <a:endParaRPr lang="en-US" sz="1200" dirty="0"/>
          </a:p>
        </p:txBody>
      </p:sp>
      <p:sp>
        <p:nvSpPr>
          <p:cNvPr id="9" name="Text 7"/>
          <p:cNvSpPr/>
          <p:nvPr/>
        </p:nvSpPr>
        <p:spPr>
          <a:xfrm>
            <a:off x="3291840" y="1920240"/>
            <a:ext cx="2560320" cy="3200400"/>
          </a:xfrm>
          <a:prstGeom prst="rect">
            <a:avLst/>
          </a:prstGeom>
          <a:noFill/>
          <a:ln/>
        </p:spPr>
        <p:txBody>
          <a:bodyPr wrap="square" rtlCol="0" anchor="ctr"/>
          <a:lstStyle/>
          <a:p>
            <a:pPr algn="l" indent="0" marL="0">
              <a:buNone/>
            </a:pPr>
            <a:r>
              <a:rPr lang="en-US" sz="1000" dirty="0">
                <a:solidFill>
                  <a:srgbClr val="FFFFFF"/>
                </a:solidFill>
                <a:latin typeface="Arial" pitchFamily="34" charset="0"/>
                <a:ea typeface="Arial" pitchFamily="34" charset="-122"/>
                <a:cs typeface="Arial" pitchFamily="34" charset="-120"/>
              </a:rPr>
              <a:t>Scale to 300 campaigns, measure advertiser confidence lift + churn reduction.</a:t>
            </a:r>
            <a:endParaRPr lang="en-US" sz="1000" dirty="0"/>
          </a:p>
        </p:txBody>
      </p:sp>
      <p:sp>
        <p:nvSpPr>
          <p:cNvPr id="10" name="Shape 8"/>
          <p:cNvSpPr/>
          <p:nvPr/>
        </p:nvSpPr>
        <p:spPr>
          <a:xfrm>
            <a:off x="6126480" y="1280160"/>
            <a:ext cx="2743200" cy="4114800"/>
          </a:xfrm>
          <a:prstGeom prst="rect">
            <a:avLst/>
          </a:prstGeom>
          <a:solidFill>
            <a:srgbClr val="2A2A2A"/>
          </a:solidFill>
          <a:ln w="25400">
            <a:solidFill>
              <a:srgbClr val="FFB81C"/>
            </a:solidFill>
            <a:prstDash val="solid"/>
          </a:ln>
          <a:effectLst>
            <a:outerShdw sx="100000" sy="100000" kx="0" ky="0" algn="bl" rotWithShape="0" blurRad="38100" dist="12700" dir="2700000">
              <a:srgbClr val="000000">
                <a:alpha val="12000"/>
              </a:srgbClr>
            </a:outerShdw>
          </a:effectLst>
        </p:spPr>
      </p:sp>
      <p:sp>
        <p:nvSpPr>
          <p:cNvPr id="11" name="Text 9"/>
          <p:cNvSpPr/>
          <p:nvPr/>
        </p:nvSpPr>
        <p:spPr>
          <a:xfrm>
            <a:off x="6217920" y="1463040"/>
            <a:ext cx="2560320" cy="320040"/>
          </a:xfrm>
          <a:prstGeom prst="rect">
            <a:avLst/>
          </a:prstGeom>
          <a:noFill/>
          <a:ln/>
        </p:spPr>
        <p:txBody>
          <a:bodyPr wrap="square" rtlCol="0" anchor="ctr"/>
          <a:lstStyle/>
          <a:p>
            <a:pPr algn="ctr" indent="0" marL="0">
              <a:buNone/>
            </a:pPr>
            <a:r>
              <a:rPr lang="en-US" sz="1200" b="1" dirty="0">
                <a:solidFill>
                  <a:srgbClr val="FFB81C"/>
                </a:solidFill>
                <a:latin typeface="Arial" pitchFamily="34" charset="0"/>
                <a:ea typeface="Arial" pitchFamily="34" charset="-122"/>
                <a:cs typeface="Arial" pitchFamily="34" charset="-120"/>
              </a:rPr>
              <a:t>Month 5–6: GA + Predictive</a:t>
            </a:r>
            <a:endParaRPr lang="en-US" sz="1200" dirty="0"/>
          </a:p>
        </p:txBody>
      </p:sp>
      <p:sp>
        <p:nvSpPr>
          <p:cNvPr id="12" name="Text 10"/>
          <p:cNvSpPr/>
          <p:nvPr/>
        </p:nvSpPr>
        <p:spPr>
          <a:xfrm>
            <a:off x="6217920" y="1920240"/>
            <a:ext cx="2560320" cy="3200400"/>
          </a:xfrm>
          <a:prstGeom prst="rect">
            <a:avLst/>
          </a:prstGeom>
          <a:noFill/>
          <a:ln/>
        </p:spPr>
        <p:txBody>
          <a:bodyPr wrap="square" rtlCol="0" anchor="ctr"/>
          <a:lstStyle/>
          <a:p>
            <a:pPr algn="l" indent="0" marL="0">
              <a:buNone/>
            </a:pPr>
            <a:r>
              <a:rPr lang="en-US" sz="1000" dirty="0">
                <a:solidFill>
                  <a:srgbClr val="FFFFFF"/>
                </a:solidFill>
                <a:latin typeface="Arial" pitchFamily="34" charset="0"/>
                <a:ea typeface="Arial" pitchFamily="34" charset="-122"/>
                <a:cs typeface="Arial" pitchFamily="34" charset="-120"/>
              </a:rPr>
              <a:t>Predict pacing shortfalls 24h ahead. Auto-recommend bid adjustments. Platform default.</a:t>
            </a:r>
            <a:endParaRPr lang="en-US" sz="1000" dirty="0"/>
          </a:p>
        </p:txBody>
      </p:sp>
      <p:sp>
        <p:nvSpPr>
          <p:cNvPr id="13" name="Shape 11"/>
          <p:cNvSpPr/>
          <p:nvPr/>
        </p:nvSpPr>
        <p:spPr>
          <a:xfrm>
            <a:off x="274320" y="5669280"/>
            <a:ext cx="8412480" cy="914400"/>
          </a:xfrm>
          <a:prstGeom prst="rect">
            <a:avLst/>
          </a:prstGeom>
          <a:solidFill>
            <a:srgbClr val="2A2A2A"/>
          </a:solidFill>
          <a:ln w="25400">
            <a:solidFill>
              <a:srgbClr val="FFB81C"/>
            </a:solidFill>
            <a:prstDash val="solid"/>
          </a:ln>
        </p:spPr>
      </p:sp>
      <p:sp>
        <p:nvSpPr>
          <p:cNvPr id="14" name="Text 12"/>
          <p:cNvSpPr/>
          <p:nvPr/>
        </p:nvSpPr>
        <p:spPr>
          <a:xfrm>
            <a:off x="411480" y="5806440"/>
            <a:ext cx="8229600" cy="6400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What I need: Impression event log access (auction loss signals) · Ops intelligence infrastructure · 1 Data Engineer + 1 Analyst + 1 FE + 1 Designer · 6-week sprint</a:t>
            </a:r>
            <a:endParaRPr lang="en-US" sz="1100" dirty="0"/>
          </a:p>
        </p:txBody>
      </p:sp>
      <p:sp>
        <p:nvSpPr>
          <p:cNvPr id="15" name="Text 13"/>
          <p:cNvSpPr/>
          <p:nvPr/>
        </p:nvSpPr>
        <p:spPr>
          <a:xfrm>
            <a:off x="274320" y="6492240"/>
            <a:ext cx="8229600" cy="274320"/>
          </a:xfrm>
          <a:prstGeom prst="rect">
            <a:avLst/>
          </a:prstGeom>
          <a:noFill/>
          <a:ln/>
        </p:spPr>
        <p:txBody>
          <a:bodyPr wrap="square" rtlCol="0" anchor="ctr"/>
          <a:lstStyle/>
          <a:p>
            <a:pPr algn="ctr" indent="0" marL="0">
              <a:buNone/>
            </a:pPr>
            <a:r>
              <a:rPr lang="en-US" sz="900" dirty="0">
                <a:solidFill>
                  <a:srgbClr val="757575"/>
                </a:solidFill>
                <a:latin typeface="Arial" pitchFamily="34" charset="0"/>
                <a:ea typeface="Arial" pitchFamily="34" charset="-122"/>
                <a:cs typeface="Arial" pitchFamily="34" charset="-120"/>
              </a:rPr>
              <a:t>Ajay Avaghade · +91 9561558439 · avaghadeajay009@gmail.com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2026-06-02T17:25:42Z</dcterms:created>
  <dcterms:modified xsi:type="dcterms:W3CDTF">2026-06-02T17:25:42Z</dcterms:modified>
</cp:coreProperties>
</file>