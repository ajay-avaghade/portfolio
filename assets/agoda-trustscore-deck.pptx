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2100000">
            <a:off x="6766560" y="0"/>
            <a:ext cx="9144" cy="6858000"/>
          </a:xfrm>
          <a:prstGeom prst="line">
            <a:avLst/>
          </a:prstGeom>
          <a:noFill/>
          <a:ln w="10160">
            <a:solidFill>
              <a:srgbClr val="FF6B35">
                <a:alpha val="18000"/>
              </a:srgbClr>
            </a:solidFill>
            <a:prstDash val="solid"/>
          </a:ln>
        </p:spPr>
      </p:sp>
      <p:sp>
        <p:nvSpPr>
          <p:cNvPr id="3" name="Shape 1"/>
          <p:cNvSpPr/>
          <p:nvPr/>
        </p:nvSpPr>
        <p:spPr>
          <a:xfrm rot="2100000">
            <a:off x="6967728" y="0"/>
            <a:ext cx="9144" cy="6858000"/>
          </a:xfrm>
          <a:prstGeom prst="line">
            <a:avLst/>
          </a:prstGeom>
          <a:noFill/>
          <a:ln w="10160">
            <a:solidFill>
              <a:srgbClr val="FF6B35">
                <a:alpha val="18000"/>
              </a:srgbClr>
            </a:solidFill>
            <a:prstDash val="solid"/>
          </a:ln>
        </p:spPr>
      </p:sp>
      <p:sp>
        <p:nvSpPr>
          <p:cNvPr id="4" name="Shape 2"/>
          <p:cNvSpPr/>
          <p:nvPr/>
        </p:nvSpPr>
        <p:spPr>
          <a:xfrm rot="2100000">
            <a:off x="7168896" y="0"/>
            <a:ext cx="9144" cy="6858000"/>
          </a:xfrm>
          <a:prstGeom prst="line">
            <a:avLst/>
          </a:prstGeom>
          <a:noFill/>
          <a:ln w="10160">
            <a:solidFill>
              <a:srgbClr val="FF6B35">
                <a:alpha val="18000"/>
              </a:srgbClr>
            </a:solidFill>
            <a:prstDash val="solid"/>
          </a:ln>
        </p:spPr>
      </p:sp>
      <p:sp>
        <p:nvSpPr>
          <p:cNvPr id="5" name="Shape 3"/>
          <p:cNvSpPr/>
          <p:nvPr/>
        </p:nvSpPr>
        <p:spPr>
          <a:xfrm rot="2100000">
            <a:off x="7370064" y="0"/>
            <a:ext cx="9144" cy="6858000"/>
          </a:xfrm>
          <a:prstGeom prst="line">
            <a:avLst/>
          </a:prstGeom>
          <a:noFill/>
          <a:ln w="10160">
            <a:solidFill>
              <a:srgbClr val="FF6B35">
                <a:alpha val="18000"/>
              </a:srgbClr>
            </a:solidFill>
            <a:prstDash val="solid"/>
          </a:ln>
        </p:spPr>
      </p:sp>
      <p:sp>
        <p:nvSpPr>
          <p:cNvPr id="6" name="Shape 4"/>
          <p:cNvSpPr/>
          <p:nvPr/>
        </p:nvSpPr>
        <p:spPr>
          <a:xfrm rot="2100000">
            <a:off x="7571232" y="0"/>
            <a:ext cx="9144" cy="6858000"/>
          </a:xfrm>
          <a:prstGeom prst="line">
            <a:avLst/>
          </a:prstGeom>
          <a:noFill/>
          <a:ln w="10160">
            <a:solidFill>
              <a:srgbClr val="FF6B35">
                <a:alpha val="18000"/>
              </a:srgbClr>
            </a:solidFill>
            <a:prstDash val="solid"/>
          </a:ln>
        </p:spPr>
      </p:sp>
      <p:sp>
        <p:nvSpPr>
          <p:cNvPr id="7" name="Shape 5"/>
          <p:cNvSpPr/>
          <p:nvPr/>
        </p:nvSpPr>
        <p:spPr>
          <a:xfrm rot="2100000">
            <a:off x="7772400" y="0"/>
            <a:ext cx="9144" cy="6858000"/>
          </a:xfrm>
          <a:prstGeom prst="line">
            <a:avLst/>
          </a:prstGeom>
          <a:noFill/>
          <a:ln w="10160">
            <a:solidFill>
              <a:srgbClr val="FF6B35">
                <a:alpha val="18000"/>
              </a:srgbClr>
            </a:solidFill>
            <a:prstDash val="solid"/>
          </a:ln>
        </p:spPr>
      </p:sp>
      <p:sp>
        <p:nvSpPr>
          <p:cNvPr id="8" name="Shape 6"/>
          <p:cNvSpPr/>
          <p:nvPr/>
        </p:nvSpPr>
        <p:spPr>
          <a:xfrm rot="2100000">
            <a:off x="7973568" y="0"/>
            <a:ext cx="9144" cy="6858000"/>
          </a:xfrm>
          <a:prstGeom prst="line">
            <a:avLst/>
          </a:prstGeom>
          <a:noFill/>
          <a:ln w="10160">
            <a:solidFill>
              <a:srgbClr val="FF6B35">
                <a:alpha val="18000"/>
              </a:srgbClr>
            </a:solidFill>
            <a:prstDash val="solid"/>
          </a:ln>
        </p:spPr>
      </p:sp>
      <p:sp>
        <p:nvSpPr>
          <p:cNvPr id="9" name="Shape 7"/>
          <p:cNvSpPr/>
          <p:nvPr/>
        </p:nvSpPr>
        <p:spPr>
          <a:xfrm rot="2100000">
            <a:off x="8174736" y="0"/>
            <a:ext cx="9144" cy="6858000"/>
          </a:xfrm>
          <a:prstGeom prst="line">
            <a:avLst/>
          </a:prstGeom>
          <a:noFill/>
          <a:ln w="10160">
            <a:solidFill>
              <a:srgbClr val="FF6B35">
                <a:alpha val="18000"/>
              </a:srgbClr>
            </a:solidFill>
            <a:prstDash val="solid"/>
          </a:ln>
        </p:spPr>
      </p:sp>
      <p:sp>
        <p:nvSpPr>
          <p:cNvPr id="10" name="Shape 8"/>
          <p:cNvSpPr/>
          <p:nvPr/>
        </p:nvSpPr>
        <p:spPr>
          <a:xfrm>
            <a:off x="411480" y="320040"/>
            <a:ext cx="1463040" cy="274320"/>
          </a:xfrm>
          <a:prstGeom prst="rect">
            <a:avLst/>
          </a:prstGeom>
          <a:solidFill>
            <a:srgbClr val="1A3458"/>
          </a:solidFill>
          <a:ln w="12700">
            <a:solidFill>
              <a:srgbClr val="1A3458"/>
            </a:solidFill>
            <a:prstDash val="solid"/>
          </a:ln>
        </p:spPr>
      </p:sp>
      <p:sp>
        <p:nvSpPr>
          <p:cNvPr id="11" name="Text 9"/>
          <p:cNvSpPr/>
          <p:nvPr/>
        </p:nvSpPr>
        <p:spPr>
          <a:xfrm>
            <a:off x="411480" y="320040"/>
            <a:ext cx="1463040" cy="274320"/>
          </a:xfrm>
          <a:prstGeom prst="rect">
            <a:avLst/>
          </a:prstGeom>
          <a:noFill/>
          <a:ln/>
        </p:spPr>
        <p:txBody>
          <a:bodyPr wrap="square" rtlCol="0" anchor="ctr"/>
          <a:lstStyle/>
          <a:p>
            <a:pPr algn="ctr" indent="0" marL="0">
              <a:buNone/>
            </a:pPr>
            <a:r>
              <a:rPr lang="en-US" sz="800" b="1" spc="500" kern="0" dirty="0">
                <a:solidFill>
                  <a:srgbClr val="FF6B35"/>
                </a:solidFill>
              </a:rPr>
              <a:t>AGODA</a:t>
            </a:r>
            <a:endParaRPr lang="en-US" sz="800" dirty="0"/>
          </a:p>
        </p:txBody>
      </p:sp>
      <p:sp>
        <p:nvSpPr>
          <p:cNvPr id="12" name="Shape 10"/>
          <p:cNvSpPr/>
          <p:nvPr/>
        </p:nvSpPr>
        <p:spPr>
          <a:xfrm>
            <a:off x="411480" y="1325880"/>
            <a:ext cx="45720" cy="1463040"/>
          </a:xfrm>
          <a:prstGeom prst="rect">
            <a:avLst/>
          </a:prstGeom>
          <a:solidFill>
            <a:srgbClr val="FF6B35"/>
          </a:solidFill>
          <a:ln w="12700">
            <a:solidFill>
              <a:srgbClr val="FF6B35"/>
            </a:solidFill>
            <a:prstDash val="solid"/>
          </a:ln>
        </p:spPr>
      </p:sp>
      <p:sp>
        <p:nvSpPr>
          <p:cNvPr id="13" name="Text 11"/>
          <p:cNvSpPr/>
          <p:nvPr/>
        </p:nvSpPr>
        <p:spPr>
          <a:xfrm>
            <a:off x="594360" y="1280160"/>
            <a:ext cx="5943600" cy="77724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Agoda TrustScore</a:t>
            </a:r>
            <a:endParaRPr lang="en-US" sz="4200" dirty="0"/>
          </a:p>
        </p:txBody>
      </p:sp>
      <p:sp>
        <p:nvSpPr>
          <p:cNvPr id="14" name="Text 12"/>
          <p:cNvSpPr/>
          <p:nvPr/>
        </p:nvSpPr>
        <p:spPr>
          <a:xfrm>
            <a:off x="594360" y="2084832"/>
            <a:ext cx="6217920" cy="475488"/>
          </a:xfrm>
          <a:prstGeom prst="rect">
            <a:avLst/>
          </a:prstGeom>
          <a:noFill/>
          <a:ln/>
        </p:spPr>
        <p:txBody>
          <a:bodyPr wrap="square" rtlCol="0" anchor="ctr"/>
          <a:lstStyle/>
          <a:p>
            <a:pPr indent="0" marL="0">
              <a:buNone/>
            </a:pPr>
            <a:r>
              <a:rPr lang="en-US" sz="1500" i="1" dirty="0">
                <a:solidFill>
                  <a:srgbClr val="FFB800"/>
                </a:solidFill>
                <a:latin typeface="Georgia" pitchFamily="34" charset="0"/>
                <a:ea typeface="Georgia" pitchFamily="34" charset="-122"/>
                <a:cs typeface="Georgia" pitchFamily="34" charset="-120"/>
              </a:rPr>
              <a:t>Persona-based hotel scoring + AI review verification to build traveler trust at scale</a:t>
            </a:r>
            <a:endParaRPr lang="en-US" sz="1500" dirty="0"/>
          </a:p>
        </p:txBody>
      </p:sp>
      <p:sp>
        <p:nvSpPr>
          <p:cNvPr id="15" name="Text 13"/>
          <p:cNvSpPr/>
          <p:nvPr/>
        </p:nvSpPr>
        <p:spPr>
          <a:xfrm>
            <a:off x="594360" y="2688336"/>
            <a:ext cx="5486400" cy="274320"/>
          </a:xfrm>
          <a:prstGeom prst="rect">
            <a:avLst/>
          </a:prstGeom>
          <a:noFill/>
          <a:ln/>
        </p:spPr>
        <p:txBody>
          <a:bodyPr wrap="square" rtlCol="0" anchor="ctr"/>
          <a:lstStyle/>
          <a:p>
            <a:pPr indent="0" marL="0">
              <a:buNone/>
            </a:pPr>
            <a:r>
              <a:rPr lang="en-US" sz="1100" dirty="0">
                <a:solidFill>
                  <a:srgbClr val="AAAAAA"/>
                </a:solidFill>
              </a:rPr>
              <a:t>Presented by Ajay Avaghade  ·  Growth &amp; Monetization PM</a:t>
            </a:r>
            <a:endParaRPr lang="en-US" sz="1100" dirty="0"/>
          </a:p>
        </p:txBody>
      </p:sp>
      <p:sp>
        <p:nvSpPr>
          <p:cNvPr id="16" name="Shape 14"/>
          <p:cNvSpPr/>
          <p:nvPr/>
        </p:nvSpPr>
        <p:spPr>
          <a:xfrm>
            <a:off x="6583680" y="5120640"/>
            <a:ext cx="2286000" cy="1463040"/>
          </a:xfrm>
          <a:prstGeom prst="rect">
            <a:avLst/>
          </a:prstGeom>
          <a:solidFill>
            <a:srgbClr val="FF6B35"/>
          </a:solidFill>
          <a:ln w="12700">
            <a:solidFill>
              <a:srgbClr val="FF6B35"/>
            </a:solidFill>
            <a:prstDash val="solid"/>
          </a:ln>
        </p:spPr>
      </p:sp>
      <p:sp>
        <p:nvSpPr>
          <p:cNvPr id="17" name="Text 15"/>
          <p:cNvSpPr/>
          <p:nvPr/>
        </p:nvSpPr>
        <p:spPr>
          <a:xfrm>
            <a:off x="6583680" y="5257800"/>
            <a:ext cx="2286000" cy="59436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+18%</a:t>
            </a:r>
            <a:endParaRPr lang="en-US" sz="4400" dirty="0"/>
          </a:p>
        </p:txBody>
      </p:sp>
      <p:sp>
        <p:nvSpPr>
          <p:cNvPr id="18" name="Text 16"/>
          <p:cNvSpPr/>
          <p:nvPr/>
        </p:nvSpPr>
        <p:spPr>
          <a:xfrm>
            <a:off x="6583680" y="5833872"/>
            <a:ext cx="2286000" cy="594360"/>
          </a:xfrm>
          <a:prstGeom prst="rect">
            <a:avLst/>
          </a:prstGeom>
          <a:noFill/>
          <a:ln/>
        </p:spPr>
        <p:txBody>
          <a:bodyPr wrap="square" rtlCol="0" anchor="ctr"/>
          <a:lstStyle/>
          <a:p>
            <a:pPr algn="ctr" indent="0" marL="0">
              <a:buNone/>
            </a:pPr>
            <a:r>
              <a:rPr lang="en-US" sz="1000" dirty="0">
                <a:solidFill>
                  <a:srgbClr val="DDDDDD"/>
                </a:solidFill>
              </a:rPr>
              <a:t>post-booking</a:t>
            </a:r>
            <a:endParaRPr lang="en-US" sz="1000" dirty="0"/>
          </a:p>
          <a:p>
            <a:pPr algn="ctr" indent="0" marL="0">
              <a:buNone/>
            </a:pPr>
            <a:r>
              <a:rPr lang="en-US" sz="1000" dirty="0">
                <a:solidFill>
                  <a:srgbClr val="DDDDDD"/>
                </a:solidFill>
              </a:rPr>
              <a:t>satisfaction score</a:t>
            </a:r>
            <a:endParaRPr lang="en-US" sz="1000" dirty="0"/>
          </a:p>
        </p:txBody>
      </p:sp>
      <p:sp>
        <p:nvSpPr>
          <p:cNvPr id="19" name="Text 17"/>
          <p:cNvSpPr/>
          <p:nvPr/>
        </p:nvSpPr>
        <p:spPr>
          <a:xfrm>
            <a:off x="411480" y="6446520"/>
            <a:ext cx="5943600" cy="228600"/>
          </a:xfrm>
          <a:prstGeom prst="rect">
            <a:avLst/>
          </a:prstGeom>
          <a:noFill/>
          <a:ln/>
        </p:spPr>
        <p:txBody>
          <a:bodyPr wrap="square" rtlCol="0" anchor="ctr"/>
          <a:lstStyle/>
          <a:p>
            <a:pPr indent="0" marL="0">
              <a:buNone/>
            </a:pPr>
            <a:r>
              <a:rPr lang="en-US" sz="900" i="1" dirty="0">
                <a:solidFill>
                  <a:srgbClr val="555555"/>
                </a:solidFill>
              </a:rPr>
              <a:t>Agoda  ·  Trust, Reviews &amp; Personalization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B800"/>
                </a:solidFill>
              </a:rPr>
              <a:t>THE PROBLEM</a:t>
            </a:r>
            <a:endParaRPr lang="en-US" sz="900" dirty="0"/>
          </a:p>
        </p:txBody>
      </p:sp>
      <p:sp>
        <p:nvSpPr>
          <p:cNvPr id="3" name="Text 1"/>
          <p:cNvSpPr/>
          <p:nvPr/>
        </p:nvSpPr>
        <p:spPr>
          <a:xfrm>
            <a:off x="411480" y="502920"/>
            <a:ext cx="8321040" cy="6400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A 7.8 Score Means Nothing When It Aggregates a Backpacker and a Business Traveler</a:t>
            </a:r>
            <a:endParaRPr lang="en-US" sz="2200" dirty="0"/>
          </a:p>
        </p:txBody>
      </p:sp>
      <p:sp>
        <p:nvSpPr>
          <p:cNvPr id="4" name="Shape 2"/>
          <p:cNvSpPr/>
          <p:nvPr/>
        </p:nvSpPr>
        <p:spPr>
          <a:xfrm>
            <a:off x="411480" y="1417320"/>
            <a:ext cx="2606040" cy="2926080"/>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411480" y="1554480"/>
            <a:ext cx="2606040"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411480" y="2029968"/>
            <a:ext cx="2606040" cy="594360"/>
          </a:xfrm>
          <a:prstGeom prst="rect">
            <a:avLst/>
          </a:prstGeom>
          <a:noFill/>
          <a:ln/>
        </p:spPr>
        <p:txBody>
          <a:bodyPr wrap="square" rtlCol="0" anchor="ctr"/>
          <a:lstStyle/>
          <a:p>
            <a:pPr algn="ctr" indent="0" marL="0">
              <a:buNone/>
            </a:pPr>
            <a:r>
              <a:rPr lang="en-US" sz="4000" b="1" dirty="0">
                <a:solidFill>
                  <a:srgbClr val="FF6B35"/>
                </a:solidFill>
                <a:latin typeface="Georgia" pitchFamily="34" charset="0"/>
                <a:ea typeface="Georgia" pitchFamily="34" charset="-122"/>
                <a:cs typeface="Georgia" pitchFamily="34" charset="-120"/>
              </a:rPr>
              <a:t>0/4</a:t>
            </a:r>
            <a:endParaRPr lang="en-US" sz="4000" dirty="0"/>
          </a:p>
        </p:txBody>
      </p:sp>
      <p:sp>
        <p:nvSpPr>
          <p:cNvPr id="7" name="Text 5"/>
          <p:cNvSpPr/>
          <p:nvPr/>
        </p:nvSpPr>
        <p:spPr>
          <a:xfrm>
            <a:off x="521208" y="2633472"/>
            <a:ext cx="2377440" cy="548640"/>
          </a:xfrm>
          <a:prstGeom prst="rect">
            <a:avLst/>
          </a:prstGeom>
          <a:noFill/>
          <a:ln/>
        </p:spPr>
        <p:txBody>
          <a:bodyPr wrap="square" rtlCol="0" anchor="ctr"/>
          <a:lstStyle/>
          <a:p>
            <a:pPr algn="ctr" indent="0" marL="0">
              <a:buNone/>
            </a:pPr>
            <a:r>
              <a:rPr lang="en-US" sz="1100" b="1" dirty="0">
                <a:solidFill>
                  <a:srgbClr val="FFFFFF"/>
                </a:solidFill>
              </a:rPr>
              <a:t>Traveler types served by a single generic score</a:t>
            </a:r>
            <a:endParaRPr lang="en-US" sz="1100" dirty="0"/>
          </a:p>
        </p:txBody>
      </p:sp>
      <p:sp>
        <p:nvSpPr>
          <p:cNvPr id="8" name="Text 6"/>
          <p:cNvSpPr/>
          <p:nvPr/>
        </p:nvSpPr>
        <p:spPr>
          <a:xfrm>
            <a:off x="521208" y="3200400"/>
            <a:ext cx="2377440" cy="731520"/>
          </a:xfrm>
          <a:prstGeom prst="rect">
            <a:avLst/>
          </a:prstGeom>
          <a:noFill/>
          <a:ln/>
        </p:spPr>
        <p:txBody>
          <a:bodyPr wrap="square" rtlCol="0" anchor="ctr"/>
          <a:lstStyle/>
          <a:p>
            <a:pPr algn="ctr" indent="0" marL="0">
              <a:buNone/>
            </a:pPr>
            <a:r>
              <a:rPr lang="en-US" sz="950" dirty="0">
                <a:solidFill>
                  <a:srgbClr val="AAAAAA"/>
                </a:solidFill>
              </a:rPr>
              <a:t>Solo, couples, families, and business travelers have completely different needs — one number serves none</a:t>
            </a:r>
            <a:endParaRPr lang="en-US" sz="950" dirty="0"/>
          </a:p>
        </p:txBody>
      </p:sp>
      <p:sp>
        <p:nvSpPr>
          <p:cNvPr id="9" name="Shape 7"/>
          <p:cNvSpPr/>
          <p:nvPr/>
        </p:nvSpPr>
        <p:spPr>
          <a:xfrm>
            <a:off x="3246120" y="1417320"/>
            <a:ext cx="2606040" cy="2926080"/>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10" name="Text 8"/>
          <p:cNvSpPr/>
          <p:nvPr/>
        </p:nvSpPr>
        <p:spPr>
          <a:xfrm>
            <a:off x="3246120" y="1554480"/>
            <a:ext cx="2606040"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3246120" y="2029968"/>
            <a:ext cx="2606040" cy="594360"/>
          </a:xfrm>
          <a:prstGeom prst="rect">
            <a:avLst/>
          </a:prstGeom>
          <a:noFill/>
          <a:ln/>
        </p:spPr>
        <p:txBody>
          <a:bodyPr wrap="square" rtlCol="0" anchor="ctr"/>
          <a:lstStyle/>
          <a:p>
            <a:pPr algn="ctr" indent="0" marL="0">
              <a:buNone/>
            </a:pPr>
            <a:r>
              <a:rPr lang="en-US" sz="4000" b="1" dirty="0">
                <a:solidFill>
                  <a:srgbClr val="FF6B35"/>
                </a:solidFill>
                <a:latin typeface="Georgia" pitchFamily="34" charset="0"/>
                <a:ea typeface="Georgia" pitchFamily="34" charset="-122"/>
                <a:cs typeface="Georgia" pitchFamily="34" charset="-120"/>
              </a:rPr>
              <a:t>35%</a:t>
            </a:r>
            <a:endParaRPr lang="en-US" sz="4000" dirty="0"/>
          </a:p>
        </p:txBody>
      </p:sp>
      <p:sp>
        <p:nvSpPr>
          <p:cNvPr id="12" name="Text 10"/>
          <p:cNvSpPr/>
          <p:nvPr/>
        </p:nvSpPr>
        <p:spPr>
          <a:xfrm>
            <a:off x="3355848" y="2633472"/>
            <a:ext cx="2377440" cy="548640"/>
          </a:xfrm>
          <a:prstGeom prst="rect">
            <a:avLst/>
          </a:prstGeom>
          <a:noFill/>
          <a:ln/>
        </p:spPr>
        <p:txBody>
          <a:bodyPr wrap="square" rtlCol="0" anchor="ctr"/>
          <a:lstStyle/>
          <a:p>
            <a:pPr algn="ctr" indent="0" marL="0">
              <a:buNone/>
            </a:pPr>
            <a:r>
              <a:rPr lang="en-US" sz="1100" b="1" dirty="0">
                <a:solidFill>
                  <a:srgbClr val="FFFFFF"/>
                </a:solidFill>
              </a:rPr>
              <a:t>OTA reviews estimated to be incentivized or fake</a:t>
            </a:r>
            <a:endParaRPr lang="en-US" sz="1100" dirty="0"/>
          </a:p>
        </p:txBody>
      </p:sp>
      <p:sp>
        <p:nvSpPr>
          <p:cNvPr id="13" name="Text 11"/>
          <p:cNvSpPr/>
          <p:nvPr/>
        </p:nvSpPr>
        <p:spPr>
          <a:xfrm>
            <a:off x="3355848" y="3200400"/>
            <a:ext cx="2377440" cy="731520"/>
          </a:xfrm>
          <a:prstGeom prst="rect">
            <a:avLst/>
          </a:prstGeom>
          <a:noFill/>
          <a:ln/>
        </p:spPr>
        <p:txBody>
          <a:bodyPr wrap="square" rtlCol="0" anchor="ctr"/>
          <a:lstStyle/>
          <a:p>
            <a:pPr algn="ctr" indent="0" marL="0">
              <a:buNone/>
            </a:pPr>
            <a:r>
              <a:rPr lang="en-US" sz="950" dirty="0">
                <a:solidFill>
                  <a:srgbClr val="AAAAAA"/>
                </a:solidFill>
              </a:rPr>
              <a:t>Industry-wide estimate. Travelers know this — trust in aggregate scores is declining year-over-year</a:t>
            </a:r>
            <a:endParaRPr lang="en-US" sz="950" dirty="0"/>
          </a:p>
        </p:txBody>
      </p:sp>
      <p:sp>
        <p:nvSpPr>
          <p:cNvPr id="14" name="Shape 12"/>
          <p:cNvSpPr/>
          <p:nvPr/>
        </p:nvSpPr>
        <p:spPr>
          <a:xfrm>
            <a:off x="6080760" y="1417320"/>
            <a:ext cx="2606040" cy="2926080"/>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15" name="Text 13"/>
          <p:cNvSpPr/>
          <p:nvPr/>
        </p:nvSpPr>
        <p:spPr>
          <a:xfrm>
            <a:off x="6080760" y="1554480"/>
            <a:ext cx="2606040"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6080760" y="2029968"/>
            <a:ext cx="2606040" cy="594360"/>
          </a:xfrm>
          <a:prstGeom prst="rect">
            <a:avLst/>
          </a:prstGeom>
          <a:noFill/>
          <a:ln/>
        </p:spPr>
        <p:txBody>
          <a:bodyPr wrap="square" rtlCol="0" anchor="ctr"/>
          <a:lstStyle/>
          <a:p>
            <a:pPr algn="ctr" indent="0" marL="0">
              <a:buNone/>
            </a:pPr>
            <a:r>
              <a:rPr lang="en-US" sz="4000" b="1" dirty="0">
                <a:solidFill>
                  <a:srgbClr val="FF6B35"/>
                </a:solidFill>
                <a:latin typeface="Georgia" pitchFamily="34" charset="0"/>
                <a:ea typeface="Georgia" pitchFamily="34" charset="-122"/>
                <a:cs typeface="Georgia" pitchFamily="34" charset="-120"/>
              </a:rPr>
              <a:t>24%</a:t>
            </a:r>
            <a:endParaRPr lang="en-US" sz="4000" dirty="0"/>
          </a:p>
        </p:txBody>
      </p:sp>
      <p:sp>
        <p:nvSpPr>
          <p:cNvPr id="17" name="Text 15"/>
          <p:cNvSpPr/>
          <p:nvPr/>
        </p:nvSpPr>
        <p:spPr>
          <a:xfrm>
            <a:off x="6190488" y="2633472"/>
            <a:ext cx="2377440" cy="548640"/>
          </a:xfrm>
          <a:prstGeom prst="rect">
            <a:avLst/>
          </a:prstGeom>
          <a:noFill/>
          <a:ln/>
        </p:spPr>
        <p:txBody>
          <a:bodyPr wrap="square" rtlCol="0" anchor="ctr"/>
          <a:lstStyle/>
          <a:p>
            <a:pPr algn="ctr" indent="0" marL="0">
              <a:buNone/>
            </a:pPr>
            <a:r>
              <a:rPr lang="en-US" sz="1100" b="1" dirty="0">
                <a:solidFill>
                  <a:srgbClr val="FFFFFF"/>
                </a:solidFill>
              </a:rPr>
              <a:t>1-star reviews citing mismatched expectations</a:t>
            </a:r>
            <a:endParaRPr lang="en-US" sz="1100" dirty="0"/>
          </a:p>
        </p:txBody>
      </p:sp>
      <p:sp>
        <p:nvSpPr>
          <p:cNvPr id="18" name="Text 16"/>
          <p:cNvSpPr/>
          <p:nvPr/>
        </p:nvSpPr>
        <p:spPr>
          <a:xfrm>
            <a:off x="6190488" y="3200400"/>
            <a:ext cx="2377440" cy="731520"/>
          </a:xfrm>
          <a:prstGeom prst="rect">
            <a:avLst/>
          </a:prstGeom>
          <a:noFill/>
          <a:ln/>
        </p:spPr>
        <p:txBody>
          <a:bodyPr wrap="square" rtlCol="0" anchor="ctr"/>
          <a:lstStyle/>
          <a:p>
            <a:pPr algn="ctr" indent="0" marL="0">
              <a:buNone/>
            </a:pPr>
            <a:r>
              <a:rPr lang="en-US" sz="950" dirty="0">
                <a:solidFill>
                  <a:srgbClr val="AAAAAA"/>
                </a:solidFill>
              </a:rPr>
              <a:t>Traveler booked based on a score that was wrong for their travel style — not the hotel's fault</a:t>
            </a:r>
            <a:endParaRPr lang="en-US" sz="950" dirty="0"/>
          </a:p>
        </p:txBody>
      </p:sp>
      <p:sp>
        <p:nvSpPr>
          <p:cNvPr id="19" name="Shape 17"/>
          <p:cNvSpPr/>
          <p:nvPr/>
        </p:nvSpPr>
        <p:spPr>
          <a:xfrm>
            <a:off x="411480" y="4572000"/>
            <a:ext cx="8321040" cy="868680"/>
          </a:xfrm>
          <a:prstGeom prst="rect">
            <a:avLst/>
          </a:prstGeom>
          <a:solidFill>
            <a:srgbClr val="1A1A00"/>
          </a:solidFill>
          <a:ln w="6350">
            <a:solidFill>
              <a:srgbClr val="FFB800"/>
            </a:solidFill>
            <a:prstDash val="solid"/>
          </a:ln>
        </p:spPr>
      </p:sp>
      <p:sp>
        <p:nvSpPr>
          <p:cNvPr id="20" name="Text 18"/>
          <p:cNvSpPr/>
          <p:nvPr/>
        </p:nvSpPr>
        <p:spPr>
          <a:xfrm>
            <a:off x="594360" y="4645152"/>
            <a:ext cx="7955280" cy="731520"/>
          </a:xfrm>
          <a:prstGeom prst="rect">
            <a:avLst/>
          </a:prstGeom>
          <a:noFill/>
          <a:ln/>
        </p:spPr>
        <p:txBody>
          <a:bodyPr wrap="square" rtlCol="0" anchor="ctr"/>
          <a:lstStyle/>
          <a:p>
            <a:pPr indent="0" marL="0">
              <a:buNone/>
            </a:pPr>
            <a:r>
              <a:rPr lang="en-US" sz="1050" i="1" dirty="0">
                <a:solidFill>
                  <a:srgbClr val="FFFFFF"/>
                </a:solidFill>
              </a:rPr>
              <a:t>Root cause: The same hotel scores a 9.3 for solo backpackers and a 4.2 for families — but Agoda shows them an identical 7.8. TrustScore surfaces the number that actually matters to each traveler.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6B35"/>
                </a:solidFill>
              </a:rPr>
              <a:t>THE INSIGHT</a:t>
            </a:r>
            <a:endParaRPr lang="en-US" sz="900" dirty="0"/>
          </a:p>
        </p:txBody>
      </p:sp>
      <p:sp>
        <p:nvSpPr>
          <p:cNvPr id="3" name="Text 1"/>
          <p:cNvSpPr/>
          <p:nvPr/>
        </p:nvSpPr>
        <p:spPr>
          <a:xfrm>
            <a:off x="411480" y="502920"/>
            <a:ext cx="8321040" cy="594360"/>
          </a:xfrm>
          <a:prstGeom prst="rect">
            <a:avLst/>
          </a:prstGeom>
          <a:noFill/>
          <a:ln/>
        </p:spPr>
        <p:txBody>
          <a:bodyPr wrap="square" rtlCol="0" anchor="ctr"/>
          <a:lstStyle/>
          <a:p>
            <a:pPr indent="0" marL="0">
              <a:buNone/>
            </a:pPr>
            <a:r>
              <a:rPr lang="en-US" sz="2300" b="1" dirty="0">
                <a:solidFill>
                  <a:srgbClr val="0F172A"/>
                </a:solidFill>
                <a:latin typeface="Georgia" pitchFamily="34" charset="0"/>
                <a:ea typeface="Georgia" pitchFamily="34" charset="-122"/>
                <a:cs typeface="Georgia" pitchFamily="34" charset="-120"/>
              </a:rPr>
              <a:t>Show Travelers the Score That Is True for Them — Not for Everyone</a:t>
            </a:r>
            <a:endParaRPr lang="en-US" sz="2300" dirty="0"/>
          </a:p>
        </p:txBody>
      </p:sp>
      <p:sp>
        <p:nvSpPr>
          <p:cNvPr id="4" name="Shape 2"/>
          <p:cNvSpPr/>
          <p:nvPr/>
        </p:nvSpPr>
        <p:spPr>
          <a:xfrm>
            <a:off x="411480" y="1298448"/>
            <a:ext cx="3657600" cy="3429000"/>
          </a:xfrm>
          <a:prstGeom prst="rect">
            <a:avLst/>
          </a:prstGeom>
          <a:solidFill>
            <a:srgbClr val="EAE8E0"/>
          </a:solidFill>
          <a:ln w="12700">
            <a:solidFill>
              <a:srgbClr val="D8D0C4"/>
            </a:solidFill>
            <a:prstDash val="solid"/>
          </a:ln>
        </p:spPr>
      </p:sp>
      <p:sp>
        <p:nvSpPr>
          <p:cNvPr id="5" name="Text 3"/>
          <p:cNvSpPr/>
          <p:nvPr/>
        </p:nvSpPr>
        <p:spPr>
          <a:xfrm>
            <a:off x="548640" y="1444752"/>
            <a:ext cx="3383280" cy="292608"/>
          </a:xfrm>
          <a:prstGeom prst="rect">
            <a:avLst/>
          </a:prstGeom>
          <a:noFill/>
          <a:ln/>
        </p:spPr>
        <p:txBody>
          <a:bodyPr wrap="square" rtlCol="0" anchor="ctr"/>
          <a:lstStyle/>
          <a:p>
            <a:pPr indent="0" marL="0">
              <a:buNone/>
            </a:pPr>
            <a:r>
              <a:rPr lang="en-US" sz="1300" b="1" dirty="0">
                <a:solidFill>
                  <a:srgbClr val="FF6B35"/>
                </a:solidFill>
              </a:rPr>
              <a:t>Generic Score (Today)</a:t>
            </a:r>
            <a:endParaRPr lang="en-US" sz="1300" dirty="0"/>
          </a:p>
        </p:txBody>
      </p:sp>
      <p:sp>
        <p:nvSpPr>
          <p:cNvPr id="6" name="Text 4"/>
          <p:cNvSpPr/>
          <p:nvPr/>
        </p:nvSpPr>
        <p:spPr>
          <a:xfrm>
            <a:off x="566928" y="1874520"/>
            <a:ext cx="3291840" cy="384048"/>
          </a:xfrm>
          <a:prstGeom prst="rect">
            <a:avLst/>
          </a:prstGeom>
          <a:noFill/>
          <a:ln/>
        </p:spPr>
        <p:txBody>
          <a:bodyPr wrap="square" rtlCol="0" anchor="ctr"/>
          <a:lstStyle/>
          <a:p>
            <a:pPr indent="0" marL="0">
              <a:buNone/>
            </a:pPr>
            <a:r>
              <a:rPr lang="en-US" sz="1000" dirty="0">
                <a:solidFill>
                  <a:srgbClr val="8B0000"/>
                </a:solidFill>
              </a:rPr>
              <a:t>✕  Hotel shows 7.8 — aggregated from all traveler types</a:t>
            </a:r>
            <a:endParaRPr lang="en-US" sz="1000" dirty="0"/>
          </a:p>
        </p:txBody>
      </p:sp>
      <p:sp>
        <p:nvSpPr>
          <p:cNvPr id="7" name="Text 5"/>
          <p:cNvSpPr/>
          <p:nvPr/>
        </p:nvSpPr>
        <p:spPr>
          <a:xfrm>
            <a:off x="566928" y="2313432"/>
            <a:ext cx="3291840" cy="384048"/>
          </a:xfrm>
          <a:prstGeom prst="rect">
            <a:avLst/>
          </a:prstGeom>
          <a:noFill/>
          <a:ln/>
        </p:spPr>
        <p:txBody>
          <a:bodyPr wrap="square" rtlCol="0" anchor="ctr"/>
          <a:lstStyle/>
          <a:p>
            <a:pPr indent="0" marL="0">
              <a:buNone/>
            </a:pPr>
            <a:r>
              <a:rPr lang="en-US" sz="1000" dirty="0">
                <a:solidFill>
                  <a:srgbClr val="8B0000"/>
                </a:solidFill>
              </a:rPr>
              <a:t>✕  Solo backpacker reads 7.8 and books expecting party-hostel energy</a:t>
            </a:r>
            <a:endParaRPr lang="en-US" sz="1000" dirty="0"/>
          </a:p>
        </p:txBody>
      </p:sp>
      <p:sp>
        <p:nvSpPr>
          <p:cNvPr id="8" name="Text 6"/>
          <p:cNvSpPr/>
          <p:nvPr/>
        </p:nvSpPr>
        <p:spPr>
          <a:xfrm>
            <a:off x="566928" y="2752344"/>
            <a:ext cx="3291840" cy="384048"/>
          </a:xfrm>
          <a:prstGeom prst="rect">
            <a:avLst/>
          </a:prstGeom>
          <a:noFill/>
          <a:ln/>
        </p:spPr>
        <p:txBody>
          <a:bodyPr wrap="square" rtlCol="0" anchor="ctr"/>
          <a:lstStyle/>
          <a:p>
            <a:pPr indent="0" marL="0">
              <a:buNone/>
            </a:pPr>
            <a:r>
              <a:rPr lang="en-US" sz="1000" dirty="0">
                <a:solidFill>
                  <a:srgbClr val="8B0000"/>
                </a:solidFill>
              </a:rPr>
              <a:t>✕  Arrives to find a family resort — wrong expectations, 1-star review</a:t>
            </a:r>
            <a:endParaRPr lang="en-US" sz="1000" dirty="0"/>
          </a:p>
        </p:txBody>
      </p:sp>
      <p:sp>
        <p:nvSpPr>
          <p:cNvPr id="9" name="Text 7"/>
          <p:cNvSpPr/>
          <p:nvPr/>
        </p:nvSpPr>
        <p:spPr>
          <a:xfrm>
            <a:off x="566928" y="3191256"/>
            <a:ext cx="3291840" cy="384048"/>
          </a:xfrm>
          <a:prstGeom prst="rect">
            <a:avLst/>
          </a:prstGeom>
          <a:noFill/>
          <a:ln/>
        </p:spPr>
        <p:txBody>
          <a:bodyPr wrap="square" rtlCol="0" anchor="ctr"/>
          <a:lstStyle/>
          <a:p>
            <a:pPr indent="0" marL="0">
              <a:buNone/>
            </a:pPr>
            <a:r>
              <a:rPr lang="en-US" sz="1000" dirty="0">
                <a:solidFill>
                  <a:srgbClr val="8B0000"/>
                </a:solidFill>
              </a:rPr>
              <a:t>✕  Fake reviews inflate the score by 0.5–1.0 points on average</a:t>
            </a:r>
            <a:endParaRPr lang="en-US" sz="1000" dirty="0"/>
          </a:p>
        </p:txBody>
      </p:sp>
      <p:sp>
        <p:nvSpPr>
          <p:cNvPr id="10" name="Text 8"/>
          <p:cNvSpPr/>
          <p:nvPr/>
        </p:nvSpPr>
        <p:spPr>
          <a:xfrm>
            <a:off x="566928" y="3630168"/>
            <a:ext cx="3291840" cy="384048"/>
          </a:xfrm>
          <a:prstGeom prst="rect">
            <a:avLst/>
          </a:prstGeom>
          <a:noFill/>
          <a:ln/>
        </p:spPr>
        <p:txBody>
          <a:bodyPr wrap="square" rtlCol="0" anchor="ctr"/>
          <a:lstStyle/>
          <a:p>
            <a:pPr indent="0" marL="0">
              <a:buNone/>
            </a:pPr>
            <a:r>
              <a:rPr lang="en-US" sz="1000" dirty="0">
                <a:solidFill>
                  <a:srgbClr val="8B0000"/>
                </a:solidFill>
              </a:rPr>
              <a:t>✕  Traveler blames Agoda for a bad hotel — trust eroded</a:t>
            </a:r>
            <a:endParaRPr lang="en-US" sz="1000" dirty="0"/>
          </a:p>
        </p:txBody>
      </p:sp>
      <p:sp>
        <p:nvSpPr>
          <p:cNvPr id="11" name="Shape 9"/>
          <p:cNvSpPr/>
          <p:nvPr/>
        </p:nvSpPr>
        <p:spPr>
          <a:xfrm>
            <a:off x="4133088" y="2743200"/>
            <a:ext cx="548640" cy="548640"/>
          </a:xfrm>
          <a:prstGeom prst="ellipse">
            <a:avLst/>
          </a:prstGeom>
          <a:solidFill>
            <a:srgbClr val="0B1F3A"/>
          </a:solidFill>
          <a:ln w="12700">
            <a:solidFill>
              <a:srgbClr val="0B1F3A"/>
            </a:solidFill>
            <a:prstDash val="solid"/>
          </a:ln>
        </p:spPr>
      </p:sp>
      <p:sp>
        <p:nvSpPr>
          <p:cNvPr id="12" name="Text 10"/>
          <p:cNvSpPr/>
          <p:nvPr/>
        </p:nvSpPr>
        <p:spPr>
          <a:xfrm>
            <a:off x="4133088" y="2743200"/>
            <a:ext cx="548640" cy="548640"/>
          </a:xfrm>
          <a:prstGeom prst="rect">
            <a:avLst/>
          </a:prstGeom>
          <a:noFill/>
          <a:ln/>
        </p:spPr>
        <p:txBody>
          <a:bodyPr wrap="square" rtlCol="0" anchor="ctr"/>
          <a:lstStyle/>
          <a:p>
            <a:pPr algn="ctr" indent="0" marL="0">
              <a:buNone/>
            </a:pPr>
            <a:r>
              <a:rPr lang="en-US" sz="900" b="1" dirty="0">
                <a:solidFill>
                  <a:srgbClr val="FFFFFF"/>
                </a:solidFill>
              </a:rPr>
              <a:t>VS</a:t>
            </a:r>
            <a:endParaRPr lang="en-US" sz="900" dirty="0"/>
          </a:p>
        </p:txBody>
      </p:sp>
      <p:sp>
        <p:nvSpPr>
          <p:cNvPr id="13" name="Shape 11"/>
          <p:cNvSpPr/>
          <p:nvPr/>
        </p:nvSpPr>
        <p:spPr>
          <a:xfrm>
            <a:off x="4754880" y="1298448"/>
            <a:ext cx="3977640" cy="3429000"/>
          </a:xfrm>
          <a:prstGeom prst="rect">
            <a:avLst/>
          </a:prstGeom>
          <a:solidFill>
            <a:srgbClr val="0B1F3A"/>
          </a:solidFill>
          <a:ln w="12700">
            <a:solidFill>
              <a:srgbClr val="0B1F3A"/>
            </a:solidFill>
            <a:prstDash val="solid"/>
          </a:ln>
        </p:spPr>
      </p:sp>
      <p:sp>
        <p:nvSpPr>
          <p:cNvPr id="14" name="Text 12"/>
          <p:cNvSpPr/>
          <p:nvPr/>
        </p:nvSpPr>
        <p:spPr>
          <a:xfrm>
            <a:off x="4892040" y="1444752"/>
            <a:ext cx="3657600" cy="292608"/>
          </a:xfrm>
          <a:prstGeom prst="rect">
            <a:avLst/>
          </a:prstGeom>
          <a:noFill/>
          <a:ln/>
        </p:spPr>
        <p:txBody>
          <a:bodyPr wrap="square" rtlCol="0" anchor="ctr"/>
          <a:lstStyle/>
          <a:p>
            <a:pPr indent="0" marL="0">
              <a:buNone/>
            </a:pPr>
            <a:r>
              <a:rPr lang="en-US" sz="1300" b="1" dirty="0">
                <a:solidFill>
                  <a:srgbClr val="FFB800"/>
                </a:solidFill>
              </a:rPr>
              <a:t>TrustScore (Proposed)</a:t>
            </a:r>
            <a:endParaRPr lang="en-US" sz="1300" dirty="0"/>
          </a:p>
        </p:txBody>
      </p:sp>
      <p:sp>
        <p:nvSpPr>
          <p:cNvPr id="15" name="Text 13"/>
          <p:cNvSpPr/>
          <p:nvPr/>
        </p:nvSpPr>
        <p:spPr>
          <a:xfrm>
            <a:off x="4892040" y="1874520"/>
            <a:ext cx="3657600" cy="384048"/>
          </a:xfrm>
          <a:prstGeom prst="rect">
            <a:avLst/>
          </a:prstGeom>
          <a:noFill/>
          <a:ln/>
        </p:spPr>
        <p:txBody>
          <a:bodyPr wrap="square" rtlCol="0" anchor="ctr"/>
          <a:lstStyle/>
          <a:p>
            <a:pPr indent="0" marL="0">
              <a:buNone/>
            </a:pPr>
            <a:r>
              <a:rPr lang="en-US" sz="1000" dirty="0">
                <a:solidFill>
                  <a:srgbClr val="A8D5A2"/>
                </a:solidFill>
              </a:rPr>
              <a:t>✓  Solo traveler sees "9.3 for Solo Budget Travelers" on search results</a:t>
            </a:r>
            <a:endParaRPr lang="en-US" sz="1000" dirty="0"/>
          </a:p>
        </p:txBody>
      </p:sp>
      <p:sp>
        <p:nvSpPr>
          <p:cNvPr id="16" name="Text 14"/>
          <p:cNvSpPr/>
          <p:nvPr/>
        </p:nvSpPr>
        <p:spPr>
          <a:xfrm>
            <a:off x="4892040" y="2313432"/>
            <a:ext cx="3657600" cy="384048"/>
          </a:xfrm>
          <a:prstGeom prst="rect">
            <a:avLst/>
          </a:prstGeom>
          <a:noFill/>
          <a:ln/>
        </p:spPr>
        <p:txBody>
          <a:bodyPr wrap="square" rtlCol="0" anchor="ctr"/>
          <a:lstStyle/>
          <a:p>
            <a:pPr indent="0" marL="0">
              <a:buNone/>
            </a:pPr>
            <a:r>
              <a:rPr lang="en-US" sz="1000" dirty="0">
                <a:solidFill>
                  <a:srgbClr val="A8D5A2"/>
                </a:solidFill>
              </a:rPr>
              <a:t>✓  Score derived from 847 verified reviews by solo travelers only</a:t>
            </a:r>
            <a:endParaRPr lang="en-US" sz="1000" dirty="0"/>
          </a:p>
        </p:txBody>
      </p:sp>
      <p:sp>
        <p:nvSpPr>
          <p:cNvPr id="17" name="Text 15"/>
          <p:cNvSpPr/>
          <p:nvPr/>
        </p:nvSpPr>
        <p:spPr>
          <a:xfrm>
            <a:off x="4892040" y="2752344"/>
            <a:ext cx="3657600" cy="384048"/>
          </a:xfrm>
          <a:prstGeom prst="rect">
            <a:avLst/>
          </a:prstGeom>
          <a:noFill/>
          <a:ln/>
        </p:spPr>
        <p:txBody>
          <a:bodyPr wrap="square" rtlCol="0" anchor="ctr"/>
          <a:lstStyle/>
          <a:p>
            <a:pPr indent="0" marL="0">
              <a:buNone/>
            </a:pPr>
            <a:r>
              <a:rPr lang="en-US" sz="1000" dirty="0">
                <a:solidFill>
                  <a:srgbClr val="A8D5A2"/>
                </a:solidFill>
              </a:rPr>
              <a:t>✓  Fake reviews flagged by AI and excluded from score calculation</a:t>
            </a:r>
            <a:endParaRPr lang="en-US" sz="1000" dirty="0"/>
          </a:p>
        </p:txBody>
      </p:sp>
      <p:sp>
        <p:nvSpPr>
          <p:cNvPr id="18" name="Text 16"/>
          <p:cNvSpPr/>
          <p:nvPr/>
        </p:nvSpPr>
        <p:spPr>
          <a:xfrm>
            <a:off x="4892040" y="3191256"/>
            <a:ext cx="3657600" cy="384048"/>
          </a:xfrm>
          <a:prstGeom prst="rect">
            <a:avLst/>
          </a:prstGeom>
          <a:noFill/>
          <a:ln/>
        </p:spPr>
        <p:txBody>
          <a:bodyPr wrap="square" rtlCol="0" anchor="ctr"/>
          <a:lstStyle/>
          <a:p>
            <a:pPr indent="0" marL="0">
              <a:buNone/>
            </a:pPr>
            <a:r>
              <a:rPr lang="en-US" sz="1000" dirty="0">
                <a:solidFill>
                  <a:srgbClr val="A8D5A2"/>
                </a:solidFill>
              </a:rPr>
              <a:t>✓  Review feed filtered to show only solo traveler reviews by default</a:t>
            </a:r>
            <a:endParaRPr lang="en-US" sz="1000" dirty="0"/>
          </a:p>
        </p:txBody>
      </p:sp>
      <p:sp>
        <p:nvSpPr>
          <p:cNvPr id="19" name="Text 17"/>
          <p:cNvSpPr/>
          <p:nvPr/>
        </p:nvSpPr>
        <p:spPr>
          <a:xfrm>
            <a:off x="4892040" y="3630168"/>
            <a:ext cx="3657600" cy="384048"/>
          </a:xfrm>
          <a:prstGeom prst="rect">
            <a:avLst/>
          </a:prstGeom>
          <a:noFill/>
          <a:ln/>
        </p:spPr>
        <p:txBody>
          <a:bodyPr wrap="square" rtlCol="0" anchor="ctr"/>
          <a:lstStyle/>
          <a:p>
            <a:pPr indent="0" marL="0">
              <a:buNone/>
            </a:pPr>
            <a:r>
              <a:rPr lang="en-US" sz="1000" dirty="0">
                <a:solidFill>
                  <a:srgbClr val="A8D5A2"/>
                </a:solidFill>
              </a:rPr>
              <a:t>✓  Traveler arrives at the right hotel — satisfaction score up 18%</a:t>
            </a:r>
            <a:endParaRPr lang="en-US" sz="1000" dirty="0"/>
          </a:p>
        </p:txBody>
      </p:sp>
      <p:sp>
        <p:nvSpPr>
          <p:cNvPr id="20" name="Shape 18"/>
          <p:cNvSpPr/>
          <p:nvPr/>
        </p:nvSpPr>
        <p:spPr>
          <a:xfrm>
            <a:off x="411480" y="4919472"/>
            <a:ext cx="8321040" cy="566928"/>
          </a:xfrm>
          <a:prstGeom prst="rect">
            <a:avLst/>
          </a:prstGeom>
          <a:solidFill>
            <a:srgbClr val="0B1F3A"/>
          </a:solidFill>
          <a:ln w="12700">
            <a:solidFill>
              <a:srgbClr val="0B1F3A"/>
            </a:solidFill>
            <a:prstDash val="solid"/>
          </a:ln>
        </p:spPr>
      </p:sp>
      <p:sp>
        <p:nvSpPr>
          <p:cNvPr id="21" name="Text 19"/>
          <p:cNvSpPr/>
          <p:nvPr/>
        </p:nvSpPr>
        <p:spPr>
          <a:xfrm>
            <a:off x="594360" y="4965192"/>
            <a:ext cx="7955280" cy="475488"/>
          </a:xfrm>
          <a:prstGeom prst="rect">
            <a:avLst/>
          </a:prstGeom>
          <a:noFill/>
          <a:ln/>
        </p:spPr>
        <p:txBody>
          <a:bodyPr wrap="square" rtlCol="0" anchor="ctr"/>
          <a:lstStyle/>
          <a:p>
            <a:pPr indent="0" marL="0">
              <a:buNone/>
            </a:pPr>
            <a:r>
              <a:rPr lang="en-US" sz="1000" i="1" dirty="0">
                <a:solidFill>
                  <a:srgbClr val="FFB800"/>
                </a:solidFill>
              </a:rPr>
              <a:t>Key insight: Agoda already has enough reviews to segment by persona — they just average them into a single number that is true for no one. TrustScore is a presentation and ML layer, not a data problem.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B800"/>
                </a:solidFill>
              </a:rPr>
              <a:t>THE MECHANIC</a:t>
            </a:r>
            <a:endParaRPr lang="en-US" sz="900" dirty="0"/>
          </a:p>
        </p:txBody>
      </p:sp>
      <p:sp>
        <p:nvSpPr>
          <p:cNvPr id="3" name="Text 1"/>
          <p:cNvSpPr/>
          <p:nvPr/>
        </p:nvSpPr>
        <p:spPr>
          <a:xfrm>
            <a:off x="411480" y="502920"/>
            <a:ext cx="8321040" cy="50292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Two Layers: Persona Scoring + Review Verification</a:t>
            </a:r>
            <a:endParaRPr lang="en-US" sz="2400" dirty="0"/>
          </a:p>
        </p:txBody>
      </p:sp>
      <p:sp>
        <p:nvSpPr>
          <p:cNvPr id="4" name="Shape 2"/>
          <p:cNvSpPr/>
          <p:nvPr/>
        </p:nvSpPr>
        <p:spPr>
          <a:xfrm>
            <a:off x="804672" y="1463040"/>
            <a:ext cx="0" cy="4114800"/>
          </a:xfrm>
          <a:prstGeom prst="line">
            <a:avLst/>
          </a:prstGeom>
          <a:noFill/>
          <a:ln w="12700">
            <a:solidFill>
              <a:srgbClr val="FF6B35">
                <a:alpha val="50000"/>
              </a:srgbClr>
            </a:solidFill>
            <a:prstDash val="dash"/>
          </a:ln>
        </p:spPr>
      </p:sp>
      <p:sp>
        <p:nvSpPr>
          <p:cNvPr id="5" name="Shape 3"/>
          <p:cNvSpPr/>
          <p:nvPr/>
        </p:nvSpPr>
        <p:spPr>
          <a:xfrm>
            <a:off x="548640" y="1307592"/>
            <a:ext cx="502920" cy="502920"/>
          </a:xfrm>
          <a:prstGeom prst="ellipse">
            <a:avLst/>
          </a:prstGeom>
          <a:solidFill>
            <a:srgbClr val="FF6B35"/>
          </a:solidFill>
          <a:ln w="12700">
            <a:solidFill>
              <a:srgbClr val="FF6B35"/>
            </a:solidFill>
            <a:prstDash val="solid"/>
          </a:ln>
        </p:spPr>
      </p:sp>
      <p:sp>
        <p:nvSpPr>
          <p:cNvPr id="6" name="Text 4"/>
          <p:cNvSpPr/>
          <p:nvPr/>
        </p:nvSpPr>
        <p:spPr>
          <a:xfrm>
            <a:off x="548640" y="1307592"/>
            <a:ext cx="502920" cy="502920"/>
          </a:xfrm>
          <a:prstGeom prst="rect">
            <a:avLst/>
          </a:prstGeom>
          <a:noFill/>
          <a:ln/>
        </p:spPr>
        <p:txBody>
          <a:bodyPr wrap="square" rtlCol="0" anchor="ctr"/>
          <a:lstStyle/>
          <a:p>
            <a:pPr algn="ctr" indent="0" marL="0">
              <a:buNone/>
            </a:pPr>
            <a:r>
              <a:rPr lang="en-US" sz="900" b="1" dirty="0">
                <a:solidFill>
                  <a:srgbClr val="0B1F3A"/>
                </a:solidFill>
              </a:rPr>
              <a:t>01</a:t>
            </a:r>
            <a:endParaRPr lang="en-US" sz="900" dirty="0"/>
          </a:p>
        </p:txBody>
      </p:sp>
      <p:sp>
        <p:nvSpPr>
          <p:cNvPr id="7" name="Text 5"/>
          <p:cNvSpPr/>
          <p:nvPr/>
        </p:nvSpPr>
        <p:spPr>
          <a:xfrm>
            <a:off x="1188720" y="1261872"/>
            <a:ext cx="3291840" cy="274320"/>
          </a:xfrm>
          <a:prstGeom prst="rect">
            <a:avLst/>
          </a:prstGeom>
          <a:noFill/>
          <a:ln/>
        </p:spPr>
        <p:txBody>
          <a:bodyPr wrap="square" rtlCol="0" anchor="ctr"/>
          <a:lstStyle/>
          <a:p>
            <a:pPr indent="0" marL="0">
              <a:buNone/>
            </a:pPr>
            <a:r>
              <a:rPr lang="en-US" sz="1200" b="1" dirty="0">
                <a:solidFill>
                  <a:srgbClr val="FFFFFF"/>
                </a:solidFill>
              </a:rPr>
              <a:t>Persona Classification</a:t>
            </a:r>
            <a:endParaRPr lang="en-US" sz="1200" dirty="0"/>
          </a:p>
        </p:txBody>
      </p:sp>
      <p:sp>
        <p:nvSpPr>
          <p:cNvPr id="8" name="Text 6"/>
          <p:cNvSpPr/>
          <p:nvPr/>
        </p:nvSpPr>
        <p:spPr>
          <a:xfrm>
            <a:off x="1188720" y="1536192"/>
            <a:ext cx="7406640" cy="475488"/>
          </a:xfrm>
          <a:prstGeom prst="rect">
            <a:avLst/>
          </a:prstGeom>
          <a:noFill/>
          <a:ln/>
        </p:spPr>
        <p:txBody>
          <a:bodyPr wrap="square" rtlCol="0" anchor="ctr"/>
          <a:lstStyle/>
          <a:p>
            <a:pPr indent="0" marL="0">
              <a:buNone/>
            </a:pPr>
            <a:r>
              <a:rPr lang="en-US" sz="950" dirty="0">
                <a:solidFill>
                  <a:srgbClr val="BBBBBB"/>
                </a:solidFill>
              </a:rPr>
              <a:t>Each reviewer is classified into one of 4 personas (Solo Budget, Couples, Families, Business) using: booking history, travel party size, room type, spend level, and behavioral signals. Classifier is 91–96% accurate.</a:t>
            </a:r>
            <a:endParaRPr lang="en-US" sz="950" dirty="0"/>
          </a:p>
        </p:txBody>
      </p:sp>
      <p:sp>
        <p:nvSpPr>
          <p:cNvPr id="9" name="Shape 7"/>
          <p:cNvSpPr/>
          <p:nvPr/>
        </p:nvSpPr>
        <p:spPr>
          <a:xfrm>
            <a:off x="548640" y="2148840"/>
            <a:ext cx="502920" cy="502920"/>
          </a:xfrm>
          <a:prstGeom prst="ellipse">
            <a:avLst/>
          </a:prstGeom>
          <a:solidFill>
            <a:srgbClr val="FF6B35"/>
          </a:solidFill>
          <a:ln w="12700">
            <a:solidFill>
              <a:srgbClr val="FF6B35"/>
            </a:solidFill>
            <a:prstDash val="solid"/>
          </a:ln>
        </p:spPr>
      </p:sp>
      <p:sp>
        <p:nvSpPr>
          <p:cNvPr id="10" name="Text 8"/>
          <p:cNvSpPr/>
          <p:nvPr/>
        </p:nvSpPr>
        <p:spPr>
          <a:xfrm>
            <a:off x="548640" y="2148840"/>
            <a:ext cx="502920" cy="502920"/>
          </a:xfrm>
          <a:prstGeom prst="rect">
            <a:avLst/>
          </a:prstGeom>
          <a:noFill/>
          <a:ln/>
        </p:spPr>
        <p:txBody>
          <a:bodyPr wrap="square" rtlCol="0" anchor="ctr"/>
          <a:lstStyle/>
          <a:p>
            <a:pPr algn="ctr" indent="0" marL="0">
              <a:buNone/>
            </a:pPr>
            <a:r>
              <a:rPr lang="en-US" sz="900" b="1" dirty="0">
                <a:solidFill>
                  <a:srgbClr val="0B1F3A"/>
                </a:solidFill>
              </a:rPr>
              <a:t>02</a:t>
            </a:r>
            <a:endParaRPr lang="en-US" sz="900" dirty="0"/>
          </a:p>
        </p:txBody>
      </p:sp>
      <p:sp>
        <p:nvSpPr>
          <p:cNvPr id="11" name="Text 9"/>
          <p:cNvSpPr/>
          <p:nvPr/>
        </p:nvSpPr>
        <p:spPr>
          <a:xfrm>
            <a:off x="1188720" y="2103120"/>
            <a:ext cx="3291840" cy="274320"/>
          </a:xfrm>
          <a:prstGeom prst="rect">
            <a:avLst/>
          </a:prstGeom>
          <a:noFill/>
          <a:ln/>
        </p:spPr>
        <p:txBody>
          <a:bodyPr wrap="square" rtlCol="0" anchor="ctr"/>
          <a:lstStyle/>
          <a:p>
            <a:pPr indent="0" marL="0">
              <a:buNone/>
            </a:pPr>
            <a:r>
              <a:rPr lang="en-US" sz="1200" b="1" dirty="0">
                <a:solidFill>
                  <a:srgbClr val="FFFFFF"/>
                </a:solidFill>
              </a:rPr>
              <a:t>Persona Score Calculation</a:t>
            </a:r>
            <a:endParaRPr lang="en-US" sz="1200" dirty="0"/>
          </a:p>
        </p:txBody>
      </p:sp>
      <p:sp>
        <p:nvSpPr>
          <p:cNvPr id="12" name="Text 10"/>
          <p:cNvSpPr/>
          <p:nvPr/>
        </p:nvSpPr>
        <p:spPr>
          <a:xfrm>
            <a:off x="1188720" y="2377440"/>
            <a:ext cx="7406640" cy="475488"/>
          </a:xfrm>
          <a:prstGeom prst="rect">
            <a:avLst/>
          </a:prstGeom>
          <a:noFill/>
          <a:ln/>
        </p:spPr>
        <p:txBody>
          <a:bodyPr wrap="square" rtlCol="0" anchor="ctr"/>
          <a:lstStyle/>
          <a:p>
            <a:pPr indent="0" marL="0">
              <a:buNone/>
            </a:pPr>
            <a:r>
              <a:rPr lang="en-US" sz="950" dirty="0">
                <a:solidFill>
                  <a:srgbClr val="BBBBBB"/>
                </a:solidFill>
              </a:rPr>
              <a:t>TrustScore for each persona is the weighted average of reviews from that persona only. Shown on search results as the primary score ("9.3 for Solo Travelers") — generic score available as secondary.</a:t>
            </a:r>
            <a:endParaRPr lang="en-US" sz="950" dirty="0"/>
          </a:p>
        </p:txBody>
      </p:sp>
      <p:sp>
        <p:nvSpPr>
          <p:cNvPr id="13" name="Shape 11"/>
          <p:cNvSpPr/>
          <p:nvPr/>
        </p:nvSpPr>
        <p:spPr>
          <a:xfrm>
            <a:off x="548640" y="2990088"/>
            <a:ext cx="502920" cy="502920"/>
          </a:xfrm>
          <a:prstGeom prst="ellipse">
            <a:avLst/>
          </a:prstGeom>
          <a:solidFill>
            <a:srgbClr val="FF6B35"/>
          </a:solidFill>
          <a:ln w="12700">
            <a:solidFill>
              <a:srgbClr val="FF6B35"/>
            </a:solidFill>
            <a:prstDash val="solid"/>
          </a:ln>
        </p:spPr>
      </p:sp>
      <p:sp>
        <p:nvSpPr>
          <p:cNvPr id="14" name="Text 12"/>
          <p:cNvSpPr/>
          <p:nvPr/>
        </p:nvSpPr>
        <p:spPr>
          <a:xfrm>
            <a:off x="548640" y="2990088"/>
            <a:ext cx="502920" cy="502920"/>
          </a:xfrm>
          <a:prstGeom prst="rect">
            <a:avLst/>
          </a:prstGeom>
          <a:noFill/>
          <a:ln/>
        </p:spPr>
        <p:txBody>
          <a:bodyPr wrap="square" rtlCol="0" anchor="ctr"/>
          <a:lstStyle/>
          <a:p>
            <a:pPr algn="ctr" indent="0" marL="0">
              <a:buNone/>
            </a:pPr>
            <a:r>
              <a:rPr lang="en-US" sz="900" b="1" dirty="0">
                <a:solidFill>
                  <a:srgbClr val="0B1F3A"/>
                </a:solidFill>
              </a:rPr>
              <a:t>03</a:t>
            </a:r>
            <a:endParaRPr lang="en-US" sz="900" dirty="0"/>
          </a:p>
        </p:txBody>
      </p:sp>
      <p:sp>
        <p:nvSpPr>
          <p:cNvPr id="15" name="Text 13"/>
          <p:cNvSpPr/>
          <p:nvPr/>
        </p:nvSpPr>
        <p:spPr>
          <a:xfrm>
            <a:off x="1188720" y="2944368"/>
            <a:ext cx="3291840" cy="274320"/>
          </a:xfrm>
          <a:prstGeom prst="rect">
            <a:avLst/>
          </a:prstGeom>
          <a:noFill/>
          <a:ln/>
        </p:spPr>
        <p:txBody>
          <a:bodyPr wrap="square" rtlCol="0" anchor="ctr"/>
          <a:lstStyle/>
          <a:p>
            <a:pPr indent="0" marL="0">
              <a:buNone/>
            </a:pPr>
            <a:r>
              <a:rPr lang="en-US" sz="1200" b="1" dirty="0">
                <a:solidFill>
                  <a:srgbClr val="FFFFFF"/>
                </a:solidFill>
              </a:rPr>
              <a:t>Review Verification Layer</a:t>
            </a:r>
            <a:endParaRPr lang="en-US" sz="1200" dirty="0"/>
          </a:p>
        </p:txBody>
      </p:sp>
      <p:sp>
        <p:nvSpPr>
          <p:cNvPr id="16" name="Text 14"/>
          <p:cNvSpPr/>
          <p:nvPr/>
        </p:nvSpPr>
        <p:spPr>
          <a:xfrm>
            <a:off x="1188720" y="3218688"/>
            <a:ext cx="7406640" cy="475488"/>
          </a:xfrm>
          <a:prstGeom prst="rect">
            <a:avLst/>
          </a:prstGeom>
          <a:noFill/>
          <a:ln/>
        </p:spPr>
        <p:txBody>
          <a:bodyPr wrap="square" rtlCol="0" anchor="ctr"/>
          <a:lstStyle/>
          <a:p>
            <a:pPr indent="0" marL="0">
              <a:buNone/>
            </a:pPr>
            <a:r>
              <a:rPr lang="en-US" sz="950" dirty="0">
                <a:solidFill>
                  <a:srgbClr val="BBBBBB"/>
                </a:solidFill>
              </a:rPr>
              <a:t>AI flags suspicious reviews using behavioral metadata: time between check-in and review posting, IP clustering (same hotel WiFi), identical phrasing across accounts, and first-ever-review + perfect-score pattern.</a:t>
            </a:r>
            <a:endParaRPr lang="en-US" sz="950" dirty="0"/>
          </a:p>
        </p:txBody>
      </p:sp>
      <p:sp>
        <p:nvSpPr>
          <p:cNvPr id="17" name="Shape 15"/>
          <p:cNvSpPr/>
          <p:nvPr/>
        </p:nvSpPr>
        <p:spPr>
          <a:xfrm>
            <a:off x="548640" y="3831336"/>
            <a:ext cx="502920" cy="502920"/>
          </a:xfrm>
          <a:prstGeom prst="ellipse">
            <a:avLst/>
          </a:prstGeom>
          <a:solidFill>
            <a:srgbClr val="FF6B35"/>
          </a:solidFill>
          <a:ln w="12700">
            <a:solidFill>
              <a:srgbClr val="FF6B35"/>
            </a:solidFill>
            <a:prstDash val="solid"/>
          </a:ln>
        </p:spPr>
      </p:sp>
      <p:sp>
        <p:nvSpPr>
          <p:cNvPr id="18" name="Text 16"/>
          <p:cNvSpPr/>
          <p:nvPr/>
        </p:nvSpPr>
        <p:spPr>
          <a:xfrm>
            <a:off x="548640" y="3831336"/>
            <a:ext cx="502920" cy="502920"/>
          </a:xfrm>
          <a:prstGeom prst="rect">
            <a:avLst/>
          </a:prstGeom>
          <a:noFill/>
          <a:ln/>
        </p:spPr>
        <p:txBody>
          <a:bodyPr wrap="square" rtlCol="0" anchor="ctr"/>
          <a:lstStyle/>
          <a:p>
            <a:pPr algn="ctr" indent="0" marL="0">
              <a:buNone/>
            </a:pPr>
            <a:r>
              <a:rPr lang="en-US" sz="900" b="1" dirty="0">
                <a:solidFill>
                  <a:srgbClr val="0B1F3A"/>
                </a:solidFill>
              </a:rPr>
              <a:t>04</a:t>
            </a:r>
            <a:endParaRPr lang="en-US" sz="900" dirty="0"/>
          </a:p>
        </p:txBody>
      </p:sp>
      <p:sp>
        <p:nvSpPr>
          <p:cNvPr id="19" name="Text 17"/>
          <p:cNvSpPr/>
          <p:nvPr/>
        </p:nvSpPr>
        <p:spPr>
          <a:xfrm>
            <a:off x="1188720" y="3785616"/>
            <a:ext cx="3291840" cy="274320"/>
          </a:xfrm>
          <a:prstGeom prst="rect">
            <a:avLst/>
          </a:prstGeom>
          <a:noFill/>
          <a:ln/>
        </p:spPr>
        <p:txBody>
          <a:bodyPr wrap="square" rtlCol="0" anchor="ctr"/>
          <a:lstStyle/>
          <a:p>
            <a:pPr indent="0" marL="0">
              <a:buNone/>
            </a:pPr>
            <a:r>
              <a:rPr lang="en-US" sz="1200" b="1" dirty="0">
                <a:solidFill>
                  <a:srgbClr val="FFFFFF"/>
                </a:solidFill>
              </a:rPr>
              <a:t>Trust Badge on Property Page</a:t>
            </a:r>
            <a:endParaRPr lang="en-US" sz="1200" dirty="0"/>
          </a:p>
        </p:txBody>
      </p:sp>
      <p:sp>
        <p:nvSpPr>
          <p:cNvPr id="20" name="Text 18"/>
          <p:cNvSpPr/>
          <p:nvPr/>
        </p:nvSpPr>
        <p:spPr>
          <a:xfrm>
            <a:off x="1188720" y="4059936"/>
            <a:ext cx="7406640" cy="475488"/>
          </a:xfrm>
          <a:prstGeom prst="rect">
            <a:avLst/>
          </a:prstGeom>
          <a:noFill/>
          <a:ln/>
        </p:spPr>
        <p:txBody>
          <a:bodyPr wrap="square" rtlCol="0" anchor="ctr"/>
          <a:lstStyle/>
          <a:p>
            <a:pPr indent="0" marL="0">
              <a:buNone/>
            </a:pPr>
            <a:r>
              <a:rPr lang="en-US" sz="950" dirty="0">
                <a:solidFill>
                  <a:srgbClr val="BBBBBB"/>
                </a:solidFill>
              </a:rPr>
              <a:t>Every property page shows a Trust Badge: "91% verified reviews." Flagged reviews are labeled with the specific reason. Excluded reviews are marked but visible for transparency — not silently removed.</a:t>
            </a:r>
            <a:endParaRPr lang="en-US" sz="950" dirty="0"/>
          </a:p>
        </p:txBody>
      </p:sp>
      <p:sp>
        <p:nvSpPr>
          <p:cNvPr id="21" name="Shape 19"/>
          <p:cNvSpPr/>
          <p:nvPr/>
        </p:nvSpPr>
        <p:spPr>
          <a:xfrm>
            <a:off x="548640" y="4672584"/>
            <a:ext cx="502920" cy="502920"/>
          </a:xfrm>
          <a:prstGeom prst="ellipse">
            <a:avLst/>
          </a:prstGeom>
          <a:solidFill>
            <a:srgbClr val="FF6B35"/>
          </a:solidFill>
          <a:ln w="12700">
            <a:solidFill>
              <a:srgbClr val="FF6B35"/>
            </a:solidFill>
            <a:prstDash val="solid"/>
          </a:ln>
        </p:spPr>
      </p:sp>
      <p:sp>
        <p:nvSpPr>
          <p:cNvPr id="22" name="Text 20"/>
          <p:cNvSpPr/>
          <p:nvPr/>
        </p:nvSpPr>
        <p:spPr>
          <a:xfrm>
            <a:off x="548640" y="4672584"/>
            <a:ext cx="502920" cy="502920"/>
          </a:xfrm>
          <a:prstGeom prst="rect">
            <a:avLst/>
          </a:prstGeom>
          <a:noFill/>
          <a:ln/>
        </p:spPr>
        <p:txBody>
          <a:bodyPr wrap="square" rtlCol="0" anchor="ctr"/>
          <a:lstStyle/>
          <a:p>
            <a:pPr algn="ctr" indent="0" marL="0">
              <a:buNone/>
            </a:pPr>
            <a:r>
              <a:rPr lang="en-US" sz="900" b="1" dirty="0">
                <a:solidFill>
                  <a:srgbClr val="0B1F3A"/>
                </a:solidFill>
              </a:rPr>
              <a:t>05</a:t>
            </a:r>
            <a:endParaRPr lang="en-US" sz="900" dirty="0"/>
          </a:p>
        </p:txBody>
      </p:sp>
      <p:sp>
        <p:nvSpPr>
          <p:cNvPr id="23" name="Text 21"/>
          <p:cNvSpPr/>
          <p:nvPr/>
        </p:nvSpPr>
        <p:spPr>
          <a:xfrm>
            <a:off x="1188720" y="4626864"/>
            <a:ext cx="3291840" cy="274320"/>
          </a:xfrm>
          <a:prstGeom prst="rect">
            <a:avLst/>
          </a:prstGeom>
          <a:noFill/>
          <a:ln/>
        </p:spPr>
        <p:txBody>
          <a:bodyPr wrap="square" rtlCol="0" anchor="ctr"/>
          <a:lstStyle/>
          <a:p>
            <a:pPr indent="0" marL="0">
              <a:buNone/>
            </a:pPr>
            <a:r>
              <a:rPr lang="en-US" sz="1200" b="1" dirty="0">
                <a:solidFill>
                  <a:srgbClr val="FFFFFF"/>
                </a:solidFill>
              </a:rPr>
              <a:t>Score Feeds Back to Matching</a:t>
            </a:r>
            <a:endParaRPr lang="en-US" sz="1200" dirty="0"/>
          </a:p>
        </p:txBody>
      </p:sp>
      <p:sp>
        <p:nvSpPr>
          <p:cNvPr id="24" name="Text 22"/>
          <p:cNvSpPr/>
          <p:nvPr/>
        </p:nvSpPr>
        <p:spPr>
          <a:xfrm>
            <a:off x="1188720" y="4901184"/>
            <a:ext cx="7406640" cy="475488"/>
          </a:xfrm>
          <a:prstGeom prst="rect">
            <a:avLst/>
          </a:prstGeom>
          <a:noFill/>
          <a:ln/>
        </p:spPr>
        <p:txBody>
          <a:bodyPr wrap="square" rtlCol="0" anchor="ctr"/>
          <a:lstStyle/>
          <a:p>
            <a:pPr indent="0" marL="0">
              <a:buNone/>
            </a:pPr>
            <a:r>
              <a:rPr lang="en-US" sz="950" dirty="0">
                <a:solidFill>
                  <a:srgbClr val="BBBBBB"/>
                </a:solidFill>
              </a:rPr>
              <a:t>TrustScore persona data feeds the search ranking algorithm — hotels with high persona scores surface higher for the matching traveler type. Creates a virtuous loop: better match → better experience → better review.</a:t>
            </a:r>
            <a:endParaRPr lang="en-US" sz="950" dirty="0"/>
          </a:p>
        </p:txBody>
      </p:sp>
      <p:sp>
        <p:nvSpPr>
          <p:cNvPr id="25" name="Shape 23"/>
          <p:cNvSpPr/>
          <p:nvPr/>
        </p:nvSpPr>
        <p:spPr>
          <a:xfrm>
            <a:off x="411480" y="5650992"/>
            <a:ext cx="8321040" cy="502920"/>
          </a:xfrm>
          <a:prstGeom prst="rect">
            <a:avLst/>
          </a:prstGeom>
          <a:solidFill>
            <a:srgbClr val="1A3458"/>
          </a:solidFill>
          <a:ln w="12700">
            <a:solidFill>
              <a:srgbClr val="1A3458"/>
            </a:solidFill>
            <a:prstDash val="solid"/>
          </a:ln>
        </p:spPr>
      </p:sp>
      <p:sp>
        <p:nvSpPr>
          <p:cNvPr id="26" name="Text 24"/>
          <p:cNvSpPr/>
          <p:nvPr/>
        </p:nvSpPr>
        <p:spPr>
          <a:xfrm>
            <a:off x="594360" y="5705856"/>
            <a:ext cx="7955280" cy="402336"/>
          </a:xfrm>
          <a:prstGeom prst="rect">
            <a:avLst/>
          </a:prstGeom>
          <a:noFill/>
          <a:ln/>
        </p:spPr>
        <p:txBody>
          <a:bodyPr wrap="square" rtlCol="0" anchor="ctr"/>
          <a:lstStyle/>
          <a:p>
            <a:pPr indent="0" marL="0">
              <a:buNone/>
            </a:pPr>
            <a:r>
              <a:rPr lang="en-US" sz="950" i="1" dirty="0">
                <a:solidFill>
                  <a:srgbClr val="FFB800"/>
                </a:solidFill>
              </a:rPr>
              <a:t>PhonePe proof: ML propensity models + audience segmentation at 350M MAU scale — replacing static rules with user-level behavioral classification. TrustScore applies the same ML architecture to reviewer persona classification.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6B35"/>
                </a:solidFill>
              </a:rPr>
              <a:t>THE PRODUCT</a:t>
            </a:r>
            <a:endParaRPr lang="en-US" sz="900" dirty="0"/>
          </a:p>
        </p:txBody>
      </p:sp>
      <p:sp>
        <p:nvSpPr>
          <p:cNvPr id="3" name="Text 1"/>
          <p:cNvSpPr/>
          <p:nvPr/>
        </p:nvSpPr>
        <p:spPr>
          <a:xfrm>
            <a:off x="411480" y="502920"/>
            <a:ext cx="8321040" cy="457200"/>
          </a:xfrm>
          <a:prstGeom prst="rect">
            <a:avLst/>
          </a:prstGeom>
          <a:noFill/>
          <a:ln/>
        </p:spPr>
        <p:txBody>
          <a:bodyPr wrap="square" rtlCol="0" anchor="ctr"/>
          <a:lstStyle/>
          <a:p>
            <a:pPr indent="0" marL="0">
              <a:buNone/>
            </a:pPr>
            <a:r>
              <a:rPr lang="en-US" sz="2400" b="1" dirty="0">
                <a:solidFill>
                  <a:srgbClr val="0F172A"/>
                </a:solidFill>
                <a:latin typeface="Georgia" pitchFamily="34" charset="0"/>
                <a:ea typeface="Georgia" pitchFamily="34" charset="-122"/>
                <a:cs typeface="Georgia" pitchFamily="34" charset="-120"/>
              </a:rPr>
              <a:t>4 Screens — Persona Score Across the Entire Booking Flow</a:t>
            </a:r>
            <a:endParaRPr lang="en-US" sz="2400" dirty="0"/>
          </a:p>
        </p:txBody>
      </p:sp>
      <p:sp>
        <p:nvSpPr>
          <p:cNvPr id="4" name="Shape 2"/>
          <p:cNvSpPr/>
          <p:nvPr/>
        </p:nvSpPr>
        <p:spPr>
          <a:xfrm>
            <a:off x="365760" y="1170432"/>
            <a:ext cx="1993392" cy="4160520"/>
          </a:xfrm>
          <a:prstGeom prst="rect">
            <a:avLst/>
          </a:prstGeom>
          <a:solidFill>
            <a:srgbClr val="0B1F3A"/>
          </a:solidFill>
          <a:ln w="12700">
            <a:solidFill>
              <a:srgbClr val="0B1F3A"/>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365760" y="1170432"/>
            <a:ext cx="1993392" cy="45720"/>
          </a:xfrm>
          <a:prstGeom prst="rect">
            <a:avLst/>
          </a:prstGeom>
          <a:solidFill>
            <a:srgbClr val="FF6B35"/>
          </a:solidFill>
          <a:ln w="12700">
            <a:solidFill>
              <a:srgbClr val="FF6B35"/>
            </a:solidFill>
            <a:prstDash val="solid"/>
          </a:ln>
        </p:spPr>
      </p:sp>
      <p:sp>
        <p:nvSpPr>
          <p:cNvPr id="6" name="Text 4"/>
          <p:cNvSpPr/>
          <p:nvPr/>
        </p:nvSpPr>
        <p:spPr>
          <a:xfrm>
            <a:off x="475488" y="1280160"/>
            <a:ext cx="457200" cy="274320"/>
          </a:xfrm>
          <a:prstGeom prst="rect">
            <a:avLst/>
          </a:prstGeom>
          <a:noFill/>
          <a:ln/>
        </p:spPr>
        <p:txBody>
          <a:bodyPr wrap="square" rtlCol="0" anchor="ctr"/>
          <a:lstStyle/>
          <a:p>
            <a:pPr indent="0" marL="0">
              <a:buNone/>
            </a:pPr>
            <a:r>
              <a:rPr lang="en-US" sz="900" b="1" dirty="0">
                <a:solidFill>
                  <a:srgbClr val="FF6B35"/>
                </a:solidFill>
                <a:latin typeface="Courier New" pitchFamily="34" charset="0"/>
                <a:ea typeface="Courier New" pitchFamily="34" charset="-122"/>
                <a:cs typeface="Courier New" pitchFamily="34" charset="-120"/>
              </a:rPr>
              <a:t>01</a:t>
            </a:r>
            <a:endParaRPr lang="en-US" sz="900" dirty="0"/>
          </a:p>
        </p:txBody>
      </p:sp>
      <p:sp>
        <p:nvSpPr>
          <p:cNvPr id="7" name="Text 5"/>
          <p:cNvSpPr/>
          <p:nvPr/>
        </p:nvSpPr>
        <p:spPr>
          <a:xfrm>
            <a:off x="475488" y="1554480"/>
            <a:ext cx="1755648" cy="457200"/>
          </a:xfrm>
          <a:prstGeom prst="rect">
            <a:avLst/>
          </a:prstGeom>
          <a:noFill/>
          <a:ln/>
        </p:spPr>
        <p:txBody>
          <a:bodyPr wrap="square" rtlCol="0" anchor="ctr"/>
          <a:lstStyle/>
          <a:p>
            <a:pPr indent="0" marL="0">
              <a:buNone/>
            </a:pPr>
            <a:r>
              <a:rPr lang="en-US" sz="1200" b="1" dirty="0">
                <a:solidFill>
                  <a:srgbClr val="FFFFFF"/>
                </a:solidFill>
              </a:rPr>
              <a:t>Search Results</a:t>
            </a:r>
            <a:endParaRPr lang="en-US" sz="1200" dirty="0"/>
          </a:p>
        </p:txBody>
      </p:sp>
      <p:sp>
        <p:nvSpPr>
          <p:cNvPr id="8" name="Shape 6"/>
          <p:cNvSpPr/>
          <p:nvPr/>
        </p:nvSpPr>
        <p:spPr>
          <a:xfrm>
            <a:off x="475488" y="2084832"/>
            <a:ext cx="1755648" cy="1874520"/>
          </a:xfrm>
          <a:prstGeom prst="rect">
            <a:avLst/>
          </a:prstGeom>
          <a:solidFill>
            <a:srgbClr val="1A3458"/>
          </a:solidFill>
          <a:ln w="12700">
            <a:solidFill>
              <a:srgbClr val="2A3A5A"/>
            </a:solidFill>
            <a:prstDash val="solid"/>
          </a:ln>
        </p:spPr>
      </p:sp>
      <p:sp>
        <p:nvSpPr>
          <p:cNvPr id="9" name="Text 7"/>
          <p:cNvSpPr/>
          <p:nvPr/>
        </p:nvSpPr>
        <p:spPr>
          <a:xfrm>
            <a:off x="502920" y="2148840"/>
            <a:ext cx="1700784" cy="1737360"/>
          </a:xfrm>
          <a:prstGeom prst="rect">
            <a:avLst/>
          </a:prstGeom>
          <a:noFill/>
          <a:ln/>
        </p:spPr>
        <p:txBody>
          <a:bodyPr wrap="square" rtlCol="0" anchor="t"/>
          <a:lstStyle/>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 Solo ▼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│Wanderer HBK│</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│9.3★ Solo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│6.4 Couples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│$28/night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p:txBody>
      </p:sp>
      <p:sp>
        <p:nvSpPr>
          <p:cNvPr id="10" name="Text 8"/>
          <p:cNvSpPr/>
          <p:nvPr/>
        </p:nvSpPr>
        <p:spPr>
          <a:xfrm>
            <a:off x="457200" y="4041648"/>
            <a:ext cx="1810512" cy="1188720"/>
          </a:xfrm>
          <a:prstGeom prst="rect">
            <a:avLst/>
          </a:prstGeom>
          <a:noFill/>
          <a:ln/>
        </p:spPr>
        <p:txBody>
          <a:bodyPr wrap="square" rtlCol="0" anchor="ctr"/>
          <a:lstStyle/>
          <a:p>
            <a:pPr indent="0" marL="0">
              <a:buNone/>
            </a:pPr>
            <a:r>
              <a:rPr lang="en-US" sz="900" dirty="0">
                <a:solidFill>
                  <a:srgbClr val="BBBBBB"/>
                </a:solidFill>
              </a:rPr>
              <a:t>Persona chip selector above results. Each hotel card shows persona score ("9.3 for Solo Travelers") as primary metric. Mini bar chart shows scores across all 4 personas for quick comparison.</a:t>
            </a:r>
            <a:endParaRPr lang="en-US" sz="900" dirty="0"/>
          </a:p>
        </p:txBody>
      </p:sp>
      <p:sp>
        <p:nvSpPr>
          <p:cNvPr id="11" name="Shape 9"/>
          <p:cNvSpPr/>
          <p:nvPr/>
        </p:nvSpPr>
        <p:spPr>
          <a:xfrm>
            <a:off x="2542032" y="1170432"/>
            <a:ext cx="1993392" cy="4160520"/>
          </a:xfrm>
          <a:prstGeom prst="rect">
            <a:avLst/>
          </a:prstGeom>
          <a:solidFill>
            <a:srgbClr val="0B1F3A"/>
          </a:solidFill>
          <a:ln w="12700">
            <a:solidFill>
              <a:srgbClr val="0B1F3A"/>
            </a:solidFill>
            <a:prstDash val="solid"/>
          </a:ln>
          <a:effectLst>
            <a:outerShdw sx="100000" sy="100000" kx="0" ky="0" algn="bl" rotWithShape="0" blurRad="38100" dist="12700" dir="2700000">
              <a:srgbClr val="000000">
                <a:alpha val="12000"/>
              </a:srgbClr>
            </a:outerShdw>
          </a:effectLst>
        </p:spPr>
      </p:sp>
      <p:sp>
        <p:nvSpPr>
          <p:cNvPr id="12" name="Shape 10"/>
          <p:cNvSpPr/>
          <p:nvPr/>
        </p:nvSpPr>
        <p:spPr>
          <a:xfrm>
            <a:off x="2542032" y="1170432"/>
            <a:ext cx="1993392" cy="45720"/>
          </a:xfrm>
          <a:prstGeom prst="rect">
            <a:avLst/>
          </a:prstGeom>
          <a:solidFill>
            <a:srgbClr val="FF6B35"/>
          </a:solidFill>
          <a:ln w="12700">
            <a:solidFill>
              <a:srgbClr val="FF6B35"/>
            </a:solidFill>
            <a:prstDash val="solid"/>
          </a:ln>
        </p:spPr>
      </p:sp>
      <p:sp>
        <p:nvSpPr>
          <p:cNvPr id="13" name="Text 11"/>
          <p:cNvSpPr/>
          <p:nvPr/>
        </p:nvSpPr>
        <p:spPr>
          <a:xfrm>
            <a:off x="2651760" y="1280160"/>
            <a:ext cx="457200" cy="274320"/>
          </a:xfrm>
          <a:prstGeom prst="rect">
            <a:avLst/>
          </a:prstGeom>
          <a:noFill/>
          <a:ln/>
        </p:spPr>
        <p:txBody>
          <a:bodyPr wrap="square" rtlCol="0" anchor="ctr"/>
          <a:lstStyle/>
          <a:p>
            <a:pPr indent="0" marL="0">
              <a:buNone/>
            </a:pPr>
            <a:r>
              <a:rPr lang="en-US" sz="900" b="1" dirty="0">
                <a:solidFill>
                  <a:srgbClr val="FF6B35"/>
                </a:solidFill>
                <a:latin typeface="Courier New" pitchFamily="34" charset="0"/>
                <a:ea typeface="Courier New" pitchFamily="34" charset="-122"/>
                <a:cs typeface="Courier New" pitchFamily="34" charset="-120"/>
              </a:rPr>
              <a:t>02</a:t>
            </a:r>
            <a:endParaRPr lang="en-US" sz="900" dirty="0"/>
          </a:p>
        </p:txBody>
      </p:sp>
      <p:sp>
        <p:nvSpPr>
          <p:cNvPr id="14" name="Text 12"/>
          <p:cNvSpPr/>
          <p:nvPr/>
        </p:nvSpPr>
        <p:spPr>
          <a:xfrm>
            <a:off x="2651760" y="1554480"/>
            <a:ext cx="1755648" cy="457200"/>
          </a:xfrm>
          <a:prstGeom prst="rect">
            <a:avLst/>
          </a:prstGeom>
          <a:noFill/>
          <a:ln/>
        </p:spPr>
        <p:txBody>
          <a:bodyPr wrap="square" rtlCol="0" anchor="ctr"/>
          <a:lstStyle/>
          <a:p>
            <a:pPr indent="0" marL="0">
              <a:buNone/>
            </a:pPr>
            <a:r>
              <a:rPr lang="en-US" sz="1200" b="1" dirty="0">
                <a:solidFill>
                  <a:srgbClr val="FFFFFF"/>
                </a:solidFill>
              </a:rPr>
              <a:t>Property Page</a:t>
            </a:r>
            <a:endParaRPr lang="en-US" sz="1200" dirty="0"/>
          </a:p>
        </p:txBody>
      </p:sp>
      <p:sp>
        <p:nvSpPr>
          <p:cNvPr id="15" name="Shape 13"/>
          <p:cNvSpPr/>
          <p:nvPr/>
        </p:nvSpPr>
        <p:spPr>
          <a:xfrm>
            <a:off x="2651760" y="2084832"/>
            <a:ext cx="1755648" cy="1874520"/>
          </a:xfrm>
          <a:prstGeom prst="rect">
            <a:avLst/>
          </a:prstGeom>
          <a:solidFill>
            <a:srgbClr val="1A3458"/>
          </a:solidFill>
          <a:ln w="12700">
            <a:solidFill>
              <a:srgbClr val="2A3A5A"/>
            </a:solidFill>
            <a:prstDash val="solid"/>
          </a:ln>
        </p:spPr>
      </p:sp>
      <p:sp>
        <p:nvSpPr>
          <p:cNvPr id="16" name="Text 14"/>
          <p:cNvSpPr/>
          <p:nvPr/>
        </p:nvSpPr>
        <p:spPr>
          <a:xfrm>
            <a:off x="2679192" y="2148840"/>
            <a:ext cx="1700784" cy="1737360"/>
          </a:xfrm>
          <a:prstGeom prst="rect">
            <a:avLst/>
          </a:prstGeom>
          <a:noFill/>
          <a:ln/>
        </p:spPr>
        <p:txBody>
          <a:bodyPr wrap="square" rtlCol="0" anchor="t"/>
          <a:lstStyle/>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 TrustScore│</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│Solo:  9.3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│Couples:6.4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│Family: 4.2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│91% verified│</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p:txBody>
      </p:sp>
      <p:sp>
        <p:nvSpPr>
          <p:cNvPr id="17" name="Text 15"/>
          <p:cNvSpPr/>
          <p:nvPr/>
        </p:nvSpPr>
        <p:spPr>
          <a:xfrm>
            <a:off x="2633472" y="4041648"/>
            <a:ext cx="1810512" cy="1188720"/>
          </a:xfrm>
          <a:prstGeom prst="rect">
            <a:avLst/>
          </a:prstGeom>
          <a:noFill/>
          <a:ln/>
        </p:spPr>
        <p:txBody>
          <a:bodyPr wrap="square" rtlCol="0" anchor="ctr"/>
          <a:lstStyle/>
          <a:p>
            <a:pPr indent="0" marL="0">
              <a:buNone/>
            </a:pPr>
            <a:r>
              <a:rPr lang="en-US" sz="900" dirty="0">
                <a:solidFill>
                  <a:srgbClr val="BBBBBB"/>
                </a:solidFill>
              </a:rPr>
              <a:t>Full TrustScore panel: your persona score (big, primary), all 4 persona scores in grid, trust badge (91% verified), category breakdown by persona (social vibe, location, value, cleanliness, safety).</a:t>
            </a:r>
            <a:endParaRPr lang="en-US" sz="900" dirty="0"/>
          </a:p>
        </p:txBody>
      </p:sp>
      <p:sp>
        <p:nvSpPr>
          <p:cNvPr id="18" name="Shape 16"/>
          <p:cNvSpPr/>
          <p:nvPr/>
        </p:nvSpPr>
        <p:spPr>
          <a:xfrm>
            <a:off x="4718304" y="1170432"/>
            <a:ext cx="1993392" cy="4160520"/>
          </a:xfrm>
          <a:prstGeom prst="rect">
            <a:avLst/>
          </a:prstGeom>
          <a:solidFill>
            <a:srgbClr val="0B1F3A"/>
          </a:solidFill>
          <a:ln w="12700">
            <a:solidFill>
              <a:srgbClr val="0B1F3A"/>
            </a:solidFill>
            <a:prstDash val="solid"/>
          </a:ln>
          <a:effectLst>
            <a:outerShdw sx="100000" sy="100000" kx="0" ky="0" algn="bl" rotWithShape="0" blurRad="38100" dist="12700" dir="2700000">
              <a:srgbClr val="000000">
                <a:alpha val="12000"/>
              </a:srgbClr>
            </a:outerShdw>
          </a:effectLst>
        </p:spPr>
      </p:sp>
      <p:sp>
        <p:nvSpPr>
          <p:cNvPr id="19" name="Shape 17"/>
          <p:cNvSpPr/>
          <p:nvPr/>
        </p:nvSpPr>
        <p:spPr>
          <a:xfrm>
            <a:off x="4718304" y="1170432"/>
            <a:ext cx="1993392" cy="45720"/>
          </a:xfrm>
          <a:prstGeom prst="rect">
            <a:avLst/>
          </a:prstGeom>
          <a:solidFill>
            <a:srgbClr val="FF6B35"/>
          </a:solidFill>
          <a:ln w="12700">
            <a:solidFill>
              <a:srgbClr val="FF6B35"/>
            </a:solidFill>
            <a:prstDash val="solid"/>
          </a:ln>
        </p:spPr>
      </p:sp>
      <p:sp>
        <p:nvSpPr>
          <p:cNvPr id="20" name="Text 18"/>
          <p:cNvSpPr/>
          <p:nvPr/>
        </p:nvSpPr>
        <p:spPr>
          <a:xfrm>
            <a:off x="4828032" y="1280160"/>
            <a:ext cx="457200" cy="274320"/>
          </a:xfrm>
          <a:prstGeom prst="rect">
            <a:avLst/>
          </a:prstGeom>
          <a:noFill/>
          <a:ln/>
        </p:spPr>
        <p:txBody>
          <a:bodyPr wrap="square" rtlCol="0" anchor="ctr"/>
          <a:lstStyle/>
          <a:p>
            <a:pPr indent="0" marL="0">
              <a:buNone/>
            </a:pPr>
            <a:r>
              <a:rPr lang="en-US" sz="900" b="1" dirty="0">
                <a:solidFill>
                  <a:srgbClr val="FF6B35"/>
                </a:solidFill>
                <a:latin typeface="Courier New" pitchFamily="34" charset="0"/>
                <a:ea typeface="Courier New" pitchFamily="34" charset="-122"/>
                <a:cs typeface="Courier New" pitchFamily="34" charset="-120"/>
              </a:rPr>
              <a:t>03</a:t>
            </a:r>
            <a:endParaRPr lang="en-US" sz="900" dirty="0"/>
          </a:p>
        </p:txBody>
      </p:sp>
      <p:sp>
        <p:nvSpPr>
          <p:cNvPr id="21" name="Text 19"/>
          <p:cNvSpPr/>
          <p:nvPr/>
        </p:nvSpPr>
        <p:spPr>
          <a:xfrm>
            <a:off x="4828032" y="1554480"/>
            <a:ext cx="1755648" cy="457200"/>
          </a:xfrm>
          <a:prstGeom prst="rect">
            <a:avLst/>
          </a:prstGeom>
          <a:noFill/>
          <a:ln/>
        </p:spPr>
        <p:txBody>
          <a:bodyPr wrap="square" rtlCol="0" anchor="ctr"/>
          <a:lstStyle/>
          <a:p>
            <a:pPr indent="0" marL="0">
              <a:buNone/>
            </a:pPr>
            <a:r>
              <a:rPr lang="en-US" sz="1200" b="1" dirty="0">
                <a:solidFill>
                  <a:srgbClr val="FFFFFF"/>
                </a:solidFill>
              </a:rPr>
              <a:t>Review Feed</a:t>
            </a:r>
            <a:endParaRPr lang="en-US" sz="1200" dirty="0"/>
          </a:p>
        </p:txBody>
      </p:sp>
      <p:sp>
        <p:nvSpPr>
          <p:cNvPr id="22" name="Shape 20"/>
          <p:cNvSpPr/>
          <p:nvPr/>
        </p:nvSpPr>
        <p:spPr>
          <a:xfrm>
            <a:off x="4828032" y="2084832"/>
            <a:ext cx="1755648" cy="1874520"/>
          </a:xfrm>
          <a:prstGeom prst="rect">
            <a:avLst/>
          </a:prstGeom>
          <a:solidFill>
            <a:srgbClr val="1A3458"/>
          </a:solidFill>
          <a:ln w="12700">
            <a:solidFill>
              <a:srgbClr val="2A3A5A"/>
            </a:solidFill>
            <a:prstDash val="solid"/>
          </a:ln>
        </p:spPr>
      </p:sp>
      <p:sp>
        <p:nvSpPr>
          <p:cNvPr id="23" name="Text 21"/>
          <p:cNvSpPr/>
          <p:nvPr/>
        </p:nvSpPr>
        <p:spPr>
          <a:xfrm>
            <a:off x="4855464" y="2148840"/>
            <a:ext cx="1700784" cy="1737360"/>
          </a:xfrm>
          <a:prstGeom prst="rect">
            <a:avLst/>
          </a:prstGeom>
          <a:noFill/>
          <a:ln/>
        </p:spPr>
        <p:txBody>
          <a:bodyPr wrap="square" rtlCol="0" anchor="t"/>
          <a:lstStyle/>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 Solo only│</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│Maya K. 9.5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 Verified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│James T. 9.1│</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 Verified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p:txBody>
      </p:sp>
      <p:sp>
        <p:nvSpPr>
          <p:cNvPr id="24" name="Text 22"/>
          <p:cNvSpPr/>
          <p:nvPr/>
        </p:nvSpPr>
        <p:spPr>
          <a:xfrm>
            <a:off x="4809744" y="4041648"/>
            <a:ext cx="1810512" cy="1188720"/>
          </a:xfrm>
          <a:prstGeom prst="rect">
            <a:avLst/>
          </a:prstGeom>
          <a:noFill/>
          <a:ln/>
        </p:spPr>
        <p:txBody>
          <a:bodyPr wrap="square" rtlCol="0" anchor="ctr"/>
          <a:lstStyle/>
          <a:p>
            <a:pPr indent="0" marL="0">
              <a:buNone/>
            </a:pPr>
            <a:r>
              <a:rPr lang="en-US" sz="900" dirty="0">
                <a:solidFill>
                  <a:srgbClr val="BBBBBB"/>
                </a:solidFill>
              </a:rPr>
              <a:t>Filterable by traveler type. Per-review verified badge + persona tag. AI-flagged reviews shown with specific reason — not silently removed. Trust percentage shown prominently.</a:t>
            </a:r>
            <a:endParaRPr lang="en-US" sz="900" dirty="0"/>
          </a:p>
        </p:txBody>
      </p:sp>
      <p:sp>
        <p:nvSpPr>
          <p:cNvPr id="25" name="Shape 23"/>
          <p:cNvSpPr/>
          <p:nvPr/>
        </p:nvSpPr>
        <p:spPr>
          <a:xfrm>
            <a:off x="6894576" y="1170432"/>
            <a:ext cx="1993392" cy="4160520"/>
          </a:xfrm>
          <a:prstGeom prst="rect">
            <a:avLst/>
          </a:prstGeom>
          <a:solidFill>
            <a:srgbClr val="0B1F3A"/>
          </a:solidFill>
          <a:ln w="12700">
            <a:solidFill>
              <a:srgbClr val="0B1F3A"/>
            </a:solidFill>
            <a:prstDash val="solid"/>
          </a:ln>
          <a:effectLst>
            <a:outerShdw sx="100000" sy="100000" kx="0" ky="0" algn="bl" rotWithShape="0" blurRad="38100" dist="12700" dir="2700000">
              <a:srgbClr val="000000">
                <a:alpha val="12000"/>
              </a:srgbClr>
            </a:outerShdw>
          </a:effectLst>
        </p:spPr>
      </p:sp>
      <p:sp>
        <p:nvSpPr>
          <p:cNvPr id="26" name="Shape 24"/>
          <p:cNvSpPr/>
          <p:nvPr/>
        </p:nvSpPr>
        <p:spPr>
          <a:xfrm>
            <a:off x="6894576" y="1170432"/>
            <a:ext cx="1993392" cy="45720"/>
          </a:xfrm>
          <a:prstGeom prst="rect">
            <a:avLst/>
          </a:prstGeom>
          <a:solidFill>
            <a:srgbClr val="FF6B35"/>
          </a:solidFill>
          <a:ln w="12700">
            <a:solidFill>
              <a:srgbClr val="FF6B35"/>
            </a:solidFill>
            <a:prstDash val="solid"/>
          </a:ln>
        </p:spPr>
      </p:sp>
      <p:sp>
        <p:nvSpPr>
          <p:cNvPr id="27" name="Text 25"/>
          <p:cNvSpPr/>
          <p:nvPr/>
        </p:nvSpPr>
        <p:spPr>
          <a:xfrm>
            <a:off x="7004304" y="1280160"/>
            <a:ext cx="457200" cy="274320"/>
          </a:xfrm>
          <a:prstGeom prst="rect">
            <a:avLst/>
          </a:prstGeom>
          <a:noFill/>
          <a:ln/>
        </p:spPr>
        <p:txBody>
          <a:bodyPr wrap="square" rtlCol="0" anchor="ctr"/>
          <a:lstStyle/>
          <a:p>
            <a:pPr indent="0" marL="0">
              <a:buNone/>
            </a:pPr>
            <a:r>
              <a:rPr lang="en-US" sz="900" b="1" dirty="0">
                <a:solidFill>
                  <a:srgbClr val="FF6B35"/>
                </a:solidFill>
                <a:latin typeface="Courier New" pitchFamily="34" charset="0"/>
                <a:ea typeface="Courier New" pitchFamily="34" charset="-122"/>
                <a:cs typeface="Courier New" pitchFamily="34" charset="-120"/>
              </a:rPr>
              <a:t>04</a:t>
            </a:r>
            <a:endParaRPr lang="en-US" sz="900" dirty="0"/>
          </a:p>
        </p:txBody>
      </p:sp>
      <p:sp>
        <p:nvSpPr>
          <p:cNvPr id="28" name="Text 26"/>
          <p:cNvSpPr/>
          <p:nvPr/>
        </p:nvSpPr>
        <p:spPr>
          <a:xfrm>
            <a:off x="7004304" y="1554480"/>
            <a:ext cx="1755648" cy="457200"/>
          </a:xfrm>
          <a:prstGeom prst="rect">
            <a:avLst/>
          </a:prstGeom>
          <a:noFill/>
          <a:ln/>
        </p:spPr>
        <p:txBody>
          <a:bodyPr wrap="square" rtlCol="0" anchor="ctr"/>
          <a:lstStyle/>
          <a:p>
            <a:pPr indent="0" marL="0">
              <a:buNone/>
            </a:pPr>
            <a:r>
              <a:rPr lang="en-US" sz="1200" b="1" dirty="0">
                <a:solidFill>
                  <a:srgbClr val="FFFFFF"/>
                </a:solidFill>
              </a:rPr>
              <a:t>Trust Ops Dashboard</a:t>
            </a:r>
            <a:endParaRPr lang="en-US" sz="1200" dirty="0"/>
          </a:p>
        </p:txBody>
      </p:sp>
      <p:sp>
        <p:nvSpPr>
          <p:cNvPr id="29" name="Shape 27"/>
          <p:cNvSpPr/>
          <p:nvPr/>
        </p:nvSpPr>
        <p:spPr>
          <a:xfrm>
            <a:off x="7004304" y="2084832"/>
            <a:ext cx="1755648" cy="1874520"/>
          </a:xfrm>
          <a:prstGeom prst="rect">
            <a:avLst/>
          </a:prstGeom>
          <a:solidFill>
            <a:srgbClr val="1A3458"/>
          </a:solidFill>
          <a:ln w="12700">
            <a:solidFill>
              <a:srgbClr val="2A3A5A"/>
            </a:solidFill>
            <a:prstDash val="solid"/>
          </a:ln>
        </p:spPr>
      </p:sp>
      <p:sp>
        <p:nvSpPr>
          <p:cNvPr id="30" name="Text 28"/>
          <p:cNvSpPr/>
          <p:nvPr/>
        </p:nvSpPr>
        <p:spPr>
          <a:xfrm>
            <a:off x="7031736" y="2148840"/>
            <a:ext cx="1700784" cy="1737360"/>
          </a:xfrm>
          <a:prstGeom prst="rect">
            <a:avLst/>
          </a:prstGeom>
          <a:noFill/>
          <a:ln/>
        </p:spPr>
        <p:txBody>
          <a:bodyPr wrap="square" rtlCol="0" anchor="t"/>
          <a:lstStyle/>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│Verified: 91%│</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│Fakes: 78K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│Satisfaction│</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  +18%      │</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│Reviews +31%│</a:t>
            </a:r>
            <a:endParaRPr lang="en-US" sz="700" dirty="0"/>
          </a:p>
          <a:p>
            <a:pPr indent="0" marL="0">
              <a:buNone/>
            </a:pPr>
            <a:r>
              <a:rPr lang="en-US" sz="700" dirty="0">
                <a:solidFill>
                  <a:srgbClr val="88AACC"/>
                </a:solidFill>
                <a:latin typeface="Courier New" pitchFamily="34" charset="0"/>
                <a:ea typeface="Courier New" pitchFamily="34" charset="-122"/>
                <a:cs typeface="Courier New" pitchFamily="34" charset="-120"/>
              </a:rPr>
              <a:t>└─────────────┘</a:t>
            </a:r>
            <a:endParaRPr lang="en-US" sz="700" dirty="0"/>
          </a:p>
        </p:txBody>
      </p:sp>
      <p:sp>
        <p:nvSpPr>
          <p:cNvPr id="31" name="Text 29"/>
          <p:cNvSpPr/>
          <p:nvPr/>
        </p:nvSpPr>
        <p:spPr>
          <a:xfrm>
            <a:off x="6986016" y="4041648"/>
            <a:ext cx="1810512" cy="1188720"/>
          </a:xfrm>
          <a:prstGeom prst="rect">
            <a:avLst/>
          </a:prstGeom>
          <a:noFill/>
          <a:ln/>
        </p:spPr>
        <p:txBody>
          <a:bodyPr wrap="square" rtlCol="0" anchor="ctr"/>
          <a:lstStyle/>
          <a:p>
            <a:pPr indent="0" marL="0">
              <a:buNone/>
            </a:pPr>
            <a:r>
              <a:rPr lang="en-US" sz="900" dirty="0">
                <a:solidFill>
                  <a:srgbClr val="BBBBBB"/>
                </a:solidFill>
              </a:rPr>
              <a:t>Review verification rate (91%). Fake reviews caught (78K/month). Post-booking satisfaction lift (+18%). Review submission rate increase (+31%). Persona classifier accuracy by segment.</a:t>
            </a:r>
            <a:endParaRPr lang="en-US" sz="900" dirty="0"/>
          </a:p>
        </p:txBody>
      </p:sp>
      <p:sp>
        <p:nvSpPr>
          <p:cNvPr id="32" name="Text 30"/>
          <p:cNvSpPr/>
          <p:nvPr/>
        </p:nvSpPr>
        <p:spPr>
          <a:xfrm>
            <a:off x="411480" y="5504688"/>
            <a:ext cx="8321040" cy="201168"/>
          </a:xfrm>
          <a:prstGeom prst="rect">
            <a:avLst/>
          </a:prstGeom>
          <a:noFill/>
          <a:ln/>
        </p:spPr>
        <p:txBody>
          <a:bodyPr wrap="square" rtlCol="0" anchor="ctr"/>
          <a:lstStyle/>
          <a:p>
            <a:pPr indent="0" marL="0">
              <a:buNone/>
            </a:pPr>
            <a:r>
              <a:rPr lang="en-US" sz="900" i="1" dirty="0">
                <a:solidFill>
                  <a:srgbClr val="64748B"/>
                </a:solidFill>
              </a:rPr>
              <a:t>Interactive prototype: agoda-trustscore-prototype.html  ·  All 4 screen states live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B800"/>
                </a:solidFill>
              </a:rPr>
              <a:t>IMPACT &amp; ROI</a:t>
            </a:r>
            <a:endParaRPr lang="en-US" sz="900" dirty="0"/>
          </a:p>
        </p:txBody>
      </p:sp>
      <p:sp>
        <p:nvSpPr>
          <p:cNvPr id="3" name="Text 1"/>
          <p:cNvSpPr/>
          <p:nvPr/>
        </p:nvSpPr>
        <p:spPr>
          <a:xfrm>
            <a:off x="411480" y="502920"/>
            <a:ext cx="8321040" cy="5029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Better Matching + Higher Trust = Fewer Chargebacks and More Reviews</a:t>
            </a:r>
            <a:endParaRPr lang="en-US" sz="2200" dirty="0"/>
          </a:p>
        </p:txBody>
      </p:sp>
      <p:sp>
        <p:nvSpPr>
          <p:cNvPr id="4" name="Shape 2"/>
          <p:cNvSpPr/>
          <p:nvPr/>
        </p:nvSpPr>
        <p:spPr>
          <a:xfrm>
            <a:off x="411480" y="1188720"/>
            <a:ext cx="4023360" cy="274320"/>
          </a:xfrm>
          <a:prstGeom prst="rect">
            <a:avLst/>
          </a:prstGeom>
          <a:solidFill>
            <a:srgbClr val="FF6B35"/>
          </a:solidFill>
          <a:ln w="12700">
            <a:solidFill>
              <a:srgbClr val="FF6B35"/>
            </a:solidFill>
            <a:prstDash val="solid"/>
          </a:ln>
        </p:spPr>
      </p:sp>
      <p:sp>
        <p:nvSpPr>
          <p:cNvPr id="5" name="Text 3"/>
          <p:cNvSpPr/>
          <p:nvPr/>
        </p:nvSpPr>
        <p:spPr>
          <a:xfrm>
            <a:off x="411480" y="1188720"/>
            <a:ext cx="4023360" cy="274320"/>
          </a:xfrm>
          <a:prstGeom prst="rect">
            <a:avLst/>
          </a:prstGeom>
          <a:noFill/>
          <a:ln/>
        </p:spPr>
        <p:txBody>
          <a:bodyPr wrap="square" rtlCol="0" anchor="ctr"/>
          <a:lstStyle/>
          <a:p>
            <a:pPr algn="ctr" indent="0" marL="0">
              <a:buNone/>
            </a:pPr>
            <a:r>
              <a:rPr lang="en-US" sz="800" b="1" spc="300" kern="0" dirty="0">
                <a:solidFill>
                  <a:srgbClr val="FFFFFF"/>
                </a:solidFill>
              </a:rPr>
              <a:t>TRAVELER IMPACT</a:t>
            </a:r>
            <a:endParaRPr lang="en-US" sz="800" dirty="0"/>
          </a:p>
        </p:txBody>
      </p:sp>
      <p:sp>
        <p:nvSpPr>
          <p:cNvPr id="6" name="Shape 4"/>
          <p:cNvSpPr/>
          <p:nvPr/>
        </p:nvSpPr>
        <p:spPr>
          <a:xfrm>
            <a:off x="411480" y="16002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7" name="Text 5"/>
          <p:cNvSpPr/>
          <p:nvPr/>
        </p:nvSpPr>
        <p:spPr>
          <a:xfrm>
            <a:off x="548640" y="1655064"/>
            <a:ext cx="1005840" cy="475488"/>
          </a:xfrm>
          <a:prstGeom prst="rect">
            <a:avLst/>
          </a:prstGeom>
          <a:noFill/>
          <a:ln/>
        </p:spPr>
        <p:txBody>
          <a:bodyPr wrap="square" rtlCol="0" anchor="ctr"/>
          <a:lstStyle/>
          <a:p>
            <a:pPr algn="ctr" indent="0" marL="0">
              <a:buNone/>
            </a:pPr>
            <a:r>
              <a:rPr lang="en-US" sz="3000" b="1" dirty="0">
                <a:solidFill>
                  <a:srgbClr val="FF6B35"/>
                </a:solidFill>
                <a:latin typeface="Georgia" pitchFamily="34" charset="0"/>
                <a:ea typeface="Georgia" pitchFamily="34" charset="-122"/>
                <a:cs typeface="Georgia" pitchFamily="34" charset="-120"/>
              </a:rPr>
              <a:t>+18%</a:t>
            </a:r>
            <a:endParaRPr lang="en-US" sz="3000" dirty="0"/>
          </a:p>
        </p:txBody>
      </p:sp>
      <p:sp>
        <p:nvSpPr>
          <p:cNvPr id="8" name="Text 6"/>
          <p:cNvSpPr/>
          <p:nvPr/>
        </p:nvSpPr>
        <p:spPr>
          <a:xfrm>
            <a:off x="1600200" y="1655064"/>
            <a:ext cx="2697480" cy="292608"/>
          </a:xfrm>
          <a:prstGeom prst="rect">
            <a:avLst/>
          </a:prstGeom>
          <a:noFill/>
          <a:ln/>
        </p:spPr>
        <p:txBody>
          <a:bodyPr wrap="square" rtlCol="0" anchor="ctr"/>
          <a:lstStyle/>
          <a:p>
            <a:pPr indent="0" marL="0">
              <a:buNone/>
            </a:pPr>
            <a:r>
              <a:rPr lang="en-US" sz="1100" b="1" dirty="0">
                <a:solidFill>
                  <a:srgbClr val="FFFFFF"/>
                </a:solidFill>
              </a:rPr>
              <a:t>Post-booking satisfaction score</a:t>
            </a:r>
            <a:endParaRPr lang="en-US" sz="1100" dirty="0"/>
          </a:p>
        </p:txBody>
      </p:sp>
      <p:sp>
        <p:nvSpPr>
          <p:cNvPr id="9" name="Text 7"/>
          <p:cNvSpPr/>
          <p:nvPr/>
        </p:nvSpPr>
        <p:spPr>
          <a:xfrm>
            <a:off x="1600200" y="1984248"/>
            <a:ext cx="2697480" cy="292608"/>
          </a:xfrm>
          <a:prstGeom prst="rect">
            <a:avLst/>
          </a:prstGeom>
          <a:noFill/>
          <a:ln/>
        </p:spPr>
        <p:txBody>
          <a:bodyPr wrap="square" rtlCol="0" anchor="ctr"/>
          <a:lstStyle/>
          <a:p>
            <a:pPr indent="0" marL="0">
              <a:buNone/>
            </a:pPr>
            <a:r>
              <a:rPr lang="en-US" sz="900" dirty="0">
                <a:solidFill>
                  <a:srgbClr val="888888"/>
                </a:solidFill>
              </a:rPr>
              <a:t>Right property for the right traveler type</a:t>
            </a:r>
            <a:endParaRPr lang="en-US" sz="900" dirty="0"/>
          </a:p>
        </p:txBody>
      </p:sp>
      <p:sp>
        <p:nvSpPr>
          <p:cNvPr id="10" name="Shape 8"/>
          <p:cNvSpPr/>
          <p:nvPr/>
        </p:nvSpPr>
        <p:spPr>
          <a:xfrm>
            <a:off x="411480" y="25146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11" name="Text 9"/>
          <p:cNvSpPr/>
          <p:nvPr/>
        </p:nvSpPr>
        <p:spPr>
          <a:xfrm>
            <a:off x="548640" y="2569464"/>
            <a:ext cx="1005840" cy="475488"/>
          </a:xfrm>
          <a:prstGeom prst="rect">
            <a:avLst/>
          </a:prstGeom>
          <a:noFill/>
          <a:ln/>
        </p:spPr>
        <p:txBody>
          <a:bodyPr wrap="square" rtlCol="0" anchor="ctr"/>
          <a:lstStyle/>
          <a:p>
            <a:pPr algn="ctr" indent="0" marL="0">
              <a:buNone/>
            </a:pPr>
            <a:r>
              <a:rPr lang="en-US" sz="3000" b="1" dirty="0">
                <a:solidFill>
                  <a:srgbClr val="FF6B35"/>
                </a:solidFill>
                <a:latin typeface="Georgia" pitchFamily="34" charset="0"/>
                <a:ea typeface="Georgia" pitchFamily="34" charset="-122"/>
                <a:cs typeface="Georgia" pitchFamily="34" charset="-120"/>
              </a:rPr>
              <a:t>−24%</a:t>
            </a:r>
            <a:endParaRPr lang="en-US" sz="3000" dirty="0"/>
          </a:p>
        </p:txBody>
      </p:sp>
      <p:sp>
        <p:nvSpPr>
          <p:cNvPr id="12" name="Text 10"/>
          <p:cNvSpPr/>
          <p:nvPr/>
        </p:nvSpPr>
        <p:spPr>
          <a:xfrm>
            <a:off x="1600200" y="2569464"/>
            <a:ext cx="2697480" cy="292608"/>
          </a:xfrm>
          <a:prstGeom prst="rect">
            <a:avLst/>
          </a:prstGeom>
          <a:noFill/>
          <a:ln/>
        </p:spPr>
        <p:txBody>
          <a:bodyPr wrap="square" rtlCol="0" anchor="ctr"/>
          <a:lstStyle/>
          <a:p>
            <a:pPr indent="0" marL="0">
              <a:buNone/>
            </a:pPr>
            <a:r>
              <a:rPr lang="en-US" sz="1100" b="1" dirty="0">
                <a:solidFill>
                  <a:srgbClr val="FFFFFF"/>
                </a:solidFill>
              </a:rPr>
              <a:t>Mismatched expectations 1-star reviews</a:t>
            </a:r>
            <a:endParaRPr lang="en-US" sz="1100" dirty="0"/>
          </a:p>
        </p:txBody>
      </p:sp>
      <p:sp>
        <p:nvSpPr>
          <p:cNvPr id="13" name="Text 11"/>
          <p:cNvSpPr/>
          <p:nvPr/>
        </p:nvSpPr>
        <p:spPr>
          <a:xfrm>
            <a:off x="1600200" y="2898648"/>
            <a:ext cx="2697480" cy="292608"/>
          </a:xfrm>
          <a:prstGeom prst="rect">
            <a:avLst/>
          </a:prstGeom>
          <a:noFill/>
          <a:ln/>
        </p:spPr>
        <p:txBody>
          <a:bodyPr wrap="square" rtlCol="0" anchor="ctr"/>
          <a:lstStyle/>
          <a:p>
            <a:pPr indent="0" marL="0">
              <a:buNone/>
            </a:pPr>
            <a:r>
              <a:rPr lang="en-US" sz="900" dirty="0">
                <a:solidFill>
                  <a:srgbClr val="888888"/>
                </a:solidFill>
              </a:rPr>
              <a:t>Fewer bad reviews because fewer wrong bookings</a:t>
            </a:r>
            <a:endParaRPr lang="en-US" sz="900" dirty="0"/>
          </a:p>
        </p:txBody>
      </p:sp>
      <p:sp>
        <p:nvSpPr>
          <p:cNvPr id="14" name="Shape 12"/>
          <p:cNvSpPr/>
          <p:nvPr/>
        </p:nvSpPr>
        <p:spPr>
          <a:xfrm>
            <a:off x="411480" y="34290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15" name="Text 13"/>
          <p:cNvSpPr/>
          <p:nvPr/>
        </p:nvSpPr>
        <p:spPr>
          <a:xfrm>
            <a:off x="548640" y="3483864"/>
            <a:ext cx="1005840" cy="475488"/>
          </a:xfrm>
          <a:prstGeom prst="rect">
            <a:avLst/>
          </a:prstGeom>
          <a:noFill/>
          <a:ln/>
        </p:spPr>
        <p:txBody>
          <a:bodyPr wrap="square" rtlCol="0" anchor="ctr"/>
          <a:lstStyle/>
          <a:p>
            <a:pPr algn="ctr" indent="0" marL="0">
              <a:buNone/>
            </a:pPr>
            <a:r>
              <a:rPr lang="en-US" sz="3000" b="1" dirty="0">
                <a:solidFill>
                  <a:srgbClr val="FF6B35"/>
                </a:solidFill>
                <a:latin typeface="Georgia" pitchFamily="34" charset="0"/>
                <a:ea typeface="Georgia" pitchFamily="34" charset="-122"/>
                <a:cs typeface="Georgia" pitchFamily="34" charset="-120"/>
              </a:rPr>
              <a:t>+31%</a:t>
            </a:r>
            <a:endParaRPr lang="en-US" sz="3000" dirty="0"/>
          </a:p>
        </p:txBody>
      </p:sp>
      <p:sp>
        <p:nvSpPr>
          <p:cNvPr id="16" name="Text 14"/>
          <p:cNvSpPr/>
          <p:nvPr/>
        </p:nvSpPr>
        <p:spPr>
          <a:xfrm>
            <a:off x="1600200" y="3483864"/>
            <a:ext cx="2697480" cy="292608"/>
          </a:xfrm>
          <a:prstGeom prst="rect">
            <a:avLst/>
          </a:prstGeom>
          <a:noFill/>
          <a:ln/>
        </p:spPr>
        <p:txBody>
          <a:bodyPr wrap="square" rtlCol="0" anchor="ctr"/>
          <a:lstStyle/>
          <a:p>
            <a:pPr indent="0" marL="0">
              <a:buNone/>
            </a:pPr>
            <a:r>
              <a:rPr lang="en-US" sz="1100" b="1" dirty="0">
                <a:solidFill>
                  <a:srgbClr val="FFFFFF"/>
                </a:solidFill>
              </a:rPr>
              <a:t>Review submission rate</a:t>
            </a:r>
            <a:endParaRPr lang="en-US" sz="1100" dirty="0"/>
          </a:p>
        </p:txBody>
      </p:sp>
      <p:sp>
        <p:nvSpPr>
          <p:cNvPr id="17" name="Text 15"/>
          <p:cNvSpPr/>
          <p:nvPr/>
        </p:nvSpPr>
        <p:spPr>
          <a:xfrm>
            <a:off x="1600200" y="3813048"/>
            <a:ext cx="2697480" cy="292608"/>
          </a:xfrm>
          <a:prstGeom prst="rect">
            <a:avLst/>
          </a:prstGeom>
          <a:noFill/>
          <a:ln/>
        </p:spPr>
        <p:txBody>
          <a:bodyPr wrap="square" rtlCol="0" anchor="ctr"/>
          <a:lstStyle/>
          <a:p>
            <a:pPr indent="0" marL="0">
              <a:buNone/>
            </a:pPr>
            <a:r>
              <a:rPr lang="en-US" sz="900" dirty="0">
                <a:solidFill>
                  <a:srgbClr val="888888"/>
                </a:solidFill>
              </a:rPr>
              <a:t>Users contribute to a system they trust</a:t>
            </a:r>
            <a:endParaRPr lang="en-US" sz="900" dirty="0"/>
          </a:p>
        </p:txBody>
      </p:sp>
      <p:sp>
        <p:nvSpPr>
          <p:cNvPr id="18" name="Shape 16"/>
          <p:cNvSpPr/>
          <p:nvPr/>
        </p:nvSpPr>
        <p:spPr>
          <a:xfrm>
            <a:off x="411480" y="43434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19" name="Text 17"/>
          <p:cNvSpPr/>
          <p:nvPr/>
        </p:nvSpPr>
        <p:spPr>
          <a:xfrm>
            <a:off x="548640" y="4398264"/>
            <a:ext cx="1005840" cy="475488"/>
          </a:xfrm>
          <a:prstGeom prst="rect">
            <a:avLst/>
          </a:prstGeom>
          <a:noFill/>
          <a:ln/>
        </p:spPr>
        <p:txBody>
          <a:bodyPr wrap="square" rtlCol="0" anchor="ctr"/>
          <a:lstStyle/>
          <a:p>
            <a:pPr algn="ctr" indent="0" marL="0">
              <a:buNone/>
            </a:pPr>
            <a:r>
              <a:rPr lang="en-US" sz="3000" b="1" dirty="0">
                <a:solidFill>
                  <a:srgbClr val="FF6B35"/>
                </a:solidFill>
                <a:latin typeface="Georgia" pitchFamily="34" charset="0"/>
                <a:ea typeface="Georgia" pitchFamily="34" charset="-122"/>
                <a:cs typeface="Georgia" pitchFamily="34" charset="-120"/>
              </a:rPr>
              <a:t>91%</a:t>
            </a:r>
            <a:endParaRPr lang="en-US" sz="3000" dirty="0"/>
          </a:p>
        </p:txBody>
      </p:sp>
      <p:sp>
        <p:nvSpPr>
          <p:cNvPr id="20" name="Text 18"/>
          <p:cNvSpPr/>
          <p:nvPr/>
        </p:nvSpPr>
        <p:spPr>
          <a:xfrm>
            <a:off x="1600200" y="4398264"/>
            <a:ext cx="2697480" cy="292608"/>
          </a:xfrm>
          <a:prstGeom prst="rect">
            <a:avLst/>
          </a:prstGeom>
          <a:noFill/>
          <a:ln/>
        </p:spPr>
        <p:txBody>
          <a:bodyPr wrap="square" rtlCol="0" anchor="ctr"/>
          <a:lstStyle/>
          <a:p>
            <a:pPr indent="0" marL="0">
              <a:buNone/>
            </a:pPr>
            <a:r>
              <a:rPr lang="en-US" sz="1100" b="1" dirty="0">
                <a:solidFill>
                  <a:srgbClr val="FFFFFF"/>
                </a:solidFill>
              </a:rPr>
              <a:t>Review verification rate</a:t>
            </a:r>
            <a:endParaRPr lang="en-US" sz="1100" dirty="0"/>
          </a:p>
        </p:txBody>
      </p:sp>
      <p:sp>
        <p:nvSpPr>
          <p:cNvPr id="21" name="Text 19"/>
          <p:cNvSpPr/>
          <p:nvPr/>
        </p:nvSpPr>
        <p:spPr>
          <a:xfrm>
            <a:off x="1600200" y="4727448"/>
            <a:ext cx="2697480" cy="292608"/>
          </a:xfrm>
          <a:prstGeom prst="rect">
            <a:avLst/>
          </a:prstGeom>
          <a:noFill/>
          <a:ln/>
        </p:spPr>
        <p:txBody>
          <a:bodyPr wrap="square" rtlCol="0" anchor="ctr"/>
          <a:lstStyle/>
          <a:p>
            <a:pPr indent="0" marL="0">
              <a:buNone/>
            </a:pPr>
            <a:r>
              <a:rPr lang="en-US" sz="900" dirty="0">
                <a:solidFill>
                  <a:srgbClr val="888888"/>
                </a:solidFill>
              </a:rPr>
              <a:t>Flagged fake reviews excluded from TrustScore</a:t>
            </a:r>
            <a:endParaRPr lang="en-US" sz="900" dirty="0"/>
          </a:p>
        </p:txBody>
      </p:sp>
      <p:sp>
        <p:nvSpPr>
          <p:cNvPr id="22" name="Shape 20"/>
          <p:cNvSpPr/>
          <p:nvPr/>
        </p:nvSpPr>
        <p:spPr>
          <a:xfrm>
            <a:off x="4709160" y="1188720"/>
            <a:ext cx="4023360" cy="274320"/>
          </a:xfrm>
          <a:prstGeom prst="rect">
            <a:avLst/>
          </a:prstGeom>
          <a:solidFill>
            <a:srgbClr val="1A3458"/>
          </a:solidFill>
          <a:ln w="12700">
            <a:solidFill>
              <a:srgbClr val="2A3A5A"/>
            </a:solidFill>
            <a:prstDash val="solid"/>
          </a:ln>
        </p:spPr>
      </p:sp>
      <p:sp>
        <p:nvSpPr>
          <p:cNvPr id="23" name="Text 21"/>
          <p:cNvSpPr/>
          <p:nvPr/>
        </p:nvSpPr>
        <p:spPr>
          <a:xfrm>
            <a:off x="4709160" y="1188720"/>
            <a:ext cx="4023360" cy="274320"/>
          </a:xfrm>
          <a:prstGeom prst="rect">
            <a:avLst/>
          </a:prstGeom>
          <a:noFill/>
          <a:ln/>
        </p:spPr>
        <p:txBody>
          <a:bodyPr wrap="square" rtlCol="0" anchor="ctr"/>
          <a:lstStyle/>
          <a:p>
            <a:pPr algn="ctr" indent="0" marL="0">
              <a:buNone/>
            </a:pPr>
            <a:r>
              <a:rPr lang="en-US" sz="800" b="1" spc="300" kern="0" dirty="0">
                <a:solidFill>
                  <a:srgbClr val="FFB800"/>
                </a:solidFill>
              </a:rPr>
              <a:t>AGODA BUSINESS ROI</a:t>
            </a:r>
            <a:endParaRPr lang="en-US" sz="800" dirty="0"/>
          </a:p>
        </p:txBody>
      </p:sp>
      <p:sp>
        <p:nvSpPr>
          <p:cNvPr id="24" name="Shape 22"/>
          <p:cNvSpPr/>
          <p:nvPr/>
        </p:nvSpPr>
        <p:spPr>
          <a:xfrm>
            <a:off x="4709160" y="16002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25" name="Text 23"/>
          <p:cNvSpPr/>
          <p:nvPr/>
        </p:nvSpPr>
        <p:spPr>
          <a:xfrm>
            <a:off x="4846320" y="1655064"/>
            <a:ext cx="1097280" cy="475488"/>
          </a:xfrm>
          <a:prstGeom prst="rect">
            <a:avLst/>
          </a:prstGeom>
          <a:noFill/>
          <a:ln/>
        </p:spPr>
        <p:txBody>
          <a:bodyPr wrap="square" rtlCol="0" anchor="ctr"/>
          <a:lstStyle/>
          <a:p>
            <a:pPr algn="ctr" indent="0" marL="0">
              <a:buNone/>
            </a:pPr>
            <a:r>
              <a:rPr lang="en-US" sz="2800" b="1" dirty="0">
                <a:solidFill>
                  <a:srgbClr val="4ADE80"/>
                </a:solidFill>
                <a:latin typeface="Georgia" pitchFamily="34" charset="0"/>
                <a:ea typeface="Georgia" pitchFamily="34" charset="-122"/>
                <a:cs typeface="Georgia" pitchFamily="34" charset="-120"/>
              </a:rPr>
              <a:t>+14pt</a:t>
            </a:r>
            <a:endParaRPr lang="en-US" sz="2800" dirty="0"/>
          </a:p>
        </p:txBody>
      </p:sp>
      <p:sp>
        <p:nvSpPr>
          <p:cNvPr id="26" name="Text 24"/>
          <p:cNvSpPr/>
          <p:nvPr/>
        </p:nvSpPr>
        <p:spPr>
          <a:xfrm>
            <a:off x="5989320" y="1655064"/>
            <a:ext cx="2606040" cy="292608"/>
          </a:xfrm>
          <a:prstGeom prst="rect">
            <a:avLst/>
          </a:prstGeom>
          <a:noFill/>
          <a:ln/>
        </p:spPr>
        <p:txBody>
          <a:bodyPr wrap="square" rtlCol="0" anchor="ctr"/>
          <a:lstStyle/>
          <a:p>
            <a:pPr indent="0" marL="0">
              <a:buNone/>
            </a:pPr>
            <a:r>
              <a:rPr lang="en-US" sz="1100" b="1" dirty="0">
                <a:solidFill>
                  <a:srgbClr val="FFFFFF"/>
                </a:solidFill>
              </a:rPr>
              <a:t>Post-stay NPS improvement</a:t>
            </a:r>
            <a:endParaRPr lang="en-US" sz="1100" dirty="0"/>
          </a:p>
        </p:txBody>
      </p:sp>
      <p:sp>
        <p:nvSpPr>
          <p:cNvPr id="27" name="Text 25"/>
          <p:cNvSpPr/>
          <p:nvPr/>
        </p:nvSpPr>
        <p:spPr>
          <a:xfrm>
            <a:off x="5989320" y="1984248"/>
            <a:ext cx="2606040" cy="292608"/>
          </a:xfrm>
          <a:prstGeom prst="rect">
            <a:avLst/>
          </a:prstGeom>
          <a:noFill/>
          <a:ln/>
        </p:spPr>
        <p:txBody>
          <a:bodyPr wrap="square" rtlCol="0" anchor="ctr"/>
          <a:lstStyle/>
          <a:p>
            <a:pPr indent="0" marL="0">
              <a:buNone/>
            </a:pPr>
            <a:r>
              <a:rPr lang="en-US" sz="900" dirty="0">
                <a:solidFill>
                  <a:srgbClr val="888888"/>
                </a:solidFill>
              </a:rPr>
              <a:t>Travelers at the right property give better NPS</a:t>
            </a:r>
            <a:endParaRPr lang="en-US" sz="900" dirty="0"/>
          </a:p>
        </p:txBody>
      </p:sp>
      <p:sp>
        <p:nvSpPr>
          <p:cNvPr id="28" name="Shape 26"/>
          <p:cNvSpPr/>
          <p:nvPr/>
        </p:nvSpPr>
        <p:spPr>
          <a:xfrm>
            <a:off x="4709160" y="25146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29" name="Text 27"/>
          <p:cNvSpPr/>
          <p:nvPr/>
        </p:nvSpPr>
        <p:spPr>
          <a:xfrm>
            <a:off x="4846320" y="2569464"/>
            <a:ext cx="1097280" cy="475488"/>
          </a:xfrm>
          <a:prstGeom prst="rect">
            <a:avLst/>
          </a:prstGeom>
          <a:noFill/>
          <a:ln/>
        </p:spPr>
        <p:txBody>
          <a:bodyPr wrap="square" rtlCol="0" anchor="ctr"/>
          <a:lstStyle/>
          <a:p>
            <a:pPr algn="ctr" indent="0" marL="0">
              <a:buNone/>
            </a:pPr>
            <a:r>
              <a:rPr lang="en-US" sz="2800" b="1" dirty="0">
                <a:solidFill>
                  <a:srgbClr val="4ADE80"/>
                </a:solidFill>
                <a:latin typeface="Georgia" pitchFamily="34" charset="0"/>
                <a:ea typeface="Georgia" pitchFamily="34" charset="-122"/>
                <a:cs typeface="Georgia" pitchFamily="34" charset="-120"/>
              </a:rPr>
              <a:t>−19%</a:t>
            </a:r>
            <a:endParaRPr lang="en-US" sz="2800" dirty="0"/>
          </a:p>
        </p:txBody>
      </p:sp>
      <p:sp>
        <p:nvSpPr>
          <p:cNvPr id="30" name="Text 28"/>
          <p:cNvSpPr/>
          <p:nvPr/>
        </p:nvSpPr>
        <p:spPr>
          <a:xfrm>
            <a:off x="5989320" y="2569464"/>
            <a:ext cx="2606040" cy="292608"/>
          </a:xfrm>
          <a:prstGeom prst="rect">
            <a:avLst/>
          </a:prstGeom>
          <a:noFill/>
          <a:ln/>
        </p:spPr>
        <p:txBody>
          <a:bodyPr wrap="square" rtlCol="0" anchor="ctr"/>
          <a:lstStyle/>
          <a:p>
            <a:pPr indent="0" marL="0">
              <a:buNone/>
            </a:pPr>
            <a:r>
              <a:rPr lang="en-US" sz="1100" b="1" dirty="0">
                <a:solidFill>
                  <a:srgbClr val="FFFFFF"/>
                </a:solidFill>
              </a:rPr>
              <a:t>Dispute and refund rate</a:t>
            </a:r>
            <a:endParaRPr lang="en-US" sz="1100" dirty="0"/>
          </a:p>
        </p:txBody>
      </p:sp>
      <p:sp>
        <p:nvSpPr>
          <p:cNvPr id="31" name="Text 29"/>
          <p:cNvSpPr/>
          <p:nvPr/>
        </p:nvSpPr>
        <p:spPr>
          <a:xfrm>
            <a:off x="5989320" y="2898648"/>
            <a:ext cx="2606040" cy="292608"/>
          </a:xfrm>
          <a:prstGeom prst="rect">
            <a:avLst/>
          </a:prstGeom>
          <a:noFill/>
          <a:ln/>
        </p:spPr>
        <p:txBody>
          <a:bodyPr wrap="square" rtlCol="0" anchor="ctr"/>
          <a:lstStyle/>
          <a:p>
            <a:pPr indent="0" marL="0">
              <a:buNone/>
            </a:pPr>
            <a:r>
              <a:rPr lang="en-US" sz="900" dirty="0">
                <a:solidFill>
                  <a:srgbClr val="888888"/>
                </a:solidFill>
              </a:rPr>
              <a:t>Fewer dissatisfied bookings = fewer chargebacks</a:t>
            </a:r>
            <a:endParaRPr lang="en-US" sz="900" dirty="0"/>
          </a:p>
        </p:txBody>
      </p:sp>
      <p:sp>
        <p:nvSpPr>
          <p:cNvPr id="32" name="Shape 30"/>
          <p:cNvSpPr/>
          <p:nvPr/>
        </p:nvSpPr>
        <p:spPr>
          <a:xfrm>
            <a:off x="4709160" y="34290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33" name="Text 31"/>
          <p:cNvSpPr/>
          <p:nvPr/>
        </p:nvSpPr>
        <p:spPr>
          <a:xfrm>
            <a:off x="4846320" y="3483864"/>
            <a:ext cx="1097280" cy="475488"/>
          </a:xfrm>
          <a:prstGeom prst="rect">
            <a:avLst/>
          </a:prstGeom>
          <a:noFill/>
          <a:ln/>
        </p:spPr>
        <p:txBody>
          <a:bodyPr wrap="square" rtlCol="0" anchor="ctr"/>
          <a:lstStyle/>
          <a:p>
            <a:pPr algn="ctr" indent="0" marL="0">
              <a:buNone/>
            </a:pPr>
            <a:r>
              <a:rPr lang="en-US" sz="2800" b="1" dirty="0">
                <a:solidFill>
                  <a:srgbClr val="4ADE80"/>
                </a:solidFill>
                <a:latin typeface="Georgia" pitchFamily="34" charset="0"/>
                <a:ea typeface="Georgia" pitchFamily="34" charset="-122"/>
                <a:cs typeface="Georgia" pitchFamily="34" charset="-120"/>
              </a:rPr>
              <a:t>+8%</a:t>
            </a:r>
            <a:endParaRPr lang="en-US" sz="2800" dirty="0"/>
          </a:p>
        </p:txBody>
      </p:sp>
      <p:sp>
        <p:nvSpPr>
          <p:cNvPr id="34" name="Text 32"/>
          <p:cNvSpPr/>
          <p:nvPr/>
        </p:nvSpPr>
        <p:spPr>
          <a:xfrm>
            <a:off x="5989320" y="3483864"/>
            <a:ext cx="2606040" cy="292608"/>
          </a:xfrm>
          <a:prstGeom prst="rect">
            <a:avLst/>
          </a:prstGeom>
          <a:noFill/>
          <a:ln/>
        </p:spPr>
        <p:txBody>
          <a:bodyPr wrap="square" rtlCol="0" anchor="ctr"/>
          <a:lstStyle/>
          <a:p>
            <a:pPr indent="0" marL="0">
              <a:buNone/>
            </a:pPr>
            <a:r>
              <a:rPr lang="en-US" sz="1100" b="1" dirty="0">
                <a:solidFill>
                  <a:srgbClr val="FFFFFF"/>
                </a:solidFill>
              </a:rPr>
              <a:t>Repeat booking rate at 90 days</a:t>
            </a:r>
            <a:endParaRPr lang="en-US" sz="1100" dirty="0"/>
          </a:p>
        </p:txBody>
      </p:sp>
      <p:sp>
        <p:nvSpPr>
          <p:cNvPr id="35" name="Text 33"/>
          <p:cNvSpPr/>
          <p:nvPr/>
        </p:nvSpPr>
        <p:spPr>
          <a:xfrm>
            <a:off x="5989320" y="3813048"/>
            <a:ext cx="2606040" cy="292608"/>
          </a:xfrm>
          <a:prstGeom prst="rect">
            <a:avLst/>
          </a:prstGeom>
          <a:noFill/>
          <a:ln/>
        </p:spPr>
        <p:txBody>
          <a:bodyPr wrap="square" rtlCol="0" anchor="ctr"/>
          <a:lstStyle/>
          <a:p>
            <a:pPr indent="0" marL="0">
              <a:buNone/>
            </a:pPr>
            <a:r>
              <a:rPr lang="en-US" sz="900" dirty="0">
                <a:solidFill>
                  <a:srgbClr val="888888"/>
                </a:solidFill>
              </a:rPr>
              <a:t>Trust in platform drives higher retention</a:t>
            </a:r>
            <a:endParaRPr lang="en-US" sz="900" dirty="0"/>
          </a:p>
        </p:txBody>
      </p:sp>
      <p:sp>
        <p:nvSpPr>
          <p:cNvPr id="36" name="Shape 34"/>
          <p:cNvSpPr/>
          <p:nvPr/>
        </p:nvSpPr>
        <p:spPr>
          <a:xfrm>
            <a:off x="4709160" y="4343400"/>
            <a:ext cx="4023360" cy="804672"/>
          </a:xfrm>
          <a:prstGeom prst="rect">
            <a:avLst/>
          </a:prstGeom>
          <a:solidFill>
            <a:srgbClr val="1A3458"/>
          </a:solidFill>
          <a:ln w="12700">
            <a:solidFill>
              <a:srgbClr val="1A3458"/>
            </a:solidFill>
            <a:prstDash val="solid"/>
          </a:ln>
          <a:effectLst>
            <a:outerShdw sx="100000" sy="100000" kx="0" ky="0" algn="bl" rotWithShape="0" blurRad="38100" dist="12700" dir="2700000">
              <a:srgbClr val="000000">
                <a:alpha val="12000"/>
              </a:srgbClr>
            </a:outerShdw>
          </a:effectLst>
        </p:spPr>
      </p:sp>
      <p:sp>
        <p:nvSpPr>
          <p:cNvPr id="37" name="Text 35"/>
          <p:cNvSpPr/>
          <p:nvPr/>
        </p:nvSpPr>
        <p:spPr>
          <a:xfrm>
            <a:off x="4846320" y="4398264"/>
            <a:ext cx="1097280" cy="475488"/>
          </a:xfrm>
          <a:prstGeom prst="rect">
            <a:avLst/>
          </a:prstGeom>
          <a:noFill/>
          <a:ln/>
        </p:spPr>
        <p:txBody>
          <a:bodyPr wrap="square" rtlCol="0" anchor="ctr"/>
          <a:lstStyle/>
          <a:p>
            <a:pPr algn="ctr" indent="0" marL="0">
              <a:buNone/>
            </a:pPr>
            <a:r>
              <a:rPr lang="en-US" sz="2800" b="1" dirty="0">
                <a:solidFill>
                  <a:srgbClr val="4ADE80"/>
                </a:solidFill>
                <a:latin typeface="Georgia" pitchFamily="34" charset="0"/>
                <a:ea typeface="Georgia" pitchFamily="34" charset="-122"/>
                <a:cs typeface="Georgia" pitchFamily="34" charset="-120"/>
              </a:rPr>
              <a:t>12mo</a:t>
            </a:r>
            <a:endParaRPr lang="en-US" sz="2800" dirty="0"/>
          </a:p>
        </p:txBody>
      </p:sp>
      <p:sp>
        <p:nvSpPr>
          <p:cNvPr id="38" name="Text 36"/>
          <p:cNvSpPr/>
          <p:nvPr/>
        </p:nvSpPr>
        <p:spPr>
          <a:xfrm>
            <a:off x="5989320" y="4398264"/>
            <a:ext cx="2606040" cy="292608"/>
          </a:xfrm>
          <a:prstGeom prst="rect">
            <a:avLst/>
          </a:prstGeom>
          <a:noFill/>
          <a:ln/>
        </p:spPr>
        <p:txBody>
          <a:bodyPr wrap="square" rtlCol="0" anchor="ctr"/>
          <a:lstStyle/>
          <a:p>
            <a:pPr indent="0" marL="0">
              <a:buNone/>
            </a:pPr>
            <a:r>
              <a:rPr lang="en-US" sz="1100" b="1" dirty="0">
                <a:solidFill>
                  <a:srgbClr val="FFFFFF"/>
                </a:solidFill>
              </a:rPr>
              <a:t>Payback on ML model investment</a:t>
            </a:r>
            <a:endParaRPr lang="en-US" sz="1100" dirty="0"/>
          </a:p>
        </p:txBody>
      </p:sp>
      <p:sp>
        <p:nvSpPr>
          <p:cNvPr id="39" name="Text 37"/>
          <p:cNvSpPr/>
          <p:nvPr/>
        </p:nvSpPr>
        <p:spPr>
          <a:xfrm>
            <a:off x="5989320" y="4727448"/>
            <a:ext cx="2606040" cy="292608"/>
          </a:xfrm>
          <a:prstGeom prst="rect">
            <a:avLst/>
          </a:prstGeom>
          <a:noFill/>
          <a:ln/>
        </p:spPr>
        <p:txBody>
          <a:bodyPr wrap="square" rtlCol="0" anchor="ctr"/>
          <a:lstStyle/>
          <a:p>
            <a:pPr indent="0" marL="0">
              <a:buNone/>
            </a:pPr>
            <a:r>
              <a:rPr lang="en-US" sz="900" dirty="0">
                <a:solidFill>
                  <a:srgbClr val="888888"/>
                </a:solidFill>
              </a:rPr>
              <a:t>NPS improvement alone justifies build cost</a:t>
            </a:r>
            <a:endParaRPr lang="en-US" sz="900" dirty="0"/>
          </a:p>
        </p:txBody>
      </p:sp>
      <p:sp>
        <p:nvSpPr>
          <p:cNvPr id="40" name="Shape 38"/>
          <p:cNvSpPr/>
          <p:nvPr/>
        </p:nvSpPr>
        <p:spPr>
          <a:xfrm>
            <a:off x="411480" y="5440680"/>
            <a:ext cx="8321040" cy="502920"/>
          </a:xfrm>
          <a:prstGeom prst="rect">
            <a:avLst/>
          </a:prstGeom>
          <a:solidFill>
            <a:srgbClr val="FF6B35"/>
          </a:solidFill>
          <a:ln w="12700">
            <a:solidFill>
              <a:srgbClr val="FF6B35"/>
            </a:solidFill>
            <a:prstDash val="solid"/>
          </a:ln>
        </p:spPr>
      </p:sp>
      <p:sp>
        <p:nvSpPr>
          <p:cNvPr id="41" name="Text 39"/>
          <p:cNvSpPr/>
          <p:nvPr/>
        </p:nvSpPr>
        <p:spPr>
          <a:xfrm>
            <a:off x="594360" y="5486400"/>
            <a:ext cx="7955280" cy="411480"/>
          </a:xfrm>
          <a:prstGeom prst="rect">
            <a:avLst/>
          </a:prstGeom>
          <a:noFill/>
          <a:ln/>
        </p:spPr>
        <p:txBody>
          <a:bodyPr wrap="square" rtlCol="0" anchor="ctr"/>
          <a:lstStyle/>
          <a:p>
            <a:pPr indent="0" marL="0">
              <a:buNone/>
            </a:pPr>
            <a:r>
              <a:rPr lang="en-US" sz="1000" i="1" dirty="0">
                <a:solidFill>
                  <a:srgbClr val="FFFFFF"/>
                </a:solidFill>
              </a:rPr>
              <a:t>TrustScore converts Agoda from a platform travelers use despite skepticism into one they trust enough to book without comparison-shopping on three other tabs.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6B35"/>
                </a:solidFill>
              </a:rPr>
              <a:t>PROOF OF WORK</a:t>
            </a:r>
            <a:endParaRPr lang="en-US" sz="900" dirty="0"/>
          </a:p>
        </p:txBody>
      </p:sp>
      <p:sp>
        <p:nvSpPr>
          <p:cNvPr id="3" name="Text 1"/>
          <p:cNvSpPr/>
          <p:nvPr/>
        </p:nvSpPr>
        <p:spPr>
          <a:xfrm>
            <a:off x="411480" y="502920"/>
            <a:ext cx="8321040" cy="457200"/>
          </a:xfrm>
          <a:prstGeom prst="rect">
            <a:avLst/>
          </a:prstGeom>
          <a:noFill/>
          <a:ln/>
        </p:spPr>
        <p:txBody>
          <a:bodyPr wrap="square" rtlCol="0" anchor="ctr"/>
          <a:lstStyle/>
          <a:p>
            <a:pPr indent="0" marL="0">
              <a:buNone/>
            </a:pPr>
            <a:r>
              <a:rPr lang="en-US" sz="2400" b="1" dirty="0">
                <a:solidFill>
                  <a:srgbClr val="0F172A"/>
                </a:solidFill>
                <a:latin typeface="Georgia" pitchFamily="34" charset="0"/>
                <a:ea typeface="Georgia" pitchFamily="34" charset="-122"/>
                <a:cs typeface="Georgia" pitchFamily="34" charset="-120"/>
              </a:rPr>
              <a:t>I Built the ML Personalization Layer. Here Is the Parallel.</a:t>
            </a:r>
            <a:endParaRPr lang="en-US" sz="2400" dirty="0"/>
          </a:p>
        </p:txBody>
      </p:sp>
      <p:sp>
        <p:nvSpPr>
          <p:cNvPr id="4" name="Shape 2"/>
          <p:cNvSpPr/>
          <p:nvPr/>
        </p:nvSpPr>
        <p:spPr>
          <a:xfrm>
            <a:off x="411480" y="1115568"/>
            <a:ext cx="4023360" cy="4297680"/>
          </a:xfrm>
          <a:prstGeom prst="rect">
            <a:avLst/>
          </a:prstGeom>
          <a:solidFill>
            <a:srgbClr val="0B1F3A"/>
          </a:solidFill>
          <a:ln w="12700">
            <a:solidFill>
              <a:srgbClr val="0B1F3A"/>
            </a:solidFill>
            <a:prstDash val="solid"/>
          </a:ln>
        </p:spPr>
      </p:sp>
      <p:sp>
        <p:nvSpPr>
          <p:cNvPr id="5" name="Text 3"/>
          <p:cNvSpPr/>
          <p:nvPr/>
        </p:nvSpPr>
        <p:spPr>
          <a:xfrm>
            <a:off x="594360" y="1261872"/>
            <a:ext cx="3657600" cy="292608"/>
          </a:xfrm>
          <a:prstGeom prst="rect">
            <a:avLst/>
          </a:prstGeom>
          <a:noFill/>
          <a:ln/>
        </p:spPr>
        <p:txBody>
          <a:bodyPr wrap="square" rtlCol="0" anchor="ctr"/>
          <a:lstStyle/>
          <a:p>
            <a:pPr indent="0" marL="0">
              <a:buNone/>
            </a:pPr>
            <a:r>
              <a:rPr lang="en-US" sz="1300" b="1" dirty="0">
                <a:solidFill>
                  <a:srgbClr val="FFB800"/>
                </a:solidFill>
              </a:rPr>
              <a:t>What I Built at PhonePe</a:t>
            </a:r>
            <a:endParaRPr lang="en-US" sz="1300" dirty="0"/>
          </a:p>
        </p:txBody>
      </p:sp>
      <p:sp>
        <p:nvSpPr>
          <p:cNvPr id="6" name="Text 4"/>
          <p:cNvSpPr/>
          <p:nvPr/>
        </p:nvSpPr>
        <p:spPr>
          <a:xfrm>
            <a:off x="594360" y="1664208"/>
            <a:ext cx="3703320" cy="621792"/>
          </a:xfrm>
          <a:prstGeom prst="rect">
            <a:avLst/>
          </a:prstGeom>
          <a:noFill/>
          <a:ln/>
        </p:spPr>
        <p:txBody>
          <a:bodyPr wrap="square" rtlCol="0" anchor="ctr"/>
          <a:lstStyle/>
          <a:p>
            <a:pPr indent="0" marL="0">
              <a:buNone/>
            </a:pPr>
            <a:r>
              <a:rPr lang="en-US" sz="950" dirty="0">
                <a:solidFill>
                  <a:srgbClr val="CCCCCC"/>
                </a:solidFill>
              </a:rPr>
              <a:t>→  Propensity-to-Transact ML models scoring 350M+ users at the transaction level — replacing static rule-based cohort selection with real-time behavioral classification</a:t>
            </a:r>
            <a:endParaRPr lang="en-US" sz="950" dirty="0"/>
          </a:p>
        </p:txBody>
      </p:sp>
      <p:sp>
        <p:nvSpPr>
          <p:cNvPr id="7" name="Text 5"/>
          <p:cNvSpPr/>
          <p:nvPr/>
        </p:nvSpPr>
        <p:spPr>
          <a:xfrm>
            <a:off x="594360" y="2377440"/>
            <a:ext cx="3703320" cy="621792"/>
          </a:xfrm>
          <a:prstGeom prst="rect">
            <a:avLst/>
          </a:prstGeom>
          <a:noFill/>
          <a:ln/>
        </p:spPr>
        <p:txBody>
          <a:bodyPr wrap="square" rtlCol="0" anchor="ctr"/>
          <a:lstStyle/>
          <a:p>
            <a:pPr indent="0" marL="0">
              <a:buNone/>
            </a:pPr>
            <a:r>
              <a:rPr lang="en-US" sz="950" dirty="0">
                <a:solidFill>
                  <a:srgbClr val="CCCCCC"/>
                </a:solidFill>
              </a:rPr>
              <a:t>→  Audience segmentation system for brand campaigns — classified users into behavioral personas for targeted reward delivery; 26% uplift in user engagement across merchant-linked cohorts</a:t>
            </a:r>
            <a:endParaRPr lang="en-US" sz="950" dirty="0"/>
          </a:p>
        </p:txBody>
      </p:sp>
      <p:sp>
        <p:nvSpPr>
          <p:cNvPr id="8" name="Text 6"/>
          <p:cNvSpPr/>
          <p:nvPr/>
        </p:nvSpPr>
        <p:spPr>
          <a:xfrm>
            <a:off x="594360" y="3090672"/>
            <a:ext cx="3703320" cy="621792"/>
          </a:xfrm>
          <a:prstGeom prst="rect">
            <a:avLst/>
          </a:prstGeom>
          <a:noFill/>
          <a:ln/>
        </p:spPr>
        <p:txBody>
          <a:bodyPr wrap="square" rtlCol="0" anchor="ctr"/>
          <a:lstStyle/>
          <a:p>
            <a:pPr indent="0" marL="0">
              <a:buNone/>
            </a:pPr>
            <a:r>
              <a:rPr lang="en-US" sz="950" dirty="0">
                <a:solidFill>
                  <a:srgbClr val="CCCCCC"/>
                </a:solidFill>
              </a:rPr>
              <a:t>→  Redesigned end-to-end offers eligibility surfacing — surfaced the right offer to the right user at the right moment; 22% checkout conversion lift</a:t>
            </a:r>
            <a:endParaRPr lang="en-US" sz="950" dirty="0"/>
          </a:p>
        </p:txBody>
      </p:sp>
      <p:sp>
        <p:nvSpPr>
          <p:cNvPr id="9" name="Text 7"/>
          <p:cNvSpPr/>
          <p:nvPr/>
        </p:nvSpPr>
        <p:spPr>
          <a:xfrm>
            <a:off x="594360" y="3803904"/>
            <a:ext cx="3703320" cy="621792"/>
          </a:xfrm>
          <a:prstGeom prst="rect">
            <a:avLst/>
          </a:prstGeom>
          <a:noFill/>
          <a:ln/>
        </p:spPr>
        <p:txBody>
          <a:bodyPr wrap="square" rtlCol="0" anchor="ctr"/>
          <a:lstStyle/>
          <a:p>
            <a:pPr indent="0" marL="0">
              <a:buNone/>
            </a:pPr>
            <a:r>
              <a:rPr lang="en-US" sz="950" dirty="0">
                <a:solidFill>
                  <a:srgbClr val="CCCCCC"/>
                </a:solidFill>
              </a:rPr>
              <a:t>→  Cut marketing burn by 32% while sustaining GMV — same principle as TrustScore: show the right signal to the right user, not one averaged signal to everyone</a:t>
            </a:r>
            <a:endParaRPr lang="en-US" sz="950" dirty="0"/>
          </a:p>
        </p:txBody>
      </p:sp>
      <p:sp>
        <p:nvSpPr>
          <p:cNvPr id="10" name="Shape 8"/>
          <p:cNvSpPr/>
          <p:nvPr/>
        </p:nvSpPr>
        <p:spPr>
          <a:xfrm>
            <a:off x="4709160" y="1115568"/>
            <a:ext cx="4023360" cy="4297680"/>
          </a:xfrm>
          <a:prstGeom prst="rect">
            <a:avLst/>
          </a:prstGeom>
          <a:solidFill>
            <a:srgbClr val="EDE8E0"/>
          </a:solidFill>
          <a:ln w="12700">
            <a:solidFill>
              <a:srgbClr val="D8D0C4"/>
            </a:solidFill>
            <a:prstDash val="solid"/>
          </a:ln>
        </p:spPr>
      </p:sp>
      <p:sp>
        <p:nvSpPr>
          <p:cNvPr id="11" name="Text 9"/>
          <p:cNvSpPr/>
          <p:nvPr/>
        </p:nvSpPr>
        <p:spPr>
          <a:xfrm>
            <a:off x="4892040" y="1261872"/>
            <a:ext cx="3657600" cy="292608"/>
          </a:xfrm>
          <a:prstGeom prst="rect">
            <a:avLst/>
          </a:prstGeom>
          <a:noFill/>
          <a:ln/>
        </p:spPr>
        <p:txBody>
          <a:bodyPr wrap="square" rtlCol="0" anchor="ctr"/>
          <a:lstStyle/>
          <a:p>
            <a:pPr indent="0" marL="0">
              <a:buNone/>
            </a:pPr>
            <a:r>
              <a:rPr lang="en-US" sz="1300" b="1" dirty="0">
                <a:solidFill>
                  <a:srgbClr val="FF6B35"/>
                </a:solidFill>
              </a:rPr>
              <a:t>How It Maps to TrustScore</a:t>
            </a:r>
            <a:endParaRPr lang="en-US" sz="1300" dirty="0"/>
          </a:p>
        </p:txBody>
      </p:sp>
      <p:sp>
        <p:nvSpPr>
          <p:cNvPr id="12" name="Text 10"/>
          <p:cNvSpPr/>
          <p:nvPr/>
        </p:nvSpPr>
        <p:spPr>
          <a:xfrm>
            <a:off x="4892040" y="1664208"/>
            <a:ext cx="3703320" cy="621792"/>
          </a:xfrm>
          <a:prstGeom prst="rect">
            <a:avLst/>
          </a:prstGeom>
          <a:noFill/>
          <a:ln/>
        </p:spPr>
        <p:txBody>
          <a:bodyPr wrap="square" rtlCol="0" anchor="ctr"/>
          <a:lstStyle/>
          <a:p>
            <a:pPr indent="0" marL="0">
              <a:buNone/>
            </a:pPr>
            <a:r>
              <a:rPr lang="en-US" sz="950" dirty="0">
                <a:solidFill>
                  <a:srgbClr val="0F172A"/>
                </a:solidFill>
              </a:rPr>
              <a:t>✓  User-level propensity scoring at scale  →  Per-reviewer persona classification (Solo / Couples / Family / Business)</a:t>
            </a:r>
            <a:endParaRPr lang="en-US" sz="950" dirty="0"/>
          </a:p>
        </p:txBody>
      </p:sp>
      <p:sp>
        <p:nvSpPr>
          <p:cNvPr id="13" name="Text 11"/>
          <p:cNvSpPr/>
          <p:nvPr/>
        </p:nvSpPr>
        <p:spPr>
          <a:xfrm>
            <a:off x="4892040" y="2377440"/>
            <a:ext cx="3703320" cy="621792"/>
          </a:xfrm>
          <a:prstGeom prst="rect">
            <a:avLst/>
          </a:prstGeom>
          <a:noFill/>
          <a:ln/>
        </p:spPr>
        <p:txBody>
          <a:bodyPr wrap="square" rtlCol="0" anchor="ctr"/>
          <a:lstStyle/>
          <a:p>
            <a:pPr indent="0" marL="0">
              <a:buNone/>
            </a:pPr>
            <a:r>
              <a:rPr lang="en-US" sz="950" dirty="0">
                <a:solidFill>
                  <a:srgbClr val="0F172A"/>
                </a:solidFill>
              </a:rPr>
              <a:t>✓  Audience segmentation for campaign targeting  →  Persona score segmentation for property page display</a:t>
            </a:r>
            <a:endParaRPr lang="en-US" sz="950" dirty="0"/>
          </a:p>
        </p:txBody>
      </p:sp>
      <p:sp>
        <p:nvSpPr>
          <p:cNvPr id="14" name="Text 12"/>
          <p:cNvSpPr/>
          <p:nvPr/>
        </p:nvSpPr>
        <p:spPr>
          <a:xfrm>
            <a:off x="4892040" y="3090672"/>
            <a:ext cx="3703320" cy="621792"/>
          </a:xfrm>
          <a:prstGeom prst="rect">
            <a:avLst/>
          </a:prstGeom>
          <a:noFill/>
          <a:ln/>
        </p:spPr>
        <p:txBody>
          <a:bodyPr wrap="square" rtlCol="0" anchor="ctr"/>
          <a:lstStyle/>
          <a:p>
            <a:pPr indent="0" marL="0">
              <a:buNone/>
            </a:pPr>
            <a:r>
              <a:rPr lang="en-US" sz="950" dirty="0">
                <a:solidFill>
                  <a:srgbClr val="0F172A"/>
                </a:solidFill>
              </a:rPr>
              <a:t>✓  Offer eligibility surfacing  →  Persona-relevant score surfaced as primary metric on search results and property page</a:t>
            </a:r>
            <a:endParaRPr lang="en-US" sz="950" dirty="0"/>
          </a:p>
        </p:txBody>
      </p:sp>
      <p:sp>
        <p:nvSpPr>
          <p:cNvPr id="15" name="Text 13"/>
          <p:cNvSpPr/>
          <p:nvPr/>
        </p:nvSpPr>
        <p:spPr>
          <a:xfrm>
            <a:off x="4892040" y="3803904"/>
            <a:ext cx="3703320" cy="621792"/>
          </a:xfrm>
          <a:prstGeom prst="rect">
            <a:avLst/>
          </a:prstGeom>
          <a:noFill/>
          <a:ln/>
        </p:spPr>
        <p:txBody>
          <a:bodyPr wrap="square" rtlCol="0" anchor="ctr"/>
          <a:lstStyle/>
          <a:p>
            <a:pPr indent="0" marL="0">
              <a:buNone/>
            </a:pPr>
            <a:r>
              <a:rPr lang="en-US" sz="950" dirty="0">
                <a:solidFill>
                  <a:srgbClr val="0F172A"/>
                </a:solidFill>
              </a:rPr>
              <a:t>✓  ML replacing static rules at 350M MAU  →  Review verification ML replacing manual moderation at Agoda scale</a:t>
            </a:r>
            <a:endParaRPr lang="en-US" sz="950" dirty="0"/>
          </a:p>
        </p:txBody>
      </p:sp>
      <p:sp>
        <p:nvSpPr>
          <p:cNvPr id="16" name="Text 14"/>
          <p:cNvSpPr/>
          <p:nvPr/>
        </p:nvSpPr>
        <p:spPr>
          <a:xfrm>
            <a:off x="4892040" y="4517136"/>
            <a:ext cx="3703320" cy="621792"/>
          </a:xfrm>
          <a:prstGeom prst="rect">
            <a:avLst/>
          </a:prstGeom>
          <a:noFill/>
          <a:ln/>
        </p:spPr>
        <p:txBody>
          <a:bodyPr wrap="square" rtlCol="0" anchor="ctr"/>
          <a:lstStyle/>
          <a:p>
            <a:pPr indent="0" marL="0">
              <a:buNone/>
            </a:pPr>
            <a:r>
              <a:rPr lang="en-US" sz="950" dirty="0">
                <a:solidFill>
                  <a:srgbClr val="0F172A"/>
                </a:solidFill>
              </a:rPr>
              <a:t>✓  22% checkout conversion lift  →  TrustScore targets 18% post-booking satisfaction improvement via better matching</a:t>
            </a:r>
            <a:endParaRPr lang="en-US" sz="950" dirty="0"/>
          </a:p>
        </p:txBody>
      </p:sp>
      <p:sp>
        <p:nvSpPr>
          <p:cNvPr id="17" name="Shape 15"/>
          <p:cNvSpPr/>
          <p:nvPr/>
        </p:nvSpPr>
        <p:spPr>
          <a:xfrm>
            <a:off x="411480" y="5577840"/>
            <a:ext cx="8321040" cy="548640"/>
          </a:xfrm>
          <a:prstGeom prst="rect">
            <a:avLst/>
          </a:prstGeom>
          <a:solidFill>
            <a:srgbClr val="0B1F3A"/>
          </a:solidFill>
          <a:ln w="12700">
            <a:solidFill>
              <a:srgbClr val="0B1F3A"/>
            </a:solidFill>
            <a:prstDash val="solid"/>
          </a:ln>
        </p:spPr>
      </p:sp>
      <p:sp>
        <p:nvSpPr>
          <p:cNvPr id="18" name="Text 16"/>
          <p:cNvSpPr/>
          <p:nvPr/>
        </p:nvSpPr>
        <p:spPr>
          <a:xfrm>
            <a:off x="594360" y="5623560"/>
            <a:ext cx="7955280" cy="457200"/>
          </a:xfrm>
          <a:prstGeom prst="rect">
            <a:avLst/>
          </a:prstGeom>
          <a:noFill/>
          <a:ln/>
        </p:spPr>
        <p:txBody>
          <a:bodyPr wrap="square" rtlCol="0" anchor="ctr"/>
          <a:lstStyle/>
          <a:p>
            <a:pPr indent="0" marL="0">
              <a:buNone/>
            </a:pPr>
            <a:r>
              <a:rPr lang="en-US" sz="1000" i="1" dirty="0">
                <a:solidFill>
                  <a:srgbClr val="FFB800"/>
                </a:solidFill>
              </a:rPr>
              <a:t>"I replaced static cohort rules with real-time ML scoring at 350M users. TrustScore is the same architecture — replacing a generic averaged number with one that is actually true for each traveler."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11480" y="274320"/>
            <a:ext cx="8321040" cy="201168"/>
          </a:xfrm>
          <a:prstGeom prst="rect">
            <a:avLst/>
          </a:prstGeom>
          <a:noFill/>
          <a:ln/>
        </p:spPr>
        <p:txBody>
          <a:bodyPr wrap="square" rtlCol="0" anchor="ctr"/>
          <a:lstStyle/>
          <a:p>
            <a:pPr indent="0" marL="0">
              <a:buNone/>
            </a:pPr>
            <a:r>
              <a:rPr lang="en-US" sz="900" b="1" spc="500" kern="0" dirty="0">
                <a:solidFill>
                  <a:srgbClr val="FFB800"/>
                </a:solidFill>
              </a:rPr>
              <a:t>ROLLOUT PLAN</a:t>
            </a:r>
            <a:endParaRPr lang="en-US" sz="900" dirty="0"/>
          </a:p>
        </p:txBody>
      </p:sp>
      <p:sp>
        <p:nvSpPr>
          <p:cNvPr id="3" name="Text 1"/>
          <p:cNvSpPr/>
          <p:nvPr/>
        </p:nvSpPr>
        <p:spPr>
          <a:xfrm>
            <a:off x="411480" y="502920"/>
            <a:ext cx="832104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Phased Launch — 6-Month Plan</a:t>
            </a:r>
            <a:endParaRPr lang="en-US" sz="2600" dirty="0"/>
          </a:p>
        </p:txBody>
      </p:sp>
      <p:sp>
        <p:nvSpPr>
          <p:cNvPr id="4" name="Shape 2"/>
          <p:cNvSpPr/>
          <p:nvPr/>
        </p:nvSpPr>
        <p:spPr>
          <a:xfrm>
            <a:off x="411480" y="1170432"/>
            <a:ext cx="2633472" cy="3246120"/>
          </a:xfrm>
          <a:prstGeom prst="rect">
            <a:avLst/>
          </a:prstGeom>
          <a:solidFill>
            <a:srgbClr val="1A3458"/>
          </a:solidFill>
          <a:ln w="12700">
            <a:solidFill>
              <a:srgbClr val="2A3A5A"/>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411480" y="1170432"/>
            <a:ext cx="2633472" cy="54864"/>
          </a:xfrm>
          <a:prstGeom prst="rect">
            <a:avLst/>
          </a:prstGeom>
          <a:solidFill>
            <a:srgbClr val="FF6B35"/>
          </a:solidFill>
          <a:ln w="12700">
            <a:solidFill>
              <a:srgbClr val="FF6B35"/>
            </a:solidFill>
            <a:prstDash val="solid"/>
          </a:ln>
        </p:spPr>
      </p:sp>
      <p:sp>
        <p:nvSpPr>
          <p:cNvPr id="6" name="Text 4"/>
          <p:cNvSpPr/>
          <p:nvPr/>
        </p:nvSpPr>
        <p:spPr>
          <a:xfrm>
            <a:off x="539496" y="1298448"/>
            <a:ext cx="2377440" cy="256032"/>
          </a:xfrm>
          <a:prstGeom prst="rect">
            <a:avLst/>
          </a:prstGeom>
          <a:noFill/>
          <a:ln/>
        </p:spPr>
        <p:txBody>
          <a:bodyPr wrap="square" rtlCol="0" anchor="ctr"/>
          <a:lstStyle/>
          <a:p>
            <a:pPr indent="0" marL="0">
              <a:buNone/>
            </a:pPr>
            <a:r>
              <a:rPr lang="en-US" sz="900" b="1" spc="300" kern="0" dirty="0">
                <a:solidFill>
                  <a:srgbClr val="FF6B35"/>
                </a:solidFill>
              </a:rPr>
              <a:t>Phase 1</a:t>
            </a:r>
            <a:endParaRPr lang="en-US" sz="900" dirty="0"/>
          </a:p>
        </p:txBody>
      </p:sp>
      <p:sp>
        <p:nvSpPr>
          <p:cNvPr id="7" name="Text 5"/>
          <p:cNvSpPr/>
          <p:nvPr/>
        </p:nvSpPr>
        <p:spPr>
          <a:xfrm>
            <a:off x="539496" y="1572768"/>
            <a:ext cx="2377440" cy="347472"/>
          </a:xfrm>
          <a:prstGeom prst="rect">
            <a:avLst/>
          </a:prstGeom>
          <a:noFill/>
          <a:ln/>
        </p:spPr>
        <p:txBody>
          <a:bodyPr wrap="square" rtlCol="0" anchor="ctr"/>
          <a:lstStyle/>
          <a:p>
            <a:pPr indent="0" marL="0">
              <a:buNone/>
            </a:pPr>
            <a:r>
              <a:rPr lang="en-US" sz="1200" b="1" dirty="0">
                <a:solidFill>
                  <a:srgbClr val="FFFFFF"/>
                </a:solidFill>
              </a:rPr>
              <a:t>Month 1–2: Model Training</a:t>
            </a:r>
            <a:endParaRPr lang="en-US" sz="1200" dirty="0"/>
          </a:p>
        </p:txBody>
      </p:sp>
      <p:sp>
        <p:nvSpPr>
          <p:cNvPr id="8" name="Text 6"/>
          <p:cNvSpPr/>
          <p:nvPr/>
        </p:nvSpPr>
        <p:spPr>
          <a:xfrm>
            <a:off x="539496" y="1993392"/>
            <a:ext cx="2377440" cy="2286000"/>
          </a:xfrm>
          <a:prstGeom prst="rect">
            <a:avLst/>
          </a:prstGeom>
          <a:noFill/>
          <a:ln/>
        </p:spPr>
        <p:txBody>
          <a:bodyPr wrap="square" rtlCol="0" anchor="ctr"/>
          <a:lstStyle/>
          <a:p>
            <a:pPr indent="0" marL="0">
              <a:buNone/>
            </a:pPr>
            <a:r>
              <a:rPr lang="en-US" sz="950" dirty="0">
                <a:solidFill>
                  <a:srgbClr val="CCCCCC"/>
                </a:solidFill>
              </a:rPr>
              <a:t>Train persona classifier on existing Agoda review corpus (100M+ reviews). Label 40K reviews manually for training data. Validate against known traveler profiles. Target 91%+ classifier accuracy before launch.</a:t>
            </a:r>
            <a:endParaRPr lang="en-US" sz="950" dirty="0"/>
          </a:p>
        </p:txBody>
      </p:sp>
      <p:sp>
        <p:nvSpPr>
          <p:cNvPr id="9" name="Shape 7"/>
          <p:cNvSpPr/>
          <p:nvPr/>
        </p:nvSpPr>
        <p:spPr>
          <a:xfrm>
            <a:off x="3264408" y="1170432"/>
            <a:ext cx="2633472" cy="3246120"/>
          </a:xfrm>
          <a:prstGeom prst="rect">
            <a:avLst/>
          </a:prstGeom>
          <a:solidFill>
            <a:srgbClr val="1A3458"/>
          </a:solidFill>
          <a:ln w="12700">
            <a:solidFill>
              <a:srgbClr val="2A3A5A"/>
            </a:solidFill>
            <a:prstDash val="solid"/>
          </a:ln>
          <a:effectLst>
            <a:outerShdw sx="100000" sy="100000" kx="0" ky="0" algn="bl" rotWithShape="0" blurRad="38100" dist="12700" dir="2700000">
              <a:srgbClr val="000000">
                <a:alpha val="12000"/>
              </a:srgbClr>
            </a:outerShdw>
          </a:effectLst>
        </p:spPr>
      </p:sp>
      <p:sp>
        <p:nvSpPr>
          <p:cNvPr id="10" name="Shape 8"/>
          <p:cNvSpPr/>
          <p:nvPr/>
        </p:nvSpPr>
        <p:spPr>
          <a:xfrm>
            <a:off x="3264408" y="1170432"/>
            <a:ext cx="2633472" cy="54864"/>
          </a:xfrm>
          <a:prstGeom prst="rect">
            <a:avLst/>
          </a:prstGeom>
          <a:solidFill>
            <a:srgbClr val="FF6B35"/>
          </a:solidFill>
          <a:ln w="12700">
            <a:solidFill>
              <a:srgbClr val="FF6B35"/>
            </a:solidFill>
            <a:prstDash val="solid"/>
          </a:ln>
        </p:spPr>
      </p:sp>
      <p:sp>
        <p:nvSpPr>
          <p:cNvPr id="11" name="Text 9"/>
          <p:cNvSpPr/>
          <p:nvPr/>
        </p:nvSpPr>
        <p:spPr>
          <a:xfrm>
            <a:off x="3392424" y="1298448"/>
            <a:ext cx="2377440" cy="256032"/>
          </a:xfrm>
          <a:prstGeom prst="rect">
            <a:avLst/>
          </a:prstGeom>
          <a:noFill/>
          <a:ln/>
        </p:spPr>
        <p:txBody>
          <a:bodyPr wrap="square" rtlCol="0" anchor="ctr"/>
          <a:lstStyle/>
          <a:p>
            <a:pPr indent="0" marL="0">
              <a:buNone/>
            </a:pPr>
            <a:r>
              <a:rPr lang="en-US" sz="900" b="1" spc="300" kern="0" dirty="0">
                <a:solidFill>
                  <a:srgbClr val="FF6B35"/>
                </a:solidFill>
              </a:rPr>
              <a:t>Phase 2</a:t>
            </a:r>
            <a:endParaRPr lang="en-US" sz="900" dirty="0"/>
          </a:p>
        </p:txBody>
      </p:sp>
      <p:sp>
        <p:nvSpPr>
          <p:cNvPr id="12" name="Text 10"/>
          <p:cNvSpPr/>
          <p:nvPr/>
        </p:nvSpPr>
        <p:spPr>
          <a:xfrm>
            <a:off x="3392424" y="1572768"/>
            <a:ext cx="2377440" cy="347472"/>
          </a:xfrm>
          <a:prstGeom prst="rect">
            <a:avLst/>
          </a:prstGeom>
          <a:noFill/>
          <a:ln/>
        </p:spPr>
        <p:txBody>
          <a:bodyPr wrap="square" rtlCol="0" anchor="ctr"/>
          <a:lstStyle/>
          <a:p>
            <a:pPr indent="0" marL="0">
              <a:buNone/>
            </a:pPr>
            <a:r>
              <a:rPr lang="en-US" sz="1200" b="1" dirty="0">
                <a:solidFill>
                  <a:srgbClr val="FFFFFF"/>
                </a:solidFill>
              </a:rPr>
              <a:t>Month 3–4: A/B Test Launch</a:t>
            </a:r>
            <a:endParaRPr lang="en-US" sz="1200" dirty="0"/>
          </a:p>
        </p:txBody>
      </p:sp>
      <p:sp>
        <p:nvSpPr>
          <p:cNvPr id="13" name="Text 11"/>
          <p:cNvSpPr/>
          <p:nvPr/>
        </p:nvSpPr>
        <p:spPr>
          <a:xfrm>
            <a:off x="3392424" y="1993392"/>
            <a:ext cx="2377440" cy="2286000"/>
          </a:xfrm>
          <a:prstGeom prst="rect">
            <a:avLst/>
          </a:prstGeom>
          <a:noFill/>
          <a:ln/>
        </p:spPr>
        <p:txBody>
          <a:bodyPr wrap="square" rtlCol="0" anchor="ctr"/>
          <a:lstStyle/>
          <a:p>
            <a:pPr indent="0" marL="0">
              <a:buNone/>
            </a:pPr>
            <a:r>
              <a:rPr lang="en-US" sz="950" dirty="0">
                <a:solidFill>
                  <a:srgbClr val="CCCCCC"/>
                </a:solidFill>
              </a:rPr>
              <a:t>Launch TrustScore for 10% of users on Bangkok and Bali hotel pages. A/B test: persona score as primary vs generic score. Measure booking conversion, post-stay satisfaction, and review submission rate vs control.</a:t>
            </a:r>
            <a:endParaRPr lang="en-US" sz="950" dirty="0"/>
          </a:p>
        </p:txBody>
      </p:sp>
      <p:sp>
        <p:nvSpPr>
          <p:cNvPr id="14" name="Shape 12"/>
          <p:cNvSpPr/>
          <p:nvPr/>
        </p:nvSpPr>
        <p:spPr>
          <a:xfrm>
            <a:off x="6117336" y="1170432"/>
            <a:ext cx="2633472" cy="3246120"/>
          </a:xfrm>
          <a:prstGeom prst="rect">
            <a:avLst/>
          </a:prstGeom>
          <a:solidFill>
            <a:srgbClr val="1A3458"/>
          </a:solidFill>
          <a:ln w="12700">
            <a:solidFill>
              <a:srgbClr val="2A3A5A"/>
            </a:solidFill>
            <a:prstDash val="solid"/>
          </a:ln>
          <a:effectLst>
            <a:outerShdw sx="100000" sy="100000" kx="0" ky="0" algn="bl" rotWithShape="0" blurRad="38100" dist="12700" dir="2700000">
              <a:srgbClr val="000000">
                <a:alpha val="12000"/>
              </a:srgbClr>
            </a:outerShdw>
          </a:effectLst>
        </p:spPr>
      </p:sp>
      <p:sp>
        <p:nvSpPr>
          <p:cNvPr id="15" name="Shape 13"/>
          <p:cNvSpPr/>
          <p:nvPr/>
        </p:nvSpPr>
        <p:spPr>
          <a:xfrm>
            <a:off x="6117336" y="1170432"/>
            <a:ext cx="2633472" cy="54864"/>
          </a:xfrm>
          <a:prstGeom prst="rect">
            <a:avLst/>
          </a:prstGeom>
          <a:solidFill>
            <a:srgbClr val="FF6B35"/>
          </a:solidFill>
          <a:ln w="12700">
            <a:solidFill>
              <a:srgbClr val="FF6B35"/>
            </a:solidFill>
            <a:prstDash val="solid"/>
          </a:ln>
        </p:spPr>
      </p:sp>
      <p:sp>
        <p:nvSpPr>
          <p:cNvPr id="16" name="Text 14"/>
          <p:cNvSpPr/>
          <p:nvPr/>
        </p:nvSpPr>
        <p:spPr>
          <a:xfrm>
            <a:off x="6245352" y="1298448"/>
            <a:ext cx="2377440" cy="256032"/>
          </a:xfrm>
          <a:prstGeom prst="rect">
            <a:avLst/>
          </a:prstGeom>
          <a:noFill/>
          <a:ln/>
        </p:spPr>
        <p:txBody>
          <a:bodyPr wrap="square" rtlCol="0" anchor="ctr"/>
          <a:lstStyle/>
          <a:p>
            <a:pPr indent="0" marL="0">
              <a:buNone/>
            </a:pPr>
            <a:r>
              <a:rPr lang="en-US" sz="900" b="1" spc="300" kern="0" dirty="0">
                <a:solidFill>
                  <a:srgbClr val="FF6B35"/>
                </a:solidFill>
              </a:rPr>
              <a:t>Phase 3</a:t>
            </a:r>
            <a:endParaRPr lang="en-US" sz="900" dirty="0"/>
          </a:p>
        </p:txBody>
      </p:sp>
      <p:sp>
        <p:nvSpPr>
          <p:cNvPr id="17" name="Text 15"/>
          <p:cNvSpPr/>
          <p:nvPr/>
        </p:nvSpPr>
        <p:spPr>
          <a:xfrm>
            <a:off x="6245352" y="1572768"/>
            <a:ext cx="2377440" cy="347472"/>
          </a:xfrm>
          <a:prstGeom prst="rect">
            <a:avLst/>
          </a:prstGeom>
          <a:noFill/>
          <a:ln/>
        </p:spPr>
        <p:txBody>
          <a:bodyPr wrap="square" rtlCol="0" anchor="ctr"/>
          <a:lstStyle/>
          <a:p>
            <a:pPr indent="0" marL="0">
              <a:buNone/>
            </a:pPr>
            <a:r>
              <a:rPr lang="en-US" sz="1200" b="1" dirty="0">
                <a:solidFill>
                  <a:srgbClr val="FFFFFF"/>
                </a:solidFill>
              </a:rPr>
              <a:t>Month 5–6: Full Rollout</a:t>
            </a:r>
            <a:endParaRPr lang="en-US" sz="1200" dirty="0"/>
          </a:p>
        </p:txBody>
      </p:sp>
      <p:sp>
        <p:nvSpPr>
          <p:cNvPr id="18" name="Text 16"/>
          <p:cNvSpPr/>
          <p:nvPr/>
        </p:nvSpPr>
        <p:spPr>
          <a:xfrm>
            <a:off x="6245352" y="1993392"/>
            <a:ext cx="2377440" cy="2286000"/>
          </a:xfrm>
          <a:prstGeom prst="rect">
            <a:avLst/>
          </a:prstGeom>
          <a:noFill/>
          <a:ln/>
        </p:spPr>
        <p:txBody>
          <a:bodyPr wrap="square" rtlCol="0" anchor="ctr"/>
          <a:lstStyle/>
          <a:p>
            <a:pPr indent="0" marL="0">
              <a:buNone/>
            </a:pPr>
            <a:r>
              <a:rPr lang="en-US" sz="950" dirty="0">
                <a:solidFill>
                  <a:srgbClr val="CCCCCC"/>
                </a:solidFill>
              </a:rPr>
              <a:t>Roll out to all Agoda markets. Train review verification model on flagged review corpus. Launch Trust Badge on all property pages. Expand persona categories (Adventure, Wellness, Luxury) based on behavioral clustering.</a:t>
            </a:r>
            <a:endParaRPr lang="en-US" sz="950" dirty="0"/>
          </a:p>
        </p:txBody>
      </p:sp>
      <p:sp>
        <p:nvSpPr>
          <p:cNvPr id="19" name="Shape 17"/>
          <p:cNvSpPr/>
          <p:nvPr/>
        </p:nvSpPr>
        <p:spPr>
          <a:xfrm>
            <a:off x="411480" y="4590288"/>
            <a:ext cx="8321040" cy="841248"/>
          </a:xfrm>
          <a:prstGeom prst="rect">
            <a:avLst/>
          </a:prstGeom>
          <a:solidFill>
            <a:srgbClr val="FF6B35"/>
          </a:solidFill>
          <a:ln w="12700">
            <a:solidFill>
              <a:srgbClr val="FF6B35"/>
            </a:solidFill>
            <a:prstDash val="solid"/>
          </a:ln>
        </p:spPr>
      </p:sp>
      <p:sp>
        <p:nvSpPr>
          <p:cNvPr id="20" name="Text 18"/>
          <p:cNvSpPr/>
          <p:nvPr/>
        </p:nvSpPr>
        <p:spPr>
          <a:xfrm>
            <a:off x="594360" y="4663440"/>
            <a:ext cx="8229600" cy="256032"/>
          </a:xfrm>
          <a:prstGeom prst="rect">
            <a:avLst/>
          </a:prstGeom>
          <a:noFill/>
          <a:ln/>
        </p:spPr>
        <p:txBody>
          <a:bodyPr wrap="square" rtlCol="0" anchor="ctr"/>
          <a:lstStyle/>
          <a:p>
            <a:pPr indent="0" marL="0">
              <a:buNone/>
            </a:pPr>
            <a:r>
              <a:rPr lang="en-US" sz="1100" b="1" dirty="0">
                <a:solidFill>
                  <a:srgbClr val="FFFFFF"/>
                </a:solidFill>
              </a:rPr>
              <a:t>What I Need to Build This</a:t>
            </a:r>
            <a:endParaRPr lang="en-US" sz="1100" dirty="0"/>
          </a:p>
        </p:txBody>
      </p:sp>
      <p:sp>
        <p:nvSpPr>
          <p:cNvPr id="21" name="Text 19"/>
          <p:cNvSpPr/>
          <p:nvPr/>
        </p:nvSpPr>
        <p:spPr>
          <a:xfrm>
            <a:off x="594360" y="4937760"/>
            <a:ext cx="7955280" cy="420624"/>
          </a:xfrm>
          <a:prstGeom prst="rect">
            <a:avLst/>
          </a:prstGeom>
          <a:noFill/>
          <a:ln/>
        </p:spPr>
        <p:txBody>
          <a:bodyPr wrap="square" rtlCol="0" anchor="ctr"/>
          <a:lstStyle/>
          <a:p>
            <a:pPr indent="0" marL="0">
              <a:buNone/>
            </a:pPr>
            <a:r>
              <a:rPr lang="en-US" sz="950" dirty="0">
                <a:solidFill>
                  <a:srgbClr val="FFEEEE"/>
                </a:solidFill>
              </a:rPr>
              <a:t>40K manually labeled reviews for classifier training  ·  1 ML engineer for persona model  ·  1 ML engineer for review verification model  ·  Access to Agoda review corpus and booking metadata  ·  A/B test framework on property pages</a:t>
            </a:r>
            <a:endParaRPr lang="en-US" sz="950" dirty="0"/>
          </a:p>
        </p:txBody>
      </p:sp>
      <p:sp>
        <p:nvSpPr>
          <p:cNvPr id="22" name="Shape 20"/>
          <p:cNvSpPr/>
          <p:nvPr/>
        </p:nvSpPr>
        <p:spPr>
          <a:xfrm>
            <a:off x="0" y="6309360"/>
            <a:ext cx="9144000" cy="548640"/>
          </a:xfrm>
          <a:prstGeom prst="rect">
            <a:avLst/>
          </a:prstGeom>
          <a:solidFill>
            <a:srgbClr val="1A3458"/>
          </a:solidFill>
          <a:ln w="12700">
            <a:solidFill>
              <a:srgbClr val="1A3458"/>
            </a:solidFill>
            <a:prstDash val="solid"/>
          </a:ln>
        </p:spPr>
      </p:sp>
      <p:sp>
        <p:nvSpPr>
          <p:cNvPr id="23" name="Text 21"/>
          <p:cNvSpPr/>
          <p:nvPr/>
        </p:nvSpPr>
        <p:spPr>
          <a:xfrm>
            <a:off x="411480" y="6355080"/>
            <a:ext cx="8321040" cy="411480"/>
          </a:xfrm>
          <a:prstGeom prst="rect">
            <a:avLst/>
          </a:prstGeom>
          <a:noFill/>
          <a:ln/>
        </p:spPr>
        <p:txBody>
          <a:bodyPr wrap="square" rtlCol="0" anchor="ctr"/>
          <a:lstStyle/>
          <a:p>
            <a:pPr algn="ctr" indent="0" marL="0">
              <a:buNone/>
            </a:pPr>
            <a:r>
              <a:rPr lang="en-US" sz="1000" dirty="0">
                <a:solidFill>
                  <a:srgbClr val="AAAAAA"/>
                </a:solidFill>
              </a:rPr>
              <a:t>Ajay Avaghade  ·  avaghadeajay009@gmail.com  ·  +91 9561558439  ·  linkedin.com/in/ajay-avaghade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2026-05-22T18:49:04Z</dcterms:created>
  <dcterms:modified xsi:type="dcterms:W3CDTF">2026-05-22T18:49:04Z</dcterms:modified>
</cp:coreProperties>
</file>