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0"/>
            <a:ext cx="9144" cy="68580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-91440" y="0"/>
            <a:ext cx="9144" cy="68580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731520" y="0"/>
            <a:ext cx="9144" cy="68580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1554480" y="0"/>
            <a:ext cx="9144" cy="68580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2377440" y="0"/>
            <a:ext cx="9144" cy="68580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3200400" y="0"/>
            <a:ext cx="9144" cy="68580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4023360" y="0"/>
            <a:ext cx="9144" cy="68580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800000">
            <a:off x="4846320" y="0"/>
            <a:ext cx="9144" cy="68580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800000">
            <a:off x="5669280" y="0"/>
            <a:ext cx="9144" cy="68580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800000">
            <a:off x="6492240" y="0"/>
            <a:ext cx="9144" cy="68580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800000">
            <a:off x="7315200" y="0"/>
            <a:ext cx="9144" cy="68580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800000">
            <a:off x="8138160" y="0"/>
            <a:ext cx="9144" cy="68580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800000">
            <a:off x="8961120" y="0"/>
            <a:ext cx="9144" cy="68580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800000">
            <a:off x="9784080" y="0"/>
            <a:ext cx="9144" cy="68580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2286000" cy="6858000"/>
          </a:xfrm>
          <a:prstGeom prst="rect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029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94A3B8"/>
                </a:solidFill>
              </a:rPr>
              <a:t>SNAPMINT — PRODUCT CASE STUDY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</a:rPr>
              <a:t>SnapPay: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54864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</a:rPr>
              <a:t>Credit on UPI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548640" y="27889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Solving India's ₹25,000 Cr credit-access gap at the point of every UPI payment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Ajay Avaghade  ·  Growth &amp; Monetization PM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4389120"/>
            <a:ext cx="2468880" cy="2194560"/>
          </a:xfrm>
          <a:prstGeom prst="rect">
            <a:avLst>
              <a:gd name="adj" fmla="val 7500"/>
            </a:avLst>
          </a:prstGeom>
          <a:solidFill>
            <a:srgbClr val="4F46E5">
              <a:alpha val="18000"/>
            </a:srgbClr>
          </a:solidFill>
          <a:ln w="12700">
            <a:solidFill>
              <a:srgbClr val="4F46E5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45720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300M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400800" y="5303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credit-eligible Indians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with no UPI credit option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94A3B8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300M Indians Have Credit.</a:t>
            </a:r>
            <a:endParaRPr lang="en-US" sz="2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Zero Have a Way to Spend It via UPI.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51760" cy="3291840"/>
          </a:xfrm>
          <a:prstGeom prst="rect">
            <a:avLst>
              <a:gd name="adj" fmla="val 482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46E5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57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300M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Credit-eligible Indians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2219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Yet fewer than 35M actively use credit cards — a 265M person gap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64992" y="1920240"/>
            <a:ext cx="2651760" cy="3291840"/>
          </a:xfrm>
          <a:prstGeom prst="rect">
            <a:avLst>
              <a:gd name="adj" fmla="val 482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46E5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2057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⛔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64992" y="26060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~40%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64992" y="3291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UPI payments fail due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insufficient balance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382219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Credit exists but cannot reach the point of payment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72784" y="1920240"/>
            <a:ext cx="2651760" cy="3291840"/>
          </a:xfrm>
          <a:prstGeom prst="rect">
            <a:avLst>
              <a:gd name="adj" fmla="val 482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46E5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2057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💤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72784" y="26060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₹X Cr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72784" y="3291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Idle credit sitting unused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every month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72784" y="382219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Snapmint's approved limits go unspent — no UPI channel to deploy them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5440680"/>
            <a:ext cx="8229600" cy="896112"/>
          </a:xfrm>
          <a:prstGeom prst="rect">
            <a:avLst>
              <a:gd name="adj" fmla="val 10204"/>
            </a:avLst>
          </a:prstGeom>
          <a:solidFill>
            <a:srgbClr val="4F46E5">
              <a:alpha val="12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53212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Root cause: NPCI enabled Credit Line on UPI in 2023. The rails exist. No consumer fintech has built the product on top of them for the 265M credit-eligible, card-absent segment.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4F46E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"Insufficient Funds" Is Not a Bank Problem.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It's a Credit Access Problem.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3840480" cy="3337560"/>
          </a:xfrm>
          <a:prstGeom prst="rect">
            <a:avLst>
              <a:gd name="adj" fmla="val 3836"/>
            </a:avLst>
          </a:prstGeom>
          <a:solidFill>
            <a:srgbClr val="FEE2E2">
              <a:alpha val="9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0299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❌  Today — Insufficient Funds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User scans QR · amount ₹3,200 · bank balance ₹410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99008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"Insufficient Funds" error — payment fails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46557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User leaves the store frustrated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941064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Snapmint's ₹25,000 approved limit sits idle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41655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Merchant loses the sale · platform loses GMV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3154680"/>
            <a:ext cx="822960" cy="8229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60520" y="321868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874520"/>
            <a:ext cx="3840480" cy="3337560"/>
          </a:xfrm>
          <a:prstGeom prst="rect">
            <a:avLst>
              <a:gd name="adj" fmla="val 3836"/>
            </a:avLst>
          </a:prstGeom>
          <a:solidFill>
            <a:srgbClr val="EEF2FF">
              <a:alpha val="90000"/>
            </a:srgbClr>
          </a:solidFill>
          <a:ln w="12700">
            <a:solidFill>
              <a:srgbClr val="4F46E5">
                <a:alpha val="3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20299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✅  SnapPay — Credit at the QR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5146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• Same scan · same ₹410 balance · same ₹3,200 amount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99008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• SnapPay intercepts: "Use your Snapmint credit"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46557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• User selects 3-month EMI at ₹0 cost · one tap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941064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• Payment completes · merchant gets paid instantly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441655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• EMI auto-scheduled via UPI AutoPay mandate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8229600" cy="896112"/>
          </a:xfrm>
          <a:prstGeom prst="rect">
            <a:avLst>
              <a:gd name="adj" fmla="val 10204"/>
            </a:avLst>
          </a:prstGeom>
          <a:solidFill>
            <a:srgbClr val="4F46E5">
              <a:alpha val="12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53212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</a:rPr>
              <a:t>Key insight: SnapPay makes Snapmint's idle credit limit an always-on payment instrument — active at every UPI merchant QR in India. No new credit card. No new account. Just credit, finally at the point of payment.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94A3B8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SnapPay Works: Credit at Every QR in India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658368" cy="6583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72768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72768" y="1847088"/>
            <a:ext cx="914400" cy="0"/>
          </a:xfrm>
          <a:prstGeom prst="line">
            <a:avLst/>
          </a:prstGeom>
          <a:noFill/>
          <a:ln w="19050">
            <a:solidFill>
              <a:srgbClr val="4F46E5">
                <a:alpha val="45000"/>
              </a:srgbClr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11480" y="2377440"/>
            <a:ext cx="1591056" cy="3108960"/>
          </a:xfrm>
          <a:prstGeom prst="rect">
            <a:avLst>
              <a:gd name="adj" fmla="val 689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4F46E5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251460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Credit Line Linked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3063240"/>
            <a:ext cx="144475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User onboards SnapPay — links bank, sets UPI PIN. Snapmint credit limit mapped to @snapmint UPI handle. NPCI mandate registered.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15184" y="1508760"/>
            <a:ext cx="658368" cy="6583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1572768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73552" y="1847088"/>
            <a:ext cx="914400" cy="0"/>
          </a:xfrm>
          <a:prstGeom prst="line">
            <a:avLst/>
          </a:prstGeom>
          <a:noFill/>
          <a:ln w="19050">
            <a:solidFill>
              <a:srgbClr val="4F46E5">
                <a:alpha val="45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112264" y="2377440"/>
            <a:ext cx="1591056" cy="3108960"/>
          </a:xfrm>
          <a:prstGeom prst="rect">
            <a:avLst>
              <a:gd name="adj" fmla="val 689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4F46E5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251460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QR Scan + Shortfall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85416" y="3063240"/>
            <a:ext cx="144475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User scans merchant QR. Payment amount exceeds bank balance. SnapPay intercepts before the "Insufficient Funds" error.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5968" y="1508760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1572768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74336" y="1847088"/>
            <a:ext cx="914400" cy="0"/>
          </a:xfrm>
          <a:prstGeom prst="line">
            <a:avLst/>
          </a:prstGeom>
          <a:noFill/>
          <a:ln w="19050">
            <a:solidFill>
              <a:srgbClr val="4F46E5">
                <a:alpha val="45000"/>
              </a:srgbClr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813048" y="2377440"/>
            <a:ext cx="1591056" cy="3108960"/>
          </a:xfrm>
          <a:prstGeom prst="rect">
            <a:avLst>
              <a:gd name="adj" fmla="val 689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4F46E5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251460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Credit Surfaced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86200" y="3063240"/>
            <a:ext cx="144475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SnapPay bottom sheet: exact shortfall amount, 3/6/9 month EMI options, ₹0 cost display. One-tap selection.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16752" y="1508760"/>
            <a:ext cx="658368" cy="6583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1572768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75120" y="1847088"/>
            <a:ext cx="914400" cy="0"/>
          </a:xfrm>
          <a:prstGeom prst="line">
            <a:avLst/>
          </a:prstGeom>
          <a:noFill/>
          <a:ln w="19050">
            <a:solidFill>
              <a:srgbClr val="4F46E5">
                <a:alpha val="45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513832" y="2377440"/>
            <a:ext cx="1591056" cy="3108960"/>
          </a:xfrm>
          <a:prstGeom prst="rect">
            <a:avLst>
              <a:gd name="adj" fmla="val 689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4F46E5">
                <a:alpha val="2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86984" y="251460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Payment Completes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86984" y="3063240"/>
            <a:ext cx="144475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UPI credit debit settled in real-time via NPCI. Merchant receives full ₹3,200. Transaction confirmed in &lt;2 seconds.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17536" y="1508760"/>
            <a:ext cx="658368" cy="6583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17536" y="1572768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14616" y="2377440"/>
            <a:ext cx="1591056" cy="3108960"/>
          </a:xfrm>
          <a:prstGeom prst="rect">
            <a:avLst>
              <a:gd name="adj" fmla="val 689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4F46E5">
                <a:alpha val="2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87768" y="251460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AutoPay Mandate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87768" y="3063240"/>
            <a:ext cx="144475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Post-payment: UPI AutoPay mandate set up for EMI auto-debit. D-3 alerts. Zero manual repayment friction.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669280"/>
            <a:ext cx="8229600" cy="594360"/>
          </a:xfrm>
          <a:prstGeom prst="rect">
            <a:avLst>
              <a:gd name="adj" fmla="val 12308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7424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NPCI precedent: RuPay Credit Card on UPI enabled Sept 2023 · PhonePe, GPay integrating — Snapmint can capture the credit-native segment before big players fully optimise for 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4F46E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4 Screen States — Designed for India's Next Credit User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38528" cy="5074920"/>
          </a:xfrm>
          <a:prstGeom prst="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4F46E5">
                <a:alpha val="28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8912" y="175564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UPI Credit Setup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" y="2212848"/>
            <a:ext cx="1719072" cy="1417320"/>
          </a:xfrm>
          <a:prstGeom prst="rect">
            <a:avLst>
              <a:gd name="adj" fmla="val 5161"/>
            </a:avLst>
          </a:prstGeom>
          <a:solidFill>
            <a:srgbClr val="0A0F2E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2267712"/>
            <a:ext cx="1682496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⬛ ▓ ▓ ▓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━━━━━━━━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◉ Setup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▓▓▓▓░░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1755648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Snapmint home with SnapPay activation banner. 3-step progress: credit approved → bank link → UPI live. Credit limit displayed as always-available payment instrument.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87168" y="1325880"/>
            <a:ext cx="1938528" cy="5074920"/>
          </a:xfrm>
          <a:prstGeom prst="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4F46E5">
                <a:alpha val="28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78608" y="146304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75564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Credit at the QR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96896" y="2212848"/>
            <a:ext cx="1719072" cy="1417320"/>
          </a:xfrm>
          <a:prstGeom prst="rect">
            <a:avLst>
              <a:gd name="adj" fmla="val 5161"/>
            </a:avLst>
          </a:prstGeom>
          <a:solidFill>
            <a:srgbClr val="0A0F2E"/>
          </a:solidFill>
          <a:ln/>
        </p:spPr>
      </p:sp>
      <p:sp>
        <p:nvSpPr>
          <p:cNvPr id="14" name="Text 12"/>
          <p:cNvSpPr/>
          <p:nvPr/>
        </p:nvSpPr>
        <p:spPr>
          <a:xfrm>
            <a:off x="2615184" y="2267712"/>
            <a:ext cx="1682496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⬛ ₹3,200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⚠ Bal ₹410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━━━━━━━━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💳 SnapPay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[Pay Now]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78608" y="3703320"/>
            <a:ext cx="1755648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Insufficient funds intercept: merchant name, amount, bank balance. SnapPay bottom sheet with EMI options (3/6/9 months). Zero-cost label prominent. One-tap payment CTA.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08576" y="1325880"/>
            <a:ext cx="1938528" cy="5074920"/>
          </a:xfrm>
          <a:prstGeom prst="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4F46E5">
                <a:alpha val="28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0016" y="146304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81728" y="175564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Payment Confirmed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18304" y="2212848"/>
            <a:ext cx="1719072" cy="1417320"/>
          </a:xfrm>
          <a:prstGeom prst="rect">
            <a:avLst>
              <a:gd name="adj" fmla="val 5161"/>
            </a:avLst>
          </a:prstGeom>
          <a:solidFill>
            <a:srgbClr val="0A0F2E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2267712"/>
            <a:ext cx="1682496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✅ Paid!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₹3,200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3 × ₹1,067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₹0 cost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🔁 AutoPay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00016" y="3703320"/>
            <a:ext cx="1755648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Confetti celebration. Full receipt: merchant, amount, EMI plan, zero cost confirmation, UPI ref. EMI schedule (3 upcoming dates). AutoPay setup CTA.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29984" y="1325880"/>
            <a:ext cx="1938528" cy="5074920"/>
          </a:xfrm>
          <a:prstGeom prst="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4F46E5">
                <a:alpha val="28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21424" y="146304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75564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AutoPay Mandate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39712" y="2212848"/>
            <a:ext cx="1719072" cy="1417320"/>
          </a:xfrm>
          <a:prstGeom prst="rect">
            <a:avLst>
              <a:gd name="adj" fmla="val 5161"/>
            </a:avLst>
          </a:prstGeom>
          <a:solidFill>
            <a:srgbClr val="0A0F2E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2267712"/>
            <a:ext cx="1682496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🔁 AutoPay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₹1,067/mo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15 Jun ●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15 Jul 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15 Aug ○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21424" y="3703320"/>
            <a:ext cx="1755648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NPCI UPI AutoPay mandate details: bank, auto-debit amount, first debit date, total payments. EMI calendar with 3 upcoming dates. Pre-debit alert (D-3) confirmation.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Live prototype: snapmint-snappay-prototype.html — interactive demo of all 4 screen states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94A3B8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Projected Impact — Built on NPCI's Credit Line on UPI Rails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</a:rPr>
              <a:t>USER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617720" y="1417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</a:rPr>
              <a:t>SNAPMINT ROI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3931920" cy="987552"/>
          </a:xfrm>
          <a:prstGeom prst="rect">
            <a:avLst>
              <a:gd name="adj" fmla="val 92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46E5">
                <a:alpha val="2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5623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↑ 40%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18562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Payment completion rate at insufficient-balance moments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83080" y="227685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vs 0% today — credit closes the gap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862072"/>
            <a:ext cx="3931920" cy="987552"/>
          </a:xfrm>
          <a:prstGeom prst="rect">
            <a:avLst>
              <a:gd name="adj" fmla="val 92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46E5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352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↑ 25%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83080" y="293522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Monthly credit utilisation per active Snapmint customer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83080" y="33558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idle limit converted to active spend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941064"/>
            <a:ext cx="3931920" cy="987552"/>
          </a:xfrm>
          <a:prstGeom prst="rect">
            <a:avLst>
              <a:gd name="adj" fmla="val 92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46E5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1421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↓ 30%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83080" y="401421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EMI repayment failures via AutoPay mandate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83080" y="4434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vs manual repayment baseline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5020056"/>
            <a:ext cx="3931920" cy="987552"/>
          </a:xfrm>
          <a:prstGeom prst="rect">
            <a:avLst>
              <a:gd name="adj" fmla="val 92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46E5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0932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3x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83080" y="50932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GMV per user unlocked vs bank-balance-only UPI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83080" y="55138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credit multiplies purchasing power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1783080"/>
            <a:ext cx="3931920" cy="987552"/>
          </a:xfrm>
          <a:prstGeom prst="rect">
            <a:avLst>
              <a:gd name="adj" fmla="val 92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46E5">
                <a:alpha val="2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85623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265M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989320" y="18562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Addressable users — credit-eligible, card-absent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89320" y="227685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Snapmint's unique distribution advantage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862072"/>
            <a:ext cx="3931920" cy="987552"/>
          </a:xfrm>
          <a:prstGeom prst="rect">
            <a:avLst>
              <a:gd name="adj" fmla="val 92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46E5">
                <a:alpha val="2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9352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~0%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989320" y="293522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Incremental credit risk on NPCI-settled transactions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89320" y="33558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UPI debit settled T+0; EMI risk already priced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3941064"/>
            <a:ext cx="3931920" cy="987552"/>
          </a:xfrm>
          <a:prstGeom prst="rect">
            <a:avLst>
              <a:gd name="adj" fmla="val 92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46E5">
                <a:alpha val="2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01421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₹ 0 CAC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989320" y="401421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UPI adoption cost for existing 10M Snapmint base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89320" y="4434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product-led, no new acquisition spend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5020056"/>
            <a:ext cx="3931920" cy="987552"/>
          </a:xfrm>
          <a:prstGeom prst="rect">
            <a:avLst>
              <a:gd name="adj" fmla="val 92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46E5">
                <a:alpha val="2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50932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↑ 60%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989320" y="50932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LTV uplift per customer via higher credit utilisation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989320" y="55138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more transactions = stronger repayment data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07992" y="1417320"/>
            <a:ext cx="0" cy="4663440"/>
          </a:xfrm>
          <a:prstGeom prst="line">
            <a:avLst/>
          </a:prstGeom>
          <a:noFill/>
          <a:ln w="12700">
            <a:solidFill>
              <a:srgbClr val="4F46E5">
                <a:alpha val="25000"/>
              </a:srgbClr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11480" y="6053328"/>
            <a:ext cx="8321040" cy="658368"/>
          </a:xfrm>
          <a:prstGeom prst="rect">
            <a:avLst>
              <a:gd name="adj" fmla="val 11111"/>
            </a:avLst>
          </a:prstGeom>
          <a:solidFill>
            <a:srgbClr val="4F46E5">
              <a:alpha val="12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6126480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SnapPay turns Snapmint's existing approved credit into an active payment instrument — no new lending risk, no new CAC, just the UPI rails NPCI already built.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4F46E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I Built Inside India's Largest UPI App. Here's the Evidence.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3931920" cy="4983480"/>
          </a:xfrm>
          <a:prstGeom prst="rect">
            <a:avLst>
              <a:gd name="adj" fmla="val 3721"/>
            </a:avLst>
          </a:prstGeom>
          <a:solidFill>
            <a:srgbClr val="0A0F2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36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PhonePe — What I Actually Built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02996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Built products on top of UPI at 350M MAU — PhonePe processes 50%+ of India's UPI volume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Deployed Propensity-to-Transact ML on ₹1,000+ Cr/yr payment marketing — real-time scoring at UPI transaction level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345643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Built self-serve PG/PSP integration platform — 5,000+ B2B merchants, 30-min onboarding, 5Mn+ users/month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416966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Designed cart incentivisation engine with context-aware triggers (cart × intent × time) — 60% abandonment reduction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48828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Worked alongside NPCI integration, UPI mandate, and compliance teams as an embedded product stakeholder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4069080" cy="4983480"/>
          </a:xfrm>
          <a:prstGeom prst="rect">
            <a:avLst>
              <a:gd name="adj" fmla="val 3596"/>
            </a:avLst>
          </a:prstGeom>
          <a:solidFill>
            <a:srgbClr val="FFFFFF"/>
          </a:solidFill>
          <a:ln w="12700">
            <a:solidFill>
              <a:srgbClr val="4F46E5">
                <a:alpha val="28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5361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Snapmint JD — How It Maps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2996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• Build UPI from scratch → 0→1 product launches: Pincode (quick commerce), Kotak Cherry (WealthTech founding team)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73168" y="27432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• PSP/bank integrations → Self-serve PG integration platform (5,000+ merchants, real PSP partnerships)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345643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• Drive UPI adoption &amp; engagement → ML-powered growth: 32% burn reduction, 22% conversion lift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73168" y="41696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• UPI mandates &amp; compliance → Embedded with NPCI mandate flows; deep regulatory context from PhonePe inside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488289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• Data-driven, execution-focused → All results metrics-backed; shipped, not theorised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6510528"/>
            <a:ext cx="8321040" cy="566928"/>
          </a:xfrm>
          <a:prstGeom prst="rect">
            <a:avLst>
              <a:gd name="adj" fmla="val 12903"/>
            </a:avLst>
          </a:prstGeom>
          <a:solidFill>
            <a:srgbClr val="4F46E5">
              <a:alpha val="10000"/>
            </a:srgbClr>
          </a:solidFill>
          <a:ln w="12700">
            <a:solidFill>
              <a:srgbClr val="4F46E5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65653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</a:rPr>
              <a:t>"This isn't a concept. I built the infrastructure, the growth mechanics, and the merchant integrations this role needs — from inside the UPI ecosystem that processes ₹20L Cr/month."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94A3B8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From NPCI Registration to 10M Users — A Phased Plan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4160520"/>
          </a:xfrm>
          <a:prstGeom prst="rect">
            <a:avLst>
              <a:gd name="adj" fmla="val 482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46E5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1554480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1792224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Month 1–2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" y="208483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Foundation + PSP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2514600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Register Snapmint as TPAP with NPCI for Credit Line on UPI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1208" y="3172968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Partner with PSP (Razorpay / Cashfree) for UPI credit settlement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" y="3831336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Build core SnapPay setup flow + UPI handle allocation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1208" y="4489704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Internal pilot: 500 Snapmint employees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51760" cy="4160520"/>
          </a:xfrm>
          <a:prstGeom prst="rect">
            <a:avLst>
              <a:gd name="adj" fmla="val 4828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554480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9E0B"/>
                </a:solidFill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1568" y="1792224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Month 3–4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208483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Pilot + QR Intercept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2514600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Launch QR-scan intercept for insufficient-balance scenarios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01568" y="3172968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Pilot with 10,000 existing Snapmint customers in 2 cities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01568" y="3831336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Instrument: payment completion rate, EMI selection, AutoPay setup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01568" y="4489704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A/B test: intercept timing — pre-payment vs post-failure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1417320"/>
            <a:ext cx="2651760" cy="4160520"/>
          </a:xfrm>
          <a:prstGeom prst="rect">
            <a:avLst>
              <a:gd name="adj" fmla="val 482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46E5">
                <a:alpha val="24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1554480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81928" y="1792224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Month 5–6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81928" y="208483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Scale to 10M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81928" y="2514600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Roll out to full 10M Snapmint customer base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81928" y="3172968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Activate merchant QR SDK for Snapmint partner network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81928" y="3831336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Launch D-3 AutoPay nudge engine via push + UPI notification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81928" y="4489704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Expand: UPI-first credit acquisition for new user segment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5760720"/>
            <a:ext cx="8321040" cy="777240"/>
          </a:xfrm>
          <a:prstGeom prst="rect">
            <a:avLst>
              <a:gd name="adj" fmla="val 11765"/>
            </a:avLst>
          </a:prstGeom>
          <a:solidFill>
            <a:srgbClr val="4F46E5">
              <a:alpha val="14000"/>
            </a:srgbClr>
          </a:solidFill>
          <a:ln w="12700">
            <a:solidFill>
              <a:srgbClr val="4F46E5">
                <a:alpha val="2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833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 need to build this: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608990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NPCI TPAP registration support  ·  PSP partnership (Razorpay / Cashfree)  ·  1 backend engineer for UPI credit flow  ·  Access to Snapmint credit limit API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66019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Ajay Avaghade  ·  avaghadeajay009@gmail.com  · 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2026-05-22T05:33:30Z</dcterms:created>
  <dcterms:modified xsi:type="dcterms:W3CDTF">2026-05-22T05:33:30Z</dcterms:modified>
</cp:coreProperties>
</file>