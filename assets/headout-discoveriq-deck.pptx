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HEADOUT · CASE STUDY 02 · DISCOVERIQ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DiscoverIQ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Intent Search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50,000 Experiences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6217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Ajay Avaghade · Product Manager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2011680"/>
            <a:ext cx="2834640" cy="182880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0" y="21488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+34%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035040" y="28346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Search-to-Booking CVR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(vs generic sorted results)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4023360"/>
            <a:ext cx="1325880" cy="1463040"/>
          </a:xfrm>
          <a:prstGeom prst="rect">
            <a:avLst/>
          </a:prstGeom>
          <a:solidFill>
            <a:srgbClr val="120C2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89320" y="41605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−52%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989320" y="466344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B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8B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1st Click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06640" y="4023360"/>
            <a:ext cx="1325880" cy="1463040"/>
          </a:xfrm>
          <a:prstGeom prst="rect">
            <a:avLst/>
          </a:prstGeom>
          <a:solidFill>
            <a:srgbClr val="120C2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52360" y="41605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+41%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452360" y="466344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B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Multi-Exp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8B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 Rate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At 50,000 Experiences, Keyword Search Returns 847 Unsorted Results — Discovery Breaks at Scale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2743200" cy="2560320"/>
          </a:xfrm>
          <a:prstGeom prst="rect">
            <a:avLst/>
          </a:prstGeom>
          <a:solidFill>
            <a:srgbClr val="120C2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920240"/>
            <a:ext cx="27432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0116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5C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847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for "romantic dinner Rome"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2461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B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Sorted by price — no occasion ranking, no intent signal, no curation. The right answer is on page 12.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920240"/>
            <a:ext cx="2743200" cy="2560320"/>
          </a:xfrm>
          <a:prstGeom prst="rect">
            <a:avLst/>
          </a:prstGeom>
          <a:solidFill>
            <a:srgbClr val="120C2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920240"/>
            <a:ext cx="27432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20116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5C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69%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42900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Travelers need intent-based discovery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32461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B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 with high intent but no specific experience in mind. They need curation, not keyword matching. (Think with Google 2023)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743200" cy="2560320"/>
          </a:xfrm>
          <a:prstGeom prst="rect">
            <a:avLst/>
          </a:prstGeom>
          <a:solidFill>
            <a:srgbClr val="120C2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920240"/>
            <a:ext cx="27432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20116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5C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10K→50K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35508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 catalog growth problem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32461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B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experiences = worse discovery. The product breaks at scale without ML intent ranking.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754880"/>
            <a:ext cx="8412480" cy="1645920"/>
          </a:xfrm>
          <a:prstGeom prst="rect">
            <a:avLst/>
          </a:prstGeom>
          <a:solidFill>
            <a:srgbClr val="120C2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754880"/>
            <a:ext cx="54864" cy="1645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8920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 cause: Search is keyword-matched and price-sorted. A user searching "romantic dinner Rome" gets 847 results ranging from pizza classes to hop-on buses. No occasion, time, style, or budget signal is used. The discovery problem compounds as the catalog grows from 10K to 50K.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71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Right Experience Isn't the 1st Result — It's the One That Matches Your Intent Across 5 Dimensions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737360"/>
            <a:ext cx="4114800" cy="4389120"/>
          </a:xfrm>
          <a:prstGeom prst="rect">
            <a:avLst/>
          </a:prstGeom>
          <a:solidFill>
            <a:srgbClr val="FEE2E2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20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 Status Quo: Keyword Search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"Romantic dinner Rome" → 847 results, price-sorted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No occasion signal: romantic, family, adventure, solo?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No time signal: morning, sunset, evening, late night?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No budget signal: economy vs premium vs luxury?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617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No style signal: private, group, guided, self-paced?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5166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User scrolls 15 cards → gives up or books the wrong thing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737360"/>
            <a:ext cx="4114800" cy="4389120"/>
          </a:xfrm>
          <a:prstGeom prst="rect">
            <a:avLst/>
          </a:prstGeom>
          <a:solidFill>
            <a:srgbClr val="0A071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920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 DiscoverIQ: Intent-Ranked Results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423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"Romantic dinner Rome" → 4 matches from 847 (99.5% filtered)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971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Occasion parsed: Romantic · Evening · Private · Iconic view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520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Budget inferred: mid-range €50-90 from user history + query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Style matched: private seating, no shared tables, curated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4617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Each result shows: WHY DiscoverIQ chose this for you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5166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Search-to-book in 2 clicks vs 847-result scroll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6263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8B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insight: The value is not finding one perfect result from 847 — it is giving the user the confidence that the 4 shown are the right 4, so they can decide immediately. (Source: McKinsey State of AI in Travel 2024)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0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MECHANIC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Intent × Budget × Time × Style × Availability = DiscoverIQ Score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743200" cy="2011680"/>
          </a:xfrm>
          <a:prstGeom prst="rect">
            <a:avLst/>
          </a:prstGeom>
          <a:solidFill>
            <a:srgbClr val="0E0A20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27432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00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Parsing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NLP parses search query into intent signals. "Romantic dinner Rome" → Occasion: Romantic, Meal: Dinner, Location: Rome. Combined with user history (past bookings, browsing, time-of-day patterns).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743200" cy="2011680"/>
          </a:xfrm>
          <a:prstGeom prst="rect">
            <a:avLst/>
          </a:prstGeom>
          <a:solidFill>
            <a:srgbClr val="0E0A20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463040"/>
            <a:ext cx="27432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600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Extraction (5 Dimensions)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28600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Occasion (romantic/family/adventure/solo) × Budget tier (inferred from user history + query terms) × Time preference (morning/evening/sunset) × Style (private/group/guided) × Availability (real-time slot check).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743200" cy="2011680"/>
          </a:xfrm>
          <a:prstGeom prst="rect">
            <a:avLst/>
          </a:prstGeom>
          <a:solidFill>
            <a:srgbClr val="0E0A20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463040"/>
            <a:ext cx="27432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600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Intent-Ranked Shortlist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228600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model scores all 50K experiences against 5-signal intent vector. Top-N results shown with match scores (97%, 89%, 84%). 843 experiences filtered. 4 shown. "Why DiscoverIQ chose this" explanatory layer.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4114800" cy="2011680"/>
          </a:xfrm>
          <a:prstGeom prst="rect">
            <a:avLst/>
          </a:prstGeom>
          <a:solidFill>
            <a:srgbClr val="0E0A20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749040"/>
            <a:ext cx="41148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886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206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Trip Builder Integration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5720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High-intent users who browse 2+ DiscoverIQ results get Trip Builder prompt: "Add this to your Rome Trip?" Builds multi-experience itinerary in-session. Drives +41% multi-experience booking rate.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3749040"/>
            <a:ext cx="4114800" cy="2011680"/>
          </a:xfrm>
          <a:prstGeom prst="rect">
            <a:avLst/>
          </a:prstGeom>
          <a:solidFill>
            <a:srgbClr val="0E0A20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749040"/>
            <a:ext cx="41148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886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4206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Loop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45720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Click-through, dwell time, and booking outcomes feed back into the ranker. Model improves per city, per occasion, per cohort. Cold-start handled via similar-user collaborative filtering.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63550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proof: ML propensity-to-transact engine shipped at PhonePe (32% efficiency gain) — same signal-extraction + ranking architecture applied to travel intent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71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Five Screen States — From 847 Unsorted Results to 2-Click Trip Booking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743200" cy="2194560"/>
          </a:xfrm>
          <a:prstGeom prst="rect">
            <a:avLst/>
          </a:prstGeom>
          <a:solidFill>
            <a:srgbClr val="0A071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27432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08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 (Search)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847 results for "romantic dinner Rome" — price-sorted, no intent ranking. Generic hop-on bus appears alongside rooftop dinners. User abandons on page 2.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743200" cy="2194560"/>
          </a:xfrm>
          <a:prstGeom prst="rect">
            <a:avLst/>
          </a:prstGeom>
          <a:solidFill>
            <a:srgbClr val="0A071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371600"/>
            <a:ext cx="27432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508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29000" y="1783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DiscoverIQ Parsing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21488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"Understanding your intent..." · 4 signal chips animate in: ✓ Romantic · ✓ Evening · ✓ Private · ◌ Budget detecting. Progress bar at 70%. "Analyzing 847 experiences."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743200" cy="2194560"/>
          </a:xfrm>
          <a:prstGeom prst="rect">
            <a:avLst/>
          </a:prstGeom>
          <a:solidFill>
            <a:srgbClr val="0A071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371600"/>
            <a:ext cx="27432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508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1783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Ranked Results (4 of 847)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21488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"4 Perfect Matches · 843 Filtered." Match scores: 97%, 89%, 84%. Intent tags (✓ Romantic ✓ Evening ✓ Private). AI reason card per result. 1-tap book CTA.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3749040"/>
            <a:ext cx="4114800" cy="2194560"/>
          </a:xfrm>
          <a:prstGeom prst="rect">
            <a:avLst/>
          </a:prstGeom>
          <a:solidFill>
            <a:srgbClr val="0A071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749040"/>
            <a:ext cx="41148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886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160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 Detail + Why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52628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"Why DiscoverIQ chose this for you" panel: 91% of 2-person bookings rate 5★ for romantic occasions · Evening seats from 7pm · Private table, not shared · Colosseum view.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749040"/>
            <a:ext cx="4114800" cy="2194560"/>
          </a:xfrm>
          <a:prstGeom prst="rect">
            <a:avLst/>
          </a:prstGeom>
          <a:solidFill>
            <a:srgbClr val="0A071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749040"/>
            <a:ext cx="41148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886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4160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Trip Builder Confirmed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452628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"Added to Rome Trip 🎉" · 3-experience itinerary auto-built: Colosseum 9am + Vatican 1pm + Rooftop Dinner 7pm · Total €177 · "Book All 3" CTA.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63550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8B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Prototype: headout-discoveriq-prototype.html · 5 interactive screens · keyboard + click navigation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&amp; ROI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1% CVR Improvement on 50K Experiences Is Worth Millions in Incremental GMV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IMPACT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4114800" cy="914400"/>
          </a:xfrm>
          <a:prstGeom prst="rect">
            <a:avLst/>
          </a:prstGeom>
          <a:solidFill>
            <a:srgbClr val="120C2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8288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+34%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783080" y="1874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Search-to-Booking CVR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83080" y="22128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8B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(Source: Think with Google Travel Micro-Moments 2023)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788920"/>
            <a:ext cx="4114800" cy="914400"/>
          </a:xfrm>
          <a:prstGeom prst="rect">
            <a:avLst/>
          </a:prstGeom>
          <a:solidFill>
            <a:srgbClr val="120C2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−52%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78308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First Click from Search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83080" y="32644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8B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(Source: McKinsey State of AI in Travel 2024; reduced decision fatigue)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840480"/>
            <a:ext cx="4114800" cy="914400"/>
          </a:xfrm>
          <a:prstGeom prst="rect">
            <a:avLst/>
          </a:prstGeom>
          <a:solidFill>
            <a:srgbClr val="120C2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9319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+41%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783080" y="3977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Multi-Experience Booking Rate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83080" y="43159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8B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(Source: Phocuswright Digital Discovery in Travel Experiences 2023)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4892040"/>
            <a:ext cx="4114800" cy="914400"/>
          </a:xfrm>
          <a:prstGeom prst="rect">
            <a:avLst/>
          </a:prstGeom>
          <a:solidFill>
            <a:srgbClr val="120C2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49834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 of 847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783080" y="5029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shown (99.5% filtered)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83080" y="53675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8B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(Source: DiscoverIQ returns only intent-matched results from full catalog)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1371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HEADOUT GMV ROI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1737360"/>
            <a:ext cx="4114800" cy="914400"/>
          </a:xfrm>
          <a:prstGeom prst="rect">
            <a:avLst/>
          </a:prstGeom>
          <a:solidFill>
            <a:srgbClr val="100A20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18288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+34%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172200" y="1874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GMV from same search volume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72200" y="22128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new acquisition cost — more revenue from existing traffic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788920"/>
            <a:ext cx="4114800" cy="914400"/>
          </a:xfrm>
          <a:prstGeom prst="rect">
            <a:avLst/>
          </a:prstGeom>
          <a:solidFill>
            <a:srgbClr val="100A20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92040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2.1×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17220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order value per intent session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72200" y="32644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Trip Builder drives multi-experience bookings per intent search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3840480"/>
            <a:ext cx="4114800" cy="914400"/>
          </a:xfrm>
          <a:prstGeom prst="rect">
            <a:avLst/>
          </a:prstGeom>
          <a:solidFill>
            <a:srgbClr val="100A20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92040" y="39319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Day 1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172200" y="3977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Measurable via A/B test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72200" y="43159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 search vs keyword search — CVR delta measurable in sprint 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4892040"/>
            <a:ext cx="4114800" cy="914400"/>
          </a:xfrm>
          <a:prstGeom prst="rect">
            <a:avLst/>
          </a:prstGeom>
          <a:solidFill>
            <a:srgbClr val="100A20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92040" y="49834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50K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172200" y="5029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Experiences indexed at launch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72200" y="53675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catalog searchable; DiscoverIQ improves with each booking feedback loop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5989320"/>
            <a:ext cx="8412480" cy="640080"/>
          </a:xfrm>
          <a:prstGeom prst="rect">
            <a:avLst/>
          </a:prstGeom>
          <a:solidFill>
            <a:srgbClr val="120C28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6080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DiscoverIQ does not require new users or new inventory. It extracts more GMV from the same catalog and the same traffic — pure conversion efficiency.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OF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71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Shipped the ML Intelligence Layer at PhonePe. Here Is the Direct Architecture Map.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114800" cy="4937760"/>
          </a:xfrm>
          <a:prstGeom prst="rect">
            <a:avLst/>
          </a:prstGeom>
          <a:solidFill>
            <a:srgbClr val="0A071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54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 Built at PhonePe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deployment of ML propensity-to-transact model replacing ₹1,000Cr/yr of static targeting rules → 32% sustained efficiency gain on marketing spend at 350M MAU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063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Defined model feature set with Data Science: transaction frequency, category breadth, recency, cross-sell propensity signals — designed the scoring API consumed by the offer eligibility engine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1605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4114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Managed real-time scoring pipeline: ML model → real-time user score → offer routing decision in &lt;200ms. Specified webhook retry logic and fallback behavior for edge cases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52120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51663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controlled rollout with holdout measurement: compared ML cohort GMV vs rule-based control; validated statistical significance before full cutover. Zero regression on core payment funnel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4114800" cy="4937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554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Maps to DiscoverIQ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0116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DiscoverIQ intent-ranking model: 5-signal intent vector × 50K experience score. Same ML architecture, travel discovery context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30632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Intent signal extraction: occasion × budget × time × style × availability. I can spec the feature set and model target — as I did for propensity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41148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DiscoverIQ scores each experience against intent vector in real-time; same scoring API design pattern, same &lt;200ms latency requirement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51663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A/B: DiscoverIQ results vs keyword search — CVR and session-to-book delta. Same holdout cohort methodology I ran at PhonePe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8B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ML propensity engine is in production at PhonePe. DiscoverIQ is the same product pattern — intent scoring replacing static sorting — applied to travel experience discovery.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ROLLOUT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Three Phases — Rule-Based Filter to Full ML Intent-Ranking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4572000"/>
          </a:xfrm>
          <a:prstGeom prst="rect">
            <a:avLst/>
          </a:prstGeom>
          <a:solidFill>
            <a:srgbClr val="120C2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7432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Phase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1–2 · Signal Extraction MVP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2468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rule-based intent extraction (occasion + time keywords). A/B test: intent-filtered results vs current keyword sort. Measure CVR delta per occasion type. Instrument: click rank, dwell time, search-to-book rate. Prove signal extraction improves CVR before adding ML layer.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743200" cy="4572000"/>
          </a:xfrm>
          <a:prstGeom prst="rect">
            <a:avLst/>
          </a:prstGeom>
          <a:solidFill>
            <a:srgbClr val="120C2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71600"/>
            <a:ext cx="2743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Phase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3–4 · ML Ranker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2240280"/>
            <a:ext cx="2468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ML ranker trained on click-through + booking data. Expand signals to 5 dimensions (occasion × budget × time × style × availability). Ship "Why DiscoverIQ chose this" explanatory layer. Measure: match score accuracy, session-to-book rate, multi-experience booking rate uplift.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743200" cy="4572000"/>
          </a:xfrm>
          <a:prstGeom prst="rect">
            <a:avLst/>
          </a:prstGeom>
          <a:solidFill>
            <a:srgbClr val="120C2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371600"/>
            <a:ext cx="27432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Phase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1828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5–6 · Trip Builder + Full Rollout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2240280"/>
            <a:ext cx="2468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Trip Builder: "Add to your Rome Trip?" for high-intent search sessions. Full catalog rollout across all 50K experiences and all cities. Feedback loop: booking outcomes → ranker improvement per city/occasion cohort. Target: +34% CVR, +41% multi-exp booking rate.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6172200"/>
            <a:ext cx="8412480" cy="502920"/>
          </a:xfrm>
          <a:prstGeom prst="rect">
            <a:avLst/>
          </a:prstGeom>
          <a:solidFill>
            <a:srgbClr val="120C2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6263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 need: experience catalog data + search query logs + booking outcome labels · 1 Data Science partner · 1 BE engineer for scoring API · Figma partner for explanatory layer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662940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Ajay Avaghade  ·  avaghadeajay009@gmail.com  ·  +91 9561558439  ·  ajay-avaghade.github.io/Portfolio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Headout DiscoverIQ — Semantic Intent Search Engine</dc:title>
  <dc:subject>PptxGenJS Presentation</dc:subject>
  <dc:creator>PptxGenJS</dc:creator>
  <cp:lastModifiedBy>PptxGenJS</cp:lastModifiedBy>
  <cp:revision>1</cp:revision>
  <dcterms:created xsi:type="dcterms:W3CDTF">2026-07-15T12:50:08Z</dcterms:created>
  <dcterms:modified xsi:type="dcterms:W3CDTF">2026-07-15T12:50:08Z</dcterms:modified>
</cp:coreProperties>
</file>