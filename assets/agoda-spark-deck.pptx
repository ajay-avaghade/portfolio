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00000">
            <a:off x="6766560" y="0"/>
            <a:ext cx="9144" cy="6858000"/>
          </a:xfrm>
          <a:prstGeom prst="line">
            <a:avLst/>
          </a:prstGeom>
          <a:noFill/>
          <a:ln w="10160">
            <a:solidFill>
              <a:srgbClr val="FF6B35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6967728" y="0"/>
            <a:ext cx="9144" cy="6858000"/>
          </a:xfrm>
          <a:prstGeom prst="line">
            <a:avLst/>
          </a:prstGeom>
          <a:noFill/>
          <a:ln w="10160">
            <a:solidFill>
              <a:srgbClr val="FF6B35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100000">
            <a:off x="7168896" y="0"/>
            <a:ext cx="9144" cy="6858000"/>
          </a:xfrm>
          <a:prstGeom prst="line">
            <a:avLst/>
          </a:prstGeom>
          <a:noFill/>
          <a:ln w="10160">
            <a:solidFill>
              <a:srgbClr val="FF6B35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100000">
            <a:off x="7370064" y="0"/>
            <a:ext cx="9144" cy="6858000"/>
          </a:xfrm>
          <a:prstGeom prst="line">
            <a:avLst/>
          </a:prstGeom>
          <a:noFill/>
          <a:ln w="10160">
            <a:solidFill>
              <a:srgbClr val="FF6B35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100000">
            <a:off x="7571232" y="0"/>
            <a:ext cx="9144" cy="6858000"/>
          </a:xfrm>
          <a:prstGeom prst="line">
            <a:avLst/>
          </a:prstGeom>
          <a:noFill/>
          <a:ln w="10160">
            <a:solidFill>
              <a:srgbClr val="FF6B35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100000">
            <a:off x="7772400" y="0"/>
            <a:ext cx="9144" cy="6858000"/>
          </a:xfrm>
          <a:prstGeom prst="line">
            <a:avLst/>
          </a:prstGeom>
          <a:noFill/>
          <a:ln w="10160">
            <a:solidFill>
              <a:srgbClr val="FF6B35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100000">
            <a:off x="7973568" y="0"/>
            <a:ext cx="9144" cy="6858000"/>
          </a:xfrm>
          <a:prstGeom prst="line">
            <a:avLst/>
          </a:prstGeom>
          <a:noFill/>
          <a:ln w="10160">
            <a:solidFill>
              <a:srgbClr val="FF6B35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100000">
            <a:off x="8174736" y="0"/>
            <a:ext cx="9144" cy="6858000"/>
          </a:xfrm>
          <a:prstGeom prst="line">
            <a:avLst/>
          </a:prstGeom>
          <a:noFill/>
          <a:ln w="10160">
            <a:solidFill>
              <a:srgbClr val="FF6B35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320040"/>
            <a:ext cx="1463040" cy="274320"/>
          </a:xfrm>
          <a:prstGeom prst="rect">
            <a:avLst/>
          </a:prstGeom>
          <a:solidFill>
            <a:srgbClr val="1A3458"/>
          </a:solidFill>
          <a:ln w="12700">
            <a:solidFill>
              <a:srgbClr val="1A34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20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0" kern="0" dirty="0">
                <a:solidFill>
                  <a:srgbClr val="FF6B35"/>
                </a:solidFill>
              </a:rPr>
              <a:t>AGODA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1480" y="1325880"/>
            <a:ext cx="45720" cy="1463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28016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Agoda Spark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594360" y="20574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Short-form travel content that collapses the path from inspiration to booking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2651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Presented by Ajay Avaghade  ·  Growth &amp; Monetization PM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5120640"/>
            <a:ext cx="2286000" cy="1463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52578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583680" y="583387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of bookings from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Spark (target)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64465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Agoda  ·  Travel Discovery &amp; Conversion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FB800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Agoda Only Captures Travelers Who Already Know Where They Want to Go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06040" cy="2926080"/>
          </a:xfrm>
          <a:prstGeom prst="rect">
            <a:avLst/>
          </a:prstGeom>
          <a:solidFill>
            <a:srgbClr val="1A3458"/>
          </a:solidFill>
          <a:ln w="12700">
            <a:solidFill>
              <a:srgbClr val="1A345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554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202996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21208" y="263347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Travelers discover destinations on short-form social content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" y="3200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</a:rPr>
              <a:t>Instagram, TikTok, YouTube — before they ever open Agoda or a search bar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06040" cy="2926080"/>
          </a:xfrm>
          <a:prstGeom prst="rect">
            <a:avLst/>
          </a:prstGeom>
          <a:solidFill>
            <a:srgbClr val="1A3458"/>
          </a:solidFill>
          <a:ln w="12700">
            <a:solidFill>
              <a:srgbClr val="1A345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554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46120" y="202996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355848" y="263347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Of this inspiration-stage traffic captured by Agoda today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5848" y="3200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</a:rPr>
              <a:t>Agoda is a search-intent product. It misses the entire top of the travel funnel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06040" cy="2926080"/>
          </a:xfrm>
          <a:prstGeom prst="rect">
            <a:avLst/>
          </a:prstGeom>
          <a:solidFill>
            <a:srgbClr val="1A3458"/>
          </a:solidFill>
          <a:ln w="12700">
            <a:solidFill>
              <a:srgbClr val="1A345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1554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80760" y="202996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8.3×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190488" y="263347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Higher LTV of travelers who book their first trip via discovery content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0488" y="3200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</a:rPr>
              <a:t>Inspiration-led travelers explore more destinations and book more frequently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4572000"/>
            <a:ext cx="8321040" cy="868680"/>
          </a:xfrm>
          <a:prstGeom prst="rect">
            <a:avLst/>
          </a:prstGeom>
          <a:solidFill>
            <a:srgbClr val="1A1A00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645152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Root cause: Travel is a dream before it is a decision. Agoda sits at step 4 of a 4-step journey (dream → research → compare → book) and captures only users who have already completed steps 1-3 elsewhere.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F6B35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Shoppable Content Beats a Search Bar at the Top of the Travel Funnel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3657600" cy="3429000"/>
          </a:xfrm>
          <a:prstGeom prst="rect">
            <a:avLst/>
          </a:prstGeom>
          <a:solidFill>
            <a:srgbClr val="EAE8E0"/>
          </a:solidFill>
          <a:ln w="12700">
            <a:solidFill>
              <a:srgbClr val="D8D0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4475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Generic Discovery (Today)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8745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</a:rPr>
              <a:t>✕  User has travel intent but no destination in mind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31343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</a:rPr>
              <a:t>✕  Opens TikTok or Instagram to browse for ideas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275234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</a:rPr>
              <a:t>✕  Finds destination inspiration in content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319125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</a:rPr>
              <a:t>✕  Leaves social platform and opens Agoda separately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36301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</a:rPr>
              <a:t>✕  Searches from scratch — loses momentum, may not book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33088" y="2743200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33088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298448"/>
            <a:ext cx="3977640" cy="3429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4447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</a:rPr>
              <a:t>Agoda Spark (Proposed)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8745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A2"/>
                </a:solidFill>
              </a:rPr>
              <a:t>✓  Spark feed shows shoppable destination clips in the Agoda home tab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23134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A2"/>
                </a:solidFill>
              </a:rPr>
              <a:t>✓  User sees Kyoto clip — flights + hotel cost overlaid on the content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275234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A2"/>
                </a:solidFill>
              </a:rPr>
              <a:t>✓  Taps "Book This Trip" — auto-populated bundle appears in-app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319125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A2"/>
                </a:solidFill>
              </a:rPr>
              <a:t>✓  One more tap confirms flights + hotel in a single session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36301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A2"/>
                </a:solidFill>
              </a:rPr>
              <a:t>✓  Zero platform switching — dream to booked in under 3 minutes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4919472"/>
            <a:ext cx="8321040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965192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B800"/>
                </a:solidFill>
              </a:rPr>
              <a:t>Key insight: Agoda already has the inventory (flights + hotels). Spark is the discovery layer that brings users to it before a competitor does.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FB800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Scroll to Booked — Five Steps Inside One App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04672" y="1463040"/>
            <a:ext cx="0" cy="4114800"/>
          </a:xfrm>
          <a:prstGeom prst="line">
            <a:avLst/>
          </a:prstGeom>
          <a:noFill/>
          <a:ln w="12700">
            <a:solidFill>
              <a:srgbClr val="FF6B35">
                <a:alpha val="50000"/>
              </a:srgbClr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48640" y="1307592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07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88720" y="12618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Spark Feed Loads on Home Tab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536192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</a:rPr>
              <a:t>Personalised short-form clips ranked by: past booking history match, seasonal best-time-to-visit relevance, and price range alignment to the user's historical booking behavior.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88720" y="2103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Engages with a Clip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377440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</a:rPr>
              <a:t>Tap or swipe on any clip. Destination details appear as an overlay: destination name, season tag ("Cherry blossom season"), and estimated bundle cost — flights + hotel combined.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990088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90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88720" y="29443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Trip Card Auto-Populates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321868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</a:rPr>
              <a:t>One tap on "Book This Trip" surfaces a pre-filled bundle: cheapest flights for the user's home city, top-matched hotel, total cost — no search required. User can adjust dates or swap components.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831336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8313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88720" y="37856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Bundle Confirmed at Checkout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4059936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</a:rPr>
              <a:t>User pays for flights + hotel in a single checkout flow. AgodaCoins awarded on the full bundle value. Booking sourced and attributed to Spark content — creator gets a performance signal.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672584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672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05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88720" y="46268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Demand Signal Feeds Supply Team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4901184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</a:rPr>
              <a:t>Spark engagement (saves, views, tap-through rate) by destination becomes a real-time demand signal. Supply team uses it to prioritise hotel inventory acquisition and flight partnerships in high-interest markets.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5650992"/>
            <a:ext cx="8321040" cy="502920"/>
          </a:xfrm>
          <a:prstGeom prst="rect">
            <a:avLst/>
          </a:prstGeom>
          <a:solidFill>
            <a:srgbClr val="1A3458"/>
          </a:solidFill>
          <a:ln w="12700">
            <a:solidFill>
              <a:srgbClr val="1A34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5705856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B800"/>
                </a:solidFill>
              </a:rPr>
              <a:t>PhonePe proof: Cart incentivisation engine with context-aware triggers (cart value x user intent x time) drove 60% cart abandonment reduction and 20% 30-day retention uplift. Spark applies the same context-awareness to travel discovery.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F6B35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Screens — Discovery to Booking in One Session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1993392" cy="4160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70432"/>
            <a:ext cx="1993392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5488" y="15544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Spark Feed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2084832"/>
            <a:ext cx="1755648" cy="1874520"/>
          </a:xfrm>
          <a:prstGeom prst="rect">
            <a:avLst/>
          </a:prstGeom>
          <a:solidFill>
            <a:srgbClr val="1A3458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48840"/>
            <a:ext cx="17007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┌─────────────┐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│⚡ SPARK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🏯 Kyoto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Apr best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$487 total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│[Book This]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└─────────────┘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4041648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Shoppable clips in Agoda home tab. Destination name, season tag, and total bundle cost overlaid on content. "Book This Trip" CTA embedded in-frame. Ranked by persona match + price alignment.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42032" y="1170432"/>
            <a:ext cx="1993392" cy="4160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42032" y="1170432"/>
            <a:ext cx="1993392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51760" y="15544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Trip Card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51760" y="2084832"/>
            <a:ext cx="1755648" cy="1874520"/>
          </a:xfrm>
          <a:prstGeom prst="rect">
            <a:avLst/>
          </a:prstGeom>
          <a:solidFill>
            <a:srgbClr val="1A3458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9192" y="2148840"/>
            <a:ext cx="17007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┌─────────────┐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│Kyoto Bundle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Match: 94%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✈ $189 flt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🏨 $297 htl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Total $487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└─────────────┘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633472" y="4041648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Auto-populated bundle: cheapest flights + top hotel + estimated total. Match score shown ("94% for solo travelers like you"). Swap any component. No manual search.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18304" y="1170432"/>
            <a:ext cx="1993392" cy="4160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18304" y="1170432"/>
            <a:ext cx="1993392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28032" y="15544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Booking Confirmed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28032" y="2084832"/>
            <a:ext cx="1755648" cy="1874520"/>
          </a:xfrm>
          <a:prstGeom prst="rect">
            <a:avLst/>
          </a:prstGeom>
          <a:solidFill>
            <a:srgbClr val="1A3458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55464" y="2148840"/>
            <a:ext cx="17007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┌─────────────┐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✓ BOOKED!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Kyoto 🏯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Apr 25–28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Total $487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│⚡ Sparked by│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└─────────────┘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809744" y="4041648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Single-checkout for flights + hotel. AgodaCoins 2x on bundle bookings. "Sparked by @creator" attribution. Share trip to earn bonus coins if friends book.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94576" y="1170432"/>
            <a:ext cx="1993392" cy="4160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94576" y="1170432"/>
            <a:ext cx="1993392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04304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04304" y="15544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Partner Ops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004304" y="2084832"/>
            <a:ext cx="1755648" cy="1874520"/>
          </a:xfrm>
          <a:prstGeom prst="rect">
            <a:avLst/>
          </a:prstGeom>
          <a:solidFill>
            <a:srgbClr val="1A3458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31736" y="2148840"/>
            <a:ext cx="17007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┌─────────────┐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Spark Ops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│Conv: 35%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│Avg: $487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│New users: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+28%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└─────────────┘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986016" y="4041648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Content-to-booking conversion rate by destination. Avg bundle value ($487 vs $112 hotel-only). Top converting destinations. Real-time demand signals for supply team.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" y="550468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Interactive prototype: agoda-spark-prototype.html  ·  All 4 screen states live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FB800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Projected Impact — Built on PhonePe Proof Points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4023360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88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</a:rPr>
              <a:t>TRAVELER IMPACT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600200"/>
            <a:ext cx="4023360" cy="804672"/>
          </a:xfrm>
          <a:prstGeom prst="rect">
            <a:avLst/>
          </a:prstGeom>
          <a:solidFill>
            <a:srgbClr val="1A3458"/>
          </a:solidFill>
          <a:ln w="12700">
            <a:solidFill>
              <a:srgbClr val="1A345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5506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165506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Bookings initiated from Spark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00200" y="19842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New discovery funnel — currently 0%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514600"/>
            <a:ext cx="4023360" cy="804672"/>
          </a:xfrm>
          <a:prstGeom prst="rect">
            <a:avLst/>
          </a:prstGeom>
          <a:solidFill>
            <a:srgbClr val="1A3458"/>
          </a:solidFill>
          <a:ln w="12700">
            <a:solidFill>
              <a:srgbClr val="1A345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56946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00200" y="256946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New user activation rate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00200" y="28986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First booking via Spark content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3429000"/>
            <a:ext cx="4023360" cy="804672"/>
          </a:xfrm>
          <a:prstGeom prst="rect">
            <a:avLst/>
          </a:prstGeom>
          <a:solidFill>
            <a:srgbClr val="1A3458"/>
          </a:solidFill>
          <a:ln w="12700">
            <a:solidFill>
              <a:srgbClr val="1A345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48386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2.1×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600200" y="348386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Session depth increase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00200" y="3813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Content → property → booking in one session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4343400"/>
            <a:ext cx="4023360" cy="804672"/>
          </a:xfrm>
          <a:prstGeom prst="rect">
            <a:avLst/>
          </a:prstGeom>
          <a:solidFill>
            <a:srgbClr val="1A3458"/>
          </a:solidFill>
          <a:ln w="12700">
            <a:solidFill>
              <a:srgbClr val="1A345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439826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8.3×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600200" y="439826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Higher LTV vs search-intent users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00200" y="47274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Inspiration-led travelers book more trips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1188720"/>
            <a:ext cx="4023360" cy="274320"/>
          </a:xfrm>
          <a:prstGeom prst="rect">
            <a:avLst/>
          </a:prstGeom>
          <a:solidFill>
            <a:srgbClr val="1A3458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188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B800"/>
                </a:solidFill>
              </a:rPr>
              <a:t>AGODA BUSINESS ROI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09160" y="1600200"/>
            <a:ext cx="4023360" cy="804672"/>
          </a:xfrm>
          <a:prstGeom prst="rect">
            <a:avLst/>
          </a:prstGeom>
          <a:solidFill>
            <a:srgbClr val="1A3458"/>
          </a:solidFill>
          <a:ln w="12700">
            <a:solidFill>
              <a:srgbClr val="1A345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165506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$487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989320" y="165506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Avg Spark bundle value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89320" y="198424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vs $112 hotel-only booking baseline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514600"/>
            <a:ext cx="4023360" cy="804672"/>
          </a:xfrm>
          <a:prstGeom prst="rect">
            <a:avLst/>
          </a:prstGeom>
          <a:solidFill>
            <a:srgbClr val="1A3458"/>
          </a:solidFill>
          <a:ln w="12700">
            <a:solidFill>
              <a:srgbClr val="1A345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256946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4.3×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989320" y="256946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GMV per Spark booking vs solo hotel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89320" y="289864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Flights + hotel booked together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3429000"/>
            <a:ext cx="4023360" cy="804672"/>
          </a:xfrm>
          <a:prstGeom prst="rect">
            <a:avLst/>
          </a:prstGeom>
          <a:solidFill>
            <a:srgbClr val="1A3458"/>
          </a:solidFill>
          <a:ln w="12700">
            <a:solidFill>
              <a:srgbClr val="1A345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46320" y="348386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+12%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5989320" y="348386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New supply demand signal accuracy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89320" y="381304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Spark saves predict future high-demand routes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4343400"/>
            <a:ext cx="4023360" cy="804672"/>
          </a:xfrm>
          <a:prstGeom prst="rect">
            <a:avLst/>
          </a:prstGeom>
          <a:solidFill>
            <a:srgbClr val="1A3458"/>
          </a:solidFill>
          <a:ln w="12700">
            <a:solidFill>
              <a:srgbClr val="1A345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46320" y="439826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2× coins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5989320" y="439826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AgodaCoins on bundle — retention driver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89320" y="472744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Users return to spend coins on next Spark trip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1480" y="5440680"/>
            <a:ext cx="8321040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54864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Spark shifts Agoda from a last-click conversion tool to a full-funnel travel brand — owning the moment travelers decide where to dream next.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F6B35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Built the Mechanic. Here Is the Parallel.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4023360" cy="4297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618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</a:rPr>
              <a:t>What I Built at PhonePe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64208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→  Dynamic cart incentivisation engine for Pincode (Q-commerce) — context-aware triggers across cart value, user intent, and real-time time signals; 60% cart abandonment reduction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→  Propensity-to-Transact ML replacing manual cohort targeting with real-time user-level scoring — cut 32% marketing burn while sustaining GMV growth across all channels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3090672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→  Rebuilt static rewards portfolio into ML-driven marketplace with audience segmentation and brand self-serve tooling — drove 26% user engagement uplift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3803904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→  Result: 35% AOV uplift, 60% cart abandonment drop, 22% checkout conversion lift, 26% engagement increase across 350M+ MAU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115568"/>
            <a:ext cx="4023360" cy="4297680"/>
          </a:xfrm>
          <a:prstGeom prst="rect">
            <a:avLst/>
          </a:prstGeom>
          <a:solidFill>
            <a:srgbClr val="EDE8E0"/>
          </a:solidFill>
          <a:ln w="12700">
            <a:solidFill>
              <a:srgbClr val="D8D0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618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How It Maps to Spark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664208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✓  Context-aware cart triggers  →  Context-aware Spark clip ranking (season + persona + price)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92040" y="2377440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✓  Real-time intent scoring  →  Spark "Book This Trip" CTA surfaces only when match score is high enough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92040" y="3090672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✓  Dynamic incentivisation at scale  →  Bundle pricing auto-populated per user location + dates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92040" y="3803904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✓  Audience segmentation + ML personalization  →  Spark ranked by past trip history, not generic popularity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92040" y="4517136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✓  22% checkout conversion lift at PhonePe  →  Spark targets 28% new user activation from discovery content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5577840"/>
            <a:ext cx="8321040" cy="548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562356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B800"/>
                </a:solidFill>
              </a:rPr>
              <a:t>"I built the context-aware trigger engine that made PhonePe's cart mechanic work at 350M MAU. Spark is the same architecture — applied to the moment a traveler sees a beach and thinks 'I should go there.'"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FB800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Phased Launch — 6-Month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2633472" cy="3246120"/>
          </a:xfrm>
          <a:prstGeom prst="rect">
            <a:avLst/>
          </a:prstGeom>
          <a:solidFill>
            <a:srgbClr val="1A3458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70432"/>
            <a:ext cx="2633472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12984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35"/>
                </a:solidFill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9496" y="15727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Month 1–2: Pilot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9496" y="1993392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Launch Spark feed for 5% of Agoda app users (Bangkok, Bali, Tokyo markets). Seed with 500 curated clips from existing travel content partners. Instrument content-to-booking funnel, A/B test vs search-only control group.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64408" y="1170432"/>
            <a:ext cx="2633472" cy="3246120"/>
          </a:xfrm>
          <a:prstGeom prst="rect">
            <a:avLst/>
          </a:prstGeom>
          <a:solidFill>
            <a:srgbClr val="1A3458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4408" y="1170432"/>
            <a:ext cx="2633472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92424" y="12984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35"/>
                </a:solidFill>
              </a:rPr>
              <a:t>Phase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92424" y="15727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Month 3–4: Personalise + Scale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92424" y="1993392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Train clip ranking model on pilot engagement data. Add persona-based ranking (solo vs family vs couple clips). Open creator program — travel influencers can submit clips, earn commission on bookings. Scale to 20% of users.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17336" y="1170432"/>
            <a:ext cx="2633472" cy="3246120"/>
          </a:xfrm>
          <a:prstGeom prst="rect">
            <a:avLst/>
          </a:prstGeom>
          <a:solidFill>
            <a:srgbClr val="1A3458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1170432"/>
            <a:ext cx="2633472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12984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35"/>
                </a:solidFill>
              </a:rPr>
              <a:t>Phase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45352" y="15727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Month 5–6: Full Launch + Supply Signal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45352" y="1993392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Roll out to all Agoda markets. Pipe Spark save and engagement data to Supply team as real-time demand signal. Launch "Sparked by" attribution for creators. Target 35% of new bookings originating from Spark.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4590288"/>
            <a:ext cx="8321040" cy="8412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I Need to Build This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937760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EEEE"/>
                </a:solidFill>
              </a:rPr>
              <a:t>500 seed travel clips from content partnerships  ·  Clip ranking ML model (2 engineers)  ·  Bundle auto-population API (flights + hotels)  ·  Creator attribution tracking  ·  A/B test framework vs search control group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1A3458"/>
          </a:solidFill>
          <a:ln w="12700">
            <a:solidFill>
              <a:srgbClr val="1A34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Ajay Avaghade  ·  avaghadeajay009@gmail.com  ·  +91 9561558439  ·  linkedin.com/in/ajay-avaghade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2026-05-22T18:49:04Z</dcterms:created>
  <dcterms:modified xsi:type="dcterms:W3CDTF">2026-05-22T18:49:04Z</dcterms:modified>
</cp:coreProperties>
</file>