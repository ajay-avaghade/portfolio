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-457200" y="0"/>
            <a:ext cx="3200400" cy="0"/>
          </a:xfrm>
          <a:prstGeom prst="line">
            <a:avLst/>
          </a:prstGeom>
          <a:noFill/>
          <a:ln w="5080">
            <a:solidFill>
              <a:srgbClr val="FFB80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914400" y="0"/>
            <a:ext cx="3200400" cy="0"/>
          </a:xfrm>
          <a:prstGeom prst="line">
            <a:avLst/>
          </a:prstGeom>
          <a:noFill/>
          <a:ln w="5080">
            <a:solidFill>
              <a:srgbClr val="FFB80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2286000" y="0"/>
            <a:ext cx="3200400" cy="0"/>
          </a:xfrm>
          <a:prstGeom prst="line">
            <a:avLst/>
          </a:prstGeom>
          <a:noFill/>
          <a:ln w="5080">
            <a:solidFill>
              <a:srgbClr val="FFB800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00000">
            <a:off x="3657600" y="0"/>
            <a:ext cx="3200400" cy="0"/>
          </a:xfrm>
          <a:prstGeom prst="line">
            <a:avLst/>
          </a:prstGeom>
          <a:noFill/>
          <a:ln w="5080">
            <a:solidFill>
              <a:srgbClr val="FFB800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100000">
            <a:off x="5029200" y="0"/>
            <a:ext cx="3200400" cy="0"/>
          </a:xfrm>
          <a:prstGeom prst="line">
            <a:avLst/>
          </a:prstGeom>
          <a:noFill/>
          <a:ln w="5080">
            <a:solidFill>
              <a:srgbClr val="FFB800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100000">
            <a:off x="6400800" y="0"/>
            <a:ext cx="3200400" cy="0"/>
          </a:xfrm>
          <a:prstGeom prst="line">
            <a:avLst/>
          </a:prstGeom>
          <a:noFill/>
          <a:ln w="5080">
            <a:solidFill>
              <a:srgbClr val="FFB800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100000">
            <a:off x="7772400" y="0"/>
            <a:ext cx="3200400" cy="0"/>
          </a:xfrm>
          <a:prstGeom prst="line">
            <a:avLst/>
          </a:prstGeom>
          <a:noFill/>
          <a:ln w="5080">
            <a:solidFill>
              <a:srgbClr val="FFB800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100000">
            <a:off x="9144000" y="0"/>
            <a:ext cx="3200400" cy="0"/>
          </a:xfrm>
          <a:prstGeom prst="line">
            <a:avLst/>
          </a:prstGeom>
          <a:noFill/>
          <a:ln w="5080">
            <a:solidFill>
              <a:srgbClr val="FFB800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 TECHNOLOGIES  ·  PRODUCT MANAGER — GROWTH &amp; ENGAGEMENT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621792"/>
            <a:ext cx="822960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CategoryLeap</a:t>
            </a:r>
            <a:endParaRPr lang="en-US" sz="6000" dirty="0"/>
          </a:p>
        </p:txBody>
      </p:sp>
      <p:sp>
        <p:nvSpPr>
          <p:cNvPr id="12" name="Shape 10"/>
          <p:cNvSpPr/>
          <p:nvPr/>
        </p:nvSpPr>
        <p:spPr>
          <a:xfrm>
            <a:off x="457200" y="1664208"/>
            <a:ext cx="1463040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1051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Milestone Engine for Navi CLTV Growth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9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milestones · Loans milestones · Insurance milestones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9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 → Platinum tier progression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3931920"/>
            <a:ext cx="2377440" cy="1737360"/>
          </a:xfrm>
          <a:prstGeom prst="rect">
            <a:avLst/>
          </a:prstGeom>
          <a:solidFill>
            <a:srgbClr val="1A1000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4069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3.7×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6492240" y="46817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 uplift: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A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1-cat → 3-cat user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30936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 ·  Growth &amp; MarTech PM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0" y="1097280"/>
            <a:ext cx="43891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0" dirty="0">
                <a:solidFill>
                  <a:srgbClr val="000000">
                    <a:alpha val="7000"/>
                  </a:srgbClr>
                </a:solidFill>
              </a:rPr>
              <a:t>🏆</a:t>
            </a:r>
            <a:endParaRPr lang="en-US" sz="2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 Has Three Products. Most Users Only Ever Touch One.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2651760" cy="3108960"/>
          </a:xfrm>
          <a:prstGeom prst="rect">
            <a:avLst/>
          </a:prstGeom>
          <a:solidFill>
            <a:srgbClr val="1A1000"/>
          </a:solidFill>
          <a:ln w="10160">
            <a:solidFill>
              <a:srgbClr val="FFB8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66928" y="26700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on exactly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Navi product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9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UPI, Loans, Insurance — siloed.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89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never leap across categories.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444752"/>
            <a:ext cx="2651760" cy="3108960"/>
          </a:xfrm>
          <a:prstGeom prst="rect">
            <a:avLst/>
          </a:prstGeom>
          <a:solidFill>
            <a:srgbClr val="1A1000"/>
          </a:solidFill>
          <a:ln w="10160">
            <a:solidFill>
              <a:srgbClr val="FFB8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202996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₹8.4K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401568" y="26700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annual CLTV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1-category users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83280" y="32004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9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₹61.2K for 3-category users.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89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7.3× value gap left on the table.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444752"/>
            <a:ext cx="2651760" cy="3108960"/>
          </a:xfrm>
          <a:prstGeom prst="rect">
            <a:avLst/>
          </a:prstGeom>
          <a:solidFill>
            <a:srgbClr val="1A1000"/>
          </a:solidFill>
          <a:ln w="10160">
            <a:solidFill>
              <a:srgbClr val="FFB8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202996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236208" y="26700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nudges to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between categories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17920" y="32004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9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milestone, no progress tracker,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89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reward moment for loyalty.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773168"/>
            <a:ext cx="8412480" cy="822960"/>
          </a:xfrm>
          <a:prstGeom prst="rect">
            <a:avLst/>
          </a:prstGeom>
          <a:solidFill>
            <a:srgbClr val="1A10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846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Users have no reason to explore a second category and no progress signal when they do. A single checkout in UPI, a single loan, a single insurance purchase — but no narrative connecting them into a journey. CategoryLeap builds that narrative.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Stickiness Is Not a Single Product Problem. It Is a Cross-Category Habit Problem.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1389888"/>
            <a:ext cx="3840480" cy="3520440"/>
          </a:xfrm>
          <a:prstGeom prst="rect">
            <a:avLst/>
          </a:prstGeom>
          <a:solidFill>
            <a:srgbClr val="FFF3F3"/>
          </a:solidFill>
          <a:ln w="15240">
            <a:solidFill>
              <a:srgbClr val="E5737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996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Today: Siloed Products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385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UPI, Loans, Insurance are separate funnels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5973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shared progress signal across products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9809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Cross-sell is a push notification — easily ignored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50215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reward for using 2+ products together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Single-product users churn at 3.7× higher 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33088" y="2633472"/>
            <a:ext cx="640080" cy="640080"/>
          </a:xfrm>
          <a:prstGeom prst="ellipse">
            <a:avLst/>
          </a:prstGeom>
          <a:solidFill>
            <a:srgbClr val="0D1F15"/>
          </a:solidFill>
          <a:ln w="12700">
            <a:solidFill>
              <a:srgbClr val="0D1F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33088" y="26334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389888"/>
            <a:ext cx="3931920" cy="3520440"/>
          </a:xfrm>
          <a:prstGeom prst="rect">
            <a:avLst/>
          </a:prstGeom>
          <a:solidFill>
            <a:srgbClr val="FFFDE7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4996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CategoryLeap: Unified Journey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9385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UPI + Loans + Insurance milestones form one Portfolio 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4597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Bronze → Silver → Gold → Platinum tier progression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9809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Completing each category unlocks concrete financial benefits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5021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GrowthOS feeds CategoryLeap the Next Best Category NBO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Multi-category users generate 3.7× the CLTV of single-product users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5047488"/>
            <a:ext cx="8321040" cy="804672"/>
          </a:xfrm>
          <a:prstGeom prst="rect">
            <a:avLst/>
          </a:prstGeom>
          <a:solidFill>
            <a:srgbClr val="071A12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51206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milestone construct creates a narrative that makes Navi feel like a financial journey — not three separate apps. The tier reward makes each additional product feel like a promotion earned, not a product sold.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Architecture: 3 Pillars, 4 Tiers, 1 Portfolio Score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1170432"/>
            <a:ext cx="2724912" cy="3584448"/>
          </a:xfrm>
          <a:prstGeom prst="rect">
            <a:avLst/>
          </a:prstGeom>
          <a:solidFill>
            <a:srgbClr val="071A12"/>
          </a:solidFill>
          <a:ln w="15240">
            <a:solidFill>
              <a:srgbClr val="00C85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6187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UPI Pillar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 M1: Pay 10+ unique merchants in 30 days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 M2: Complete 3 bill payment categories (rent, utilities, telecom)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035808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M3: Send money to 5 unique contacts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" y="3730752"/>
            <a:ext cx="2542032" cy="228600"/>
          </a:xfrm>
          <a:prstGeom prst="rect">
            <a:avLst/>
          </a:prstGeom>
          <a:solidFill>
            <a:srgbClr val="000000"/>
          </a:solidFill>
          <a:ln w="6350">
            <a:solidFill>
              <a:srgbClr val="00C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05072"/>
            <a:ext cx="2505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UPI Cashback Shield: 1% cashback on next 3 UPI transactions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18688" y="1170432"/>
            <a:ext cx="2724912" cy="3584448"/>
          </a:xfrm>
          <a:prstGeom prst="rect">
            <a:avLst/>
          </a:prstGeom>
          <a:solidFill>
            <a:srgbClr val="071A12"/>
          </a:solidFill>
          <a:ln w="15240">
            <a:solidFill>
              <a:srgbClr val="FFB8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28416" y="126187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Loans Pillar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28416" y="1719072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 M1: Complete loan eligibility check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28416" y="2377440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 M2: Apply for and receive first Navi loan disbursement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28416" y="3035808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M3: Complete 3 consecutive on-time EMI repayments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10128" y="3730752"/>
            <a:ext cx="2542032" cy="228600"/>
          </a:xfrm>
          <a:prstGeom prst="rect">
            <a:avLst/>
          </a:prstGeom>
          <a:solidFill>
            <a:srgbClr val="0000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28416" y="4005072"/>
            <a:ext cx="2505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Processing Fee Waiver: ₹1,999 processing fee waived on next loan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9904" y="1170432"/>
            <a:ext cx="2724912" cy="3584448"/>
          </a:xfrm>
          <a:prstGeom prst="rect">
            <a:avLst/>
          </a:prstGeom>
          <a:solidFill>
            <a:srgbClr val="071A12"/>
          </a:solidFill>
          <a:ln w="1524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99632" y="126187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Insurance Pillar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9632" y="1719072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 M1: Get a health insurance quote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99632" y="2377440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 M2: Purchase first Navi Insurance policy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99632" y="3035808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M3: Complete policy renewal on time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81344" y="3730752"/>
            <a:ext cx="2542032" cy="228600"/>
          </a:xfrm>
          <a:prstGeom prst="rect">
            <a:avLst/>
          </a:prstGeom>
          <a:solidFill>
            <a:srgbClr val="000000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4005072"/>
            <a:ext cx="2505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Premium Discount: 10% off first-year renewal premium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4919472"/>
            <a:ext cx="8430768" cy="713232"/>
          </a:xfrm>
          <a:prstGeom prst="rect">
            <a:avLst/>
          </a:prstGeom>
          <a:solidFill>
            <a:srgbClr val="071A12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0109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Progression  →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11680" y="5010912"/>
            <a:ext cx="1508760" cy="530352"/>
          </a:xfrm>
          <a:prstGeom prst="rect">
            <a:avLst/>
          </a:prstGeom>
          <a:solidFill>
            <a:srgbClr val="000000"/>
          </a:solidFill>
          <a:ln w="10160">
            <a:solidFill>
              <a:srgbClr val="CD7F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50292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11680" y="524865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0–40 pts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703320" y="5010912"/>
            <a:ext cx="1508760" cy="530352"/>
          </a:xfrm>
          <a:prstGeom prst="rect">
            <a:avLst/>
          </a:prstGeom>
          <a:solidFill>
            <a:srgbClr val="000000"/>
          </a:solidFill>
          <a:ln w="10160">
            <a:solidFill>
              <a:srgbClr val="A8A9A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50292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A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03320" y="524865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A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40–65 pts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394960" y="5010912"/>
            <a:ext cx="1508760" cy="530352"/>
          </a:xfrm>
          <a:prstGeom prst="rect">
            <a:avLst/>
          </a:prstGeom>
          <a:solidFill>
            <a:srgbClr val="000000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50292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94960" y="524865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65–85 pts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086600" y="5010912"/>
            <a:ext cx="1508760" cy="530352"/>
          </a:xfrm>
          <a:prstGeom prst="rect">
            <a:avLst/>
          </a:prstGeom>
          <a:solidFill>
            <a:srgbClr val="000000"/>
          </a:solidFill>
          <a:ln w="10160">
            <a:solidFill>
              <a:srgbClr val="B5E4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86600" y="50292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86600" y="524865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5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85–100 pts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Screens — Built on Navi Design Language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1115568"/>
            <a:ext cx="1993392" cy="4645152"/>
          </a:xfrm>
          <a:prstGeom prst="rect">
            <a:avLst/>
          </a:prstGeom>
          <a:solidFill>
            <a:srgbClr val="071A12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070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8912" y="146304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 Home with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Banner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" y="2011680"/>
            <a:ext cx="18470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Score 47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🥉 Bronze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UPI ✓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Loans ⚡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Ins ○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→Silver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└──────────┘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8912" y="3840480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ring (47/100), tier badge, 3 pillar mini-chips, progress bar to Silver, CTA card highlighting next milestone to unlock.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05456" y="1115568"/>
            <a:ext cx="1993392" cy="4645152"/>
          </a:xfrm>
          <a:prstGeom prst="rect">
            <a:avLst/>
          </a:prstGeom>
          <a:solidFill>
            <a:srgbClr val="071A12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15184" y="12070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96896" y="146304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78608" y="2011680"/>
            <a:ext cx="18470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UPI  ███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3/3 done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Loans ██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M2 prog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Ins  ---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Locked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└──────────┘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96896" y="3840480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Per-pillar milestone rows: UPI (3/3 complete), Loans (1/3 active — M2 in progress), Insurance (locked). Progress bars with completion indicators.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115568"/>
            <a:ext cx="1993392" cy="4645152"/>
          </a:xfrm>
          <a:prstGeom prst="rect">
            <a:avLst/>
          </a:prstGeom>
          <a:solidFill>
            <a:srgbClr val="071A12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73168" y="12070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46304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Unlocked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(Celebration)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6592" y="2011680"/>
            <a:ext cx="18470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│🎊 SILVER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UNLOCKED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│₹18.4→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│₹31.2K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3 perks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→ Gold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└──────────┘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3840480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Confetti on Silver unlock. CLTV projection ring (₹18.4K → ₹31.2K). 3 concrete reward chips. CTA to start Insurance journey toward Gold.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21424" y="1115568"/>
            <a:ext cx="1993392" cy="4645152"/>
          </a:xfrm>
          <a:prstGeom prst="rect">
            <a:avLst/>
          </a:prstGeom>
          <a:solidFill>
            <a:srgbClr val="071A12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31152" y="12070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12864" y="146304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CLTV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94576" y="2011680"/>
            <a:ext cx="18470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│1-cat ₹8K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│2-cat ₹25K│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│3-cat ₹61K│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│Funnel: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│UPI 100%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│Loan 48%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12864" y="3840480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1.8× CLTV 1→2 categories, 3.7× 1→3. Cohort bars, milestone funnel with biggest drop-off signal, GrowthOS action trigger.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 — The CLTV Multiplier Effect of Cross-Category Engagement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1115568"/>
            <a:ext cx="4114800" cy="3520440"/>
          </a:xfrm>
          <a:prstGeom prst="rect">
            <a:avLst/>
          </a:prstGeom>
          <a:solidFill>
            <a:srgbClr val="0A2B18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07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 COHORT LADDER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1-category user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62763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₹8,400 / yr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47672"/>
            <a:ext cx="3383280" cy="320040"/>
          </a:xfrm>
          <a:prstGeom prst="rect">
            <a:avLst/>
          </a:prstGeom>
          <a:solidFill>
            <a:srgbClr val="0E3520"/>
          </a:solidFill>
          <a:ln w="3810">
            <a:solidFill>
              <a:srgbClr val="1A4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47672"/>
            <a:ext cx="473659" cy="320040"/>
          </a:xfrm>
          <a:prstGeom prst="rect">
            <a:avLst/>
          </a:prstGeom>
          <a:solidFill>
            <a:srgbClr val="5C7A69"/>
          </a:solidFill>
          <a:ln w="12700">
            <a:solidFill>
              <a:srgbClr val="5C7A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420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2-category user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54203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₹24,600 / yr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862072"/>
            <a:ext cx="3383280" cy="320040"/>
          </a:xfrm>
          <a:prstGeom prst="rect">
            <a:avLst/>
          </a:prstGeom>
          <a:solidFill>
            <a:srgbClr val="0E3520"/>
          </a:solidFill>
          <a:ln w="3810">
            <a:solidFill>
              <a:srgbClr val="1A4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862072"/>
            <a:ext cx="1353312" cy="32004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4564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3-category user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345643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₹61,200 / yr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776472"/>
            <a:ext cx="3383280" cy="320040"/>
          </a:xfrm>
          <a:prstGeom prst="rect">
            <a:avLst/>
          </a:prstGeom>
          <a:solidFill>
            <a:srgbClr val="0E3520"/>
          </a:solidFill>
          <a:ln w="3810">
            <a:solidFill>
              <a:srgbClr val="1A4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776472"/>
            <a:ext cx="338328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11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1→2 categories:  1.8×  CLTV uplift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950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1→3 categories:  3.7×  CLTV uplift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115568"/>
            <a:ext cx="4114800" cy="3520440"/>
          </a:xfrm>
          <a:prstGeom prst="rect">
            <a:avLst/>
          </a:prstGeom>
          <a:solidFill>
            <a:srgbClr val="1A1000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28032" y="1207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&amp; RETENTION IMPACT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73168" y="1627632"/>
            <a:ext cx="3886200" cy="658368"/>
          </a:xfrm>
          <a:prstGeom prst="rect">
            <a:avLst/>
          </a:prstGeom>
          <a:solidFill>
            <a:srgbClr val="0D0800"/>
          </a:solidFill>
          <a:ln w="5080">
            <a:solidFill>
              <a:srgbClr val="2A1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171907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961888" y="17190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on 2+ categories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CategoryLeap pilot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73168" y="2359152"/>
            <a:ext cx="3886200" cy="658368"/>
          </a:xfrm>
          <a:prstGeom prst="rect">
            <a:avLst/>
          </a:prstGeom>
          <a:solidFill>
            <a:srgbClr val="0D0800"/>
          </a:solidFill>
          <a:ln w="5080">
            <a:solidFill>
              <a:srgbClr val="2A1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450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−62%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5961888" y="24505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reduction for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category users vs 1-cat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73168" y="3090672"/>
            <a:ext cx="3886200" cy="658368"/>
          </a:xfrm>
          <a:prstGeom prst="rect">
            <a:avLst/>
          </a:prstGeom>
          <a:solidFill>
            <a:srgbClr val="0D0800"/>
          </a:solidFill>
          <a:ln w="5080">
            <a:solidFill>
              <a:srgbClr val="2A1A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318211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+48%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5961888" y="31821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completion at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M2 (key funnel stage)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73168" y="3822192"/>
            <a:ext cx="3886200" cy="658368"/>
          </a:xfrm>
          <a:prstGeom prst="rect">
            <a:avLst/>
          </a:prstGeom>
          <a:solidFill>
            <a:srgbClr val="0D0800"/>
          </a:solidFill>
          <a:ln w="5080">
            <a:solidFill>
              <a:srgbClr val="2A1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91363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+27%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5961888" y="39136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policy purchases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Loans-complete cohort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47472" y="4800600"/>
            <a:ext cx="8430768" cy="749808"/>
          </a:xfrm>
          <a:prstGeom prst="rect">
            <a:avLst/>
          </a:prstGeom>
          <a:solidFill>
            <a:srgbClr val="0E3520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48737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benchmark: Milestone reward construct (same architecture) drove 34% higher 90-day device activity and 60% cart abandonment reduction at Pincode. Cross-category engagement is the highest-leverage CLTV driver available to Navi today.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This Architecture. Here Is the Exact Parallel.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1115568"/>
            <a:ext cx="4206240" cy="4069080"/>
          </a:xfrm>
          <a:prstGeom prst="rect">
            <a:avLst/>
          </a:prstGeom>
          <a:solidFill>
            <a:srgbClr val="071A12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664208"/>
            <a:ext cx="3913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Milestone Construct (POS Merchants): AED-equivalent terminal rental waivers tied to TPV + TPC goals — same goal-tracking architecture as CategoryLeap pillar milestones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5488" y="2340864"/>
            <a:ext cx="3913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Dynamic Cart Incentivisation Engine: Context-aware triggers → 35% AOV uplift, 60% cart abandonment reduction — same progress-reward loop as Silver/Gold tier unlock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3017520"/>
            <a:ext cx="3913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ML-Driven Rewards Marketplace: 500+ brand partners cross-selling into base — same cross-product recommendation via propensity scoring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3694176"/>
            <a:ext cx="3913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B2B Platform: 5,000+ merchants acquired via structured milestone-based onboarding — same sequential milestone completion logic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4370832"/>
            <a:ext cx="3913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Propensity-to-Transact: Real-time scoring enabling precise next-best-action — same engine powering CategoryLeap NBO via GrowthOS CDP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73168" y="1115568"/>
            <a:ext cx="4023360" cy="40690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9472" y="12344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Maps to This Role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6642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CategoryLeap UPI / Loans / Insurance pillar milestone design (same goal + reward loop)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19472" y="234086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Silver/Gold/Platinum tier unlock celebration screen (same confetti + CLTV projection reveal)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19472" y="30175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Cross-category NBO powered by GrowthOS CDP propensity (same next-best-action engine)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19472" y="369417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Ops CLTV Dashboard — drop-off signal + GrowthOS action trigger (same monitoring + feedback)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19472" y="43708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Milestone funnel analytics: UPI 100% → Loans 48% → Insurance 27% (same conversion funnel architecture)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5321808"/>
            <a:ext cx="8430768" cy="566928"/>
          </a:xfrm>
          <a:prstGeom prst="rect">
            <a:avLst/>
          </a:prstGeom>
          <a:solidFill>
            <a:srgbClr val="071A12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394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CategoryLeap is not a concept. Every mechanic — milestones, tier progression, ops dashboard, cross-category NBO — maps directly to something I shipped and measured at PhonePe at 350M MAU.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Rollout: UPI Milestone → Loans → Insurance → Full Tier Engine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1170432"/>
            <a:ext cx="2724912" cy="4041648"/>
          </a:xfrm>
          <a:prstGeom prst="rect">
            <a:avLst/>
          </a:prstGeom>
          <a:solidFill>
            <a:srgbClr val="071A12"/>
          </a:solidFill>
          <a:ln w="15240">
            <a:solidFill>
              <a:srgbClr val="00C85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261872"/>
            <a:ext cx="1005840" cy="25603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618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36192" y="1280160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Milestone Pilot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" y="2176272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UPI pillar (3 milestones) to 100K UPI-active users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834640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M1→M2→M3 completion funnel and drop-off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49300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A/B test: milestone reward vs cashback vs no incentive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415137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Success metric: 60% M1 completion within 30 days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18688" y="1170432"/>
            <a:ext cx="2724912" cy="4041648"/>
          </a:xfrm>
          <a:prstGeom prst="rect">
            <a:avLst/>
          </a:prstGeom>
          <a:solidFill>
            <a:srgbClr val="071A12"/>
          </a:solidFill>
          <a:ln w="15240">
            <a:solidFill>
              <a:srgbClr val="FFB8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0128" y="1261872"/>
            <a:ext cx="1005840" cy="25603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2618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07408" y="1280160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28416" y="1600200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+ Insurance Pillars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46704" y="2176272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Unlock Loans + Insurance pillars for UPI-complete users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46704" y="2834640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Bronze → Silver → Gold tier progression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46704" y="349300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GrowthOS NBO to surface CategoryLeap CTA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46704" y="415137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Success metric: 30% of UPI-complete users start Loans M1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9904" y="1170432"/>
            <a:ext cx="2724912" cy="4041648"/>
          </a:xfrm>
          <a:prstGeom prst="rect">
            <a:avLst/>
          </a:prstGeom>
          <a:solidFill>
            <a:srgbClr val="071A12"/>
          </a:solidFill>
          <a:ln w="1524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81344" y="1261872"/>
            <a:ext cx="1005840" cy="2560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81344" y="12618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78624" y="1280160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99632" y="1600200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Tier Engine + Ops Dashboard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17920" y="2176272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Platinum tier with exclusive financial benefits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834640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ops CLTV dashboard with real-time drop-off alerts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349300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Activate GrowthOS → CategoryLeap feedback loop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415137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Success metric: 34% of MAU on 2+ categories at 90 days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" y="5349240"/>
            <a:ext cx="8430768" cy="502920"/>
          </a:xfrm>
          <a:prstGeom prst="rect">
            <a:avLst/>
          </a:prstGeom>
          <a:solidFill>
            <a:srgbClr val="1A10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42239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need:  Transaction data access  ·  1 Backend Engineer (milestone tracking API)  ·  1 Designer (tier progression UI)  ·  GrowthOS CDP integration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7472" y="6309360"/>
            <a:ext cx="8430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·  avaghadeajay009@gmail.com  ·  +91 9561558439  ·  linkedin.com/in/ajay-avaghade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2026-05-23T17:44:02Z</dcterms:created>
  <dcterms:modified xsi:type="dcterms:W3CDTF">2026-05-23T17:44:02Z</dcterms:modified>
</cp:coreProperties>
</file>