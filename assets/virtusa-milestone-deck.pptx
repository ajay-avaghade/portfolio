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914400" y="-457200"/>
            <a:ext cx="548640" cy="7315200"/>
          </a:xfrm>
          <a:prstGeom prst="rect">
            <a:avLst/>
          </a:prstGeom>
          <a:solidFill>
            <a:srgbClr val="1A3D1A">
              <a:alpha val="40000"/>
            </a:srgbClr>
          </a:solidFill>
          <a:ln w="12700">
            <a:solidFill>
              <a:srgbClr val="0A1F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1097280" y="-457200"/>
            <a:ext cx="548640" cy="7315200"/>
          </a:xfrm>
          <a:prstGeom prst="rect">
            <a:avLst/>
          </a:prstGeom>
          <a:solidFill>
            <a:srgbClr val="1A3D1A">
              <a:alpha val="40000"/>
            </a:srgbClr>
          </a:solidFill>
          <a:ln w="12700">
            <a:solidFill>
              <a:srgbClr val="0A1F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3108960" y="-457200"/>
            <a:ext cx="548640" cy="7315200"/>
          </a:xfrm>
          <a:prstGeom prst="rect">
            <a:avLst/>
          </a:prstGeom>
          <a:solidFill>
            <a:srgbClr val="1A3D1A">
              <a:alpha val="40000"/>
            </a:srgbClr>
          </a:solidFill>
          <a:ln w="12700">
            <a:solidFill>
              <a:srgbClr val="0A1F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5120640" y="-457200"/>
            <a:ext cx="548640" cy="7315200"/>
          </a:xfrm>
          <a:prstGeom prst="rect">
            <a:avLst/>
          </a:prstGeom>
          <a:solidFill>
            <a:srgbClr val="1A3D1A">
              <a:alpha val="40000"/>
            </a:srgbClr>
          </a:solidFill>
          <a:ln w="12700">
            <a:solidFill>
              <a:srgbClr val="0A1F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500000">
            <a:off x="7132320" y="-457200"/>
            <a:ext cx="548640" cy="7315200"/>
          </a:xfrm>
          <a:prstGeom prst="rect">
            <a:avLst/>
          </a:prstGeom>
          <a:solidFill>
            <a:srgbClr val="1A3D1A">
              <a:alpha val="40000"/>
            </a:srgbClr>
          </a:solidFill>
          <a:ln w="12700">
            <a:solidFill>
              <a:srgbClr val="0A1F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500000">
            <a:off x="9144000" y="-457200"/>
            <a:ext cx="548640" cy="7315200"/>
          </a:xfrm>
          <a:prstGeom prst="rect">
            <a:avLst/>
          </a:prstGeom>
          <a:solidFill>
            <a:srgbClr val="1A3D1A">
              <a:alpha val="40000"/>
            </a:srgbClr>
          </a:solidFill>
          <a:ln w="12700">
            <a:solidFill>
              <a:srgbClr val="0A1F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84048"/>
            <a:ext cx="2560320" cy="320040"/>
          </a:xfrm>
          <a:prstGeom prst="roundRect">
            <a:avLst>
              <a:gd name="adj" fmla="val 42857"/>
            </a:avLst>
          </a:prstGeom>
          <a:solidFill>
            <a:srgbClr val="1A3D1A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4ADE80"/>
                </a:solidFill>
              </a:rPr>
              <a:t>VIRTUSA — MERCHANT ACQUIRING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10058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MerchantOS: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47472" y="17373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Rental Waiver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47472" y="26517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FAA8F"/>
                </a:solidFill>
              </a:rPr>
              <a:t>Driving merchant stickiness through behaviour-linked device rental incentives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7472" y="3474720"/>
            <a:ext cx="36576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Ajay Avaghade  ·  Growth &amp; Monetization PM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A8F"/>
                </a:solidFill>
              </a:rPr>
              <a:t>avaghadeajay009@gmail.com  ·  +91 9561558439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1280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22C55E"/>
                </a:solidFill>
              </a:rPr>
              <a:t>5,000+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5836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A8F"/>
                </a:solidFill>
              </a:rPr>
              <a:t>B2B merchants acquired at PhonePe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Deployed POS Terminals Are Inactive Within 90 Days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44752"/>
            <a:ext cx="2743200" cy="2331720"/>
          </a:xfrm>
          <a:prstGeom prst="rect">
            <a:avLst/>
          </a:prstGeom>
          <a:solidFill>
            <a:srgbClr val="16281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0299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26334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Inactive terminals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within 90 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1455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A8F"/>
                </a:solidFill>
              </a:rPr>
              <a:t>CAPEX deployed but zero GMV generated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44752"/>
            <a:ext cx="2743200" cy="2331720"/>
          </a:xfrm>
          <a:prstGeom prst="rect">
            <a:avLst/>
          </a:prstGeom>
          <a:solidFill>
            <a:srgbClr val="16281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55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29000" y="20299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429000" y="26334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Monthly terminal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rental merchants pay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1455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A8F"/>
                </a:solidFill>
              </a:rPr>
              <a:t>Feels like a pure cost with no clear benefit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444752"/>
            <a:ext cx="2743200" cy="2331720"/>
          </a:xfrm>
          <a:prstGeom prst="rect">
            <a:avLst/>
          </a:prstGeom>
          <a:solidFill>
            <a:srgbClr val="16281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55080" y="20299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355080" y="26334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Drop-off after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31455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A8F"/>
                </a:solidFill>
              </a:rPr>
              <a:t>Merchants approved but never activate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931920"/>
            <a:ext cx="8321040" cy="868680"/>
          </a:xfrm>
          <a:prstGeom prst="rect">
            <a:avLst/>
          </a:prstGeom>
          <a:solidFill>
            <a:srgbClr val="1A3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50208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Root cause: </a:t>
            </a:r>
            <a:pPr indent="0" marL="0">
              <a:buNone/>
            </a:pPr>
            <a:r>
              <a:rPr lang="en-US" sz="1300" dirty="0">
                <a:solidFill>
                  <a:srgbClr val="8FAA8F"/>
                </a:solidFill>
              </a:rPr>
              <a:t>Merchants have no motivation to keep the terminal active after onboarding. A flat discount doesn't change behaviour — it just burns CAPEX.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Rental Discount Burns CAPEX.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F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Milestone Waiver Changes Behaviour.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40233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0F"/>
                </a:solidFill>
              </a:rPr>
              <a:t>❌  Flat Discount — Current Approach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6B4B"/>
                </a:solidFill>
              </a:rPr>
              <a:t>Given upfront regardless of usage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6B4B"/>
                </a:solidFill>
              </a:rPr>
              <a:t>No incentive to transact actively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6B4B"/>
                </a:solidFill>
              </a:rPr>
              <a:t>Merchant takes discount and under-uses device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6B4B"/>
                </a:solidFill>
              </a:rPr>
              <a:t>Acquirer absorbs the cost with zero GMV uplift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7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417320"/>
            <a:ext cx="40233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0F"/>
                </a:solidFill>
              </a:rPr>
              <a:t>✅  Milestone Rental Waiver — Proposed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6B4B"/>
                </a:solidFill>
              </a:rPr>
              <a:t>Waiver is earned by hitting usage goals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6B4B"/>
                </a:solidFill>
              </a:rPr>
              <a:t>Merchant self-motivates to transact more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6B4B"/>
                </a:solidFill>
              </a:rPr>
              <a:t>90-day engagement window with built-in urgency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B6B4B"/>
                </a:solidFill>
              </a:rPr>
              <a:t>Acquirer only waives rental after GMV goals are met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42816" y="2468880"/>
            <a:ext cx="475488" cy="475488"/>
          </a:xfrm>
          <a:prstGeom prst="ellipse">
            <a:avLst/>
          </a:prstGeom>
          <a:solidFill>
            <a:srgbClr val="0A1F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VS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4187952"/>
            <a:ext cx="8321040" cy="658368"/>
          </a:xfrm>
          <a:prstGeom prst="rect">
            <a:avLst/>
          </a:prstGeom>
          <a:solidFill>
            <a:srgbClr val="F0FBF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20624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4B6B4B"/>
                </a:solidFill>
              </a:rPr>
              <a:t>The waiver costs the acquirer nothing net — by the time the merchant hits the TPV goal, additional GMV has already paid for the rental many times over.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Two Goals, One Reward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103120"/>
            <a:ext cx="7498080" cy="0"/>
          </a:xfrm>
          <a:prstGeom prst="line">
            <a:avLst/>
          </a:prstGeom>
          <a:noFill/>
          <a:ln w="25400">
            <a:solidFill>
              <a:srgbClr val="16653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68680" y="1847088"/>
            <a:ext cx="512064" cy="512064"/>
          </a:xfrm>
          <a:prstGeom prst="ellipse">
            <a:avLst/>
          </a:prstGeom>
          <a:solidFill>
            <a:srgbClr val="1A3D1A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1554480" cy="2011680"/>
          </a:xfrm>
          <a:prstGeom prst="rect">
            <a:avLst/>
          </a:prstGeom>
          <a:solidFill>
            <a:srgbClr val="1628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2C55E"/>
                </a:solidFill>
              </a:rPr>
              <a:t>Day 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7980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45536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A8F"/>
                </a:solidFill>
              </a:rPr>
              <a:t>Milestone window opens.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A8F"/>
                </a:solidFill>
              </a:rPr>
              <a:t>Terminal rental: AED 45/mo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847088"/>
            <a:ext cx="512064" cy="512064"/>
          </a:xfrm>
          <a:prstGeom prst="ellipse">
            <a:avLst/>
          </a:prstGeom>
          <a:solidFill>
            <a:srgbClr val="1A3D1A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40280" y="2468880"/>
            <a:ext cx="1554480" cy="2011680"/>
          </a:xfrm>
          <a:prstGeom prst="rect">
            <a:avLst/>
          </a:prstGeom>
          <a:solidFill>
            <a:srgbClr val="1628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2C55E"/>
                </a:solidFill>
              </a:rPr>
              <a:t>Days 1–90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86000" y="27980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3145536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A8F"/>
                </a:solidFill>
              </a:rPr>
              <a:t>Live progress bars in app.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A8F"/>
                </a:solidFill>
              </a:rPr>
              <a:t>Nudges at 50%, 80%, 95%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1847088"/>
            <a:ext cx="512064" cy="512064"/>
          </a:xfrm>
          <a:prstGeom prst="ellipse">
            <a:avLst/>
          </a:prstGeom>
          <a:solidFill>
            <a:srgbClr val="1A3D1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TPV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77640" y="2468880"/>
            <a:ext cx="1554480" cy="2011680"/>
          </a:xfrm>
          <a:prstGeom prst="rect">
            <a:avLst/>
          </a:prstGeom>
          <a:solidFill>
            <a:srgbClr val="1628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2C55E"/>
                </a:solidFill>
              </a:rPr>
              <a:t>Goal 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23360" y="27980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Payment Volume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0" y="3145536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A8F"/>
                </a:solidFill>
              </a:rPr>
              <a:t>Process AED 15,000 in total payments within 90 days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1847088"/>
            <a:ext cx="512064" cy="512064"/>
          </a:xfrm>
          <a:prstGeom prst="ellipse">
            <a:avLst/>
          </a:prstGeom>
          <a:solidFill>
            <a:srgbClr val="1A3D1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TPC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15000" y="2468880"/>
            <a:ext cx="1554480" cy="2011680"/>
          </a:xfrm>
          <a:prstGeom prst="rect">
            <a:avLst/>
          </a:prstGeom>
          <a:solidFill>
            <a:srgbClr val="1628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2C55E"/>
                </a:solidFill>
              </a:rPr>
              <a:t>Goal 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60720" y="27980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Unique Customers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3145536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A8F"/>
                </a:solidFill>
              </a:rPr>
              <a:t>Serve 100 unique cardholders within 90 days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18120" y="1847088"/>
            <a:ext cx="512064" cy="512064"/>
          </a:xfrm>
          <a:prstGeom prst="ellipse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F0A"/>
                </a:solidFill>
              </a:rPr>
              <a:t>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52360" y="2468880"/>
            <a:ext cx="1554480" cy="2011680"/>
          </a:xfrm>
          <a:prstGeom prst="rect">
            <a:avLst/>
          </a:prstGeom>
          <a:solidFill>
            <a:srgbClr val="1628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2C55E"/>
                </a:solidFill>
              </a:rPr>
              <a:t>Day 90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0" y="27980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Rental Waived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0" y="3145536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A8F"/>
                </a:solidFill>
              </a:rPr>
              <a:t>AED 45 → AED 1/month.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A8F"/>
                </a:solidFill>
              </a:rPr>
              <a:t>Auto-applied to invoice.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solidFill>
            <a:srgbClr val="1A3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63600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A/B tested at PhonePe: Rent Waiver vs Cashback variant — Rent Waiver drove 34% higher goal completion rate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Screen States — Built &amp; Validated at PhonePe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07008"/>
            <a:ext cx="201168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07008"/>
            <a:ext cx="20116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" y="1371600"/>
            <a:ext cx="402336" cy="40233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653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0F"/>
                </a:solidFill>
              </a:rPr>
              <a:t>Merchant Home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B4B"/>
                </a:solidFill>
              </a:rPr>
              <a:t>Milestone banner shows 62% progress + countdown. Always visible — no navigation needed.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0A1F0A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2219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⬛ ▓▓ ▓▓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87168" y="1207008"/>
            <a:ext cx="201168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87168" y="1207008"/>
            <a:ext cx="20116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15184" y="1371600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18653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0F"/>
                </a:solidFill>
              </a:rPr>
              <a:t>Milestone Tracker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78608" y="22860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B4B"/>
                </a:solidFill>
              </a:rPr>
              <a:t>Live TPV + TPC progress bars. Countdown urgency. Exact gap-to-goal shown in nudge text.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07208" y="37490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0A1F0A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07208" y="382219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⬛ ▓▓ ▓▓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54296" y="1207008"/>
            <a:ext cx="201168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54296" y="1207008"/>
            <a:ext cx="2011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82312" y="1371600"/>
            <a:ext cx="402336" cy="40233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45736" y="18653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0F"/>
                </a:solidFill>
              </a:rPr>
              <a:t>Goal Achieved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45736" y="22860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B4B"/>
                </a:solidFill>
              </a:rPr>
              <a:t>Confetti celebration screen. Rental reduction displayed. Auto-applied invoice confirmation.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74336" y="37490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0A1F0A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382219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⬛ ▓▓ ▓▓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21424" y="1207008"/>
            <a:ext cx="201168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21424" y="1207008"/>
            <a:ext cx="20116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1371600"/>
            <a:ext cx="402336" cy="40233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12864" y="18653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0F"/>
                </a:solidFill>
              </a:rPr>
              <a:t>Acquirer Nudge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12864" y="22860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6B4B"/>
                </a:solidFill>
              </a:rPr>
              <a:t>Ops team pushes threshold nudges at 50%, 80%, 95%. Tip cards drive specific merchant actions.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41464" y="37490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0A1F0A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41464" y="382219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⬛ ▓▓ ▓▓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4791456"/>
            <a:ext cx="8503920" cy="201168"/>
          </a:xfrm>
          <a:prstGeom prst="rect">
            <a:avLst/>
          </a:prstGeom>
          <a:solidFill>
            <a:srgbClr val="E8F5E8"/>
          </a:solidFill>
          <a:ln w="12700">
            <a:solidFill>
              <a:srgbClr val="D1E7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6B4B"/>
                </a:solidFill>
              </a:rPr>
              <a:t>Live prototype: virtusa-milestone-prototype.html — interactive demo of all 4 screen states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— Built on PhonePe Proof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</a:rPr>
              <a:t>MERCHANT IMPACT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011680" cy="1188720"/>
          </a:xfrm>
          <a:prstGeom prst="rect">
            <a:avLst/>
          </a:prstGeom>
          <a:solidFill>
            <a:srgbClr val="1628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60%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075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Active device rate at 90 days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A8F"/>
                </a:solidFill>
              </a:rPr>
              <a:t>vs 40% baseline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508760"/>
            <a:ext cx="2011680" cy="1188720"/>
          </a:xfrm>
          <a:prstGeom prst="rect">
            <a:avLst/>
          </a:prstGeom>
          <a:solidFill>
            <a:srgbClr val="1628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97480" y="2075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Average monthly TPV per terminal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2423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A8F"/>
                </a:solidFill>
              </a:rPr>
              <a:t>vs control group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834640"/>
            <a:ext cx="2011680" cy="1188720"/>
          </a:xfrm>
          <a:prstGeom prst="rect">
            <a:avLst/>
          </a:prstGeom>
          <a:solidFill>
            <a:srgbClr val="1628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35%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2920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Early churn in months 1–3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A8F"/>
                </a:solidFill>
              </a:rPr>
              <a:t>critical retention window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2834640"/>
            <a:ext cx="2011680" cy="1188720"/>
          </a:xfrm>
          <a:prstGeom prst="rect">
            <a:avLst/>
          </a:prstGeom>
          <a:solidFill>
            <a:srgbClr val="1628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697480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Avg unique customers/month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A8F"/>
                </a:solidFill>
              </a:rPr>
              <a:t>per active terminal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188720"/>
            <a:ext cx="0" cy="3337560"/>
          </a:xfrm>
          <a:prstGeom prst="line">
            <a:avLst/>
          </a:prstGeom>
          <a:noFill/>
          <a:ln w="12700">
            <a:solidFill>
              <a:srgbClr val="166534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84632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</a:rPr>
              <a:t>ACQUIRER ROI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508760"/>
            <a:ext cx="2011680" cy="1188720"/>
          </a:xfrm>
          <a:prstGeom prst="rect">
            <a:avLst/>
          </a:prstGeom>
          <a:solidFill>
            <a:srgbClr val="1E1000"/>
          </a:solidFill>
          <a:ln w="12700">
            <a:solidFill>
              <a:srgbClr val="7C341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937760" y="2075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Max cost of waiver/merchant/mo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423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A8F"/>
                </a:solidFill>
              </a:rPr>
              <a:t>only when GMV goal is met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40880" y="1508760"/>
            <a:ext cx="2011680" cy="1188720"/>
          </a:xfrm>
          <a:prstGeom prst="rect">
            <a:avLst/>
          </a:prstGeom>
          <a:solidFill>
            <a:srgbClr val="1E1000"/>
          </a:solidFill>
          <a:ln w="12700">
            <a:solidFill>
              <a:srgbClr val="7C341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15K+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132320" y="2075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Min GMV before waiver triggers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2423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A8F"/>
                </a:solidFill>
              </a:rPr>
              <a:t>acquirer always wins first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2834640"/>
            <a:ext cx="2011680" cy="1188720"/>
          </a:xfrm>
          <a:prstGeom prst="rect">
            <a:avLst/>
          </a:prstGeom>
          <a:solidFill>
            <a:srgbClr val="1E1000"/>
          </a:solidFill>
          <a:ln w="12700">
            <a:solidFill>
              <a:srgbClr val="7C341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937760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Waiver as % of GMV generated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A8F"/>
                </a:solidFill>
              </a:rPr>
              <a:t>effectively zero net cost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40880" y="2834640"/>
            <a:ext cx="2011680" cy="1188720"/>
          </a:xfrm>
          <a:prstGeom prst="rect">
            <a:avLst/>
          </a:prstGeom>
          <a:solidFill>
            <a:srgbClr val="1E1000"/>
          </a:solidFill>
          <a:ln w="12700">
            <a:solidFill>
              <a:srgbClr val="7C341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2880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60%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132320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CAPEX ROI per device deployed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A8F"/>
                </a:solidFill>
              </a:rPr>
              <a:t>vs flat-discount approach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4617720"/>
            <a:ext cx="8321040" cy="365760"/>
          </a:xfrm>
          <a:prstGeom prst="rect">
            <a:avLst/>
          </a:prstGeom>
          <a:solidFill>
            <a:srgbClr val="1A3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6360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The waiver only triggers AFTER the merchant has already generated the target GMV — making this a zero-net-cost stickiness lever.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This. Here's the Proof.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3977640" cy="3246120"/>
          </a:xfrm>
          <a:prstGeom prst="rect">
            <a:avLst/>
          </a:prstGeom>
          <a:solidFill>
            <a:srgbClr val="0A1F0A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9844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PhonePe — What I Actually Built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FAA8F"/>
                </a:solidFill>
              </a:rPr>
              <a:t>Built the Milestone program end-to-end for POS device merchants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FAA8F"/>
                </a:solidFill>
              </a:rPr>
              <a:t>Designed all 6 screen variants: TPV, TPC, Multiple Goals, Success states, Error fallback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FAA8F"/>
                </a:solidFill>
              </a:rPr>
              <a:t>A/B tested Rent Waiver vs Cashback mechanic across two test groups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FAA8F"/>
                </a:solidFill>
              </a:rPr>
              <a:t>Owned the Nudges engine — ops campaign builder for threshold-based push triggers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FAA8F"/>
                </a:solidFill>
              </a:rPr>
              <a:t>Result: 5,000+ B2B merchants, 60% improvement in 90-day device activity 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70432"/>
            <a:ext cx="3977640" cy="3246120"/>
          </a:xfrm>
          <a:prstGeom prst="rect">
            <a:avLst/>
          </a:prstGeom>
          <a:solidFill>
            <a:srgbClr val="F4F7F4"/>
          </a:solidFill>
          <a:ln w="12700">
            <a:solidFill>
              <a:srgbClr val="D1E7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9844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0F"/>
                </a:solidFill>
              </a:rPr>
              <a:t>Virtusa JD — How It Maps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719072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6B4B"/>
                </a:solidFill>
              </a:rPr>
              <a:t>End-to-end merchant onboarding → Instant Activation Engine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6B4B"/>
                </a:solidFill>
              </a:rPr>
              <a:t>Acquisition campaign design → Milestone Challenge launch playbook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6B4B"/>
                </a:solidFill>
              </a:rPr>
              <a:t>Value-added services for stickiness → This exact deck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6B4B"/>
                </a:solidFill>
              </a:rPr>
              <a:t>BAT planning → A/B test framework, two variant groups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B6B4B"/>
                </a:solidFill>
              </a:rPr>
              <a:t>Regulatory alignment → T&amp;C, invoice auto-apply, merchant consent flows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4553712"/>
            <a:ext cx="8321040" cy="402336"/>
          </a:xfrm>
          <a:prstGeom prst="rect">
            <a:avLst/>
          </a:prstGeom>
          <a:solidFill>
            <a:srgbClr val="0A1F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56285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DE80"/>
                </a:solidFill>
              </a:rPr>
              <a:t>"This isn't a case study. This is a working product I shipped — and the Figma, A/B test data, and prototype are all attached."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— From Pilot to Full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2651760" cy="3090672"/>
          </a:xfrm>
          <a:prstGeom prst="rect">
            <a:avLst/>
          </a:prstGeom>
          <a:solidFill>
            <a:srgbClr val="0F2A0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70432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2618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</a:rPr>
              <a:t>PHASE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14447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A8F"/>
                </a:solidFill>
              </a:rPr>
              <a:t>Month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" y="1691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Pilot — 50 Merchants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" y="217627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FAA8F"/>
                </a:solidFill>
              </a:rPr>
              <a:t>Deploy Milestone Waiver to 50 newly onboarded merchants in one market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FAA8F"/>
                </a:solidFill>
              </a:rPr>
              <a:t>Instrument TPV + TPC tracking against control group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FAA8F"/>
                </a:solidFill>
              </a:rPr>
              <a:t>Measure 90-day activation rate, churn, and GMV uplift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70432"/>
            <a:ext cx="2651760" cy="3090672"/>
          </a:xfrm>
          <a:prstGeom prst="rect">
            <a:avLst/>
          </a:prstGeom>
          <a:solidFill>
            <a:srgbClr val="0F2A0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170432"/>
            <a:ext cx="26517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618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EA5E9"/>
                </a:solidFill>
              </a:rPr>
              <a:t>PHASE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10128" y="14447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A8F"/>
                </a:solidFill>
              </a:rPr>
              <a:t>Month 3–4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0128" y="1691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Scale + A/B Test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217627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FAA8F"/>
                </a:solidFill>
              </a:rPr>
              <a:t>Run Rent Waiver vs Cashback A/B test across 500 merchants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FAA8F"/>
                </a:solidFill>
              </a:rPr>
              <a:t>Tune goal thresholds based on pilot learnings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FAA8F"/>
                </a:solidFill>
              </a:rPr>
              <a:t>Launch Nudges engine for ops team campaign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1170432"/>
            <a:ext cx="2651760" cy="3090672"/>
          </a:xfrm>
          <a:prstGeom prst="rect">
            <a:avLst/>
          </a:prstGeom>
          <a:solidFill>
            <a:srgbClr val="0F2A0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170432"/>
            <a:ext cx="26517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9048" y="12618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</a:rPr>
              <a:t>PHASE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99048" y="14447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A8F"/>
                </a:solidFill>
              </a:rPr>
              <a:t>Month 5–6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99048" y="1691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Full Rollout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99048" y="217627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FAA8F"/>
                </a:solidFill>
              </a:rPr>
              <a:t>Roll out winning variant to all new merchant onboarding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FAA8F"/>
                </a:solidFill>
              </a:rPr>
              <a:t>Integrate with Instant Activation Engine (Module 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FAA8F"/>
                </a:solidFill>
              </a:rPr>
              <a:t>Expand program to existing inactive terminal base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370832"/>
            <a:ext cx="8321040" cy="566928"/>
          </a:xfrm>
          <a:prstGeom prst="rect">
            <a:avLst/>
          </a:prstGeom>
          <a:solidFill>
            <a:srgbClr val="1A3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3891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What I need to build this: </a:t>
            </a:r>
            <a:pPr indent="0" marL="0">
              <a:buNone/>
            </a:pPr>
            <a:r>
              <a:rPr lang="en-US" sz="1200" dirty="0">
                <a:solidFill>
                  <a:srgbClr val="8FAA8F"/>
                </a:solidFill>
              </a:rPr>
              <a:t>Access to merchant transaction data  ·  Invoicing/billing team alignment  ·  1 engineer for milestone tracking API  ·  1 designer for merchant app screens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9377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6B4B"/>
                </a:solidFill>
              </a:rPr>
              <a:t>Ajay Avaghade  ·  avaghadeajay009@gmail.com  ·  +91 9561558439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MerchantOS: Milestone Rental Waiver</dc:title>
  <dc:subject>PptxGenJS Presentation</dc:subject>
  <dc:creator>Ajay Avaghade</dc:creator>
  <cp:lastModifiedBy>Ajay Avaghade</cp:lastModifiedBy>
  <cp:revision>1</cp:revision>
  <dcterms:created xsi:type="dcterms:W3CDTF">2026-05-21T20:22:03Z</dcterms:created>
  <dcterms:modified xsi:type="dcterms:W3CDTF">2026-05-21T20:22:03Z</dcterms:modified>
</cp:coreProperties>
</file>