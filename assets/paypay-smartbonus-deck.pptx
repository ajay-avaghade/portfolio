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0"/>
            <a:ext cx="822960" cy="6858000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0"/>
            <a:ext cx="822960" cy="6858000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822960" cy="6858000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0"/>
            <a:ext cx="822960" cy="6858000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0"/>
            <a:ext cx="822960" cy="6858000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0"/>
            <a:ext cx="822960" cy="6858000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PAYPAY — GROWTH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PayPay SmartBonus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3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Blanket Cashback to Behaviour-Linked Personalised Rewards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Ajay Avaghade · Growth &amp; Platform PM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493776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2D1515"/>
          </a:solidFill>
          <a:ln w="25400">
            <a:solidFill>
              <a:srgbClr val="E600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98348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¥1T+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92240" y="56692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bonus campaign spend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(blanket — no personalisation)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 ·  GROWTH &amp; MONETISATION  ·  PAYPAY JAPAN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Blanket Cashback Burns Billions on Users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Would Have Paid Anyway.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47472" y="1627632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78308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2331720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¥1T+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301752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bonus spend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3401568"/>
            <a:ext cx="24140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equally regardless of user behaviour or lapse risk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5264" y="1627632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55264" y="178308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55264" y="2331720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55264" y="301752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change for power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401568"/>
            <a:ext cx="24140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transacting 40x/mo get the same bonus as dormant users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627632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78308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63056" y="2331720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63056" y="301752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spend that changes behaviour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072" y="3401568"/>
            <a:ext cx="24140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of bonus budget spent on users who would have transacted anyway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5029200"/>
            <a:ext cx="8449056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5120640"/>
            <a:ext cx="8083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PayPay has no user-level propensity model. Every campaign is a flat rate applied to every user — power users get subsidised for doing nothing different, while lapsing users receive the same insufficient nudge they have been ignoring for weeks.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Blanket Cashback Is a Loyalty Tax.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SmartBonus Only Pays When It Changes Behaviour.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572768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37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Blanket Campaign (Current)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221284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10% rate for 70M users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276148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 (40 txns/mo): would pay anyway — bonus wasted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331012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user (1 txn/mo): 10% not enough to re-engage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385876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learning loop — same mistake next campaign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440740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hit: billions spent, behaviour unchanged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3273552"/>
            <a:ext cx="640080" cy="64008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273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0328" y="1572768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1A0A0A"/>
          </a:solidFill>
          <a:ln w="19050">
            <a:solidFill>
              <a:srgbClr val="E6001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47488" y="1737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SmartBonus (Proposed)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47488" y="221284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score per user: recency x frequency x lapse risk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47488" y="276148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 (40 txns/mo): 0.5% — they need no nudge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47488" y="331012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user (1 txn/mo): 12% — minimum effective dose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47488" y="385876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Self-improving: each campaign updates the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47488" y="440740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same budget, 3x the behaviour-change ROI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5870448"/>
            <a:ext cx="844905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600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5961888"/>
            <a:ext cx="8083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most loyal users need the smallest incentive. The most at-risk users need the largest. Blanket cashback gets both exactly wrong. SmartBonus makes the subsidy proportional to the need.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SmartBonus Engine + MissionBoard: Two Levers, One Flywheel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508760"/>
            <a:ext cx="1572768" cy="4343400"/>
          </a:xfrm>
          <a:prstGeom prst="roundRect">
            <a:avLst>
              <a:gd name="adj" fmla="val 5814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627632"/>
            <a:ext cx="548640" cy="5486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" y="226771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2788920"/>
            <a:ext cx="1389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scores every user daily: transaction recency x frequency x category variety x lapse probability. Produces a propensity score 0-100.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84832" y="1508760"/>
            <a:ext cx="1572768" cy="4343400"/>
          </a:xfrm>
          <a:prstGeom prst="roundRect">
            <a:avLst>
              <a:gd name="adj" fmla="val 5814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6896" y="1627632"/>
            <a:ext cx="548640" cy="5486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7984" y="226771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272" y="2788920"/>
            <a:ext cx="1389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maps to minimum effective bonus rate. Power users (score 80+): 0.5%. Regular (40-79): 3%. At-risk (10-39): 8%. Dormant (&lt;10): 12-15%.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22192" y="1508760"/>
            <a:ext cx="1572768" cy="4343400"/>
          </a:xfrm>
          <a:prstGeom prst="roundRect">
            <a:avLst>
              <a:gd name="adj" fmla="val 5814"/>
            </a:avLst>
          </a:prstGeom>
          <a:solidFill>
            <a:srgbClr val="2D1515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4256" y="1627632"/>
            <a:ext cx="548640" cy="54864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4256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95344" y="226771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13632" y="2788920"/>
            <a:ext cx="1389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MissionBoard gives users agency: complete 5 weekly missions (vending machine, new restaurant, morning payment) to unlock a higher rate tier for that session.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59552" y="1508760"/>
            <a:ext cx="1572768" cy="4343400"/>
          </a:xfrm>
          <a:prstGeom prst="roundRect">
            <a:avLst>
              <a:gd name="adj" fmla="val 5814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627632"/>
            <a:ext cx="548640" cy="5486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32704" y="226771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Bonus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50992" y="2788920"/>
            <a:ext cx="1389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rate applied automatically at payment. User sees their rate on home screen. No opt-in required — SmartBonus is always 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96912" y="1508760"/>
            <a:ext cx="1572768" cy="4343400"/>
          </a:xfrm>
          <a:prstGeom prst="roundRect">
            <a:avLst>
              <a:gd name="adj" fmla="val 5814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08976" y="1627632"/>
            <a:ext cx="548640" cy="54864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8976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70064" y="226771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88352" y="2788920"/>
            <a:ext cx="1389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completed mission and payment feeds back into the model. Campaign ROI is measured at user level. Budget allocation shifts to highest-marginal-return segments.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" y="6035040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at PhonePe: Propensity-to-Transact ML replaced static targeting for 350M MAU — 32% marketing burn reduction while sustaining GMV growth.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Screen States — Built on Proven PhonePe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29968" cy="52120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029968" cy="347472"/>
          </a:xfrm>
          <a:prstGeom prst="rect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9844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Home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1A0A0A"/>
          </a:solidFill>
          <a:ln w="12700">
            <a:solidFill>
              <a:srgbClr val="2D15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37360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[PayPay Home]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Balance: ¥12,430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 SmartBonus ─────┐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◉ 3% Today     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Your rate · tap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+2 missions→ 5%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 MissionBoard ───┐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▓▓▓▓▓░░░ 3/5 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Tue deadline   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Unlock 5% ✨  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365760" y="3895344"/>
            <a:ext cx="184708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"Your bonus today: 3%" card surfaces prominently on the PayPay home screen alongside the MissionBoard widget showing 3/5 weekly missions complete.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1280160"/>
            <a:ext cx="2029968" cy="52120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280160"/>
            <a:ext cx="2029968" cy="347472"/>
          </a:xfrm>
          <a:prstGeom prst="rect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29844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SmartBonus Hub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1700784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1A0A0A"/>
          </a:solidFill>
          <a:ln w="12700">
            <a:solidFill>
              <a:srgbClr val="2D15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737360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[SmartBonus]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rate today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on all txns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2 missions → 5%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you got 3%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 ▓▓▓▓▓▓░ 68%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Variety   ▓▓▓░░░░ 45%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Recency   ▓▓▓▓▓▓▓ 80%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First txn today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Vending machine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🍜 New restaurant cat.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☀️ 3 txns before noon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Weekend streak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2578608" y="3895344"/>
            <a:ext cx="184708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rate display with scoring breakdown. 5 missions listed with done/active/locked states. Step tier progress bar shows path to Gold. Tap mission for detail.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0016" y="1280160"/>
            <a:ext cx="2029968" cy="52120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1280160"/>
            <a:ext cx="2029968" cy="347472"/>
          </a:xfrm>
          <a:prstGeom prst="rect">
            <a:avLst/>
          </a:prstGeom>
          <a:solidFill>
            <a:srgbClr val="FF33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29844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Rate Unlocked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1456" y="1700784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1A0A0A"/>
          </a:solidFill>
          <a:ln w="12700">
            <a:solidFill>
              <a:srgbClr val="2D15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737360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[Mission Complete!]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✓ (confetti)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Missions unlocked!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Vending Machine Pro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 Rate Upgraded ──┐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3% ──────► 5% 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Next 10 txns    │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Missions: 5/5 ✨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Bonus earned: ¥620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Streak: 3 weeks 🏆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PayPay Step Gold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unlocked! +1.5% base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4791456" y="3895344"/>
            <a:ext cx="184708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Confetti celebration when all 5 missions complete. Rate upgrades from 3% to 5%. Step tier Gold unlocked. PayPay Step bonus applied automatically.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12864" y="1280160"/>
            <a:ext cx="2029968" cy="521208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1280160"/>
            <a:ext cx="2029968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129844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Ops 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04304" y="1700784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1A0A0A"/>
          </a:solidFill>
          <a:ln w="12700">
            <a:solidFill>
              <a:srgbClr val="2D15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737360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[SmartBonus Ops]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−29% Burn  +23% WAU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3.1× ROI vs blanket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Rates by Segment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   ▓░░░░  0.5%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  ▓▓▓░░  3.0%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At-risk  ▓▓▓▓▓  7.5%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Dormant  ▓▓▓▓▓▓ 12%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Completion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txn  ▓▓▓▓▓ 89%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Vending  ▓▓▓▓░ 71%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 ▓▓░░ 44%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F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Nudge Queue: 48K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7004304" y="3895344"/>
            <a:ext cx="184708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view: segment bonus rate heatmap, campaign ROI vs blanket baseline, mission completion rates by type, and stuck-user nudge queue with push composer.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Prototype: paypay-smartbonus-prototype.html  ·  Live interactive demo of all 4 states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 — Anchored to PhonePe ML Proof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80160"/>
            <a:ext cx="4114800" cy="4919472"/>
          </a:xfrm>
          <a:prstGeom prst="roundRect">
            <a:avLst>
              <a:gd name="adj" fmla="val 2222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01952" y="1965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active payers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01952" y="22311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layer drives habit across new payment contexts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01952" y="29718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tier upgrade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01952" y="32369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path replaces abstract 30-txn goal with 5 weekly missions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91363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502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01952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churn for completers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01952" y="42428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completers are 2x more likely to stay active next month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91947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9560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01952" y="4983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perceived as personal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01952" y="52486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who see a personalised rate report higher PayPay satisfaction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1280160"/>
            <a:ext cx="4114800" cy="4919472"/>
          </a:xfrm>
          <a:prstGeom prst="roundRect">
            <a:avLst>
              <a:gd name="adj" fmla="val 2222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1417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PayPay ROI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190195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9385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81344" y="1965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burn per GMV unit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1344" y="22311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routed only to users where it changes behaviour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28032" y="290779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3.1x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81344" y="29718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GMV per bonus yen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81344" y="32369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total spend, 3x the behaviour-change return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28032" y="391363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9502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81344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from mission-active users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42428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completers transact in new categories PayPay did not own before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28032" y="491947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9560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&lt;6mo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181344" y="4983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 for ML build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81344" y="52486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cost amortised within two campaign cycles at scale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6355080"/>
            <a:ext cx="8449056" cy="347472"/>
          </a:xfrm>
          <a:prstGeom prst="roundRect">
            <a:avLst>
              <a:gd name="adj" fmla="val 18421"/>
            </a:avLst>
          </a:prstGeom>
          <a:solidFill>
            <a:srgbClr val="2D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6382512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PhonePe this exact ML architecture reduced a 1000+ Cr/yr marketing budget burn by 32% while sustaining GMV. SmartBonus applies the same model to PayPay at 70M users.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This. Here Is the Proof.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4023360" cy="4645152"/>
          </a:xfrm>
          <a:prstGeom prst="roundRect">
            <a:avLst>
              <a:gd name="adj" fmla="val 2273"/>
            </a:avLst>
          </a:prstGeom>
          <a:solidFill>
            <a:srgbClr val="1A0A0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44752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38528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Deployed Propensity-to-Transact ML models replacing 1000+ Cr/yr of static rule-based targeting with real-time user-level scoring and personalised incentive matching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688336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Delivered 32% marketing burn reduction while sustaining GMV growth across 350M MAU — the exact same architecture as SmartBonus at PayPay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3438144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Built dynamic cart incentivisation engine with context-aware triggers: cart value x user intent x time signals — 35% AOV uplift, 60% cart abandonment reduction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187952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Rebuilt 100 Cr/yr rewards portfolio into ML-driven marketplace with audience segmentation and brand self-serve tooling — 26% uplift in user engagement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4937760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Led end-to-end offers redesign with A/B experimentation across Tech, UX, Finance, and Legal — 22% checkout conversion lift at national scale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3168" y="1298448"/>
            <a:ext cx="4023360" cy="464515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44752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Maps to This PayPay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385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Propensity-to-Transact ML at 350M MAU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19472" y="221284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PayPay: SmartBonus scoring engine at PayPay 70M MAU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2688336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32% marketing burn reduction at PhonePe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9472" y="2962656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PayPay: Projected 30% campaign efficiency gain at PayPay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3438144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Context-aware trigger engine (cart x intent x time)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19472" y="3712464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PayPay: SmartBonus rate assignment (score x lapse x category)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418795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MerchantOS milestone waiver (5-step goals)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19472" y="446227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PayPay: MissionBoard (5 weekly missions, Step tier unlock)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4937760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ML marketplace with audience segmentation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19472" y="5212080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PayPay: Mission-level personalisation and nudge engine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6080760"/>
            <a:ext cx="8449056" cy="868680"/>
          </a:xfrm>
          <a:prstGeom prst="roundRect">
            <a:avLst>
              <a:gd name="adj" fmla="val 8421"/>
            </a:avLst>
          </a:prstGeom>
          <a:solidFill>
            <a:srgbClr val="FFEBEB"/>
          </a:solidFill>
          <a:ln w="19050">
            <a:solidFill>
              <a:srgbClr val="E600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6144768"/>
            <a:ext cx="8083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"SmartBonus is not a concept. It is the same propensity-driven incentive architecture I deployed at PhonePe for 350M users — rebuilt for PayPay at 70M and growing."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— 6 Months to Full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2D1515"/>
          </a:solidFill>
          <a:ln w="19050">
            <a:solidFill>
              <a:srgbClr val="E6001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98448"/>
            <a:ext cx="2743200" cy="402336"/>
          </a:xfrm>
          <a:prstGeom prst="rect">
            <a:avLst/>
          </a:prstGeom>
          <a:solidFill>
            <a:srgbClr val="E600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x  Month 1-2: ML Pilot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Train Propensity-to-Transact model on 90 days of transaction history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A/B test SmartBonus rate vs flat 3% blanket on 5% of user base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Measure incremental GMV and burn efficiency vs control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03904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Instrument mission completion tracking and Step tier attribution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298448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2D1515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98448"/>
            <a:ext cx="2743200" cy="402336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x  Month 3-4: MissionBoard Launch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1568" y="1828800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Ship MissionBoard with 5 weekly missions to all SmartBonus users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01568" y="248716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Tune mission categories based on pilot drop-off data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01568" y="3145536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Launch ops nudge engine for 40% and 80% mission completion thresholds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3803904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Expand SmartBonus to 50% of user base with winning rate curve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36208" y="1298448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2D151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298448"/>
            <a:ext cx="274320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x  Month 5-6: Full Rollout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45936" y="1828800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Roll SmartBonus + MissionBoard to all 70M users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45936" y="248716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Integrate with PayPay Step tier system for seamless rate display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45936" y="3145536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Enable merchant-funded mission bonuses for new category discovery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45936" y="3803904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Launch weekly campaign report for leadership: burn, GMV, mission ROI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5486400"/>
            <a:ext cx="8449056" cy="987552"/>
          </a:xfrm>
          <a:prstGeom prst="roundRect">
            <a:avLst>
              <a:gd name="adj" fmla="val 9259"/>
            </a:avLst>
          </a:prstGeom>
          <a:solidFill>
            <a:srgbClr val="2D1515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50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to build this: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833872"/>
            <a:ext cx="808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transaction history for ML training  x  Data science team partnership  x  1 backend engineer for scoring API  x  A/B test infrastructure access  x  PayPay Step tier team alignment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2D151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 x  avaghadeajay009@gmail.com  x  +91 9561558439  x  linkedin.com/in/ajay-avaghade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2026-05-23T07:40:42Z</dcterms:created>
  <dcterms:modified xsi:type="dcterms:W3CDTF">2026-05-23T07:40:42Z</dcterms:modified>
</cp:coreProperties>
</file>