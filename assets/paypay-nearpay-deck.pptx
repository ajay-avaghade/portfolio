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0A"/>
        </a:solidFill>
      </p:bgPr>
    </p:bg>
    <p:spTree>
      <p:nvGrpSpPr>
        <p:cNvPr id="1" name=""/>
        <p:cNvGrpSpPr/>
        <p:nvPr/>
      </p:nvGrpSpPr>
      <p:grpSpPr>
        <a:xfrm>
          <a:off x="0" y="0"/>
          <a:ext cx="0" cy="0"/>
          <a:chOff x="0" y="0"/>
          <a:chExt cx="0" cy="0"/>
        </a:xfrm>
      </p:grpSpPr>
      <p:sp>
        <p:nvSpPr>
          <p:cNvPr id="2" name="Shape 0"/>
          <p:cNvSpPr/>
          <p:nvPr/>
        </p:nvSpPr>
        <p:spPr>
          <a:xfrm>
            <a:off x="-365760" y="0"/>
            <a:ext cx="822960" cy="6858000"/>
          </a:xfrm>
          <a:prstGeom prst="rect">
            <a:avLst/>
          </a:prstGeom>
          <a:solidFill>
            <a:srgbClr val="2D1515"/>
          </a:solidFill>
          <a:ln w="12700">
            <a:solidFill>
              <a:srgbClr val="000000"/>
            </a:solidFill>
            <a:prstDash val="solid"/>
          </a:ln>
        </p:spPr>
      </p:sp>
      <p:sp>
        <p:nvSpPr>
          <p:cNvPr id="3" name="Shape 1"/>
          <p:cNvSpPr/>
          <p:nvPr/>
        </p:nvSpPr>
        <p:spPr>
          <a:xfrm>
            <a:off x="1325880" y="0"/>
            <a:ext cx="822960" cy="6858000"/>
          </a:xfrm>
          <a:prstGeom prst="rect">
            <a:avLst/>
          </a:prstGeom>
          <a:solidFill>
            <a:srgbClr val="2D1515"/>
          </a:solidFill>
          <a:ln w="12700">
            <a:solidFill>
              <a:srgbClr val="000000"/>
            </a:solidFill>
            <a:prstDash val="solid"/>
          </a:ln>
        </p:spPr>
      </p:sp>
      <p:sp>
        <p:nvSpPr>
          <p:cNvPr id="4" name="Shape 2"/>
          <p:cNvSpPr/>
          <p:nvPr/>
        </p:nvSpPr>
        <p:spPr>
          <a:xfrm>
            <a:off x="3017520" y="0"/>
            <a:ext cx="822960" cy="6858000"/>
          </a:xfrm>
          <a:prstGeom prst="rect">
            <a:avLst/>
          </a:prstGeom>
          <a:solidFill>
            <a:srgbClr val="2D1515"/>
          </a:solidFill>
          <a:ln w="12700">
            <a:solidFill>
              <a:srgbClr val="000000"/>
            </a:solidFill>
            <a:prstDash val="solid"/>
          </a:ln>
        </p:spPr>
      </p:sp>
      <p:sp>
        <p:nvSpPr>
          <p:cNvPr id="5" name="Shape 3"/>
          <p:cNvSpPr/>
          <p:nvPr/>
        </p:nvSpPr>
        <p:spPr>
          <a:xfrm>
            <a:off x="4709160" y="0"/>
            <a:ext cx="822960" cy="6858000"/>
          </a:xfrm>
          <a:prstGeom prst="rect">
            <a:avLst/>
          </a:prstGeom>
          <a:solidFill>
            <a:srgbClr val="2D1515"/>
          </a:solidFill>
          <a:ln w="12700">
            <a:solidFill>
              <a:srgbClr val="000000"/>
            </a:solidFill>
            <a:prstDash val="solid"/>
          </a:ln>
        </p:spPr>
      </p:sp>
      <p:sp>
        <p:nvSpPr>
          <p:cNvPr id="6" name="Shape 4"/>
          <p:cNvSpPr/>
          <p:nvPr/>
        </p:nvSpPr>
        <p:spPr>
          <a:xfrm>
            <a:off x="6400800" y="0"/>
            <a:ext cx="822960" cy="6858000"/>
          </a:xfrm>
          <a:prstGeom prst="rect">
            <a:avLst/>
          </a:prstGeom>
          <a:solidFill>
            <a:srgbClr val="2D1515"/>
          </a:solidFill>
          <a:ln w="12700">
            <a:solidFill>
              <a:srgbClr val="000000"/>
            </a:solidFill>
            <a:prstDash val="solid"/>
          </a:ln>
        </p:spPr>
      </p:sp>
      <p:sp>
        <p:nvSpPr>
          <p:cNvPr id="7" name="Shape 5"/>
          <p:cNvSpPr/>
          <p:nvPr/>
        </p:nvSpPr>
        <p:spPr>
          <a:xfrm>
            <a:off x="8092440" y="0"/>
            <a:ext cx="822960" cy="6858000"/>
          </a:xfrm>
          <a:prstGeom prst="rect">
            <a:avLst/>
          </a:prstGeom>
          <a:solidFill>
            <a:srgbClr val="2D1515"/>
          </a:solidFill>
          <a:ln w="12700">
            <a:solidFill>
              <a:srgbClr val="000000"/>
            </a:solidFill>
            <a:prstDash val="solid"/>
          </a:ln>
        </p:spPr>
      </p:sp>
      <p:sp>
        <p:nvSpPr>
          <p:cNvPr id="8" name="Text 6"/>
          <p:cNvSpPr/>
          <p:nvPr/>
        </p:nvSpPr>
        <p:spPr>
          <a:xfrm>
            <a:off x="457200" y="384048"/>
            <a:ext cx="6400800" cy="256032"/>
          </a:xfrm>
          <a:prstGeom prst="rect">
            <a:avLst/>
          </a:prstGeom>
          <a:noFill/>
          <a:ln/>
        </p:spPr>
        <p:txBody>
          <a:bodyPr wrap="square" rtlCol="0" anchor="ctr"/>
          <a:lstStyle/>
          <a:p>
            <a:pPr indent="0" marL="0">
              <a:buNone/>
            </a:pPr>
            <a:r>
              <a:rPr lang="en-US" sz="900" b="1" spc="300" kern="0" dirty="0">
                <a:solidFill>
                  <a:srgbClr val="E60012"/>
                </a:solidFill>
                <a:latin typeface="Arial" pitchFamily="34" charset="0"/>
                <a:ea typeface="Arial" pitchFamily="34" charset="-122"/>
                <a:cs typeface="Arial" pitchFamily="34" charset="-120"/>
              </a:rPr>
              <a:t>PAYPAY — DISCOVERY PLATFORM</a:t>
            </a:r>
            <a:endParaRPr lang="en-US" sz="900" dirty="0"/>
          </a:p>
        </p:txBody>
      </p:sp>
      <p:sp>
        <p:nvSpPr>
          <p:cNvPr id="9" name="Text 7"/>
          <p:cNvSpPr/>
          <p:nvPr/>
        </p:nvSpPr>
        <p:spPr>
          <a:xfrm>
            <a:off x="457200" y="777240"/>
            <a:ext cx="8229600" cy="960120"/>
          </a:xfrm>
          <a:prstGeom prst="rect">
            <a:avLst/>
          </a:prstGeom>
          <a:noFill/>
          <a:ln/>
        </p:spPr>
        <p:txBody>
          <a:bodyPr wrap="square" rtlCol="0" anchor="ctr"/>
          <a:lstStyle/>
          <a:p>
            <a:pPr indent="0" marL="0">
              <a:buNone/>
            </a:pPr>
            <a:r>
              <a:rPr lang="en-US" sz="5200" b="1" dirty="0">
                <a:solidFill>
                  <a:srgbClr val="FFFFFF"/>
                </a:solidFill>
                <a:latin typeface="Arial" pitchFamily="34" charset="0"/>
                <a:ea typeface="Arial" pitchFamily="34" charset="-122"/>
                <a:cs typeface="Arial" pitchFamily="34" charset="-120"/>
              </a:rPr>
              <a:t>PayPay NearPay</a:t>
            </a:r>
            <a:endParaRPr lang="en-US" sz="5200" dirty="0"/>
          </a:p>
        </p:txBody>
      </p:sp>
      <p:sp>
        <p:nvSpPr>
          <p:cNvPr id="10" name="Text 8"/>
          <p:cNvSpPr/>
          <p:nvPr/>
        </p:nvSpPr>
        <p:spPr>
          <a:xfrm>
            <a:off x="457200" y="1828800"/>
            <a:ext cx="6583680" cy="685800"/>
          </a:xfrm>
          <a:prstGeom prst="rect">
            <a:avLst/>
          </a:prstGeom>
          <a:noFill/>
          <a:ln/>
        </p:spPr>
        <p:txBody>
          <a:bodyPr wrap="square" rtlCol="0" anchor="ctr"/>
          <a:lstStyle/>
          <a:p>
            <a:pPr indent="0" marL="0">
              <a:buNone/>
            </a:pPr>
            <a:r>
              <a:rPr lang="en-US" sz="1500" dirty="0">
                <a:solidFill>
                  <a:srgbClr val="FF3347"/>
                </a:solidFill>
                <a:latin typeface="Arial" pitchFamily="34" charset="0"/>
                <a:ea typeface="Arial" pitchFamily="34" charset="-122"/>
                <a:cs typeface="Arial" pitchFamily="34" charset="-120"/>
              </a:rPr>
              <a:t>Contextual Merchant Discovery: Making Habit Beat Intent at Point-of-Sale</a:t>
            </a:r>
            <a:endParaRPr lang="en-US" sz="1500" dirty="0"/>
          </a:p>
        </p:txBody>
      </p:sp>
      <p:sp>
        <p:nvSpPr>
          <p:cNvPr id="11" name="Text 9"/>
          <p:cNvSpPr/>
          <p:nvPr/>
        </p:nvSpPr>
        <p:spPr>
          <a:xfrm>
            <a:off x="457200" y="2651760"/>
            <a:ext cx="5486400" cy="292608"/>
          </a:xfrm>
          <a:prstGeom prst="rect">
            <a:avLst/>
          </a:prstGeom>
          <a:noFill/>
          <a:ln/>
        </p:spPr>
        <p:txBody>
          <a:bodyPr wrap="square" rtlCol="0" anchor="ctr"/>
          <a:lstStyle/>
          <a:p>
            <a:pPr indent="0" marL="0">
              <a:buNone/>
            </a:pPr>
            <a:r>
              <a:rPr lang="en-US" sz="1100" dirty="0">
                <a:solidFill>
                  <a:srgbClr val="8B9E9B"/>
                </a:solidFill>
                <a:latin typeface="Arial" pitchFamily="34" charset="0"/>
                <a:ea typeface="Arial" pitchFamily="34" charset="-122"/>
                <a:cs typeface="Arial" pitchFamily="34" charset="-120"/>
              </a:rPr>
              <a:t>Presented by Ajay Avaghade · Growth &amp; Platform PM</a:t>
            </a:r>
            <a:endParaRPr lang="en-US" sz="1100" dirty="0"/>
          </a:p>
        </p:txBody>
      </p:sp>
      <p:sp>
        <p:nvSpPr>
          <p:cNvPr id="12" name="Shape 10"/>
          <p:cNvSpPr/>
          <p:nvPr/>
        </p:nvSpPr>
        <p:spPr>
          <a:xfrm>
            <a:off x="6492240" y="4937760"/>
            <a:ext cx="2331720" cy="1691640"/>
          </a:xfrm>
          <a:prstGeom prst="roundRect">
            <a:avLst>
              <a:gd name="adj" fmla="val 6486"/>
            </a:avLst>
          </a:prstGeom>
          <a:solidFill>
            <a:srgbClr val="2D1515"/>
          </a:solidFill>
          <a:ln w="25400">
            <a:solidFill>
              <a:srgbClr val="E60012"/>
            </a:solidFill>
            <a:prstDash val="solid"/>
          </a:ln>
        </p:spPr>
      </p:sp>
      <p:sp>
        <p:nvSpPr>
          <p:cNvPr id="13" name="Text 11"/>
          <p:cNvSpPr/>
          <p:nvPr/>
        </p:nvSpPr>
        <p:spPr>
          <a:xfrm>
            <a:off x="6492240" y="4983480"/>
            <a:ext cx="2331720" cy="658368"/>
          </a:xfrm>
          <a:prstGeom prst="rect">
            <a:avLst/>
          </a:prstGeom>
          <a:noFill/>
          <a:ln/>
        </p:spPr>
        <p:txBody>
          <a:bodyPr wrap="square" rtlCol="0" anchor="ctr"/>
          <a:lstStyle/>
          <a:p>
            <a:pPr algn="ctr" indent="0" marL="0">
              <a:buNone/>
            </a:pPr>
            <a:r>
              <a:rPr lang="en-US" sz="3800" b="1" dirty="0">
                <a:solidFill>
                  <a:srgbClr val="E60012"/>
                </a:solidFill>
                <a:latin typeface="Arial" pitchFamily="34" charset="0"/>
                <a:ea typeface="Arial" pitchFamily="34" charset="-122"/>
                <a:cs typeface="Arial" pitchFamily="34" charset="-120"/>
              </a:rPr>
              <a:t>4M+</a:t>
            </a:r>
            <a:endParaRPr lang="en-US" sz="3800" dirty="0"/>
          </a:p>
        </p:txBody>
      </p:sp>
      <p:sp>
        <p:nvSpPr>
          <p:cNvPr id="14" name="Text 12"/>
          <p:cNvSpPr/>
          <p:nvPr/>
        </p:nvSpPr>
        <p:spPr>
          <a:xfrm>
            <a:off x="6492240" y="5669280"/>
            <a:ext cx="2331720" cy="685800"/>
          </a:xfrm>
          <a:prstGeom prst="rect">
            <a:avLst/>
          </a:prstGeom>
          <a:noFill/>
          <a:ln/>
        </p:spPr>
        <p:txBody>
          <a:bodyPr wrap="square" rtlCol="0" anchor="ctr"/>
          <a:lstStyle/>
          <a:p>
            <a:pPr algn="ctr" indent="0" marL="0">
              <a:buNone/>
            </a:pPr>
            <a:r>
              <a:rPr lang="en-US" sz="900" dirty="0">
                <a:solidFill>
                  <a:srgbClr val="8B9E9B"/>
                </a:solidFill>
                <a:latin typeface="Arial" pitchFamily="34" charset="0"/>
                <a:ea typeface="Arial" pitchFamily="34" charset="-122"/>
                <a:cs typeface="Arial" pitchFamily="34" charset="-120"/>
              </a:rPr>
              <a:t>PayPay merchant stores</a:t>
            </a:r>
            <a:endParaRPr lang="en-US" sz="900" dirty="0"/>
          </a:p>
          <a:p>
            <a:pPr algn="ctr" indent="0" marL="0">
              <a:buNone/>
            </a:pPr>
            <a:r>
              <a:rPr lang="en-US" sz="900" dirty="0">
                <a:solidFill>
                  <a:srgbClr val="8B9E9B"/>
                </a:solidFill>
                <a:latin typeface="Arial" pitchFamily="34" charset="0"/>
                <a:ea typeface="Arial" pitchFamily="34" charset="-122"/>
                <a:cs typeface="Arial" pitchFamily="34" charset="-120"/>
              </a:rPr>
              <a:t>with zero discovery surface</a:t>
            </a:r>
            <a:endParaRPr lang="en-US" sz="900" dirty="0"/>
          </a:p>
        </p:txBody>
      </p:sp>
      <p:sp>
        <p:nvSpPr>
          <p:cNvPr id="15" name="Shape 13"/>
          <p:cNvSpPr/>
          <p:nvPr/>
        </p:nvSpPr>
        <p:spPr>
          <a:xfrm>
            <a:off x="0" y="6473952"/>
            <a:ext cx="9144000" cy="384048"/>
          </a:xfrm>
          <a:prstGeom prst="rect">
            <a:avLst/>
          </a:prstGeom>
          <a:solidFill>
            <a:srgbClr val="2D1515"/>
          </a:solidFill>
          <a:ln w="12700">
            <a:solidFill>
              <a:srgbClr val="000000"/>
            </a:solidFill>
            <a:prstDash val="solid"/>
          </a:ln>
        </p:spPr>
      </p:sp>
      <p:sp>
        <p:nvSpPr>
          <p:cNvPr id="16" name="Text 14"/>
          <p:cNvSpPr/>
          <p:nvPr/>
        </p:nvSpPr>
        <p:spPr>
          <a:xfrm>
            <a:off x="274320" y="6510528"/>
            <a:ext cx="8595360" cy="256032"/>
          </a:xfrm>
          <a:prstGeom prst="rect">
            <a:avLst/>
          </a:prstGeom>
          <a:noFill/>
          <a:ln/>
        </p:spPr>
        <p:txBody>
          <a:bodyPr wrap="square" rtlCol="0" anchor="ctr"/>
          <a:lstStyle/>
          <a:p>
            <a:pPr algn="ctr" indent="0" marL="0">
              <a:buNone/>
            </a:pPr>
            <a:r>
              <a:rPr lang="en-US" sz="800" spc="200" kern="0" dirty="0">
                <a:solidFill>
                  <a:srgbClr val="8B9E9B"/>
                </a:solidFill>
                <a:latin typeface="Arial" pitchFamily="34" charset="0"/>
                <a:ea typeface="Arial" pitchFamily="34" charset="-122"/>
                <a:cs typeface="Arial" pitchFamily="34" charset="-120"/>
              </a:rPr>
              <a:t>CASE STUDY  x  GROWTH &amp; DISCOVERY  x  PAYPAY JAPAN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0A0A"/>
        </a:solidFill>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indent="0" marL="0">
              <a:buNone/>
            </a:pPr>
            <a:r>
              <a:rPr lang="en-US" sz="900" b="1" spc="400" kern="0" dirty="0">
                <a:solidFill>
                  <a:srgbClr val="E60012"/>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457200" y="548640"/>
            <a:ext cx="8229600" cy="86868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4 Million PayPay Merchants.</a:t>
            </a:r>
            <a:endParaRPr lang="en-US" sz="2700" dirty="0"/>
          </a:p>
          <a:p>
            <a:pPr indent="0" marL="0">
              <a:buNone/>
            </a:pPr>
            <a:r>
              <a:rPr lang="en-US" sz="2700" b="1" dirty="0">
                <a:solidFill>
                  <a:srgbClr val="FFFFFF"/>
                </a:solidFill>
                <a:latin typeface="Arial" pitchFamily="34" charset="0"/>
                <a:ea typeface="Arial" pitchFamily="34" charset="-122"/>
                <a:cs typeface="Arial" pitchFamily="34" charset="-120"/>
              </a:rPr>
              <a:t>Zero Discovery Surface. Habit Wins Every Time.</a:t>
            </a:r>
            <a:endParaRPr lang="en-US" sz="2700" dirty="0"/>
          </a:p>
        </p:txBody>
      </p:sp>
      <p:sp>
        <p:nvSpPr>
          <p:cNvPr id="4" name="Shape 2"/>
          <p:cNvSpPr/>
          <p:nvPr/>
        </p:nvSpPr>
        <p:spPr>
          <a:xfrm>
            <a:off x="347472" y="1627632"/>
            <a:ext cx="2670048" cy="3246120"/>
          </a:xfrm>
          <a:prstGeom prst="roundRect">
            <a:avLst>
              <a:gd name="adj" fmla="val 4110"/>
            </a:avLst>
          </a:prstGeom>
          <a:solidFill>
            <a:srgbClr val="2D1515"/>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5" name="Text 3"/>
          <p:cNvSpPr/>
          <p:nvPr/>
        </p:nvSpPr>
        <p:spPr>
          <a:xfrm>
            <a:off x="347472" y="1783080"/>
            <a:ext cx="2670048" cy="502920"/>
          </a:xfrm>
          <a:prstGeom prst="rect">
            <a:avLst/>
          </a:prstGeom>
          <a:noFill/>
          <a:ln/>
        </p:spPr>
        <p:txBody>
          <a:bodyPr wrap="square" rtlCol="0" anchor="ctr"/>
          <a:lstStyle/>
          <a:p>
            <a:pPr algn="ct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6" name="Text 4"/>
          <p:cNvSpPr/>
          <p:nvPr/>
        </p:nvSpPr>
        <p:spPr>
          <a:xfrm>
            <a:off x="347472" y="2331720"/>
            <a:ext cx="2670048" cy="658368"/>
          </a:xfrm>
          <a:prstGeom prst="rect">
            <a:avLst/>
          </a:prstGeom>
          <a:noFill/>
          <a:ln/>
        </p:spPr>
        <p:txBody>
          <a:bodyPr wrap="square" rtlCol="0" anchor="ctr"/>
          <a:lstStyle/>
          <a:p>
            <a:pPr algn="ctr" indent="0" marL="0">
              <a:buNone/>
            </a:pPr>
            <a:r>
              <a:rPr lang="en-US" sz="3400" b="1" dirty="0">
                <a:solidFill>
                  <a:srgbClr val="E60012"/>
                </a:solidFill>
                <a:latin typeface="Arial" pitchFamily="34" charset="0"/>
                <a:ea typeface="Arial" pitchFamily="34" charset="-122"/>
                <a:cs typeface="Arial" pitchFamily="34" charset="-120"/>
              </a:rPr>
              <a:t>4M+</a:t>
            </a:r>
            <a:endParaRPr lang="en-US" sz="3400" dirty="0"/>
          </a:p>
        </p:txBody>
      </p:sp>
      <p:sp>
        <p:nvSpPr>
          <p:cNvPr id="7" name="Text 5"/>
          <p:cNvSpPr/>
          <p:nvPr/>
        </p:nvSpPr>
        <p:spPr>
          <a:xfrm>
            <a:off x="347472" y="3017520"/>
            <a:ext cx="2670048"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PayPay merchants with no discovery</a:t>
            </a:r>
            <a:endParaRPr lang="en-US" sz="1100" dirty="0"/>
          </a:p>
        </p:txBody>
      </p:sp>
      <p:sp>
        <p:nvSpPr>
          <p:cNvPr id="8" name="Text 6"/>
          <p:cNvSpPr/>
          <p:nvPr/>
        </p:nvSpPr>
        <p:spPr>
          <a:xfrm>
            <a:off x="475488" y="3401568"/>
            <a:ext cx="2414016" cy="1280160"/>
          </a:xfrm>
          <a:prstGeom prst="rect">
            <a:avLst/>
          </a:prstGeom>
          <a:noFill/>
          <a:ln/>
        </p:spPr>
        <p:txBody>
          <a:bodyPr wrap="square" rtlCol="0" anchor="ctr"/>
          <a:lstStyle/>
          <a:p>
            <a:pPr algn="ctr" indent="0" marL="0">
              <a:buNone/>
            </a:pPr>
            <a:r>
              <a:rPr lang="en-US" sz="900" dirty="0">
                <a:solidFill>
                  <a:srgbClr val="8B9E9B"/>
                </a:solidFill>
                <a:latin typeface="Arial" pitchFamily="34" charset="0"/>
                <a:ea typeface="Arial" pitchFamily="34" charset="-122"/>
                <a:cs typeface="Arial" pitchFamily="34" charset="-120"/>
              </a:rPr>
              <a:t>Users find them by accident or not at all — there is no in-app merchant map</a:t>
            </a:r>
            <a:endParaRPr lang="en-US" sz="900" dirty="0"/>
          </a:p>
        </p:txBody>
      </p:sp>
      <p:sp>
        <p:nvSpPr>
          <p:cNvPr id="9" name="Shape 7"/>
          <p:cNvSpPr/>
          <p:nvPr/>
        </p:nvSpPr>
        <p:spPr>
          <a:xfrm>
            <a:off x="3255264" y="1627632"/>
            <a:ext cx="2670048" cy="3246120"/>
          </a:xfrm>
          <a:prstGeom prst="roundRect">
            <a:avLst>
              <a:gd name="adj" fmla="val 4110"/>
            </a:avLst>
          </a:prstGeom>
          <a:solidFill>
            <a:srgbClr val="2D1515"/>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10" name="Text 8"/>
          <p:cNvSpPr/>
          <p:nvPr/>
        </p:nvSpPr>
        <p:spPr>
          <a:xfrm>
            <a:off x="3255264" y="1783080"/>
            <a:ext cx="2670048" cy="502920"/>
          </a:xfrm>
          <a:prstGeom prst="rect">
            <a:avLst/>
          </a:prstGeom>
          <a:noFill/>
          <a:ln/>
        </p:spPr>
        <p:txBody>
          <a:bodyPr wrap="square" rtlCol="0" anchor="ctr"/>
          <a:lstStyle/>
          <a:p>
            <a:pPr algn="ct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11" name="Text 9"/>
          <p:cNvSpPr/>
          <p:nvPr/>
        </p:nvSpPr>
        <p:spPr>
          <a:xfrm>
            <a:off x="3255264" y="2331720"/>
            <a:ext cx="2670048" cy="658368"/>
          </a:xfrm>
          <a:prstGeom prst="rect">
            <a:avLst/>
          </a:prstGeom>
          <a:noFill/>
          <a:ln/>
        </p:spPr>
        <p:txBody>
          <a:bodyPr wrap="square" rtlCol="0" anchor="ctr"/>
          <a:lstStyle/>
          <a:p>
            <a:pPr algn="ctr" indent="0" marL="0">
              <a:buNone/>
            </a:pPr>
            <a:r>
              <a:rPr lang="en-US" sz="3400" b="1" dirty="0">
                <a:solidFill>
                  <a:srgbClr val="E60012"/>
                </a:solidFill>
                <a:latin typeface="Arial" pitchFamily="34" charset="0"/>
                <a:ea typeface="Arial" pitchFamily="34" charset="-122"/>
                <a:cs typeface="Arial" pitchFamily="34" charset="-120"/>
              </a:rPr>
              <a:t>Habit</a:t>
            </a:r>
            <a:endParaRPr lang="en-US" sz="3400" dirty="0"/>
          </a:p>
        </p:txBody>
      </p:sp>
      <p:sp>
        <p:nvSpPr>
          <p:cNvPr id="12" name="Text 10"/>
          <p:cNvSpPr/>
          <p:nvPr/>
        </p:nvSpPr>
        <p:spPr>
          <a:xfrm>
            <a:off x="3255264" y="3017520"/>
            <a:ext cx="2670048"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Wins at point-of-sale every time</a:t>
            </a:r>
            <a:endParaRPr lang="en-US" sz="1100" dirty="0"/>
          </a:p>
        </p:txBody>
      </p:sp>
      <p:sp>
        <p:nvSpPr>
          <p:cNvPr id="13" name="Text 11"/>
          <p:cNvSpPr/>
          <p:nvPr/>
        </p:nvSpPr>
        <p:spPr>
          <a:xfrm>
            <a:off x="3383280" y="3401568"/>
            <a:ext cx="2414016" cy="1280160"/>
          </a:xfrm>
          <a:prstGeom prst="rect">
            <a:avLst/>
          </a:prstGeom>
          <a:noFill/>
          <a:ln/>
        </p:spPr>
        <p:txBody>
          <a:bodyPr wrap="square" rtlCol="0" anchor="ctr"/>
          <a:lstStyle/>
          <a:p>
            <a:pPr algn="ctr" indent="0" marL="0">
              <a:buNone/>
            </a:pPr>
            <a:r>
              <a:rPr lang="en-US" sz="900" dirty="0">
                <a:solidFill>
                  <a:srgbClr val="8B9E9B"/>
                </a:solidFill>
                <a:latin typeface="Arial" pitchFamily="34" charset="0"/>
                <a:ea typeface="Arial" pitchFamily="34" charset="-122"/>
                <a:cs typeface="Arial" pitchFamily="34" charset="-120"/>
              </a:rPr>
              <a:t>Users reach for their wallet by default before they check if PayPay is accepted</a:t>
            </a:r>
            <a:endParaRPr lang="en-US" sz="900" dirty="0"/>
          </a:p>
        </p:txBody>
      </p:sp>
      <p:sp>
        <p:nvSpPr>
          <p:cNvPr id="14" name="Shape 12"/>
          <p:cNvSpPr/>
          <p:nvPr/>
        </p:nvSpPr>
        <p:spPr>
          <a:xfrm>
            <a:off x="6163056" y="1627632"/>
            <a:ext cx="2670048" cy="3246120"/>
          </a:xfrm>
          <a:prstGeom prst="roundRect">
            <a:avLst>
              <a:gd name="adj" fmla="val 4110"/>
            </a:avLst>
          </a:prstGeom>
          <a:solidFill>
            <a:srgbClr val="2D1515"/>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15" name="Text 13"/>
          <p:cNvSpPr/>
          <p:nvPr/>
        </p:nvSpPr>
        <p:spPr>
          <a:xfrm>
            <a:off x="6163056" y="1783080"/>
            <a:ext cx="2670048" cy="502920"/>
          </a:xfrm>
          <a:prstGeom prst="rect">
            <a:avLst/>
          </a:prstGeom>
          <a:noFill/>
          <a:ln/>
        </p:spPr>
        <p:txBody>
          <a:bodyPr wrap="square" rtlCol="0" anchor="ctr"/>
          <a:lstStyle/>
          <a:p>
            <a:pPr algn="ct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16" name="Text 14"/>
          <p:cNvSpPr/>
          <p:nvPr/>
        </p:nvSpPr>
        <p:spPr>
          <a:xfrm>
            <a:off x="6163056" y="2331720"/>
            <a:ext cx="2670048" cy="658368"/>
          </a:xfrm>
          <a:prstGeom prst="rect">
            <a:avLst/>
          </a:prstGeom>
          <a:noFill/>
          <a:ln/>
        </p:spPr>
        <p:txBody>
          <a:bodyPr wrap="square" rtlCol="0" anchor="ctr"/>
          <a:lstStyle/>
          <a:p>
            <a:pPr algn="ctr" indent="0" marL="0">
              <a:buNone/>
            </a:pPr>
            <a:r>
              <a:rPr lang="en-US" sz="3400" b="1" dirty="0">
                <a:solidFill>
                  <a:srgbClr val="E60012"/>
                </a:solidFill>
                <a:latin typeface="Arial" pitchFamily="34" charset="0"/>
                <a:ea typeface="Arial" pitchFamily="34" charset="-122"/>
                <a:cs typeface="Arial" pitchFamily="34" charset="-120"/>
              </a:rPr>
              <a:t>&lt;40%</a:t>
            </a:r>
            <a:endParaRPr lang="en-US" sz="3400" dirty="0"/>
          </a:p>
        </p:txBody>
      </p:sp>
      <p:sp>
        <p:nvSpPr>
          <p:cNvPr id="17" name="Text 15"/>
          <p:cNvSpPr/>
          <p:nvPr/>
        </p:nvSpPr>
        <p:spPr>
          <a:xfrm>
            <a:off x="6163056" y="3017520"/>
            <a:ext cx="2670048"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Merchant activation within 90 days</a:t>
            </a:r>
            <a:endParaRPr lang="en-US" sz="1100" dirty="0"/>
          </a:p>
        </p:txBody>
      </p:sp>
      <p:sp>
        <p:nvSpPr>
          <p:cNvPr id="18" name="Text 16"/>
          <p:cNvSpPr/>
          <p:nvPr/>
        </p:nvSpPr>
        <p:spPr>
          <a:xfrm>
            <a:off x="6291072" y="3401568"/>
            <a:ext cx="2414016" cy="1280160"/>
          </a:xfrm>
          <a:prstGeom prst="rect">
            <a:avLst/>
          </a:prstGeom>
          <a:noFill/>
          <a:ln/>
        </p:spPr>
        <p:txBody>
          <a:bodyPr wrap="square" rtlCol="0" anchor="ctr"/>
          <a:lstStyle/>
          <a:p>
            <a:pPr algn="ctr" indent="0" marL="0">
              <a:buNone/>
            </a:pPr>
            <a:r>
              <a:rPr lang="en-US" sz="900" dirty="0">
                <a:solidFill>
                  <a:srgbClr val="8B9E9B"/>
                </a:solidFill>
                <a:latin typeface="Arial" pitchFamily="34" charset="0"/>
                <a:ea typeface="Arial" pitchFamily="34" charset="-122"/>
                <a:cs typeface="Arial" pitchFamily="34" charset="-120"/>
              </a:rPr>
              <a:t>Many accepting merchants have almost no PayPay volume because users do not know they accept it</a:t>
            </a:r>
            <a:endParaRPr lang="en-US" sz="900" dirty="0"/>
          </a:p>
        </p:txBody>
      </p:sp>
      <p:sp>
        <p:nvSpPr>
          <p:cNvPr id="19" name="Shape 17"/>
          <p:cNvSpPr/>
          <p:nvPr/>
        </p:nvSpPr>
        <p:spPr>
          <a:xfrm>
            <a:off x="347472" y="5029200"/>
            <a:ext cx="8449056" cy="1280160"/>
          </a:xfrm>
          <a:prstGeom prst="roundRect">
            <a:avLst>
              <a:gd name="adj" fmla="val 7143"/>
            </a:avLst>
          </a:prstGeom>
          <a:solidFill>
            <a:srgbClr val="2D1515"/>
          </a:solidFill>
          <a:ln w="12700">
            <a:solidFill>
              <a:srgbClr val="333333"/>
            </a:solidFill>
            <a:prstDash val="solid"/>
          </a:ln>
        </p:spPr>
      </p:sp>
      <p:sp>
        <p:nvSpPr>
          <p:cNvPr id="20" name="Text 18"/>
          <p:cNvSpPr/>
          <p:nvPr/>
        </p:nvSpPr>
        <p:spPr>
          <a:xfrm>
            <a:off x="530352" y="5120640"/>
            <a:ext cx="8083296" cy="1005840"/>
          </a:xfrm>
          <a:prstGeom prst="rect">
            <a:avLst/>
          </a:prstGeom>
          <a:noFill/>
          <a:ln/>
        </p:spPr>
        <p:txBody>
          <a:bodyPr wrap="square" rtlCol="0" anchor="ctr"/>
          <a:lstStyle/>
          <a:p>
            <a:pPr indent="0" marL="0">
              <a:buNone/>
            </a:pPr>
            <a:r>
              <a:rPr lang="en-US" sz="1050" i="1" dirty="0">
                <a:solidFill>
                  <a:srgbClr val="FFF5F5"/>
                </a:solidFill>
                <a:latin typeface="Arial" pitchFamily="34" charset="0"/>
                <a:ea typeface="Arial" pitchFamily="34" charset="-122"/>
                <a:cs typeface="Arial" pitchFamily="34" charset="-120"/>
              </a:rPr>
              <a:t>Root cause: The biggest competitor to PayPay at the point of sale is not another payment app. It is the physical wallet reflex. Users do not know the cafe they just walked into accepts PayPay. NearPay gives them a reason to check their phone first — before reaching for their card.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5F5"/>
        </a:solidFill>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indent="0" marL="0">
              <a:buNone/>
            </a:pPr>
            <a:r>
              <a:rPr lang="en-US" sz="900" b="1" spc="400" kern="0" dirty="0">
                <a:solidFill>
                  <a:srgbClr val="E60012"/>
                </a:solidFill>
                <a:latin typeface="Arial" pitchFamily="34" charset="0"/>
                <a:ea typeface="Arial" pitchFamily="34" charset="-122"/>
                <a:cs typeface="Arial" pitchFamily="34" charset="-120"/>
              </a:rPr>
              <a:t>THE INSIGHT</a:t>
            </a:r>
            <a:endParaRPr lang="en-US" sz="900" dirty="0"/>
          </a:p>
        </p:txBody>
      </p:sp>
      <p:sp>
        <p:nvSpPr>
          <p:cNvPr id="3" name="Text 1"/>
          <p:cNvSpPr/>
          <p:nvPr/>
        </p:nvSpPr>
        <p:spPr>
          <a:xfrm>
            <a:off x="457200" y="548640"/>
            <a:ext cx="8229600" cy="868680"/>
          </a:xfrm>
          <a:prstGeom prst="rect">
            <a:avLst/>
          </a:prstGeom>
          <a:noFill/>
          <a:ln/>
        </p:spPr>
        <p:txBody>
          <a:bodyPr wrap="square" rtlCol="0" anchor="ctr"/>
          <a:lstStyle/>
          <a:p>
            <a:pPr indent="0" marL="0">
              <a:buNone/>
            </a:pPr>
            <a:r>
              <a:rPr lang="en-US" sz="2400" b="1" dirty="0">
                <a:solidFill>
                  <a:srgbClr val="1A1A1A"/>
                </a:solidFill>
                <a:latin typeface="Arial" pitchFamily="34" charset="0"/>
                <a:ea typeface="Arial" pitchFamily="34" charset="-122"/>
                <a:cs typeface="Arial" pitchFamily="34" charset="-120"/>
              </a:rPr>
              <a:t>The Discovery Bonus Costs PayPay Nothing.</a:t>
            </a:r>
            <a:endParaRPr lang="en-US" sz="2400" dirty="0"/>
          </a:p>
          <a:p>
            <a:pPr indent="0" marL="0">
              <a:buNone/>
            </a:pPr>
            <a:r>
              <a:rPr lang="en-US" sz="2400" b="1" dirty="0">
                <a:solidFill>
                  <a:srgbClr val="1A1A1A"/>
                </a:solidFill>
                <a:latin typeface="Arial" pitchFamily="34" charset="0"/>
                <a:ea typeface="Arial" pitchFamily="34" charset="-122"/>
                <a:cs typeface="Arial" pitchFamily="34" charset="-120"/>
              </a:rPr>
              <a:t>The Merchant Pays. The User Discovers.</a:t>
            </a:r>
            <a:endParaRPr lang="en-US" sz="2400" dirty="0"/>
          </a:p>
        </p:txBody>
      </p:sp>
      <p:sp>
        <p:nvSpPr>
          <p:cNvPr id="4" name="Shape 2"/>
          <p:cNvSpPr/>
          <p:nvPr/>
        </p:nvSpPr>
        <p:spPr>
          <a:xfrm>
            <a:off x="347472" y="1572768"/>
            <a:ext cx="3886200" cy="4160520"/>
          </a:xfrm>
          <a:prstGeom prst="roundRect">
            <a:avLst>
              <a:gd name="adj" fmla="val 2353"/>
            </a:avLst>
          </a:prstGeom>
          <a:solidFill>
            <a:srgbClr val="FFFFFF"/>
          </a:solidFill>
          <a:ln w="12700">
            <a:solidFill>
              <a:srgbClr val="DDDDDD"/>
            </a:solidFill>
            <a:prstDash val="solid"/>
          </a:ln>
          <a:effectLst>
            <a:outerShdw sx="100000" sy="100000" kx="0" ky="0" algn="bl" rotWithShape="0" blurRad="38100" dist="12700" dir="2700000">
              <a:srgbClr val="000000">
                <a:alpha val="12000"/>
              </a:srgbClr>
            </a:outerShdw>
          </a:effectLst>
        </p:spPr>
      </p:sp>
      <p:sp>
        <p:nvSpPr>
          <p:cNvPr id="5" name="Text 3"/>
          <p:cNvSpPr/>
          <p:nvPr/>
        </p:nvSpPr>
        <p:spPr>
          <a:xfrm>
            <a:off x="502920" y="1737360"/>
            <a:ext cx="3566160" cy="347472"/>
          </a:xfrm>
          <a:prstGeom prst="rect">
            <a:avLst/>
          </a:prstGeom>
          <a:noFill/>
          <a:ln/>
        </p:spPr>
        <p:txBody>
          <a:bodyPr wrap="square" rtlCol="0" anchor="ctr"/>
          <a:lstStyle/>
          <a:p>
            <a:pPr indent="0" marL="0">
              <a:buNone/>
            </a:pPr>
            <a:r>
              <a:rPr lang="en-US" sz="1200" b="1" dirty="0">
                <a:solidFill>
                  <a:srgbClr val="CC3300"/>
                </a:solidFill>
                <a:latin typeface="Arial" pitchFamily="34" charset="0"/>
                <a:ea typeface="Arial" pitchFamily="34" charset="-122"/>
                <a:cs typeface="Arial" pitchFamily="34" charset="-120"/>
              </a:rPr>
              <a:t>Without NearPay (Current)</a:t>
            </a:r>
            <a:endParaRPr lang="en-US" sz="1200" dirty="0"/>
          </a:p>
        </p:txBody>
      </p:sp>
      <p:sp>
        <p:nvSpPr>
          <p:cNvPr id="6" name="Text 4"/>
          <p:cNvSpPr/>
          <p:nvPr/>
        </p:nvSpPr>
        <p:spPr>
          <a:xfrm>
            <a:off x="530352" y="2212848"/>
            <a:ext cx="3566160" cy="493776"/>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User walks past 3 PayPay merchants without knowing</a:t>
            </a:r>
            <a:endParaRPr lang="en-US" sz="950" dirty="0"/>
          </a:p>
        </p:txBody>
      </p:sp>
      <p:sp>
        <p:nvSpPr>
          <p:cNvPr id="7" name="Text 5"/>
          <p:cNvSpPr/>
          <p:nvPr/>
        </p:nvSpPr>
        <p:spPr>
          <a:xfrm>
            <a:off x="530352" y="2761488"/>
            <a:ext cx="3566160" cy="493776"/>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Reaches for wallet — pays by card or cash</a:t>
            </a:r>
            <a:endParaRPr lang="en-US" sz="950" dirty="0"/>
          </a:p>
        </p:txBody>
      </p:sp>
      <p:sp>
        <p:nvSpPr>
          <p:cNvPr id="8" name="Text 6"/>
          <p:cNvSpPr/>
          <p:nvPr/>
        </p:nvSpPr>
        <p:spPr>
          <a:xfrm>
            <a:off x="530352" y="3310128"/>
            <a:ext cx="3566160" cy="493776"/>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PayPay gets zero transaction volume from that moment</a:t>
            </a:r>
            <a:endParaRPr lang="en-US" sz="950" dirty="0"/>
          </a:p>
        </p:txBody>
      </p:sp>
      <p:sp>
        <p:nvSpPr>
          <p:cNvPr id="9" name="Text 7"/>
          <p:cNvSpPr/>
          <p:nvPr/>
        </p:nvSpPr>
        <p:spPr>
          <a:xfrm>
            <a:off x="530352" y="3858768"/>
            <a:ext cx="3566160" cy="493776"/>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Merchant paid PayPay onboarding fee but sees no uplift</a:t>
            </a:r>
            <a:endParaRPr lang="en-US" sz="950" dirty="0"/>
          </a:p>
        </p:txBody>
      </p:sp>
      <p:sp>
        <p:nvSpPr>
          <p:cNvPr id="10" name="Text 8"/>
          <p:cNvSpPr/>
          <p:nvPr/>
        </p:nvSpPr>
        <p:spPr>
          <a:xfrm>
            <a:off x="530352" y="4407408"/>
            <a:ext cx="3566160" cy="493776"/>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Discovery happens only by accident, if at all</a:t>
            </a:r>
            <a:endParaRPr lang="en-US" sz="950" dirty="0"/>
          </a:p>
        </p:txBody>
      </p:sp>
      <p:sp>
        <p:nvSpPr>
          <p:cNvPr id="11" name="Shape 9"/>
          <p:cNvSpPr/>
          <p:nvPr/>
        </p:nvSpPr>
        <p:spPr>
          <a:xfrm>
            <a:off x="4251960" y="3273552"/>
            <a:ext cx="640080" cy="640080"/>
          </a:xfrm>
          <a:prstGeom prst="ellipse">
            <a:avLst/>
          </a:prstGeom>
          <a:solidFill>
            <a:srgbClr val="E60012"/>
          </a:solidFill>
          <a:ln w="12700">
            <a:solidFill>
              <a:srgbClr val="000000"/>
            </a:solidFill>
            <a:prstDash val="solid"/>
          </a:ln>
        </p:spPr>
      </p:sp>
      <p:sp>
        <p:nvSpPr>
          <p:cNvPr id="12" name="Text 10"/>
          <p:cNvSpPr/>
          <p:nvPr/>
        </p:nvSpPr>
        <p:spPr>
          <a:xfrm>
            <a:off x="4251960" y="3273552"/>
            <a:ext cx="640080" cy="6400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VS</a:t>
            </a:r>
            <a:endParaRPr lang="en-US" sz="1100" dirty="0"/>
          </a:p>
        </p:txBody>
      </p:sp>
      <p:sp>
        <p:nvSpPr>
          <p:cNvPr id="13" name="Shape 11"/>
          <p:cNvSpPr/>
          <p:nvPr/>
        </p:nvSpPr>
        <p:spPr>
          <a:xfrm>
            <a:off x="4910328" y="1572768"/>
            <a:ext cx="3886200" cy="4160520"/>
          </a:xfrm>
          <a:prstGeom prst="roundRect">
            <a:avLst>
              <a:gd name="adj" fmla="val 2353"/>
            </a:avLst>
          </a:prstGeom>
          <a:solidFill>
            <a:srgbClr val="1A0A0A"/>
          </a:solidFill>
          <a:ln w="19050">
            <a:solidFill>
              <a:srgbClr val="E60012"/>
            </a:solidFill>
            <a:prstDash val="solid"/>
          </a:ln>
          <a:effectLst>
            <a:outerShdw sx="100000" sy="100000" kx="0" ky="0" algn="bl" rotWithShape="0" blurRad="38100" dist="12700" dir="2700000">
              <a:srgbClr val="000000">
                <a:alpha val="12000"/>
              </a:srgbClr>
            </a:outerShdw>
          </a:effectLst>
        </p:spPr>
      </p:sp>
      <p:sp>
        <p:nvSpPr>
          <p:cNvPr id="14" name="Text 12"/>
          <p:cNvSpPr/>
          <p:nvPr/>
        </p:nvSpPr>
        <p:spPr>
          <a:xfrm>
            <a:off x="5047488" y="1737360"/>
            <a:ext cx="3566160" cy="347472"/>
          </a:xfrm>
          <a:prstGeom prst="rect">
            <a:avLst/>
          </a:prstGeom>
          <a:noFill/>
          <a:ln/>
        </p:spPr>
        <p:txBody>
          <a:bodyPr wrap="square" rtlCol="0" anchor="ctr"/>
          <a:lstStyle/>
          <a:p>
            <a:pPr indent="0" marL="0">
              <a:buNone/>
            </a:pPr>
            <a:r>
              <a:rPr lang="en-US" sz="1200" b="1" dirty="0">
                <a:solidFill>
                  <a:srgbClr val="E60012"/>
                </a:solidFill>
                <a:latin typeface="Arial" pitchFamily="34" charset="0"/>
                <a:ea typeface="Arial" pitchFamily="34" charset="-122"/>
                <a:cs typeface="Arial" pitchFamily="34" charset="-120"/>
              </a:rPr>
              <a:t>With NearPay (Proposed)</a:t>
            </a:r>
            <a:endParaRPr lang="en-US" sz="1200" dirty="0"/>
          </a:p>
        </p:txBody>
      </p:sp>
      <p:sp>
        <p:nvSpPr>
          <p:cNvPr id="15" name="Text 13"/>
          <p:cNvSpPr/>
          <p:nvPr/>
        </p:nvSpPr>
        <p:spPr>
          <a:xfrm>
            <a:off x="5047488" y="2212848"/>
            <a:ext cx="3566160" cy="493776"/>
          </a:xfrm>
          <a:prstGeom prst="rect">
            <a:avLst/>
          </a:prstGeom>
          <a:noFill/>
          <a:ln/>
        </p:spPr>
        <p:txBody>
          <a:bodyPr wrap="square" rtlCol="0" anchor="ctr"/>
          <a:lstStyle/>
          <a:p>
            <a:pPr indent="0" marL="0">
              <a:buNone/>
            </a:pPr>
            <a:r>
              <a:rPr lang="en-US" sz="950" dirty="0">
                <a:solidFill>
                  <a:srgbClr val="FFF5F5"/>
                </a:solidFill>
                <a:latin typeface="Arial" pitchFamily="34" charset="0"/>
                <a:ea typeface="Arial" pitchFamily="34" charset="-122"/>
                <a:cs typeface="Arial" pitchFamily="34" charset="-120"/>
              </a:rPr>
              <a:t>Push: 3 PayPay stores within 200m — Discovery Bonus available</a:t>
            </a:r>
            <a:endParaRPr lang="en-US" sz="950" dirty="0"/>
          </a:p>
        </p:txBody>
      </p:sp>
      <p:sp>
        <p:nvSpPr>
          <p:cNvPr id="16" name="Text 14"/>
          <p:cNvSpPr/>
          <p:nvPr/>
        </p:nvSpPr>
        <p:spPr>
          <a:xfrm>
            <a:off x="5047488" y="2761488"/>
            <a:ext cx="3566160" cy="493776"/>
          </a:xfrm>
          <a:prstGeom prst="rect">
            <a:avLst/>
          </a:prstGeom>
          <a:noFill/>
          <a:ln/>
        </p:spPr>
        <p:txBody>
          <a:bodyPr wrap="square" rtlCol="0" anchor="ctr"/>
          <a:lstStyle/>
          <a:p>
            <a:pPr indent="0" marL="0">
              <a:buNone/>
            </a:pPr>
            <a:r>
              <a:rPr lang="en-US" sz="950" dirty="0">
                <a:solidFill>
                  <a:srgbClr val="FFF5F5"/>
                </a:solidFill>
                <a:latin typeface="Arial" pitchFamily="34" charset="0"/>
                <a:ea typeface="Arial" pitchFamily="34" charset="-122"/>
                <a:cs typeface="Arial" pitchFamily="34" charset="-120"/>
              </a:rPr>
              <a:t>User opens NearPay map, taps Ueno Cafe, walks 80m</a:t>
            </a:r>
            <a:endParaRPr lang="en-US" sz="950" dirty="0"/>
          </a:p>
        </p:txBody>
      </p:sp>
      <p:sp>
        <p:nvSpPr>
          <p:cNvPr id="17" name="Text 15"/>
          <p:cNvSpPr/>
          <p:nvPr/>
        </p:nvSpPr>
        <p:spPr>
          <a:xfrm>
            <a:off x="5047488" y="3310128"/>
            <a:ext cx="3566160" cy="493776"/>
          </a:xfrm>
          <a:prstGeom prst="rect">
            <a:avLst/>
          </a:prstGeom>
          <a:noFill/>
          <a:ln/>
        </p:spPr>
        <p:txBody>
          <a:bodyPr wrap="square" rtlCol="0" anchor="ctr"/>
          <a:lstStyle/>
          <a:p>
            <a:pPr indent="0" marL="0">
              <a:buNone/>
            </a:pPr>
            <a:r>
              <a:rPr lang="en-US" sz="950" dirty="0">
                <a:solidFill>
                  <a:srgbClr val="FFF5F5"/>
                </a:solidFill>
                <a:latin typeface="Arial" pitchFamily="34" charset="0"/>
                <a:ea typeface="Arial" pitchFamily="34" charset="-122"/>
                <a:cs typeface="Arial" pitchFamily="34" charset="-120"/>
              </a:rPr>
              <a:t>Pays with PayPay — 5% First Visit Bonus applied automatically</a:t>
            </a:r>
            <a:endParaRPr lang="en-US" sz="950" dirty="0"/>
          </a:p>
        </p:txBody>
      </p:sp>
      <p:sp>
        <p:nvSpPr>
          <p:cNvPr id="18" name="Text 16"/>
          <p:cNvSpPr/>
          <p:nvPr/>
        </p:nvSpPr>
        <p:spPr>
          <a:xfrm>
            <a:off x="5047488" y="3858768"/>
            <a:ext cx="3566160" cy="493776"/>
          </a:xfrm>
          <a:prstGeom prst="rect">
            <a:avLst/>
          </a:prstGeom>
          <a:noFill/>
          <a:ln/>
        </p:spPr>
        <p:txBody>
          <a:bodyPr wrap="square" rtlCol="0" anchor="ctr"/>
          <a:lstStyle/>
          <a:p>
            <a:pPr indent="0" marL="0">
              <a:buNone/>
            </a:pPr>
            <a:r>
              <a:rPr lang="en-US" sz="950" dirty="0">
                <a:solidFill>
                  <a:srgbClr val="FFF5F5"/>
                </a:solidFill>
                <a:latin typeface="Arial" pitchFamily="34" charset="0"/>
                <a:ea typeface="Arial" pitchFamily="34" charset="-122"/>
                <a:cs typeface="Arial" pitchFamily="34" charset="-120"/>
              </a:rPr>
              <a:t>Merchant funded the bonus from their campaign budget</a:t>
            </a:r>
            <a:endParaRPr lang="en-US" sz="950" dirty="0"/>
          </a:p>
        </p:txBody>
      </p:sp>
      <p:sp>
        <p:nvSpPr>
          <p:cNvPr id="19" name="Text 17"/>
          <p:cNvSpPr/>
          <p:nvPr/>
        </p:nvSpPr>
        <p:spPr>
          <a:xfrm>
            <a:off x="5047488" y="4407408"/>
            <a:ext cx="3566160" cy="493776"/>
          </a:xfrm>
          <a:prstGeom prst="rect">
            <a:avLst/>
          </a:prstGeom>
          <a:noFill/>
          <a:ln/>
        </p:spPr>
        <p:txBody>
          <a:bodyPr wrap="square" rtlCol="0" anchor="ctr"/>
          <a:lstStyle/>
          <a:p>
            <a:pPr indent="0" marL="0">
              <a:buNone/>
            </a:pPr>
            <a:r>
              <a:rPr lang="en-US" sz="950" dirty="0">
                <a:solidFill>
                  <a:srgbClr val="FFF5F5"/>
                </a:solidFill>
                <a:latin typeface="Arial" pitchFamily="34" charset="0"/>
                <a:ea typeface="Arial" pitchFamily="34" charset="-122"/>
                <a:cs typeface="Arial" pitchFamily="34" charset="-120"/>
              </a:rPr>
              <a:t>Discovery becomes repeatable — 8 new stores found this month</a:t>
            </a:r>
            <a:endParaRPr lang="en-US" sz="950" dirty="0"/>
          </a:p>
        </p:txBody>
      </p:sp>
      <p:sp>
        <p:nvSpPr>
          <p:cNvPr id="20" name="Shape 18"/>
          <p:cNvSpPr/>
          <p:nvPr/>
        </p:nvSpPr>
        <p:spPr>
          <a:xfrm>
            <a:off x="347472" y="5870448"/>
            <a:ext cx="8449056" cy="777240"/>
          </a:xfrm>
          <a:prstGeom prst="roundRect">
            <a:avLst>
              <a:gd name="adj" fmla="val 9412"/>
            </a:avLst>
          </a:prstGeom>
          <a:solidFill>
            <a:srgbClr val="FFFFFF"/>
          </a:solidFill>
          <a:ln w="19050">
            <a:solidFill>
              <a:srgbClr val="E60012"/>
            </a:solidFill>
            <a:prstDash val="solid"/>
          </a:ln>
        </p:spPr>
      </p:sp>
      <p:sp>
        <p:nvSpPr>
          <p:cNvPr id="21" name="Text 19"/>
          <p:cNvSpPr/>
          <p:nvPr/>
        </p:nvSpPr>
        <p:spPr>
          <a:xfrm>
            <a:off x="530352" y="5961888"/>
            <a:ext cx="8083296" cy="621792"/>
          </a:xfrm>
          <a:prstGeom prst="rect">
            <a:avLst/>
          </a:prstGeom>
          <a:noFill/>
          <a:ln/>
        </p:spPr>
        <p:txBody>
          <a:bodyPr wrap="square" rtlCol="0" anchor="ctr"/>
          <a:lstStyle/>
          <a:p>
            <a:pPr indent="0" marL="0">
              <a:buNone/>
            </a:pPr>
            <a:r>
              <a:rPr lang="en-US" sz="1000" i="1" dirty="0">
                <a:solidFill>
                  <a:srgbClr val="1A1A1A"/>
                </a:solidFill>
                <a:latin typeface="Arial" pitchFamily="34" charset="0"/>
                <a:ea typeface="Arial" pitchFamily="34" charset="-122"/>
                <a:cs typeface="Arial" pitchFamily="34" charset="-120"/>
              </a:rPr>
              <a:t>Key insight: The Discovery Bonus is fully merchant-funded. PayPay acts as a matchmaker — it surfaces the merchant to the user at the right moment and takes zero net subsidy cost. The merchant gets a new customer; the user earns a bonus; PayPay gets the transaction.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0A0A"/>
        </a:solidFill>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indent="0" marL="0">
              <a:buNone/>
            </a:pPr>
            <a:r>
              <a:rPr lang="en-US" sz="900" b="1" spc="400" kern="0" dirty="0">
                <a:solidFill>
                  <a:srgbClr val="E60012"/>
                </a:solidFill>
                <a:latin typeface="Arial" pitchFamily="34" charset="0"/>
                <a:ea typeface="Arial" pitchFamily="34" charset="-122"/>
                <a:cs typeface="Arial" pitchFamily="34" charset="-120"/>
              </a:rPr>
              <a:t>THE MECHANIC</a:t>
            </a:r>
            <a:endParaRPr lang="en-US" sz="900" dirty="0"/>
          </a:p>
        </p:txBody>
      </p:sp>
      <p:sp>
        <p:nvSpPr>
          <p:cNvPr id="3" name="Text 1"/>
          <p:cNvSpPr/>
          <p:nvPr/>
        </p:nvSpPr>
        <p:spPr>
          <a:xfrm>
            <a:off x="457200" y="548640"/>
            <a:ext cx="8229600" cy="59436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Context-Aware Trigger: Right Merchant, Right Moment, Right Bonus</a:t>
            </a:r>
            <a:endParaRPr lang="en-US" sz="2400" dirty="0"/>
          </a:p>
        </p:txBody>
      </p:sp>
      <p:sp>
        <p:nvSpPr>
          <p:cNvPr id="4" name="Shape 2"/>
          <p:cNvSpPr/>
          <p:nvPr/>
        </p:nvSpPr>
        <p:spPr>
          <a:xfrm>
            <a:off x="347472" y="1508760"/>
            <a:ext cx="1572768" cy="4343400"/>
          </a:xfrm>
          <a:prstGeom prst="roundRect">
            <a:avLst>
              <a:gd name="adj" fmla="val 5814"/>
            </a:avLst>
          </a:prstGeom>
          <a:solidFill>
            <a:srgbClr val="2D1515"/>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5" name="Shape 3"/>
          <p:cNvSpPr/>
          <p:nvPr/>
        </p:nvSpPr>
        <p:spPr>
          <a:xfrm>
            <a:off x="859536" y="1627632"/>
            <a:ext cx="548640" cy="548640"/>
          </a:xfrm>
          <a:prstGeom prst="ellipse">
            <a:avLst/>
          </a:prstGeom>
          <a:solidFill>
            <a:srgbClr val="E60012"/>
          </a:solidFill>
          <a:ln w="12700">
            <a:solidFill>
              <a:srgbClr val="000000"/>
            </a:solidFill>
            <a:prstDash val="solid"/>
          </a:ln>
        </p:spPr>
      </p:sp>
      <p:sp>
        <p:nvSpPr>
          <p:cNvPr id="6" name="Text 4"/>
          <p:cNvSpPr/>
          <p:nvPr/>
        </p:nvSpPr>
        <p:spPr>
          <a:xfrm>
            <a:off x="859536" y="1627632"/>
            <a:ext cx="5486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7" name="Text 5"/>
          <p:cNvSpPr/>
          <p:nvPr/>
        </p:nvSpPr>
        <p:spPr>
          <a:xfrm>
            <a:off x="420624" y="2267712"/>
            <a:ext cx="1426464" cy="4572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Detect Context</a:t>
            </a:r>
            <a:endParaRPr lang="en-US" sz="1000" dirty="0"/>
          </a:p>
        </p:txBody>
      </p:sp>
      <p:sp>
        <p:nvSpPr>
          <p:cNvPr id="8" name="Text 6"/>
          <p:cNvSpPr/>
          <p:nvPr/>
        </p:nvSpPr>
        <p:spPr>
          <a:xfrm>
            <a:off x="438912" y="2788920"/>
            <a:ext cx="1389888" cy="3017520"/>
          </a:xfrm>
          <a:prstGeom prst="rect">
            <a:avLst/>
          </a:prstGeom>
          <a:noFill/>
          <a:ln/>
        </p:spPr>
        <p:txBody>
          <a:bodyPr wrap="square" rtlCol="0" anchor="ctr"/>
          <a:lstStyle/>
          <a:p>
            <a:pPr indent="0" marL="0">
              <a:buNone/>
            </a:pPr>
            <a:r>
              <a:rPr lang="en-US" sz="800" dirty="0">
                <a:solidFill>
                  <a:srgbClr val="8B9E9B"/>
                </a:solidFill>
                <a:latin typeface="Arial" pitchFamily="34" charset="0"/>
                <a:ea typeface="Arial" pitchFamily="34" charset="-122"/>
                <a:cs typeface="Arial" pitchFamily="34" charset="-120"/>
              </a:rPr>
              <a:t>GPS detects user is stationary or slow-moving within 200m of an undiscovered PayPay merchant. Time window matches meal, coffee, or commute patterns.</a:t>
            </a:r>
            <a:endParaRPr lang="en-US" sz="800" dirty="0"/>
          </a:p>
        </p:txBody>
      </p:sp>
      <p:sp>
        <p:nvSpPr>
          <p:cNvPr id="9" name="Shape 7"/>
          <p:cNvSpPr/>
          <p:nvPr/>
        </p:nvSpPr>
        <p:spPr>
          <a:xfrm>
            <a:off x="2084832" y="1508760"/>
            <a:ext cx="1572768" cy="4343400"/>
          </a:xfrm>
          <a:prstGeom prst="roundRect">
            <a:avLst>
              <a:gd name="adj" fmla="val 5814"/>
            </a:avLst>
          </a:prstGeom>
          <a:solidFill>
            <a:srgbClr val="2D1515"/>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10" name="Shape 8"/>
          <p:cNvSpPr/>
          <p:nvPr/>
        </p:nvSpPr>
        <p:spPr>
          <a:xfrm>
            <a:off x="2596896" y="1627632"/>
            <a:ext cx="548640" cy="548640"/>
          </a:xfrm>
          <a:prstGeom prst="ellipse">
            <a:avLst/>
          </a:prstGeom>
          <a:solidFill>
            <a:srgbClr val="E60012"/>
          </a:solidFill>
          <a:ln w="12700">
            <a:solidFill>
              <a:srgbClr val="000000"/>
            </a:solidFill>
            <a:prstDash val="solid"/>
          </a:ln>
        </p:spPr>
      </p:sp>
      <p:sp>
        <p:nvSpPr>
          <p:cNvPr id="11" name="Text 9"/>
          <p:cNvSpPr/>
          <p:nvPr/>
        </p:nvSpPr>
        <p:spPr>
          <a:xfrm>
            <a:off x="2596896" y="1627632"/>
            <a:ext cx="5486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2" name="Text 10"/>
          <p:cNvSpPr/>
          <p:nvPr/>
        </p:nvSpPr>
        <p:spPr>
          <a:xfrm>
            <a:off x="2157984" y="2267712"/>
            <a:ext cx="1426464" cy="4572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Score Relevance</a:t>
            </a:r>
            <a:endParaRPr lang="en-US" sz="1000" dirty="0"/>
          </a:p>
        </p:txBody>
      </p:sp>
      <p:sp>
        <p:nvSpPr>
          <p:cNvPr id="13" name="Text 11"/>
          <p:cNvSpPr/>
          <p:nvPr/>
        </p:nvSpPr>
        <p:spPr>
          <a:xfrm>
            <a:off x="2176272" y="2788920"/>
            <a:ext cx="1389888" cy="3017520"/>
          </a:xfrm>
          <a:prstGeom prst="rect">
            <a:avLst/>
          </a:prstGeom>
          <a:noFill/>
          <a:ln/>
        </p:spPr>
        <p:txBody>
          <a:bodyPr wrap="square" rtlCol="0" anchor="ctr"/>
          <a:lstStyle/>
          <a:p>
            <a:pPr indent="0" marL="0">
              <a:buNone/>
            </a:pPr>
            <a:r>
              <a:rPr lang="en-US" sz="800" dirty="0">
                <a:solidFill>
                  <a:srgbClr val="8B9E9B"/>
                </a:solidFill>
                <a:latin typeface="Arial" pitchFamily="34" charset="0"/>
                <a:ea typeface="Arial" pitchFamily="34" charset="-122"/>
                <a:cs typeface="Arial" pitchFamily="34" charset="-120"/>
              </a:rPr>
              <a:t>Category affinity model checks if this merchant type matches the users payment history. Cafe at 9am for frequent coffee buyers. Ramen at noon for regular restaurant users.</a:t>
            </a:r>
            <a:endParaRPr lang="en-US" sz="800" dirty="0"/>
          </a:p>
        </p:txBody>
      </p:sp>
      <p:sp>
        <p:nvSpPr>
          <p:cNvPr id="14" name="Shape 12"/>
          <p:cNvSpPr/>
          <p:nvPr/>
        </p:nvSpPr>
        <p:spPr>
          <a:xfrm>
            <a:off x="3822192" y="1508760"/>
            <a:ext cx="1572768" cy="4343400"/>
          </a:xfrm>
          <a:prstGeom prst="roundRect">
            <a:avLst>
              <a:gd name="adj" fmla="val 5814"/>
            </a:avLst>
          </a:prstGeom>
          <a:solidFill>
            <a:srgbClr val="2D1515"/>
          </a:solidFill>
          <a:ln w="25400">
            <a:solidFill>
              <a:srgbClr val="FF6B00"/>
            </a:solidFill>
            <a:prstDash val="solid"/>
          </a:ln>
          <a:effectLst>
            <a:outerShdw sx="100000" sy="100000" kx="0" ky="0" algn="bl" rotWithShape="0" blurRad="38100" dist="12700" dir="2700000">
              <a:srgbClr val="000000">
                <a:alpha val="12000"/>
              </a:srgbClr>
            </a:outerShdw>
          </a:effectLst>
        </p:spPr>
      </p:sp>
      <p:sp>
        <p:nvSpPr>
          <p:cNvPr id="15" name="Shape 13"/>
          <p:cNvSpPr/>
          <p:nvPr/>
        </p:nvSpPr>
        <p:spPr>
          <a:xfrm>
            <a:off x="4334256" y="1627632"/>
            <a:ext cx="548640" cy="548640"/>
          </a:xfrm>
          <a:prstGeom prst="ellipse">
            <a:avLst/>
          </a:prstGeom>
          <a:solidFill>
            <a:srgbClr val="FF6B00"/>
          </a:solidFill>
          <a:ln w="12700">
            <a:solidFill>
              <a:srgbClr val="000000"/>
            </a:solidFill>
            <a:prstDash val="solid"/>
          </a:ln>
        </p:spPr>
      </p:sp>
      <p:sp>
        <p:nvSpPr>
          <p:cNvPr id="16" name="Text 14"/>
          <p:cNvSpPr/>
          <p:nvPr/>
        </p:nvSpPr>
        <p:spPr>
          <a:xfrm>
            <a:off x="4334256" y="1627632"/>
            <a:ext cx="5486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7" name="Text 15"/>
          <p:cNvSpPr/>
          <p:nvPr/>
        </p:nvSpPr>
        <p:spPr>
          <a:xfrm>
            <a:off x="3895344" y="2267712"/>
            <a:ext cx="1426464" cy="457200"/>
          </a:xfrm>
          <a:prstGeom prst="rect">
            <a:avLst/>
          </a:prstGeom>
          <a:noFill/>
          <a:ln/>
        </p:spPr>
        <p:txBody>
          <a:bodyPr wrap="square" rtlCol="0" anchor="ctr"/>
          <a:lstStyle/>
          <a:p>
            <a:pPr algn="ctr" indent="0" marL="0">
              <a:buNone/>
            </a:pPr>
            <a:r>
              <a:rPr lang="en-US" sz="1000" b="1" dirty="0">
                <a:solidFill>
                  <a:srgbClr val="FF6B00"/>
                </a:solidFill>
                <a:latin typeface="Arial" pitchFamily="34" charset="0"/>
                <a:ea typeface="Arial" pitchFamily="34" charset="-122"/>
                <a:cs typeface="Arial" pitchFamily="34" charset="-120"/>
              </a:rPr>
              <a:t>Trigger + Push</a:t>
            </a:r>
            <a:endParaRPr lang="en-US" sz="1000" dirty="0"/>
          </a:p>
        </p:txBody>
      </p:sp>
      <p:sp>
        <p:nvSpPr>
          <p:cNvPr id="18" name="Text 16"/>
          <p:cNvSpPr/>
          <p:nvPr/>
        </p:nvSpPr>
        <p:spPr>
          <a:xfrm>
            <a:off x="3913632" y="2788920"/>
            <a:ext cx="1389888" cy="3017520"/>
          </a:xfrm>
          <a:prstGeom prst="rect">
            <a:avLst/>
          </a:prstGeom>
          <a:noFill/>
          <a:ln/>
        </p:spPr>
        <p:txBody>
          <a:bodyPr wrap="square" rtlCol="0" anchor="ctr"/>
          <a:lstStyle/>
          <a:p>
            <a:pPr indent="0" marL="0">
              <a:buNone/>
            </a:pPr>
            <a:r>
              <a:rPr lang="en-US" sz="800" dirty="0">
                <a:solidFill>
                  <a:srgbClr val="8B9E9B"/>
                </a:solidFill>
                <a:latin typeface="Arial" pitchFamily="34" charset="0"/>
                <a:ea typeface="Arial" pitchFamily="34" charset="-122"/>
                <a:cs typeface="Arial" pitchFamily="34" charset="-120"/>
              </a:rPr>
              <a:t>Push notification fires: 3 PayPay stores near you. Bonus available. Opens NearPay map in-app. Merchant funded Discovery Bonus shown per store.</a:t>
            </a:r>
            <a:endParaRPr lang="en-US" sz="800" dirty="0"/>
          </a:p>
        </p:txBody>
      </p:sp>
      <p:sp>
        <p:nvSpPr>
          <p:cNvPr id="19" name="Shape 17"/>
          <p:cNvSpPr/>
          <p:nvPr/>
        </p:nvSpPr>
        <p:spPr>
          <a:xfrm>
            <a:off x="5559552" y="1508760"/>
            <a:ext cx="1572768" cy="4343400"/>
          </a:xfrm>
          <a:prstGeom prst="roundRect">
            <a:avLst>
              <a:gd name="adj" fmla="val 5814"/>
            </a:avLst>
          </a:prstGeom>
          <a:solidFill>
            <a:srgbClr val="2D1515"/>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20" name="Shape 18"/>
          <p:cNvSpPr/>
          <p:nvPr/>
        </p:nvSpPr>
        <p:spPr>
          <a:xfrm>
            <a:off x="6071616" y="1627632"/>
            <a:ext cx="548640" cy="548640"/>
          </a:xfrm>
          <a:prstGeom prst="ellipse">
            <a:avLst/>
          </a:prstGeom>
          <a:solidFill>
            <a:srgbClr val="E60012"/>
          </a:solidFill>
          <a:ln w="12700">
            <a:solidFill>
              <a:srgbClr val="000000"/>
            </a:solidFill>
            <a:prstDash val="solid"/>
          </a:ln>
        </p:spPr>
      </p:sp>
      <p:sp>
        <p:nvSpPr>
          <p:cNvPr id="21" name="Text 19"/>
          <p:cNvSpPr/>
          <p:nvPr/>
        </p:nvSpPr>
        <p:spPr>
          <a:xfrm>
            <a:off x="6071616" y="1627632"/>
            <a:ext cx="5486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2" name="Text 20"/>
          <p:cNvSpPr/>
          <p:nvPr/>
        </p:nvSpPr>
        <p:spPr>
          <a:xfrm>
            <a:off x="5632704" y="2267712"/>
            <a:ext cx="1426464" cy="4572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Pay + Discover</a:t>
            </a:r>
            <a:endParaRPr lang="en-US" sz="1000" dirty="0"/>
          </a:p>
        </p:txBody>
      </p:sp>
      <p:sp>
        <p:nvSpPr>
          <p:cNvPr id="23" name="Text 21"/>
          <p:cNvSpPr/>
          <p:nvPr/>
        </p:nvSpPr>
        <p:spPr>
          <a:xfrm>
            <a:off x="5650992" y="2788920"/>
            <a:ext cx="1389888" cy="3017520"/>
          </a:xfrm>
          <a:prstGeom prst="rect">
            <a:avLst/>
          </a:prstGeom>
          <a:noFill/>
          <a:ln/>
        </p:spPr>
        <p:txBody>
          <a:bodyPr wrap="square" rtlCol="0" anchor="ctr"/>
          <a:lstStyle/>
          <a:p>
            <a:pPr indent="0" marL="0">
              <a:buNone/>
            </a:pPr>
            <a:r>
              <a:rPr lang="en-US" sz="800" dirty="0">
                <a:solidFill>
                  <a:srgbClr val="8B9E9B"/>
                </a:solidFill>
                <a:latin typeface="Arial" pitchFamily="34" charset="0"/>
                <a:ea typeface="Arial" pitchFamily="34" charset="-122"/>
                <a:cs typeface="Arial" pitchFamily="34" charset="-120"/>
              </a:rPr>
              <a:t>User scans QR at new merchant. First Visit Bonus applied automatically from merchant campaign budget. No manual redemption. Zero friction at checkout.</a:t>
            </a:r>
            <a:endParaRPr lang="en-US" sz="800" dirty="0"/>
          </a:p>
        </p:txBody>
      </p:sp>
      <p:sp>
        <p:nvSpPr>
          <p:cNvPr id="24" name="Shape 22"/>
          <p:cNvSpPr/>
          <p:nvPr/>
        </p:nvSpPr>
        <p:spPr>
          <a:xfrm>
            <a:off x="7296912" y="1508760"/>
            <a:ext cx="1572768" cy="4343400"/>
          </a:xfrm>
          <a:prstGeom prst="roundRect">
            <a:avLst>
              <a:gd name="adj" fmla="val 5814"/>
            </a:avLst>
          </a:prstGeom>
          <a:solidFill>
            <a:srgbClr val="2D1515"/>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25" name="Shape 23"/>
          <p:cNvSpPr/>
          <p:nvPr/>
        </p:nvSpPr>
        <p:spPr>
          <a:xfrm>
            <a:off x="7808976" y="1627632"/>
            <a:ext cx="548640" cy="548640"/>
          </a:xfrm>
          <a:prstGeom prst="ellipse">
            <a:avLst/>
          </a:prstGeom>
          <a:solidFill>
            <a:srgbClr val="E60012"/>
          </a:solidFill>
          <a:ln w="12700">
            <a:solidFill>
              <a:srgbClr val="000000"/>
            </a:solidFill>
            <a:prstDash val="solid"/>
          </a:ln>
        </p:spPr>
      </p:sp>
      <p:sp>
        <p:nvSpPr>
          <p:cNvPr id="26" name="Text 24"/>
          <p:cNvSpPr/>
          <p:nvPr/>
        </p:nvSpPr>
        <p:spPr>
          <a:xfrm>
            <a:off x="7808976" y="1627632"/>
            <a:ext cx="5486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05</a:t>
            </a:r>
            <a:endParaRPr lang="en-US" sz="1100" dirty="0"/>
          </a:p>
        </p:txBody>
      </p:sp>
      <p:sp>
        <p:nvSpPr>
          <p:cNvPr id="27" name="Text 25"/>
          <p:cNvSpPr/>
          <p:nvPr/>
        </p:nvSpPr>
        <p:spPr>
          <a:xfrm>
            <a:off x="7370064" y="2267712"/>
            <a:ext cx="1426464" cy="4572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Merchant Loop</a:t>
            </a:r>
            <a:endParaRPr lang="en-US" sz="1000" dirty="0"/>
          </a:p>
        </p:txBody>
      </p:sp>
      <p:sp>
        <p:nvSpPr>
          <p:cNvPr id="28" name="Text 26"/>
          <p:cNvSpPr/>
          <p:nvPr/>
        </p:nvSpPr>
        <p:spPr>
          <a:xfrm>
            <a:off x="7388352" y="2788920"/>
            <a:ext cx="1389888" cy="3017520"/>
          </a:xfrm>
          <a:prstGeom prst="rect">
            <a:avLst/>
          </a:prstGeom>
          <a:noFill/>
          <a:ln/>
        </p:spPr>
        <p:txBody>
          <a:bodyPr wrap="square" rtlCol="0" anchor="ctr"/>
          <a:lstStyle/>
          <a:p>
            <a:pPr indent="0" marL="0">
              <a:buNone/>
            </a:pPr>
            <a:r>
              <a:rPr lang="en-US" sz="800" dirty="0">
                <a:solidFill>
                  <a:srgbClr val="8B9E9B"/>
                </a:solidFill>
                <a:latin typeface="Arial" pitchFamily="34" charset="0"/>
                <a:ea typeface="Arial" pitchFamily="34" charset="-122"/>
                <a:cs typeface="Arial" pitchFamily="34" charset="-120"/>
              </a:rPr>
              <a:t>Merchant sees first-time customer in their PayPay for Business dashboard. Campaign ROI tracked in real time. Budget auto-renews when conversion rate exceeds threshold.</a:t>
            </a:r>
            <a:endParaRPr lang="en-US" sz="800" dirty="0"/>
          </a:p>
        </p:txBody>
      </p:sp>
      <p:sp>
        <p:nvSpPr>
          <p:cNvPr id="29" name="Text 27"/>
          <p:cNvSpPr/>
          <p:nvPr/>
        </p:nvSpPr>
        <p:spPr>
          <a:xfrm>
            <a:off x="347472" y="6035040"/>
            <a:ext cx="8449056" cy="502920"/>
          </a:xfrm>
          <a:prstGeom prst="rect">
            <a:avLst/>
          </a:prstGeom>
          <a:noFill/>
          <a:ln/>
        </p:spPr>
        <p:txBody>
          <a:bodyPr wrap="square" rtlCol="0" anchor="ctr"/>
          <a:lstStyle/>
          <a:p>
            <a:pPr indent="0" marL="0">
              <a:buNone/>
            </a:pPr>
            <a:r>
              <a:rPr lang="en-US" sz="950" i="1" dirty="0">
                <a:solidFill>
                  <a:srgbClr val="8B9E9B"/>
                </a:solidFill>
                <a:latin typeface="Arial" pitchFamily="34" charset="0"/>
                <a:ea typeface="Arial" pitchFamily="34" charset="-122"/>
                <a:cs typeface="Arial" pitchFamily="34" charset="-120"/>
              </a:rPr>
              <a:t>Proof at PhonePe: Context-aware cart incentivisation engine (cart value x user intent x time signals) delivered 35% AOV uplift and 60% cart abandonment reduction. NearPay applies the same trigger logic at the physical point of sale.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5F5"/>
        </a:solidFill>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indent="0" marL="0">
              <a:buNone/>
            </a:pPr>
            <a:r>
              <a:rPr lang="en-US" sz="900" b="1" spc="400" kern="0" dirty="0">
                <a:solidFill>
                  <a:srgbClr val="E60012"/>
                </a:solidFill>
                <a:latin typeface="Arial" pitchFamily="34" charset="0"/>
                <a:ea typeface="Arial" pitchFamily="34" charset="-122"/>
                <a:cs typeface="Arial" pitchFamily="34" charset="-120"/>
              </a:rPr>
              <a:t>THE PRODUCT</a:t>
            </a:r>
            <a:endParaRPr lang="en-US" sz="900" dirty="0"/>
          </a:p>
        </p:txBody>
      </p:sp>
      <p:sp>
        <p:nvSpPr>
          <p:cNvPr id="3" name="Text 1"/>
          <p:cNvSpPr/>
          <p:nvPr/>
        </p:nvSpPr>
        <p:spPr>
          <a:xfrm>
            <a:off x="457200" y="548640"/>
            <a:ext cx="8229600" cy="594360"/>
          </a:xfrm>
          <a:prstGeom prst="rect">
            <a:avLst/>
          </a:prstGeom>
          <a:noFill/>
          <a:ln/>
        </p:spPr>
        <p:txBody>
          <a:bodyPr wrap="square" rtlCol="0" anchor="ctr"/>
          <a:lstStyle/>
          <a:p>
            <a:pPr indent="0" marL="0">
              <a:buNone/>
            </a:pPr>
            <a:r>
              <a:rPr lang="en-US" sz="2400" b="1" dirty="0">
                <a:solidFill>
                  <a:srgbClr val="1A1A1A"/>
                </a:solidFill>
                <a:latin typeface="Arial" pitchFamily="34" charset="0"/>
                <a:ea typeface="Arial" pitchFamily="34" charset="-122"/>
                <a:cs typeface="Arial" pitchFamily="34" charset="-120"/>
              </a:rPr>
              <a:t>4 Key Screen States — Live, Interactive Prototype Built</a:t>
            </a:r>
            <a:endParaRPr lang="en-US" sz="2400" dirty="0"/>
          </a:p>
        </p:txBody>
      </p:sp>
      <p:sp>
        <p:nvSpPr>
          <p:cNvPr id="4" name="Shape 2"/>
          <p:cNvSpPr/>
          <p:nvPr/>
        </p:nvSpPr>
        <p:spPr>
          <a:xfrm>
            <a:off x="274320" y="1280160"/>
            <a:ext cx="2029968" cy="5212080"/>
          </a:xfrm>
          <a:prstGeom prst="roundRect">
            <a:avLst>
              <a:gd name="adj" fmla="val 4505"/>
            </a:avLst>
          </a:prstGeom>
          <a:solidFill>
            <a:srgbClr val="FFFFFF"/>
          </a:solidFill>
          <a:ln w="12700">
            <a:solidFill>
              <a:srgbClr val="DDDDDD"/>
            </a:solidFill>
            <a:prstDash val="solid"/>
          </a:ln>
          <a:effectLst>
            <a:outerShdw sx="100000" sy="100000" kx="0" ky="0" algn="bl" rotWithShape="0" blurRad="38100" dist="12700" dir="2700000">
              <a:srgbClr val="000000">
                <a:alpha val="12000"/>
              </a:srgbClr>
            </a:outerShdw>
          </a:effectLst>
        </p:spPr>
      </p:sp>
      <p:sp>
        <p:nvSpPr>
          <p:cNvPr id="5" name="Shape 3"/>
          <p:cNvSpPr/>
          <p:nvPr/>
        </p:nvSpPr>
        <p:spPr>
          <a:xfrm>
            <a:off x="274320" y="1280160"/>
            <a:ext cx="2029968" cy="347472"/>
          </a:xfrm>
          <a:prstGeom prst="rect">
            <a:avLst/>
          </a:prstGeom>
          <a:solidFill>
            <a:srgbClr val="E60012"/>
          </a:solidFill>
          <a:ln w="12700">
            <a:solidFill>
              <a:srgbClr val="000000"/>
            </a:solidFill>
            <a:prstDash val="solid"/>
          </a:ln>
        </p:spPr>
      </p:sp>
      <p:sp>
        <p:nvSpPr>
          <p:cNvPr id="6" name="Text 4"/>
          <p:cNvSpPr/>
          <p:nvPr/>
        </p:nvSpPr>
        <p:spPr>
          <a:xfrm>
            <a:off x="347472" y="1298448"/>
            <a:ext cx="1883664"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01  Home + Push</a:t>
            </a:r>
            <a:endParaRPr lang="en-US" sz="900" dirty="0"/>
          </a:p>
        </p:txBody>
      </p:sp>
      <p:sp>
        <p:nvSpPr>
          <p:cNvPr id="7" name="Shape 5"/>
          <p:cNvSpPr/>
          <p:nvPr/>
        </p:nvSpPr>
        <p:spPr>
          <a:xfrm>
            <a:off x="365760" y="1700784"/>
            <a:ext cx="1847088" cy="2103120"/>
          </a:xfrm>
          <a:prstGeom prst="roundRect">
            <a:avLst>
              <a:gd name="adj" fmla="val 2970"/>
            </a:avLst>
          </a:prstGeom>
          <a:solidFill>
            <a:srgbClr val="1A0A0A"/>
          </a:solidFill>
          <a:ln w="12700">
            <a:solidFill>
              <a:srgbClr val="2D1515"/>
            </a:solidFill>
            <a:prstDash val="solid"/>
          </a:ln>
        </p:spPr>
      </p:sp>
      <p:sp>
        <p:nvSpPr>
          <p:cNvPr id="8" name="Text 6"/>
          <p:cNvSpPr/>
          <p:nvPr/>
        </p:nvSpPr>
        <p:spPr>
          <a:xfrm>
            <a:off x="402336" y="1737360"/>
            <a:ext cx="1773936" cy="2029968"/>
          </a:xfrm>
          <a:prstGeom prst="rect">
            <a:avLst/>
          </a:prstGeom>
          <a:noFill/>
          <a:ln/>
        </p:spPr>
        <p:txBody>
          <a:bodyPr wrap="square" rtlCol="0" anchor="t"/>
          <a:lstStyle/>
          <a:p>
            <a:pPr indent="0" marL="0">
              <a:buNone/>
            </a:pPr>
            <a:r>
              <a:rPr lang="en-US" sz="580" dirty="0">
                <a:solidFill>
                  <a:srgbClr val="FFF5F5"/>
                </a:solidFill>
                <a:latin typeface="Courier New" pitchFamily="34" charset="0"/>
                <a:ea typeface="Courier New" pitchFamily="34" charset="-122"/>
                <a:cs typeface="Courier New" pitchFamily="34" charset="-120"/>
              </a:rPr>
              <a:t>[Notification]</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PayPay</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3 stores near you</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Discovery bonus!</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[Home — NearPay Card]</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NearPay · 3 stores</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200m · lunch bonus on</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Ueno Cafe   80m +5%</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Sushiro    160m +3%</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FamilyMart 190m +1%</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View full map →</a:t>
            </a:r>
            <a:endParaRPr lang="en-US" sz="580" dirty="0"/>
          </a:p>
        </p:txBody>
      </p:sp>
      <p:sp>
        <p:nvSpPr>
          <p:cNvPr id="9" name="Text 7"/>
          <p:cNvSpPr/>
          <p:nvPr/>
        </p:nvSpPr>
        <p:spPr>
          <a:xfrm>
            <a:off x="365760" y="3895344"/>
            <a:ext cx="1847088" cy="2423160"/>
          </a:xfrm>
          <a:prstGeom prst="rect">
            <a:avLst/>
          </a:prstGeom>
          <a:noFill/>
          <a:ln/>
        </p:spPr>
        <p:txBody>
          <a:bodyPr wrap="square" rtlCol="0" anchor="t"/>
          <a:lstStyle/>
          <a:p>
            <a:pPr indent="0" marL="0">
              <a:buNone/>
            </a:pPr>
            <a:r>
              <a:rPr lang="en-US" sz="850" dirty="0">
                <a:solidFill>
                  <a:srgbClr val="1A1A1A"/>
                </a:solidFill>
                <a:latin typeface="Arial" pitchFamily="34" charset="0"/>
                <a:ea typeface="Arial" pitchFamily="34" charset="-122"/>
                <a:cs typeface="Arial" pitchFamily="34" charset="-120"/>
              </a:rPr>
              <a:t>Push notification surfaces 3 PayPay stores within 200m. NearPay home card shows all three with distance and first-visit bonus. Taps through to the map.</a:t>
            </a:r>
            <a:endParaRPr lang="en-US" sz="850" dirty="0"/>
          </a:p>
        </p:txBody>
      </p:sp>
      <p:sp>
        <p:nvSpPr>
          <p:cNvPr id="10" name="Shape 8"/>
          <p:cNvSpPr/>
          <p:nvPr/>
        </p:nvSpPr>
        <p:spPr>
          <a:xfrm>
            <a:off x="2487168" y="1280160"/>
            <a:ext cx="2029968" cy="5212080"/>
          </a:xfrm>
          <a:prstGeom prst="roundRect">
            <a:avLst>
              <a:gd name="adj" fmla="val 4505"/>
            </a:avLst>
          </a:prstGeom>
          <a:solidFill>
            <a:srgbClr val="FFFFFF"/>
          </a:solidFill>
          <a:ln w="12700">
            <a:solidFill>
              <a:srgbClr val="DDDDDD"/>
            </a:solidFill>
            <a:prstDash val="solid"/>
          </a:ln>
          <a:effectLst>
            <a:outerShdw sx="100000" sy="100000" kx="0" ky="0" algn="bl" rotWithShape="0" blurRad="38100" dist="12700" dir="2700000">
              <a:srgbClr val="000000">
                <a:alpha val="12000"/>
              </a:srgbClr>
            </a:outerShdw>
          </a:effectLst>
        </p:spPr>
      </p:sp>
      <p:sp>
        <p:nvSpPr>
          <p:cNvPr id="11" name="Shape 9"/>
          <p:cNvSpPr/>
          <p:nvPr/>
        </p:nvSpPr>
        <p:spPr>
          <a:xfrm>
            <a:off x="2487168" y="1280160"/>
            <a:ext cx="2029968" cy="347472"/>
          </a:xfrm>
          <a:prstGeom prst="rect">
            <a:avLst/>
          </a:prstGeom>
          <a:solidFill>
            <a:srgbClr val="E60012"/>
          </a:solidFill>
          <a:ln w="12700">
            <a:solidFill>
              <a:srgbClr val="000000"/>
            </a:solidFill>
            <a:prstDash val="solid"/>
          </a:ln>
        </p:spPr>
      </p:sp>
      <p:sp>
        <p:nvSpPr>
          <p:cNvPr id="12" name="Text 10"/>
          <p:cNvSpPr/>
          <p:nvPr/>
        </p:nvSpPr>
        <p:spPr>
          <a:xfrm>
            <a:off x="2560320" y="1298448"/>
            <a:ext cx="1883664"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02  Map + List</a:t>
            </a:r>
            <a:endParaRPr lang="en-US" sz="900" dirty="0"/>
          </a:p>
        </p:txBody>
      </p:sp>
      <p:sp>
        <p:nvSpPr>
          <p:cNvPr id="13" name="Shape 11"/>
          <p:cNvSpPr/>
          <p:nvPr/>
        </p:nvSpPr>
        <p:spPr>
          <a:xfrm>
            <a:off x="2578608" y="1700784"/>
            <a:ext cx="1847088" cy="2103120"/>
          </a:xfrm>
          <a:prstGeom prst="roundRect">
            <a:avLst>
              <a:gd name="adj" fmla="val 2970"/>
            </a:avLst>
          </a:prstGeom>
          <a:solidFill>
            <a:srgbClr val="1A0A0A"/>
          </a:solidFill>
          <a:ln w="12700">
            <a:solidFill>
              <a:srgbClr val="2D1515"/>
            </a:solidFill>
            <a:prstDash val="solid"/>
          </a:ln>
        </p:spPr>
      </p:sp>
      <p:sp>
        <p:nvSpPr>
          <p:cNvPr id="14" name="Text 12"/>
          <p:cNvSpPr/>
          <p:nvPr/>
        </p:nvSpPr>
        <p:spPr>
          <a:xfrm>
            <a:off x="2615184" y="1737360"/>
            <a:ext cx="1773936" cy="2029968"/>
          </a:xfrm>
          <a:prstGeom prst="rect">
            <a:avLst/>
          </a:prstGeom>
          <a:noFill/>
          <a:ln/>
        </p:spPr>
        <p:txBody>
          <a:bodyPr wrap="square" rtlCol="0" anchor="t"/>
          <a:lstStyle/>
          <a:p>
            <a:pPr indent="0" marL="0">
              <a:buNone/>
            </a:pPr>
            <a:r>
              <a:rPr lang="en-US" sz="580" dirty="0">
                <a:solidFill>
                  <a:srgbClr val="FFF5F5"/>
                </a:solidFill>
                <a:latin typeface="Courier New" pitchFamily="34" charset="0"/>
                <a:ea typeface="Courier New" pitchFamily="34" charset="-122"/>
                <a:cs typeface="Courier New" pitchFamily="34" charset="-120"/>
              </a:rPr>
              <a:t>[NearPay Map]</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[Map: dark bg]</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 pin +5% new</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 pin +3% new</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 pin +1%</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(O) You are here</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[All] [New] [Food][Cafe]</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Ueno Cafe    80m  NEW</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+5% First Visit Bonus</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Sushiro Exp  160m NEW</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+3% First Visit Bonus</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FamilyMart   190m</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+1% Regular</a:t>
            </a:r>
            <a:endParaRPr lang="en-US" sz="580" dirty="0"/>
          </a:p>
        </p:txBody>
      </p:sp>
      <p:sp>
        <p:nvSpPr>
          <p:cNvPr id="15" name="Text 13"/>
          <p:cNvSpPr/>
          <p:nvPr/>
        </p:nvSpPr>
        <p:spPr>
          <a:xfrm>
            <a:off x="2578608" y="3895344"/>
            <a:ext cx="1847088" cy="2423160"/>
          </a:xfrm>
          <a:prstGeom prst="rect">
            <a:avLst/>
          </a:prstGeom>
          <a:noFill/>
          <a:ln/>
        </p:spPr>
        <p:txBody>
          <a:bodyPr wrap="square" rtlCol="0" anchor="t"/>
          <a:lstStyle/>
          <a:p>
            <a:pPr indent="0" marL="0">
              <a:buNone/>
            </a:pPr>
            <a:r>
              <a:rPr lang="en-US" sz="850" dirty="0">
                <a:solidFill>
                  <a:srgbClr val="1A1A1A"/>
                </a:solidFill>
                <a:latin typeface="Arial" pitchFamily="34" charset="0"/>
                <a:ea typeface="Arial" pitchFamily="34" charset="-122"/>
                <a:cs typeface="Arial" pitchFamily="34" charset="-120"/>
              </a:rPr>
              <a:t>In-app merchant map shows all nearby PayPay stores as pins. Filter chips by category. Merchant list below sorted by distance. New stores flagged with first-visit bonus badge.</a:t>
            </a:r>
            <a:endParaRPr lang="en-US" sz="850" dirty="0"/>
          </a:p>
        </p:txBody>
      </p:sp>
      <p:sp>
        <p:nvSpPr>
          <p:cNvPr id="16" name="Shape 14"/>
          <p:cNvSpPr/>
          <p:nvPr/>
        </p:nvSpPr>
        <p:spPr>
          <a:xfrm>
            <a:off x="4700016" y="1280160"/>
            <a:ext cx="2029968" cy="5212080"/>
          </a:xfrm>
          <a:prstGeom prst="roundRect">
            <a:avLst>
              <a:gd name="adj" fmla="val 4505"/>
            </a:avLst>
          </a:prstGeom>
          <a:solidFill>
            <a:srgbClr val="FFFFFF"/>
          </a:solidFill>
          <a:ln w="12700">
            <a:solidFill>
              <a:srgbClr val="DDDDDD"/>
            </a:solidFill>
            <a:prstDash val="solid"/>
          </a:ln>
          <a:effectLst>
            <a:outerShdw sx="100000" sy="100000" kx="0" ky="0" algn="bl" rotWithShape="0" blurRad="38100" dist="12700" dir="2700000">
              <a:srgbClr val="000000">
                <a:alpha val="12000"/>
              </a:srgbClr>
            </a:outerShdw>
          </a:effectLst>
        </p:spPr>
      </p:sp>
      <p:sp>
        <p:nvSpPr>
          <p:cNvPr id="17" name="Shape 15"/>
          <p:cNvSpPr/>
          <p:nvPr/>
        </p:nvSpPr>
        <p:spPr>
          <a:xfrm>
            <a:off x="4700016" y="1280160"/>
            <a:ext cx="2029968" cy="347472"/>
          </a:xfrm>
          <a:prstGeom prst="rect">
            <a:avLst/>
          </a:prstGeom>
          <a:solidFill>
            <a:srgbClr val="00B894"/>
          </a:solidFill>
          <a:ln w="12700">
            <a:solidFill>
              <a:srgbClr val="000000"/>
            </a:solidFill>
            <a:prstDash val="solid"/>
          </a:ln>
        </p:spPr>
      </p:sp>
      <p:sp>
        <p:nvSpPr>
          <p:cNvPr id="18" name="Text 16"/>
          <p:cNvSpPr/>
          <p:nvPr/>
        </p:nvSpPr>
        <p:spPr>
          <a:xfrm>
            <a:off x="4773168" y="1298448"/>
            <a:ext cx="1883664"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03  Pay + Discovery</a:t>
            </a:r>
            <a:endParaRPr lang="en-US" sz="900" dirty="0"/>
          </a:p>
        </p:txBody>
      </p:sp>
      <p:sp>
        <p:nvSpPr>
          <p:cNvPr id="19" name="Shape 17"/>
          <p:cNvSpPr/>
          <p:nvPr/>
        </p:nvSpPr>
        <p:spPr>
          <a:xfrm>
            <a:off x="4791456" y="1700784"/>
            <a:ext cx="1847088" cy="2103120"/>
          </a:xfrm>
          <a:prstGeom prst="roundRect">
            <a:avLst>
              <a:gd name="adj" fmla="val 2970"/>
            </a:avLst>
          </a:prstGeom>
          <a:solidFill>
            <a:srgbClr val="1A0A0A"/>
          </a:solidFill>
          <a:ln w="12700">
            <a:solidFill>
              <a:srgbClr val="2D1515"/>
            </a:solidFill>
            <a:prstDash val="solid"/>
          </a:ln>
        </p:spPr>
      </p:sp>
      <p:sp>
        <p:nvSpPr>
          <p:cNvPr id="20" name="Text 18"/>
          <p:cNvSpPr/>
          <p:nvPr/>
        </p:nvSpPr>
        <p:spPr>
          <a:xfrm>
            <a:off x="4828032" y="1737360"/>
            <a:ext cx="1773936" cy="2029968"/>
          </a:xfrm>
          <a:prstGeom prst="rect">
            <a:avLst/>
          </a:prstGeom>
          <a:noFill/>
          <a:ln/>
        </p:spPr>
        <p:txBody>
          <a:bodyPr wrap="square" rtlCol="0" anchor="t"/>
          <a:lstStyle/>
          <a:p>
            <a:pPr indent="0" marL="0">
              <a:buNone/>
            </a:pPr>
            <a:r>
              <a:rPr lang="en-US" sz="580" dirty="0">
                <a:solidFill>
                  <a:srgbClr val="FFF5F5"/>
                </a:solidFill>
                <a:latin typeface="Courier New" pitchFamily="34" charset="0"/>
                <a:ea typeface="Courier New" pitchFamily="34" charset="-122"/>
                <a:cs typeface="Courier New" pitchFamily="34" charset="-120"/>
              </a:rPr>
              <a:t>[Payment Complete!]</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Ueno Cafe ¥820</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[NearPay Discovery]</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New store found!</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+¥41 bonus earned</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8 stores discovered</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Explorer badge!</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[Ueno Cafe saved to</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  your PayPay Map]</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[Find More Stores →]</a:t>
            </a:r>
            <a:endParaRPr lang="en-US" sz="580" dirty="0"/>
          </a:p>
        </p:txBody>
      </p:sp>
      <p:sp>
        <p:nvSpPr>
          <p:cNvPr id="21" name="Text 19"/>
          <p:cNvSpPr/>
          <p:nvPr/>
        </p:nvSpPr>
        <p:spPr>
          <a:xfrm>
            <a:off x="4791456" y="3895344"/>
            <a:ext cx="1847088" cy="2423160"/>
          </a:xfrm>
          <a:prstGeom prst="rect">
            <a:avLst/>
          </a:prstGeom>
          <a:noFill/>
          <a:ln/>
        </p:spPr>
        <p:txBody>
          <a:bodyPr wrap="square" rtlCol="0" anchor="t"/>
          <a:lstStyle/>
          <a:p>
            <a:pPr indent="0" marL="0">
              <a:buNone/>
            </a:pPr>
            <a:r>
              <a:rPr lang="en-US" sz="850" dirty="0">
                <a:solidFill>
                  <a:srgbClr val="1A1A1A"/>
                </a:solidFill>
                <a:latin typeface="Arial" pitchFamily="34" charset="0"/>
                <a:ea typeface="Arial" pitchFamily="34" charset="-122"/>
                <a:cs typeface="Arial" pitchFamily="34" charset="-120"/>
              </a:rPr>
              <a:t>Payment success + confetti. Discovery bonus applied automatically. New store added to personal PayPay Map. Discovery achievement shown. Next nearby store surfaced immediately.</a:t>
            </a:r>
            <a:endParaRPr lang="en-US" sz="850" dirty="0"/>
          </a:p>
        </p:txBody>
      </p:sp>
      <p:sp>
        <p:nvSpPr>
          <p:cNvPr id="22" name="Shape 20"/>
          <p:cNvSpPr/>
          <p:nvPr/>
        </p:nvSpPr>
        <p:spPr>
          <a:xfrm>
            <a:off x="6912864" y="1280160"/>
            <a:ext cx="2029968" cy="5212080"/>
          </a:xfrm>
          <a:prstGeom prst="roundRect">
            <a:avLst>
              <a:gd name="adj" fmla="val 4505"/>
            </a:avLst>
          </a:prstGeom>
          <a:solidFill>
            <a:srgbClr val="FFFFFF"/>
          </a:solidFill>
          <a:ln w="12700">
            <a:solidFill>
              <a:srgbClr val="DDDDDD"/>
            </a:solidFill>
            <a:prstDash val="solid"/>
          </a:ln>
          <a:effectLst>
            <a:outerShdw sx="100000" sy="100000" kx="0" ky="0" algn="bl" rotWithShape="0" blurRad="38100" dist="12700" dir="2700000">
              <a:srgbClr val="000000">
                <a:alpha val="12000"/>
              </a:srgbClr>
            </a:outerShdw>
          </a:effectLst>
        </p:spPr>
      </p:sp>
      <p:sp>
        <p:nvSpPr>
          <p:cNvPr id="23" name="Shape 21"/>
          <p:cNvSpPr/>
          <p:nvPr/>
        </p:nvSpPr>
        <p:spPr>
          <a:xfrm>
            <a:off x="6912864" y="1280160"/>
            <a:ext cx="2029968" cy="347472"/>
          </a:xfrm>
          <a:prstGeom prst="rect">
            <a:avLst/>
          </a:prstGeom>
          <a:solidFill>
            <a:srgbClr val="FF6B00"/>
          </a:solidFill>
          <a:ln w="12700">
            <a:solidFill>
              <a:srgbClr val="000000"/>
            </a:solidFill>
            <a:prstDash val="solid"/>
          </a:ln>
        </p:spPr>
      </p:sp>
      <p:sp>
        <p:nvSpPr>
          <p:cNvPr id="24" name="Text 22"/>
          <p:cNvSpPr/>
          <p:nvPr/>
        </p:nvSpPr>
        <p:spPr>
          <a:xfrm>
            <a:off x="6986016" y="1298448"/>
            <a:ext cx="1883664"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04  Merchant Ops</a:t>
            </a:r>
            <a:endParaRPr lang="en-US" sz="900" dirty="0"/>
          </a:p>
        </p:txBody>
      </p:sp>
      <p:sp>
        <p:nvSpPr>
          <p:cNvPr id="25" name="Shape 23"/>
          <p:cNvSpPr/>
          <p:nvPr/>
        </p:nvSpPr>
        <p:spPr>
          <a:xfrm>
            <a:off x="7004304" y="1700784"/>
            <a:ext cx="1847088" cy="2103120"/>
          </a:xfrm>
          <a:prstGeom prst="roundRect">
            <a:avLst>
              <a:gd name="adj" fmla="val 2970"/>
            </a:avLst>
          </a:prstGeom>
          <a:solidFill>
            <a:srgbClr val="1A0A0A"/>
          </a:solidFill>
          <a:ln w="12700">
            <a:solidFill>
              <a:srgbClr val="2D1515"/>
            </a:solidFill>
            <a:prstDash val="solid"/>
          </a:ln>
        </p:spPr>
      </p:sp>
      <p:sp>
        <p:nvSpPr>
          <p:cNvPr id="26" name="Text 24"/>
          <p:cNvSpPr/>
          <p:nvPr/>
        </p:nvSpPr>
        <p:spPr>
          <a:xfrm>
            <a:off x="7040880" y="1737360"/>
            <a:ext cx="1773936" cy="2029968"/>
          </a:xfrm>
          <a:prstGeom prst="rect">
            <a:avLst/>
          </a:prstGeom>
          <a:noFill/>
          <a:ln/>
        </p:spPr>
        <p:txBody>
          <a:bodyPr wrap="square" rtlCol="0" anchor="t"/>
          <a:lstStyle/>
          <a:p>
            <a:pPr indent="0" marL="0">
              <a:buNone/>
            </a:pPr>
            <a:r>
              <a:rPr lang="en-US" sz="580" dirty="0">
                <a:solidFill>
                  <a:srgbClr val="FFF5F5"/>
                </a:solidFill>
                <a:latin typeface="Courier New" pitchFamily="34" charset="0"/>
                <a:ea typeface="Courier New" pitchFamily="34" charset="-122"/>
                <a:cs typeface="Courier New" pitchFamily="34" charset="-120"/>
              </a:rPr>
              <a:t>[NearPay Ops]</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+27% Txn freq</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34%  Merchants active</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¥840 ARPU lift/mo</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Discovery Funnel</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Push sent  ████ 100%</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Push open  ██░░  48%</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Map view   █░░░  34%</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Merch tap  █░░░  21%</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Payment    ░░░░  14%</a:t>
            </a:r>
            <a:endParaRPr lang="en-US" sz="580" dirty="0"/>
          </a:p>
          <a:p>
            <a:pPr indent="0" marL="0">
              <a:buNone/>
            </a:pP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Top Campaigns</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Ichiran Ramen 44%</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Ueno Cafe     38%</a:t>
            </a:r>
            <a:endParaRPr lang="en-US" sz="580" dirty="0"/>
          </a:p>
          <a:p>
            <a:pPr indent="0" marL="0">
              <a:buNone/>
            </a:pPr>
            <a:r>
              <a:rPr lang="en-US" sz="580" dirty="0">
                <a:solidFill>
                  <a:srgbClr val="FFF5F5"/>
                </a:solidFill>
                <a:latin typeface="Courier New" pitchFamily="34" charset="0"/>
                <a:ea typeface="Courier New" pitchFamily="34" charset="-122"/>
                <a:cs typeface="Courier New" pitchFamily="34" charset="-120"/>
              </a:rPr>
              <a:t>Sushiro       29%</a:t>
            </a:r>
            <a:endParaRPr lang="en-US" sz="580" dirty="0"/>
          </a:p>
        </p:txBody>
      </p:sp>
      <p:sp>
        <p:nvSpPr>
          <p:cNvPr id="27" name="Text 25"/>
          <p:cNvSpPr/>
          <p:nvPr/>
        </p:nvSpPr>
        <p:spPr>
          <a:xfrm>
            <a:off x="7004304" y="3895344"/>
            <a:ext cx="1847088" cy="2423160"/>
          </a:xfrm>
          <a:prstGeom prst="rect">
            <a:avLst/>
          </a:prstGeom>
          <a:noFill/>
          <a:ln/>
        </p:spPr>
        <p:txBody>
          <a:bodyPr wrap="square" rtlCol="0" anchor="t"/>
          <a:lstStyle/>
          <a:p>
            <a:pPr indent="0" marL="0">
              <a:buNone/>
            </a:pPr>
            <a:r>
              <a:rPr lang="en-US" sz="850" dirty="0">
                <a:solidFill>
                  <a:srgbClr val="1A1A1A"/>
                </a:solidFill>
                <a:latin typeface="Arial" pitchFamily="34" charset="0"/>
                <a:ea typeface="Arial" pitchFamily="34" charset="-122"/>
                <a:cs typeface="Arial" pitchFamily="34" charset="-120"/>
              </a:rPr>
              <a:t>Internal merchant operations view: NearPay reach KPIs, discovery funnel (push sent to first payment), top performing merchant campaigns by conversion rate.</a:t>
            </a:r>
            <a:endParaRPr lang="en-US" sz="850" dirty="0"/>
          </a:p>
        </p:txBody>
      </p:sp>
      <p:sp>
        <p:nvSpPr>
          <p:cNvPr id="28" name="Text 26"/>
          <p:cNvSpPr/>
          <p:nvPr/>
        </p:nvSpPr>
        <p:spPr>
          <a:xfrm>
            <a:off x="457200" y="6492240"/>
            <a:ext cx="8229600" cy="256032"/>
          </a:xfrm>
          <a:prstGeom prst="rect">
            <a:avLst/>
          </a:prstGeom>
          <a:noFill/>
          <a:ln/>
        </p:spPr>
        <p:txBody>
          <a:bodyPr wrap="square" rtlCol="0" anchor="ctr"/>
          <a:lstStyle/>
          <a:p>
            <a:pPr algn="ctr" indent="0" marL="0">
              <a:buNone/>
            </a:pPr>
            <a:r>
              <a:rPr lang="en-US" sz="850" i="1" dirty="0">
                <a:solidFill>
                  <a:srgbClr val="8B9E9B"/>
                </a:solidFill>
                <a:latin typeface="Arial" pitchFamily="34" charset="0"/>
                <a:ea typeface="Arial" pitchFamily="34" charset="-122"/>
                <a:cs typeface="Arial" pitchFamily="34" charset="-120"/>
              </a:rPr>
              <a:t>Prototype: paypay-nearpay-prototype.html  x  Live interactive demo of all 4 states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A0A"/>
        </a:solidFill>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indent="0" marL="0">
              <a:buNone/>
            </a:pPr>
            <a:r>
              <a:rPr lang="en-US" sz="900" b="1" spc="400" kern="0" dirty="0">
                <a:solidFill>
                  <a:srgbClr val="E60012"/>
                </a:solidFill>
                <a:latin typeface="Arial" pitchFamily="34" charset="0"/>
                <a:ea typeface="Arial" pitchFamily="34" charset="-122"/>
                <a:cs typeface="Arial" pitchFamily="34" charset="-120"/>
              </a:rPr>
              <a:t>IMPACT &amp; ROI</a:t>
            </a:r>
            <a:endParaRPr lang="en-US" sz="900" dirty="0"/>
          </a:p>
        </p:txBody>
      </p:sp>
      <p:sp>
        <p:nvSpPr>
          <p:cNvPr id="3" name="Text 1"/>
          <p:cNvSpPr/>
          <p:nvPr/>
        </p:nvSpPr>
        <p:spPr>
          <a:xfrm>
            <a:off x="457200" y="548640"/>
            <a:ext cx="8229600" cy="59436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Projected Impact — Zero Net Cost to PayPay</a:t>
            </a:r>
            <a:endParaRPr lang="en-US" sz="2400" dirty="0"/>
          </a:p>
        </p:txBody>
      </p:sp>
      <p:sp>
        <p:nvSpPr>
          <p:cNvPr id="4" name="Shape 2"/>
          <p:cNvSpPr/>
          <p:nvPr/>
        </p:nvSpPr>
        <p:spPr>
          <a:xfrm>
            <a:off x="347472" y="1280160"/>
            <a:ext cx="4114800" cy="4919472"/>
          </a:xfrm>
          <a:prstGeom prst="roundRect">
            <a:avLst>
              <a:gd name="adj" fmla="val 2222"/>
            </a:avLst>
          </a:prstGeom>
          <a:solidFill>
            <a:srgbClr val="2D1515"/>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5" name="Text 3"/>
          <p:cNvSpPr/>
          <p:nvPr/>
        </p:nvSpPr>
        <p:spPr>
          <a:xfrm>
            <a:off x="502920" y="1417320"/>
            <a:ext cx="3794760" cy="347472"/>
          </a:xfrm>
          <a:prstGeom prst="rect">
            <a:avLst/>
          </a:prstGeom>
          <a:noFill/>
          <a:ln/>
        </p:spPr>
        <p:txBody>
          <a:bodyPr wrap="square" rtlCol="0" anchor="ctr"/>
          <a:lstStyle/>
          <a:p>
            <a:pPr indent="0" marL="0">
              <a:buNone/>
            </a:pPr>
            <a:r>
              <a:rPr lang="en-US" sz="1200" b="1" dirty="0">
                <a:solidFill>
                  <a:srgbClr val="E60012"/>
                </a:solidFill>
                <a:latin typeface="Arial" pitchFamily="34" charset="0"/>
                <a:ea typeface="Arial" pitchFamily="34" charset="-122"/>
                <a:cs typeface="Arial" pitchFamily="34" charset="-120"/>
              </a:rPr>
              <a:t>User Impact</a:t>
            </a:r>
            <a:endParaRPr lang="en-US" sz="1200" dirty="0"/>
          </a:p>
        </p:txBody>
      </p:sp>
      <p:sp>
        <p:nvSpPr>
          <p:cNvPr id="6" name="Shape 4"/>
          <p:cNvSpPr/>
          <p:nvPr/>
        </p:nvSpPr>
        <p:spPr>
          <a:xfrm>
            <a:off x="502920" y="1901952"/>
            <a:ext cx="3794760" cy="877824"/>
          </a:xfrm>
          <a:prstGeom prst="roundRect">
            <a:avLst>
              <a:gd name="adj" fmla="val 7292"/>
            </a:avLst>
          </a:prstGeom>
          <a:solidFill>
            <a:srgbClr val="1A0A0A"/>
          </a:solidFill>
          <a:ln w="12700">
            <a:solidFill>
              <a:srgbClr val="333333"/>
            </a:solidFill>
            <a:prstDash val="solid"/>
          </a:ln>
        </p:spPr>
      </p:sp>
      <p:sp>
        <p:nvSpPr>
          <p:cNvPr id="7" name="Text 5"/>
          <p:cNvSpPr/>
          <p:nvPr/>
        </p:nvSpPr>
        <p:spPr>
          <a:xfrm>
            <a:off x="640080" y="1938528"/>
            <a:ext cx="1188720" cy="475488"/>
          </a:xfrm>
          <a:prstGeom prst="rect">
            <a:avLst/>
          </a:prstGeom>
          <a:noFill/>
          <a:ln/>
        </p:spPr>
        <p:txBody>
          <a:bodyPr wrap="square" rtlCol="0" anchor="ctr"/>
          <a:lstStyle/>
          <a:p>
            <a:pPr algn="ctr" indent="0" marL="0">
              <a:buNone/>
            </a:pPr>
            <a:r>
              <a:rPr lang="en-US" sz="2400" b="1" dirty="0">
                <a:solidFill>
                  <a:srgbClr val="E60012"/>
                </a:solidFill>
                <a:latin typeface="Arial" pitchFamily="34" charset="0"/>
                <a:ea typeface="Arial" pitchFamily="34" charset="-122"/>
                <a:cs typeface="Arial" pitchFamily="34" charset="-120"/>
              </a:rPr>
              <a:t>+27%</a:t>
            </a:r>
            <a:endParaRPr lang="en-US" sz="2400" dirty="0"/>
          </a:p>
        </p:txBody>
      </p:sp>
      <p:sp>
        <p:nvSpPr>
          <p:cNvPr id="8" name="Text 6"/>
          <p:cNvSpPr/>
          <p:nvPr/>
        </p:nvSpPr>
        <p:spPr>
          <a:xfrm>
            <a:off x="1901952" y="1965960"/>
            <a:ext cx="224028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Transaction frequency</a:t>
            </a:r>
            <a:endParaRPr lang="en-US" sz="1000" dirty="0"/>
          </a:p>
        </p:txBody>
      </p:sp>
      <p:sp>
        <p:nvSpPr>
          <p:cNvPr id="9" name="Text 7"/>
          <p:cNvSpPr/>
          <p:nvPr/>
        </p:nvSpPr>
        <p:spPr>
          <a:xfrm>
            <a:off x="1901952" y="2231136"/>
            <a:ext cx="2240280" cy="256032"/>
          </a:xfrm>
          <a:prstGeom prst="rect">
            <a:avLst/>
          </a:prstGeom>
          <a:noFill/>
          <a:ln/>
        </p:spPr>
        <p:txBody>
          <a:bodyPr wrap="square" rtlCol="0" anchor="ctr"/>
          <a:lstStyle/>
          <a:p>
            <a:pPr indent="0" marL="0">
              <a:buNone/>
            </a:pPr>
            <a:r>
              <a:rPr lang="en-US" sz="850" dirty="0">
                <a:solidFill>
                  <a:srgbClr val="8B9E9B"/>
                </a:solidFill>
                <a:latin typeface="Arial" pitchFamily="34" charset="0"/>
                <a:ea typeface="Arial" pitchFamily="34" charset="-122"/>
                <a:cs typeface="Arial" pitchFamily="34" charset="-120"/>
              </a:rPr>
              <a:t>NearPay users discover new contexts — more daily payment moments</a:t>
            </a:r>
            <a:endParaRPr lang="en-US" sz="850" dirty="0"/>
          </a:p>
        </p:txBody>
      </p:sp>
      <p:sp>
        <p:nvSpPr>
          <p:cNvPr id="10" name="Shape 8"/>
          <p:cNvSpPr/>
          <p:nvPr/>
        </p:nvSpPr>
        <p:spPr>
          <a:xfrm>
            <a:off x="502920" y="2907792"/>
            <a:ext cx="3794760" cy="877824"/>
          </a:xfrm>
          <a:prstGeom prst="roundRect">
            <a:avLst>
              <a:gd name="adj" fmla="val 7292"/>
            </a:avLst>
          </a:prstGeom>
          <a:solidFill>
            <a:srgbClr val="1A0A0A"/>
          </a:solidFill>
          <a:ln w="12700">
            <a:solidFill>
              <a:srgbClr val="333333"/>
            </a:solidFill>
            <a:prstDash val="solid"/>
          </a:ln>
        </p:spPr>
      </p:sp>
      <p:sp>
        <p:nvSpPr>
          <p:cNvPr id="11" name="Text 9"/>
          <p:cNvSpPr/>
          <p:nvPr/>
        </p:nvSpPr>
        <p:spPr>
          <a:xfrm>
            <a:off x="640080" y="2944368"/>
            <a:ext cx="1188720" cy="475488"/>
          </a:xfrm>
          <a:prstGeom prst="rect">
            <a:avLst/>
          </a:prstGeom>
          <a:noFill/>
          <a:ln/>
        </p:spPr>
        <p:txBody>
          <a:bodyPr wrap="square" rtlCol="0" anchor="ctr"/>
          <a:lstStyle/>
          <a:p>
            <a:pPr algn="ctr" indent="0" marL="0">
              <a:buNone/>
            </a:pPr>
            <a:r>
              <a:rPr lang="en-US" sz="2400" b="1" dirty="0">
                <a:solidFill>
                  <a:srgbClr val="E60012"/>
                </a:solidFill>
                <a:latin typeface="Arial" pitchFamily="34" charset="0"/>
                <a:ea typeface="Arial" pitchFamily="34" charset="-122"/>
                <a:cs typeface="Arial" pitchFamily="34" charset="-120"/>
              </a:rPr>
              <a:t>+¥840</a:t>
            </a:r>
            <a:endParaRPr lang="en-US" sz="2400" dirty="0"/>
          </a:p>
        </p:txBody>
      </p:sp>
      <p:sp>
        <p:nvSpPr>
          <p:cNvPr id="12" name="Text 10"/>
          <p:cNvSpPr/>
          <p:nvPr/>
        </p:nvSpPr>
        <p:spPr>
          <a:xfrm>
            <a:off x="1901952" y="2971800"/>
            <a:ext cx="224028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Monthly ARPU lift</a:t>
            </a:r>
            <a:endParaRPr lang="en-US" sz="1000" dirty="0"/>
          </a:p>
        </p:txBody>
      </p:sp>
      <p:sp>
        <p:nvSpPr>
          <p:cNvPr id="13" name="Text 11"/>
          <p:cNvSpPr/>
          <p:nvPr/>
        </p:nvSpPr>
        <p:spPr>
          <a:xfrm>
            <a:off x="1901952" y="3236976"/>
            <a:ext cx="2240280" cy="256032"/>
          </a:xfrm>
          <a:prstGeom prst="rect">
            <a:avLst/>
          </a:prstGeom>
          <a:noFill/>
          <a:ln/>
        </p:spPr>
        <p:txBody>
          <a:bodyPr wrap="square" rtlCol="0" anchor="ctr"/>
          <a:lstStyle/>
          <a:p>
            <a:pPr indent="0" marL="0">
              <a:buNone/>
            </a:pPr>
            <a:r>
              <a:rPr lang="en-US" sz="850" dirty="0">
                <a:solidFill>
                  <a:srgbClr val="8B9E9B"/>
                </a:solidFill>
                <a:latin typeface="Arial" pitchFamily="34" charset="0"/>
                <a:ea typeface="Arial" pitchFamily="34" charset="-122"/>
                <a:cs typeface="Arial" pitchFamily="34" charset="-120"/>
              </a:rPr>
              <a:t>Discovery of new merchant categories drives additional spend</a:t>
            </a:r>
            <a:endParaRPr lang="en-US" sz="850" dirty="0"/>
          </a:p>
        </p:txBody>
      </p:sp>
      <p:sp>
        <p:nvSpPr>
          <p:cNvPr id="14" name="Shape 12"/>
          <p:cNvSpPr/>
          <p:nvPr/>
        </p:nvSpPr>
        <p:spPr>
          <a:xfrm>
            <a:off x="502920" y="3913632"/>
            <a:ext cx="3794760" cy="877824"/>
          </a:xfrm>
          <a:prstGeom prst="roundRect">
            <a:avLst>
              <a:gd name="adj" fmla="val 7292"/>
            </a:avLst>
          </a:prstGeom>
          <a:solidFill>
            <a:srgbClr val="1A0A0A"/>
          </a:solidFill>
          <a:ln w="12700">
            <a:solidFill>
              <a:srgbClr val="333333"/>
            </a:solidFill>
            <a:prstDash val="solid"/>
          </a:ln>
        </p:spPr>
      </p:sp>
      <p:sp>
        <p:nvSpPr>
          <p:cNvPr id="15" name="Text 13"/>
          <p:cNvSpPr/>
          <p:nvPr/>
        </p:nvSpPr>
        <p:spPr>
          <a:xfrm>
            <a:off x="640080" y="3950208"/>
            <a:ext cx="1188720" cy="475488"/>
          </a:xfrm>
          <a:prstGeom prst="rect">
            <a:avLst/>
          </a:prstGeom>
          <a:noFill/>
          <a:ln/>
        </p:spPr>
        <p:txBody>
          <a:bodyPr wrap="square" rtlCol="0" anchor="ctr"/>
          <a:lstStyle/>
          <a:p>
            <a:pPr algn="ctr" indent="0" marL="0">
              <a:buNone/>
            </a:pPr>
            <a:r>
              <a:rPr lang="en-US" sz="2400" b="1" dirty="0">
                <a:solidFill>
                  <a:srgbClr val="E60012"/>
                </a:solidFill>
                <a:latin typeface="Arial" pitchFamily="34" charset="0"/>
                <a:ea typeface="Arial" pitchFamily="34" charset="-122"/>
                <a:cs typeface="Arial" pitchFamily="34" charset="-120"/>
              </a:rPr>
              <a:t>8</a:t>
            </a:r>
            <a:endParaRPr lang="en-US" sz="2400" dirty="0"/>
          </a:p>
        </p:txBody>
      </p:sp>
      <p:sp>
        <p:nvSpPr>
          <p:cNvPr id="16" name="Text 14"/>
          <p:cNvSpPr/>
          <p:nvPr/>
        </p:nvSpPr>
        <p:spPr>
          <a:xfrm>
            <a:off x="1901952" y="3977640"/>
            <a:ext cx="224028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New stores per explorer/month</a:t>
            </a:r>
            <a:endParaRPr lang="en-US" sz="1000" dirty="0"/>
          </a:p>
        </p:txBody>
      </p:sp>
      <p:sp>
        <p:nvSpPr>
          <p:cNvPr id="17" name="Text 15"/>
          <p:cNvSpPr/>
          <p:nvPr/>
        </p:nvSpPr>
        <p:spPr>
          <a:xfrm>
            <a:off x="1901952" y="4242816"/>
            <a:ext cx="2240280" cy="256032"/>
          </a:xfrm>
          <a:prstGeom prst="rect">
            <a:avLst/>
          </a:prstGeom>
          <a:noFill/>
          <a:ln/>
        </p:spPr>
        <p:txBody>
          <a:bodyPr wrap="square" rtlCol="0" anchor="ctr"/>
          <a:lstStyle/>
          <a:p>
            <a:pPr indent="0" marL="0">
              <a:buNone/>
            </a:pPr>
            <a:r>
              <a:rPr lang="en-US" sz="850" dirty="0">
                <a:solidFill>
                  <a:srgbClr val="8B9E9B"/>
                </a:solidFill>
                <a:latin typeface="Arial" pitchFamily="34" charset="0"/>
                <a:ea typeface="Arial" pitchFamily="34" charset="-122"/>
                <a:cs typeface="Arial" pitchFamily="34" charset="-120"/>
              </a:rPr>
              <a:t>Users who discover 3+ stores have 2.8x higher 30-day retention</a:t>
            </a:r>
            <a:endParaRPr lang="en-US" sz="850" dirty="0"/>
          </a:p>
        </p:txBody>
      </p:sp>
      <p:sp>
        <p:nvSpPr>
          <p:cNvPr id="18" name="Shape 16"/>
          <p:cNvSpPr/>
          <p:nvPr/>
        </p:nvSpPr>
        <p:spPr>
          <a:xfrm>
            <a:off x="502920" y="4919472"/>
            <a:ext cx="3794760" cy="877824"/>
          </a:xfrm>
          <a:prstGeom prst="roundRect">
            <a:avLst>
              <a:gd name="adj" fmla="val 7292"/>
            </a:avLst>
          </a:prstGeom>
          <a:solidFill>
            <a:srgbClr val="1A0A0A"/>
          </a:solidFill>
          <a:ln w="12700">
            <a:solidFill>
              <a:srgbClr val="333333"/>
            </a:solidFill>
            <a:prstDash val="solid"/>
          </a:ln>
        </p:spPr>
      </p:sp>
      <p:sp>
        <p:nvSpPr>
          <p:cNvPr id="19" name="Text 17"/>
          <p:cNvSpPr/>
          <p:nvPr/>
        </p:nvSpPr>
        <p:spPr>
          <a:xfrm>
            <a:off x="640080" y="4956048"/>
            <a:ext cx="1188720" cy="475488"/>
          </a:xfrm>
          <a:prstGeom prst="rect">
            <a:avLst/>
          </a:prstGeom>
          <a:noFill/>
          <a:ln/>
        </p:spPr>
        <p:txBody>
          <a:bodyPr wrap="square" rtlCol="0" anchor="ctr"/>
          <a:lstStyle/>
          <a:p>
            <a:pPr algn="ctr" indent="0" marL="0">
              <a:buNone/>
            </a:pPr>
            <a:r>
              <a:rPr lang="en-US" sz="2400" b="1" dirty="0">
                <a:solidFill>
                  <a:srgbClr val="E60012"/>
                </a:solidFill>
                <a:latin typeface="Arial" pitchFamily="34" charset="0"/>
                <a:ea typeface="Arial" pitchFamily="34" charset="-122"/>
                <a:cs typeface="Arial" pitchFamily="34" charset="-120"/>
              </a:rPr>
              <a:t>48%</a:t>
            </a:r>
            <a:endParaRPr lang="en-US" sz="2400" dirty="0"/>
          </a:p>
        </p:txBody>
      </p:sp>
      <p:sp>
        <p:nvSpPr>
          <p:cNvPr id="20" name="Text 18"/>
          <p:cNvSpPr/>
          <p:nvPr/>
        </p:nvSpPr>
        <p:spPr>
          <a:xfrm>
            <a:off x="1901952" y="4983480"/>
            <a:ext cx="224028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Push open rate</a:t>
            </a:r>
            <a:endParaRPr lang="en-US" sz="1000" dirty="0"/>
          </a:p>
        </p:txBody>
      </p:sp>
      <p:sp>
        <p:nvSpPr>
          <p:cNvPr id="21" name="Text 19"/>
          <p:cNvSpPr/>
          <p:nvPr/>
        </p:nvSpPr>
        <p:spPr>
          <a:xfrm>
            <a:off x="1901952" y="5248656"/>
            <a:ext cx="2240280" cy="256032"/>
          </a:xfrm>
          <a:prstGeom prst="rect">
            <a:avLst/>
          </a:prstGeom>
          <a:noFill/>
          <a:ln/>
        </p:spPr>
        <p:txBody>
          <a:bodyPr wrap="square" rtlCol="0" anchor="ctr"/>
          <a:lstStyle/>
          <a:p>
            <a:pPr indent="0" marL="0">
              <a:buNone/>
            </a:pPr>
            <a:r>
              <a:rPr lang="en-US" sz="850" dirty="0">
                <a:solidFill>
                  <a:srgbClr val="8B9E9B"/>
                </a:solidFill>
                <a:latin typeface="Arial" pitchFamily="34" charset="0"/>
                <a:ea typeface="Arial" pitchFamily="34" charset="-122"/>
                <a:cs typeface="Arial" pitchFamily="34" charset="-120"/>
              </a:rPr>
              <a:t>Context-relevant push at the right location and time beats generic push by 3x</a:t>
            </a:r>
            <a:endParaRPr lang="en-US" sz="850" dirty="0"/>
          </a:p>
        </p:txBody>
      </p:sp>
      <p:sp>
        <p:nvSpPr>
          <p:cNvPr id="22" name="Shape 20"/>
          <p:cNvSpPr/>
          <p:nvPr/>
        </p:nvSpPr>
        <p:spPr>
          <a:xfrm>
            <a:off x="4681728" y="1280160"/>
            <a:ext cx="4114800" cy="4919472"/>
          </a:xfrm>
          <a:prstGeom prst="roundRect">
            <a:avLst>
              <a:gd name="adj" fmla="val 2222"/>
            </a:avLst>
          </a:prstGeom>
          <a:solidFill>
            <a:srgbClr val="2D1515"/>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23" name="Text 21"/>
          <p:cNvSpPr/>
          <p:nvPr/>
        </p:nvSpPr>
        <p:spPr>
          <a:xfrm>
            <a:off x="4828032" y="1417320"/>
            <a:ext cx="3794760" cy="347472"/>
          </a:xfrm>
          <a:prstGeom prst="rect">
            <a:avLst/>
          </a:prstGeom>
          <a:noFill/>
          <a:ln/>
        </p:spPr>
        <p:txBody>
          <a:bodyPr wrap="square" rtlCol="0" anchor="ctr"/>
          <a:lstStyle/>
          <a:p>
            <a:pPr indent="0" marL="0">
              <a:buNone/>
            </a:pPr>
            <a:r>
              <a:rPr lang="en-US" sz="1200" b="1" dirty="0">
                <a:solidFill>
                  <a:srgbClr val="FF6B00"/>
                </a:solidFill>
                <a:latin typeface="Arial" pitchFamily="34" charset="0"/>
                <a:ea typeface="Arial" pitchFamily="34" charset="-122"/>
                <a:cs typeface="Arial" pitchFamily="34" charset="-120"/>
              </a:rPr>
              <a:t>PayPay + Merchant ROI</a:t>
            </a:r>
            <a:endParaRPr lang="en-US" sz="1200" dirty="0"/>
          </a:p>
        </p:txBody>
      </p:sp>
      <p:sp>
        <p:nvSpPr>
          <p:cNvPr id="24" name="Shape 22"/>
          <p:cNvSpPr/>
          <p:nvPr/>
        </p:nvSpPr>
        <p:spPr>
          <a:xfrm>
            <a:off x="4828032" y="1901952"/>
            <a:ext cx="3794760" cy="877824"/>
          </a:xfrm>
          <a:prstGeom prst="roundRect">
            <a:avLst>
              <a:gd name="adj" fmla="val 7292"/>
            </a:avLst>
          </a:prstGeom>
          <a:solidFill>
            <a:srgbClr val="1A0A0A"/>
          </a:solidFill>
          <a:ln w="12700">
            <a:solidFill>
              <a:srgbClr val="333333"/>
            </a:solidFill>
            <a:prstDash val="solid"/>
          </a:ln>
        </p:spPr>
      </p:sp>
      <p:sp>
        <p:nvSpPr>
          <p:cNvPr id="25" name="Text 23"/>
          <p:cNvSpPr/>
          <p:nvPr/>
        </p:nvSpPr>
        <p:spPr>
          <a:xfrm>
            <a:off x="4937760" y="1938528"/>
            <a:ext cx="1188720" cy="475488"/>
          </a:xfrm>
          <a:prstGeom prst="rect">
            <a:avLst/>
          </a:prstGeom>
          <a:noFill/>
          <a:ln/>
        </p:spPr>
        <p:txBody>
          <a:bodyPr wrap="square" rtlCol="0" anchor="ctr"/>
          <a:lstStyle/>
          <a:p>
            <a:pPr algn="ctr" indent="0" marL="0">
              <a:buNone/>
            </a:pPr>
            <a:r>
              <a:rPr lang="en-US" sz="2400" b="1" dirty="0">
                <a:solidFill>
                  <a:srgbClr val="FF6B00"/>
                </a:solidFill>
                <a:latin typeface="Arial" pitchFamily="34" charset="0"/>
                <a:ea typeface="Arial" pitchFamily="34" charset="-122"/>
                <a:cs typeface="Arial" pitchFamily="34" charset="-120"/>
              </a:rPr>
              <a:t>0</a:t>
            </a:r>
            <a:endParaRPr lang="en-US" sz="2400" dirty="0"/>
          </a:p>
        </p:txBody>
      </p:sp>
      <p:sp>
        <p:nvSpPr>
          <p:cNvPr id="26" name="Text 24"/>
          <p:cNvSpPr/>
          <p:nvPr/>
        </p:nvSpPr>
        <p:spPr>
          <a:xfrm>
            <a:off x="6181344" y="1965960"/>
            <a:ext cx="224028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Net cost of Discovery Bonus to PayPay</a:t>
            </a:r>
            <a:endParaRPr lang="en-US" sz="1000" dirty="0"/>
          </a:p>
        </p:txBody>
      </p:sp>
      <p:sp>
        <p:nvSpPr>
          <p:cNvPr id="27" name="Text 25"/>
          <p:cNvSpPr/>
          <p:nvPr/>
        </p:nvSpPr>
        <p:spPr>
          <a:xfrm>
            <a:off x="6181344" y="2231136"/>
            <a:ext cx="2240280" cy="256032"/>
          </a:xfrm>
          <a:prstGeom prst="rect">
            <a:avLst/>
          </a:prstGeom>
          <a:noFill/>
          <a:ln/>
        </p:spPr>
        <p:txBody>
          <a:bodyPr wrap="square" rtlCol="0" anchor="ctr"/>
          <a:lstStyle/>
          <a:p>
            <a:pPr indent="0" marL="0">
              <a:buNone/>
            </a:pPr>
            <a:r>
              <a:rPr lang="en-US" sz="850" dirty="0">
                <a:solidFill>
                  <a:srgbClr val="8B9E9B"/>
                </a:solidFill>
                <a:latin typeface="Arial" pitchFamily="34" charset="0"/>
                <a:ea typeface="Arial" pitchFamily="34" charset="-122"/>
                <a:cs typeface="Arial" pitchFamily="34" charset="-120"/>
              </a:rPr>
              <a:t>100% merchant-funded from their PayPay for Business campaign budget</a:t>
            </a:r>
            <a:endParaRPr lang="en-US" sz="850" dirty="0"/>
          </a:p>
        </p:txBody>
      </p:sp>
      <p:sp>
        <p:nvSpPr>
          <p:cNvPr id="28" name="Shape 26"/>
          <p:cNvSpPr/>
          <p:nvPr/>
        </p:nvSpPr>
        <p:spPr>
          <a:xfrm>
            <a:off x="4828032" y="2907792"/>
            <a:ext cx="3794760" cy="877824"/>
          </a:xfrm>
          <a:prstGeom prst="roundRect">
            <a:avLst>
              <a:gd name="adj" fmla="val 7292"/>
            </a:avLst>
          </a:prstGeom>
          <a:solidFill>
            <a:srgbClr val="1A0A0A"/>
          </a:solidFill>
          <a:ln w="12700">
            <a:solidFill>
              <a:srgbClr val="333333"/>
            </a:solidFill>
            <a:prstDash val="solid"/>
          </a:ln>
        </p:spPr>
      </p:sp>
      <p:sp>
        <p:nvSpPr>
          <p:cNvPr id="29" name="Text 27"/>
          <p:cNvSpPr/>
          <p:nvPr/>
        </p:nvSpPr>
        <p:spPr>
          <a:xfrm>
            <a:off x="4937760" y="2944368"/>
            <a:ext cx="1188720" cy="475488"/>
          </a:xfrm>
          <a:prstGeom prst="rect">
            <a:avLst/>
          </a:prstGeom>
          <a:noFill/>
          <a:ln/>
        </p:spPr>
        <p:txBody>
          <a:bodyPr wrap="square" rtlCol="0" anchor="ctr"/>
          <a:lstStyle/>
          <a:p>
            <a:pPr algn="ctr" indent="0" marL="0">
              <a:buNone/>
            </a:pPr>
            <a:r>
              <a:rPr lang="en-US" sz="2400" b="1" dirty="0">
                <a:solidFill>
                  <a:srgbClr val="FF6B00"/>
                </a:solidFill>
                <a:latin typeface="Arial" pitchFamily="34" charset="0"/>
                <a:ea typeface="Arial" pitchFamily="34" charset="-122"/>
                <a:cs typeface="Arial" pitchFamily="34" charset="-120"/>
              </a:rPr>
              <a:t>35%</a:t>
            </a:r>
            <a:endParaRPr lang="en-US" sz="2400" dirty="0"/>
          </a:p>
        </p:txBody>
      </p:sp>
      <p:sp>
        <p:nvSpPr>
          <p:cNvPr id="30" name="Text 28"/>
          <p:cNvSpPr/>
          <p:nvPr/>
        </p:nvSpPr>
        <p:spPr>
          <a:xfrm>
            <a:off x="6181344" y="2971800"/>
            <a:ext cx="224028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Merchant campaign opt-in rate</a:t>
            </a:r>
            <a:endParaRPr lang="en-US" sz="1000" dirty="0"/>
          </a:p>
        </p:txBody>
      </p:sp>
      <p:sp>
        <p:nvSpPr>
          <p:cNvPr id="31" name="Text 29"/>
          <p:cNvSpPr/>
          <p:nvPr/>
        </p:nvSpPr>
        <p:spPr>
          <a:xfrm>
            <a:off x="6181344" y="3236976"/>
            <a:ext cx="2240280" cy="256032"/>
          </a:xfrm>
          <a:prstGeom prst="rect">
            <a:avLst/>
          </a:prstGeom>
          <a:noFill/>
          <a:ln/>
        </p:spPr>
        <p:txBody>
          <a:bodyPr wrap="square" rtlCol="0" anchor="ctr"/>
          <a:lstStyle/>
          <a:p>
            <a:pPr indent="0" marL="0">
              <a:buNone/>
            </a:pPr>
            <a:r>
              <a:rPr lang="en-US" sz="850" dirty="0">
                <a:solidFill>
                  <a:srgbClr val="8B9E9B"/>
                </a:solidFill>
                <a:latin typeface="Arial" pitchFamily="34" charset="0"/>
                <a:ea typeface="Arial" pitchFamily="34" charset="-122"/>
                <a:cs typeface="Arial" pitchFamily="34" charset="-120"/>
              </a:rPr>
              <a:t>14% conversion from push to payment — 3x better than generic email campaigns</a:t>
            </a:r>
            <a:endParaRPr lang="en-US" sz="850" dirty="0"/>
          </a:p>
        </p:txBody>
      </p:sp>
      <p:sp>
        <p:nvSpPr>
          <p:cNvPr id="32" name="Shape 30"/>
          <p:cNvSpPr/>
          <p:nvPr/>
        </p:nvSpPr>
        <p:spPr>
          <a:xfrm>
            <a:off x="4828032" y="3913632"/>
            <a:ext cx="3794760" cy="877824"/>
          </a:xfrm>
          <a:prstGeom prst="roundRect">
            <a:avLst>
              <a:gd name="adj" fmla="val 7292"/>
            </a:avLst>
          </a:prstGeom>
          <a:solidFill>
            <a:srgbClr val="1A0A0A"/>
          </a:solidFill>
          <a:ln w="12700">
            <a:solidFill>
              <a:srgbClr val="333333"/>
            </a:solidFill>
            <a:prstDash val="solid"/>
          </a:ln>
        </p:spPr>
      </p:sp>
      <p:sp>
        <p:nvSpPr>
          <p:cNvPr id="33" name="Text 31"/>
          <p:cNvSpPr/>
          <p:nvPr/>
        </p:nvSpPr>
        <p:spPr>
          <a:xfrm>
            <a:off x="4937760" y="3950208"/>
            <a:ext cx="1188720" cy="475488"/>
          </a:xfrm>
          <a:prstGeom prst="rect">
            <a:avLst/>
          </a:prstGeom>
          <a:noFill/>
          <a:ln/>
        </p:spPr>
        <p:txBody>
          <a:bodyPr wrap="square" rtlCol="0" anchor="ctr"/>
          <a:lstStyle/>
          <a:p>
            <a:pPr algn="ctr" indent="0" marL="0">
              <a:buNone/>
            </a:pPr>
            <a:r>
              <a:rPr lang="en-US" sz="2400" b="1" dirty="0">
                <a:solidFill>
                  <a:srgbClr val="FF6B00"/>
                </a:solidFill>
                <a:latin typeface="Arial" pitchFamily="34" charset="0"/>
                <a:ea typeface="Arial" pitchFamily="34" charset="-122"/>
                <a:cs typeface="Arial" pitchFamily="34" charset="-120"/>
              </a:rPr>
              <a:t>+15%</a:t>
            </a:r>
            <a:endParaRPr lang="en-US" sz="2400" dirty="0"/>
          </a:p>
        </p:txBody>
      </p:sp>
      <p:sp>
        <p:nvSpPr>
          <p:cNvPr id="34" name="Text 32"/>
          <p:cNvSpPr/>
          <p:nvPr/>
        </p:nvSpPr>
        <p:spPr>
          <a:xfrm>
            <a:off x="6181344" y="3977640"/>
            <a:ext cx="224028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Merchant category discovery rate</a:t>
            </a:r>
            <a:endParaRPr lang="en-US" sz="1000" dirty="0"/>
          </a:p>
        </p:txBody>
      </p:sp>
      <p:sp>
        <p:nvSpPr>
          <p:cNvPr id="35" name="Text 33"/>
          <p:cNvSpPr/>
          <p:nvPr/>
        </p:nvSpPr>
        <p:spPr>
          <a:xfrm>
            <a:off x="6181344" y="4242816"/>
            <a:ext cx="2240280" cy="256032"/>
          </a:xfrm>
          <a:prstGeom prst="rect">
            <a:avLst/>
          </a:prstGeom>
          <a:noFill/>
          <a:ln/>
        </p:spPr>
        <p:txBody>
          <a:bodyPr wrap="square" rtlCol="0" anchor="ctr"/>
          <a:lstStyle/>
          <a:p>
            <a:pPr indent="0" marL="0">
              <a:buNone/>
            </a:pPr>
            <a:r>
              <a:rPr lang="en-US" sz="850" dirty="0">
                <a:solidFill>
                  <a:srgbClr val="8B9E9B"/>
                </a:solidFill>
                <a:latin typeface="Arial" pitchFamily="34" charset="0"/>
                <a:ea typeface="Arial" pitchFamily="34" charset="-122"/>
                <a:cs typeface="Arial" pitchFamily="34" charset="-120"/>
              </a:rPr>
              <a:t>Users explore new store types they have never paid at with PayPay before</a:t>
            </a:r>
            <a:endParaRPr lang="en-US" sz="850" dirty="0"/>
          </a:p>
        </p:txBody>
      </p:sp>
      <p:sp>
        <p:nvSpPr>
          <p:cNvPr id="36" name="Shape 34"/>
          <p:cNvSpPr/>
          <p:nvPr/>
        </p:nvSpPr>
        <p:spPr>
          <a:xfrm>
            <a:off x="4828032" y="4919472"/>
            <a:ext cx="3794760" cy="877824"/>
          </a:xfrm>
          <a:prstGeom prst="roundRect">
            <a:avLst>
              <a:gd name="adj" fmla="val 7292"/>
            </a:avLst>
          </a:prstGeom>
          <a:solidFill>
            <a:srgbClr val="1A0A0A"/>
          </a:solidFill>
          <a:ln w="12700">
            <a:solidFill>
              <a:srgbClr val="333333"/>
            </a:solidFill>
            <a:prstDash val="solid"/>
          </a:ln>
        </p:spPr>
      </p:sp>
      <p:sp>
        <p:nvSpPr>
          <p:cNvPr id="37" name="Text 35"/>
          <p:cNvSpPr/>
          <p:nvPr/>
        </p:nvSpPr>
        <p:spPr>
          <a:xfrm>
            <a:off x="4937760" y="4956048"/>
            <a:ext cx="1188720" cy="475488"/>
          </a:xfrm>
          <a:prstGeom prst="rect">
            <a:avLst/>
          </a:prstGeom>
          <a:noFill/>
          <a:ln/>
        </p:spPr>
        <p:txBody>
          <a:bodyPr wrap="square" rtlCol="0" anchor="ctr"/>
          <a:lstStyle/>
          <a:p>
            <a:pPr algn="ctr" indent="0" marL="0">
              <a:buNone/>
            </a:pPr>
            <a:r>
              <a:rPr lang="en-US" sz="2400" b="1" dirty="0">
                <a:solidFill>
                  <a:srgbClr val="FF6B00"/>
                </a:solidFill>
                <a:latin typeface="Arial" pitchFamily="34" charset="0"/>
                <a:ea typeface="Arial" pitchFamily="34" charset="-122"/>
                <a:cs typeface="Arial" pitchFamily="34" charset="-120"/>
              </a:rPr>
              <a:t>2.8x</a:t>
            </a:r>
            <a:endParaRPr lang="en-US" sz="2400" dirty="0"/>
          </a:p>
        </p:txBody>
      </p:sp>
      <p:sp>
        <p:nvSpPr>
          <p:cNvPr id="38" name="Text 36"/>
          <p:cNvSpPr/>
          <p:nvPr/>
        </p:nvSpPr>
        <p:spPr>
          <a:xfrm>
            <a:off x="6181344" y="4983480"/>
            <a:ext cx="224028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Retention lift for multi-discoverers</a:t>
            </a:r>
            <a:endParaRPr lang="en-US" sz="1000" dirty="0"/>
          </a:p>
        </p:txBody>
      </p:sp>
      <p:sp>
        <p:nvSpPr>
          <p:cNvPr id="39" name="Text 37"/>
          <p:cNvSpPr/>
          <p:nvPr/>
        </p:nvSpPr>
        <p:spPr>
          <a:xfrm>
            <a:off x="6181344" y="5248656"/>
            <a:ext cx="2240280" cy="256032"/>
          </a:xfrm>
          <a:prstGeom prst="rect">
            <a:avLst/>
          </a:prstGeom>
          <a:noFill/>
          <a:ln/>
        </p:spPr>
        <p:txBody>
          <a:bodyPr wrap="square" rtlCol="0" anchor="ctr"/>
          <a:lstStyle/>
          <a:p>
            <a:pPr indent="0" marL="0">
              <a:buNone/>
            </a:pPr>
            <a:r>
              <a:rPr lang="en-US" sz="850" dirty="0">
                <a:solidFill>
                  <a:srgbClr val="8B9E9B"/>
                </a:solidFill>
                <a:latin typeface="Arial" pitchFamily="34" charset="0"/>
                <a:ea typeface="Arial" pitchFamily="34" charset="-122"/>
                <a:cs typeface="Arial" pitchFamily="34" charset="-120"/>
              </a:rPr>
              <a:t>Users who find 3+ new stores in month 1 are 2.8x more likely to stay active</a:t>
            </a:r>
            <a:endParaRPr lang="en-US" sz="850" dirty="0"/>
          </a:p>
        </p:txBody>
      </p:sp>
      <p:sp>
        <p:nvSpPr>
          <p:cNvPr id="40" name="Shape 38"/>
          <p:cNvSpPr/>
          <p:nvPr/>
        </p:nvSpPr>
        <p:spPr>
          <a:xfrm>
            <a:off x="347472" y="6355080"/>
            <a:ext cx="8449056" cy="347472"/>
          </a:xfrm>
          <a:prstGeom prst="roundRect">
            <a:avLst>
              <a:gd name="adj" fmla="val 18421"/>
            </a:avLst>
          </a:prstGeom>
          <a:solidFill>
            <a:srgbClr val="2D1515"/>
          </a:solidFill>
          <a:ln w="12700">
            <a:solidFill>
              <a:srgbClr val="333333"/>
            </a:solidFill>
            <a:prstDash val="solid"/>
          </a:ln>
        </p:spPr>
      </p:sp>
      <p:sp>
        <p:nvSpPr>
          <p:cNvPr id="41" name="Text 39"/>
          <p:cNvSpPr/>
          <p:nvPr/>
        </p:nvSpPr>
        <p:spPr>
          <a:xfrm>
            <a:off x="530352" y="6382512"/>
            <a:ext cx="8083296" cy="274320"/>
          </a:xfrm>
          <a:prstGeom prst="rect">
            <a:avLst/>
          </a:prstGeom>
          <a:noFill/>
          <a:ln/>
        </p:spPr>
        <p:txBody>
          <a:bodyPr wrap="square" rtlCol="0" anchor="ctr"/>
          <a:lstStyle/>
          <a:p>
            <a:pPr indent="0" marL="0">
              <a:buNone/>
            </a:pPr>
            <a:r>
              <a:rPr lang="en-US" sz="900" i="1" dirty="0">
                <a:solidFill>
                  <a:srgbClr val="8B9E9B"/>
                </a:solidFill>
                <a:latin typeface="Arial" pitchFamily="34" charset="0"/>
                <a:ea typeface="Arial" pitchFamily="34" charset="-122"/>
                <a:cs typeface="Arial" pitchFamily="34" charset="-120"/>
              </a:rPr>
              <a:t>The Discovery Bonus is the rarest product mechanic: one where the user wins, the merchant wins, and PayPay wins — without spending a single extra yen on campaign budget.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5F5"/>
        </a:solidFill>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indent="0" marL="0">
              <a:buNone/>
            </a:pPr>
            <a:r>
              <a:rPr lang="en-US" sz="900" b="1" spc="400" kern="0" dirty="0">
                <a:solidFill>
                  <a:srgbClr val="E60012"/>
                </a:solidFill>
                <a:latin typeface="Arial" pitchFamily="34" charset="0"/>
                <a:ea typeface="Arial" pitchFamily="34" charset="-122"/>
                <a:cs typeface="Arial" pitchFamily="34" charset="-120"/>
              </a:rPr>
              <a:t>PROOF OF WORK</a:t>
            </a:r>
            <a:endParaRPr lang="en-US" sz="900" dirty="0"/>
          </a:p>
        </p:txBody>
      </p:sp>
      <p:sp>
        <p:nvSpPr>
          <p:cNvPr id="3" name="Text 1"/>
          <p:cNvSpPr/>
          <p:nvPr/>
        </p:nvSpPr>
        <p:spPr>
          <a:xfrm>
            <a:off x="457200" y="548640"/>
            <a:ext cx="8229600" cy="594360"/>
          </a:xfrm>
          <a:prstGeom prst="rect">
            <a:avLst/>
          </a:prstGeom>
          <a:noFill/>
          <a:ln/>
        </p:spPr>
        <p:txBody>
          <a:bodyPr wrap="square" rtlCol="0" anchor="ctr"/>
          <a:lstStyle/>
          <a:p>
            <a:pPr indent="0" marL="0">
              <a:buNone/>
            </a:pPr>
            <a:r>
              <a:rPr lang="en-US" sz="2400" b="1" dirty="0">
                <a:solidFill>
                  <a:srgbClr val="1A1A1A"/>
                </a:solidFill>
                <a:latin typeface="Arial" pitchFamily="34" charset="0"/>
                <a:ea typeface="Arial" pitchFamily="34" charset="-122"/>
                <a:cs typeface="Arial" pitchFamily="34" charset="-120"/>
              </a:rPr>
              <a:t>I Built This. Here Is the Proof.</a:t>
            </a:r>
            <a:endParaRPr lang="en-US" sz="2400" dirty="0"/>
          </a:p>
        </p:txBody>
      </p:sp>
      <p:sp>
        <p:nvSpPr>
          <p:cNvPr id="4" name="Shape 2"/>
          <p:cNvSpPr/>
          <p:nvPr/>
        </p:nvSpPr>
        <p:spPr>
          <a:xfrm>
            <a:off x="347472" y="1298448"/>
            <a:ext cx="4023360" cy="4645152"/>
          </a:xfrm>
          <a:prstGeom prst="roundRect">
            <a:avLst>
              <a:gd name="adj" fmla="val 2273"/>
            </a:avLst>
          </a:prstGeom>
          <a:solidFill>
            <a:srgbClr val="1A0A0A"/>
          </a:solidFill>
          <a:ln w="12700">
            <a:solidFill>
              <a:srgbClr val="333333"/>
            </a:solidFill>
            <a:prstDash val="solid"/>
          </a:ln>
          <a:effectLst>
            <a:outerShdw sx="100000" sy="100000" kx="0" ky="0" algn="bl" rotWithShape="0" blurRad="38100" dist="12700" dir="2700000">
              <a:srgbClr val="000000">
                <a:alpha val="12000"/>
              </a:srgbClr>
            </a:outerShdw>
          </a:effectLst>
        </p:spPr>
      </p:sp>
      <p:sp>
        <p:nvSpPr>
          <p:cNvPr id="5" name="Text 3"/>
          <p:cNvSpPr/>
          <p:nvPr/>
        </p:nvSpPr>
        <p:spPr>
          <a:xfrm>
            <a:off x="502920" y="1444752"/>
            <a:ext cx="3712464" cy="347472"/>
          </a:xfrm>
          <a:prstGeom prst="rect">
            <a:avLst/>
          </a:prstGeom>
          <a:noFill/>
          <a:ln/>
        </p:spPr>
        <p:txBody>
          <a:bodyPr wrap="square" rtlCol="0" anchor="ctr"/>
          <a:lstStyle/>
          <a:p>
            <a:pPr indent="0" marL="0">
              <a:buNone/>
            </a:pPr>
            <a:r>
              <a:rPr lang="en-US" sz="1200" b="1" dirty="0">
                <a:solidFill>
                  <a:srgbClr val="E60012"/>
                </a:solidFill>
                <a:latin typeface="Arial" pitchFamily="34" charset="0"/>
                <a:ea typeface="Arial" pitchFamily="34" charset="-122"/>
                <a:cs typeface="Arial" pitchFamily="34" charset="-120"/>
              </a:rPr>
              <a:t>What I Built at PhonePe</a:t>
            </a:r>
            <a:endParaRPr lang="en-US" sz="1200" dirty="0"/>
          </a:p>
        </p:txBody>
      </p:sp>
      <p:sp>
        <p:nvSpPr>
          <p:cNvPr id="6" name="Text 4"/>
          <p:cNvSpPr/>
          <p:nvPr/>
        </p:nvSpPr>
        <p:spPr>
          <a:xfrm>
            <a:off x="502920" y="1938528"/>
            <a:ext cx="3712464" cy="685800"/>
          </a:xfrm>
          <a:prstGeom prst="rect">
            <a:avLst/>
          </a:prstGeom>
          <a:noFill/>
          <a:ln/>
        </p:spPr>
        <p:txBody>
          <a:bodyPr wrap="square" rtlCol="0" anchor="ctr"/>
          <a:lstStyle/>
          <a:p>
            <a:pPr indent="0" marL="0">
              <a:buNone/>
            </a:pPr>
            <a:r>
              <a:rPr lang="en-US" sz="900" dirty="0">
                <a:solidFill>
                  <a:srgbClr val="FFF5F5"/>
                </a:solidFill>
                <a:latin typeface="Arial" pitchFamily="34" charset="0"/>
                <a:ea typeface="Arial" pitchFamily="34" charset="-122"/>
                <a:cs typeface="Arial" pitchFamily="34" charset="-120"/>
              </a:rPr>
              <a:t>►  Built dynamic cart incentivisation engine with context-aware triggers: cart value x user intent x time signals — 35% AOV uplift and 60% cart abandonment reduction at Pincode (quick commerce)</a:t>
            </a:r>
            <a:endParaRPr lang="en-US" sz="900" dirty="0"/>
          </a:p>
        </p:txBody>
      </p:sp>
      <p:sp>
        <p:nvSpPr>
          <p:cNvPr id="7" name="Text 5"/>
          <p:cNvSpPr/>
          <p:nvPr/>
        </p:nvSpPr>
        <p:spPr>
          <a:xfrm>
            <a:off x="502920" y="2688336"/>
            <a:ext cx="3712464" cy="685800"/>
          </a:xfrm>
          <a:prstGeom prst="rect">
            <a:avLst/>
          </a:prstGeom>
          <a:noFill/>
          <a:ln/>
        </p:spPr>
        <p:txBody>
          <a:bodyPr wrap="square" rtlCol="0" anchor="ctr"/>
          <a:lstStyle/>
          <a:p>
            <a:pPr indent="0" marL="0">
              <a:buNone/>
            </a:pPr>
            <a:r>
              <a:rPr lang="en-US" sz="900" dirty="0">
                <a:solidFill>
                  <a:srgbClr val="FFF5F5"/>
                </a:solidFill>
                <a:latin typeface="Arial" pitchFamily="34" charset="0"/>
                <a:ea typeface="Arial" pitchFamily="34" charset="-122"/>
                <a:cs typeface="Arial" pitchFamily="34" charset="-120"/>
              </a:rPr>
              <a:t>►  Deployed ML audience segmentation for brand self-serve campaign tooling in rewards marketplace — 500+ brand partners onboarded, 26% uplift in user engagement across merchant-linked cohorts</a:t>
            </a:r>
            <a:endParaRPr lang="en-US" sz="900" dirty="0"/>
          </a:p>
        </p:txBody>
      </p:sp>
      <p:sp>
        <p:nvSpPr>
          <p:cNvPr id="8" name="Text 6"/>
          <p:cNvSpPr/>
          <p:nvPr/>
        </p:nvSpPr>
        <p:spPr>
          <a:xfrm>
            <a:off x="502920" y="3438144"/>
            <a:ext cx="3712464" cy="685800"/>
          </a:xfrm>
          <a:prstGeom prst="rect">
            <a:avLst/>
          </a:prstGeom>
          <a:noFill/>
          <a:ln/>
        </p:spPr>
        <p:txBody>
          <a:bodyPr wrap="square" rtlCol="0" anchor="ctr"/>
          <a:lstStyle/>
          <a:p>
            <a:pPr indent="0" marL="0">
              <a:buNone/>
            </a:pPr>
            <a:r>
              <a:rPr lang="en-US" sz="900" dirty="0">
                <a:solidFill>
                  <a:srgbClr val="FFF5F5"/>
                </a:solidFill>
                <a:latin typeface="Arial" pitchFamily="34" charset="0"/>
                <a:ea typeface="Arial" pitchFamily="34" charset="-122"/>
                <a:cs typeface="Arial" pitchFamily="34" charset="-120"/>
              </a:rPr>
              <a:t>►  Built multi-tenant referral engine and self-serve PG integration platform collapsing 2-day manual merchant onboarding into 30-minute automated flow — 5,000+ B2B merchants acquired</a:t>
            </a:r>
            <a:endParaRPr lang="en-US" sz="900" dirty="0"/>
          </a:p>
        </p:txBody>
      </p:sp>
      <p:sp>
        <p:nvSpPr>
          <p:cNvPr id="9" name="Text 7"/>
          <p:cNvSpPr/>
          <p:nvPr/>
        </p:nvSpPr>
        <p:spPr>
          <a:xfrm>
            <a:off x="502920" y="4187952"/>
            <a:ext cx="3712464" cy="685800"/>
          </a:xfrm>
          <a:prstGeom prst="rect">
            <a:avLst/>
          </a:prstGeom>
          <a:noFill/>
          <a:ln/>
        </p:spPr>
        <p:txBody>
          <a:bodyPr wrap="square" rtlCol="0" anchor="ctr"/>
          <a:lstStyle/>
          <a:p>
            <a:pPr indent="0" marL="0">
              <a:buNone/>
            </a:pPr>
            <a:r>
              <a:rPr lang="en-US" sz="900" dirty="0">
                <a:solidFill>
                  <a:srgbClr val="FFF5F5"/>
                </a:solidFill>
                <a:latin typeface="Arial" pitchFamily="34" charset="0"/>
                <a:ea typeface="Arial" pitchFamily="34" charset="-122"/>
                <a:cs typeface="Arial" pitchFamily="34" charset="-120"/>
              </a:rPr>
              <a:t>►  Led ML-driven personalised offers redesign across 350M MAU — 22% checkout conversion lift through cross-functional delivery with Tech, UX, Finance, and Legal</a:t>
            </a:r>
            <a:endParaRPr lang="en-US" sz="900" dirty="0"/>
          </a:p>
        </p:txBody>
      </p:sp>
      <p:sp>
        <p:nvSpPr>
          <p:cNvPr id="10" name="Text 8"/>
          <p:cNvSpPr/>
          <p:nvPr/>
        </p:nvSpPr>
        <p:spPr>
          <a:xfrm>
            <a:off x="502920" y="4937760"/>
            <a:ext cx="3712464" cy="685800"/>
          </a:xfrm>
          <a:prstGeom prst="rect">
            <a:avLst/>
          </a:prstGeom>
          <a:noFill/>
          <a:ln/>
        </p:spPr>
        <p:txBody>
          <a:bodyPr wrap="square" rtlCol="0" anchor="ctr"/>
          <a:lstStyle/>
          <a:p>
            <a:pPr indent="0" marL="0">
              <a:buNone/>
            </a:pPr>
            <a:r>
              <a:rPr lang="en-US" sz="900" dirty="0">
                <a:solidFill>
                  <a:srgbClr val="FFF5F5"/>
                </a:solidFill>
                <a:latin typeface="Arial" pitchFamily="34" charset="0"/>
                <a:ea typeface="Arial" pitchFamily="34" charset="-122"/>
                <a:cs typeface="Arial" pitchFamily="34" charset="-120"/>
              </a:rPr>
              <a:t>►  MissionBoard architecture (weekly missions, tier unlock, nudge engine) shipped for merchant device retention at Virtusa and trading activation at MultiBank</a:t>
            </a:r>
            <a:endParaRPr lang="en-US" sz="900" dirty="0"/>
          </a:p>
        </p:txBody>
      </p:sp>
      <p:sp>
        <p:nvSpPr>
          <p:cNvPr id="11" name="Shape 9"/>
          <p:cNvSpPr/>
          <p:nvPr/>
        </p:nvSpPr>
        <p:spPr>
          <a:xfrm>
            <a:off x="4773168" y="1298448"/>
            <a:ext cx="4023360" cy="4645152"/>
          </a:xfrm>
          <a:prstGeom prst="roundRect">
            <a:avLst>
              <a:gd name="adj" fmla="val 2273"/>
            </a:avLst>
          </a:prstGeom>
          <a:solidFill>
            <a:srgbClr val="FFFFFF"/>
          </a:solidFill>
          <a:ln w="12700">
            <a:solidFill>
              <a:srgbClr val="DDDDDD"/>
            </a:solidFill>
            <a:prstDash val="solid"/>
          </a:ln>
          <a:effectLst>
            <a:outerShdw sx="100000" sy="100000" kx="0" ky="0" algn="bl" rotWithShape="0" blurRad="38100" dist="12700" dir="2700000">
              <a:srgbClr val="000000">
                <a:alpha val="12000"/>
              </a:srgbClr>
            </a:outerShdw>
          </a:effectLst>
        </p:spPr>
      </p:sp>
      <p:sp>
        <p:nvSpPr>
          <p:cNvPr id="12" name="Text 10"/>
          <p:cNvSpPr/>
          <p:nvPr/>
        </p:nvSpPr>
        <p:spPr>
          <a:xfrm>
            <a:off x="4919472" y="1444752"/>
            <a:ext cx="3712464" cy="347472"/>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How It Maps to This PayPay Role</a:t>
            </a:r>
            <a:endParaRPr lang="en-US" sz="1200" dirty="0"/>
          </a:p>
        </p:txBody>
      </p:sp>
      <p:sp>
        <p:nvSpPr>
          <p:cNvPr id="13" name="Text 11"/>
          <p:cNvSpPr/>
          <p:nvPr/>
        </p:nvSpPr>
        <p:spPr>
          <a:xfrm>
            <a:off x="4919472" y="1938528"/>
            <a:ext cx="3712464" cy="27432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PhonePe: Context-aware trigger engine (cart x intent x time)</a:t>
            </a:r>
            <a:endParaRPr lang="en-US" sz="850" dirty="0"/>
          </a:p>
        </p:txBody>
      </p:sp>
      <p:sp>
        <p:nvSpPr>
          <p:cNvPr id="14" name="Text 12"/>
          <p:cNvSpPr/>
          <p:nvPr/>
        </p:nvSpPr>
        <p:spPr>
          <a:xfrm>
            <a:off x="4919472" y="2212848"/>
            <a:ext cx="3712464" cy="274320"/>
          </a:xfrm>
          <a:prstGeom prst="rect">
            <a:avLst/>
          </a:prstGeom>
          <a:noFill/>
          <a:ln/>
        </p:spPr>
        <p:txBody>
          <a:bodyPr wrap="square" rtlCol="0" anchor="ctr"/>
          <a:lstStyle/>
          <a:p>
            <a:pPr indent="0" marL="0">
              <a:buNone/>
            </a:pPr>
            <a:r>
              <a:rPr lang="en-US" sz="900" b="1" dirty="0">
                <a:solidFill>
                  <a:srgbClr val="1A1A1A"/>
                </a:solidFill>
                <a:latin typeface="Arial" pitchFamily="34" charset="0"/>
                <a:ea typeface="Arial" pitchFamily="34" charset="-122"/>
                <a:cs typeface="Arial" pitchFamily="34" charset="-120"/>
              </a:rPr>
              <a:t>→  PayPay: NearPay GPS trigger (location x category affinity x time window)</a:t>
            </a:r>
            <a:endParaRPr lang="en-US" sz="900" dirty="0"/>
          </a:p>
        </p:txBody>
      </p:sp>
      <p:sp>
        <p:nvSpPr>
          <p:cNvPr id="15" name="Text 13"/>
          <p:cNvSpPr/>
          <p:nvPr/>
        </p:nvSpPr>
        <p:spPr>
          <a:xfrm>
            <a:off x="4919472" y="2688336"/>
            <a:ext cx="3712464" cy="27432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PhonePe: ML audience segmentation for merchant campaigns</a:t>
            </a:r>
            <a:endParaRPr lang="en-US" sz="850" dirty="0"/>
          </a:p>
        </p:txBody>
      </p:sp>
      <p:sp>
        <p:nvSpPr>
          <p:cNvPr id="16" name="Text 14"/>
          <p:cNvSpPr/>
          <p:nvPr/>
        </p:nvSpPr>
        <p:spPr>
          <a:xfrm>
            <a:off x="4919472" y="2962656"/>
            <a:ext cx="3712464" cy="274320"/>
          </a:xfrm>
          <a:prstGeom prst="rect">
            <a:avLst/>
          </a:prstGeom>
          <a:noFill/>
          <a:ln/>
        </p:spPr>
        <p:txBody>
          <a:bodyPr wrap="square" rtlCol="0" anchor="ctr"/>
          <a:lstStyle/>
          <a:p>
            <a:pPr indent="0" marL="0">
              <a:buNone/>
            </a:pPr>
            <a:r>
              <a:rPr lang="en-US" sz="900" b="1" dirty="0">
                <a:solidFill>
                  <a:srgbClr val="1A1A1A"/>
                </a:solidFill>
                <a:latin typeface="Arial" pitchFamily="34" charset="0"/>
                <a:ea typeface="Arial" pitchFamily="34" charset="-122"/>
                <a:cs typeface="Arial" pitchFamily="34" charset="-120"/>
              </a:rPr>
              <a:t>→  PayPay: Category affinity model for merchant-user matching</a:t>
            </a:r>
            <a:endParaRPr lang="en-US" sz="900" dirty="0"/>
          </a:p>
        </p:txBody>
      </p:sp>
      <p:sp>
        <p:nvSpPr>
          <p:cNvPr id="17" name="Text 15"/>
          <p:cNvSpPr/>
          <p:nvPr/>
        </p:nvSpPr>
        <p:spPr>
          <a:xfrm>
            <a:off x="4919472" y="3438144"/>
            <a:ext cx="3712464" cy="27432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PhonePe: Brand self-serve campaign tooling, 500+ partners</a:t>
            </a:r>
            <a:endParaRPr lang="en-US" sz="850" dirty="0"/>
          </a:p>
        </p:txBody>
      </p:sp>
      <p:sp>
        <p:nvSpPr>
          <p:cNvPr id="18" name="Text 16"/>
          <p:cNvSpPr/>
          <p:nvPr/>
        </p:nvSpPr>
        <p:spPr>
          <a:xfrm>
            <a:off x="4919472" y="3712464"/>
            <a:ext cx="3712464" cy="274320"/>
          </a:xfrm>
          <a:prstGeom prst="rect">
            <a:avLst/>
          </a:prstGeom>
          <a:noFill/>
          <a:ln/>
        </p:spPr>
        <p:txBody>
          <a:bodyPr wrap="square" rtlCol="0" anchor="ctr"/>
          <a:lstStyle/>
          <a:p>
            <a:pPr indent="0" marL="0">
              <a:buNone/>
            </a:pPr>
            <a:r>
              <a:rPr lang="en-US" sz="900" b="1" dirty="0">
                <a:solidFill>
                  <a:srgbClr val="1A1A1A"/>
                </a:solidFill>
                <a:latin typeface="Arial" pitchFamily="34" charset="0"/>
                <a:ea typeface="Arial" pitchFamily="34" charset="-122"/>
                <a:cs typeface="Arial" pitchFamily="34" charset="-120"/>
              </a:rPr>
              <a:t>→  PayPay: Merchant-funded Discovery Bonus via PayPay for Business</a:t>
            </a:r>
            <a:endParaRPr lang="en-US" sz="900" dirty="0"/>
          </a:p>
        </p:txBody>
      </p:sp>
      <p:sp>
        <p:nvSpPr>
          <p:cNvPr id="19" name="Text 17"/>
          <p:cNvSpPr/>
          <p:nvPr/>
        </p:nvSpPr>
        <p:spPr>
          <a:xfrm>
            <a:off x="4919472" y="4187952"/>
            <a:ext cx="3712464" cy="27432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PhonePe: B2B merchant onboarding (2 days to 30 minutes)</a:t>
            </a:r>
            <a:endParaRPr lang="en-US" sz="850" dirty="0"/>
          </a:p>
        </p:txBody>
      </p:sp>
      <p:sp>
        <p:nvSpPr>
          <p:cNvPr id="20" name="Text 18"/>
          <p:cNvSpPr/>
          <p:nvPr/>
        </p:nvSpPr>
        <p:spPr>
          <a:xfrm>
            <a:off x="4919472" y="4462272"/>
            <a:ext cx="3712464" cy="274320"/>
          </a:xfrm>
          <a:prstGeom prst="rect">
            <a:avLst/>
          </a:prstGeom>
          <a:noFill/>
          <a:ln/>
        </p:spPr>
        <p:txBody>
          <a:bodyPr wrap="square" rtlCol="0" anchor="ctr"/>
          <a:lstStyle/>
          <a:p>
            <a:pPr indent="0" marL="0">
              <a:buNone/>
            </a:pPr>
            <a:r>
              <a:rPr lang="en-US" sz="900" b="1" dirty="0">
                <a:solidFill>
                  <a:srgbClr val="1A1A1A"/>
                </a:solidFill>
                <a:latin typeface="Arial" pitchFamily="34" charset="0"/>
                <a:ea typeface="Arial" pitchFamily="34" charset="-122"/>
                <a:cs typeface="Arial" pitchFamily="34" charset="-120"/>
              </a:rPr>
              <a:t>→  PayPay: NearPay merchant campaign self-serve onboarding</a:t>
            </a:r>
            <a:endParaRPr lang="en-US" sz="900" dirty="0"/>
          </a:p>
        </p:txBody>
      </p:sp>
      <p:sp>
        <p:nvSpPr>
          <p:cNvPr id="21" name="Text 19"/>
          <p:cNvSpPr/>
          <p:nvPr/>
        </p:nvSpPr>
        <p:spPr>
          <a:xfrm>
            <a:off x="4919472" y="4937760"/>
            <a:ext cx="3712464" cy="27432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PhonePe: Milestone architecture shipped across 3 companies</a:t>
            </a:r>
            <a:endParaRPr lang="en-US" sz="850" dirty="0"/>
          </a:p>
        </p:txBody>
      </p:sp>
      <p:sp>
        <p:nvSpPr>
          <p:cNvPr id="22" name="Text 20"/>
          <p:cNvSpPr/>
          <p:nvPr/>
        </p:nvSpPr>
        <p:spPr>
          <a:xfrm>
            <a:off x="4919472" y="5212080"/>
            <a:ext cx="3712464" cy="274320"/>
          </a:xfrm>
          <a:prstGeom prst="rect">
            <a:avLst/>
          </a:prstGeom>
          <a:noFill/>
          <a:ln/>
        </p:spPr>
        <p:txBody>
          <a:bodyPr wrap="square" rtlCol="0" anchor="ctr"/>
          <a:lstStyle/>
          <a:p>
            <a:pPr indent="0" marL="0">
              <a:buNone/>
            </a:pPr>
            <a:r>
              <a:rPr lang="en-US" sz="900" b="1" dirty="0">
                <a:solidFill>
                  <a:srgbClr val="1A1A1A"/>
                </a:solidFill>
                <a:latin typeface="Arial" pitchFamily="34" charset="0"/>
                <a:ea typeface="Arial" pitchFamily="34" charset="-122"/>
                <a:cs typeface="Arial" pitchFamily="34" charset="-120"/>
              </a:rPr>
              <a:t>→  PayPay: Discovery achievement system and Explorer badge layer</a:t>
            </a:r>
            <a:endParaRPr lang="en-US" sz="900" dirty="0"/>
          </a:p>
        </p:txBody>
      </p:sp>
      <p:sp>
        <p:nvSpPr>
          <p:cNvPr id="23" name="Shape 21"/>
          <p:cNvSpPr/>
          <p:nvPr/>
        </p:nvSpPr>
        <p:spPr>
          <a:xfrm>
            <a:off x="347472" y="6080760"/>
            <a:ext cx="8449056" cy="868680"/>
          </a:xfrm>
          <a:prstGeom prst="roundRect">
            <a:avLst>
              <a:gd name="adj" fmla="val 8421"/>
            </a:avLst>
          </a:prstGeom>
          <a:solidFill>
            <a:srgbClr val="FFEBEB"/>
          </a:solidFill>
          <a:ln w="19050">
            <a:solidFill>
              <a:srgbClr val="E60012"/>
            </a:solidFill>
            <a:prstDash val="solid"/>
          </a:ln>
        </p:spPr>
      </p:sp>
      <p:sp>
        <p:nvSpPr>
          <p:cNvPr id="24" name="Text 22"/>
          <p:cNvSpPr/>
          <p:nvPr/>
        </p:nvSpPr>
        <p:spPr>
          <a:xfrm>
            <a:off x="530352" y="6144768"/>
            <a:ext cx="8083296" cy="731520"/>
          </a:xfrm>
          <a:prstGeom prst="rect">
            <a:avLst/>
          </a:prstGeom>
          <a:noFill/>
          <a:ln/>
        </p:spPr>
        <p:txBody>
          <a:bodyPr wrap="square" rtlCol="0" anchor="ctr"/>
          <a:lstStyle/>
          <a:p>
            <a:pPr indent="0" marL="0">
              <a:buNone/>
            </a:pPr>
            <a:r>
              <a:rPr lang="en-US" sz="1000" i="1" dirty="0">
                <a:solidFill>
                  <a:srgbClr val="1A1A1A"/>
                </a:solidFill>
                <a:latin typeface="Arial" pitchFamily="34" charset="0"/>
                <a:ea typeface="Arial" pitchFamily="34" charset="-122"/>
                <a:cs typeface="Arial" pitchFamily="34" charset="-120"/>
              </a:rPr>
              <a:t>"NearPay is the context-aware trigger engine I built at PhonePe — applied to physical merchant discovery. The mechanic is the same. The canvas is every street in Japan."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0A0A"/>
        </a:solidFill>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indent="0" marL="0">
              <a:buNone/>
            </a:pPr>
            <a:r>
              <a:rPr lang="en-US" sz="900" b="1" spc="400" kern="0" dirty="0">
                <a:solidFill>
                  <a:srgbClr val="E60012"/>
                </a:solidFill>
                <a:latin typeface="Arial" pitchFamily="34" charset="0"/>
                <a:ea typeface="Arial" pitchFamily="34" charset="-122"/>
                <a:cs typeface="Arial" pitchFamily="34" charset="-120"/>
              </a:rPr>
              <a:t>ROLLOUT PLAN</a:t>
            </a:r>
            <a:endParaRPr lang="en-US" sz="900" dirty="0"/>
          </a:p>
        </p:txBody>
      </p:sp>
      <p:sp>
        <p:nvSpPr>
          <p:cNvPr id="3" name="Text 1"/>
          <p:cNvSpPr/>
          <p:nvPr/>
        </p:nvSpPr>
        <p:spPr>
          <a:xfrm>
            <a:off x="457200" y="548640"/>
            <a:ext cx="8229600" cy="59436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Phased Rollout — 6 Months to Full Deployment</a:t>
            </a:r>
            <a:endParaRPr lang="en-US" sz="2400" dirty="0"/>
          </a:p>
        </p:txBody>
      </p:sp>
      <p:sp>
        <p:nvSpPr>
          <p:cNvPr id="4" name="Shape 2"/>
          <p:cNvSpPr/>
          <p:nvPr/>
        </p:nvSpPr>
        <p:spPr>
          <a:xfrm>
            <a:off x="347472" y="1298448"/>
            <a:ext cx="2743200" cy="4069080"/>
          </a:xfrm>
          <a:prstGeom prst="roundRect">
            <a:avLst>
              <a:gd name="adj" fmla="val 3333"/>
            </a:avLst>
          </a:prstGeom>
          <a:solidFill>
            <a:srgbClr val="2D1515"/>
          </a:solidFill>
          <a:ln w="19050">
            <a:solidFill>
              <a:srgbClr val="E60012"/>
            </a:solidFill>
            <a:prstDash val="solid"/>
          </a:ln>
          <a:effectLst>
            <a:outerShdw sx="100000" sy="100000" kx="0" ky="0" algn="bl" rotWithShape="0" blurRad="38100" dist="12700" dir="2700000">
              <a:srgbClr val="000000">
                <a:alpha val="12000"/>
              </a:srgbClr>
            </a:outerShdw>
          </a:effectLst>
        </p:spPr>
      </p:sp>
      <p:sp>
        <p:nvSpPr>
          <p:cNvPr id="5" name="Shape 3"/>
          <p:cNvSpPr/>
          <p:nvPr/>
        </p:nvSpPr>
        <p:spPr>
          <a:xfrm>
            <a:off x="347472" y="1298448"/>
            <a:ext cx="2743200" cy="402336"/>
          </a:xfrm>
          <a:prstGeom prst="rect">
            <a:avLst/>
          </a:prstGeom>
          <a:solidFill>
            <a:srgbClr val="E60012"/>
          </a:solidFill>
          <a:ln w="12700">
            <a:solidFill>
              <a:srgbClr val="000000"/>
            </a:solidFill>
            <a:prstDash val="solid"/>
          </a:ln>
        </p:spPr>
      </p:sp>
      <p:sp>
        <p:nvSpPr>
          <p:cNvPr id="6" name="Text 4"/>
          <p:cNvSpPr/>
          <p:nvPr/>
        </p:nvSpPr>
        <p:spPr>
          <a:xfrm>
            <a:off x="438912" y="1316736"/>
            <a:ext cx="2560320" cy="347472"/>
          </a:xfrm>
          <a:prstGeom prst="rect">
            <a:avLst/>
          </a:prstGeom>
          <a:noFill/>
          <a:ln/>
        </p:spPr>
        <p:txBody>
          <a:bodyPr wrap="square" rtlCol="0" anchor="ctr"/>
          <a:lstStyle/>
          <a:p>
            <a:pPr indent="0" marL="0">
              <a:buNone/>
            </a:pPr>
            <a:r>
              <a:rPr lang="en-US" sz="950" b="1" dirty="0">
                <a:solidFill>
                  <a:srgbClr val="1A0A0A"/>
                </a:solidFill>
                <a:latin typeface="Arial" pitchFamily="34" charset="0"/>
                <a:ea typeface="Arial" pitchFamily="34" charset="-122"/>
                <a:cs typeface="Arial" pitchFamily="34" charset="-120"/>
              </a:rPr>
              <a:t>Phase 1  x  Month 1-2: Pilot</a:t>
            </a:r>
            <a:endParaRPr lang="en-US" sz="950" dirty="0"/>
          </a:p>
        </p:txBody>
      </p:sp>
      <p:sp>
        <p:nvSpPr>
          <p:cNvPr id="7" name="Text 5"/>
          <p:cNvSpPr/>
          <p:nvPr/>
        </p:nvSpPr>
        <p:spPr>
          <a:xfrm>
            <a:off x="457200" y="1828800"/>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Launch NearPay in 1 district (Shibuya or Shinjuku) with 50 opted-in merchants</a:t>
            </a:r>
            <a:endParaRPr lang="en-US" sz="850" dirty="0"/>
          </a:p>
        </p:txBody>
      </p:sp>
      <p:sp>
        <p:nvSpPr>
          <p:cNvPr id="8" name="Text 6"/>
          <p:cNvSpPr/>
          <p:nvPr/>
        </p:nvSpPr>
        <p:spPr>
          <a:xfrm>
            <a:off x="457200" y="2487168"/>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Instrument push open rate, map view, merchant tap, and payment conversion funnel</a:t>
            </a:r>
            <a:endParaRPr lang="en-US" sz="850" dirty="0"/>
          </a:p>
        </p:txBody>
      </p:sp>
      <p:sp>
        <p:nvSpPr>
          <p:cNvPr id="9" name="Text 7"/>
          <p:cNvSpPr/>
          <p:nvPr/>
        </p:nvSpPr>
        <p:spPr>
          <a:xfrm>
            <a:off x="457200" y="3145536"/>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A/B test push message copy: proximity vs bonus vs discovery framing</a:t>
            </a:r>
            <a:endParaRPr lang="en-US" sz="850" dirty="0"/>
          </a:p>
        </p:txBody>
      </p:sp>
      <p:sp>
        <p:nvSpPr>
          <p:cNvPr id="10" name="Text 8"/>
          <p:cNvSpPr/>
          <p:nvPr/>
        </p:nvSpPr>
        <p:spPr>
          <a:xfrm>
            <a:off x="457200" y="3803904"/>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Validate category affinity model: does it surface the right merchant type per user?</a:t>
            </a:r>
            <a:endParaRPr lang="en-US" sz="850" dirty="0"/>
          </a:p>
        </p:txBody>
      </p:sp>
      <p:sp>
        <p:nvSpPr>
          <p:cNvPr id="11" name="Shape 9"/>
          <p:cNvSpPr/>
          <p:nvPr/>
        </p:nvSpPr>
        <p:spPr>
          <a:xfrm>
            <a:off x="3291840" y="1298448"/>
            <a:ext cx="2743200" cy="4069080"/>
          </a:xfrm>
          <a:prstGeom prst="roundRect">
            <a:avLst>
              <a:gd name="adj" fmla="val 3333"/>
            </a:avLst>
          </a:prstGeom>
          <a:solidFill>
            <a:srgbClr val="2D1515"/>
          </a:solidFill>
          <a:ln w="19050">
            <a:solidFill>
              <a:srgbClr val="FF6B00"/>
            </a:solidFill>
            <a:prstDash val="solid"/>
          </a:ln>
          <a:effectLst>
            <a:outerShdw sx="100000" sy="100000" kx="0" ky="0" algn="bl" rotWithShape="0" blurRad="38100" dist="12700" dir="2700000">
              <a:srgbClr val="000000">
                <a:alpha val="12000"/>
              </a:srgbClr>
            </a:outerShdw>
          </a:effectLst>
        </p:spPr>
      </p:sp>
      <p:sp>
        <p:nvSpPr>
          <p:cNvPr id="12" name="Shape 10"/>
          <p:cNvSpPr/>
          <p:nvPr/>
        </p:nvSpPr>
        <p:spPr>
          <a:xfrm>
            <a:off x="3291840" y="1298448"/>
            <a:ext cx="2743200" cy="402336"/>
          </a:xfrm>
          <a:prstGeom prst="rect">
            <a:avLst/>
          </a:prstGeom>
          <a:solidFill>
            <a:srgbClr val="FF6B00"/>
          </a:solidFill>
          <a:ln w="12700">
            <a:solidFill>
              <a:srgbClr val="000000"/>
            </a:solidFill>
            <a:prstDash val="solid"/>
          </a:ln>
        </p:spPr>
      </p:sp>
      <p:sp>
        <p:nvSpPr>
          <p:cNvPr id="13" name="Text 11"/>
          <p:cNvSpPr/>
          <p:nvPr/>
        </p:nvSpPr>
        <p:spPr>
          <a:xfrm>
            <a:off x="3383280" y="1316736"/>
            <a:ext cx="2560320" cy="347472"/>
          </a:xfrm>
          <a:prstGeom prst="rect">
            <a:avLst/>
          </a:prstGeom>
          <a:noFill/>
          <a:ln/>
        </p:spPr>
        <p:txBody>
          <a:bodyPr wrap="square" rtlCol="0" anchor="ctr"/>
          <a:lstStyle/>
          <a:p>
            <a:pPr indent="0" marL="0">
              <a:buNone/>
            </a:pPr>
            <a:r>
              <a:rPr lang="en-US" sz="950" b="1" dirty="0">
                <a:solidFill>
                  <a:srgbClr val="1A0A0A"/>
                </a:solidFill>
                <a:latin typeface="Arial" pitchFamily="34" charset="0"/>
                <a:ea typeface="Arial" pitchFamily="34" charset="-122"/>
                <a:cs typeface="Arial" pitchFamily="34" charset="-120"/>
              </a:rPr>
              <a:t>Phase 2  x  Month 3-4: Merchant Platform</a:t>
            </a:r>
            <a:endParaRPr lang="en-US" sz="950" dirty="0"/>
          </a:p>
        </p:txBody>
      </p:sp>
      <p:sp>
        <p:nvSpPr>
          <p:cNvPr id="14" name="Text 12"/>
          <p:cNvSpPr/>
          <p:nvPr/>
        </p:nvSpPr>
        <p:spPr>
          <a:xfrm>
            <a:off x="3401568" y="1828800"/>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Launch merchant self-serve campaign console in PayPay for Business</a:t>
            </a:r>
            <a:endParaRPr lang="en-US" sz="850" dirty="0"/>
          </a:p>
        </p:txBody>
      </p:sp>
      <p:sp>
        <p:nvSpPr>
          <p:cNvPr id="15" name="Text 13"/>
          <p:cNvSpPr/>
          <p:nvPr/>
        </p:nvSpPr>
        <p:spPr>
          <a:xfrm>
            <a:off x="3401568" y="2487168"/>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Onboard 1,000+ merchants to NearPay Discovery Bonus programme across 3 cities</a:t>
            </a:r>
            <a:endParaRPr lang="en-US" sz="850" dirty="0"/>
          </a:p>
        </p:txBody>
      </p:sp>
      <p:sp>
        <p:nvSpPr>
          <p:cNvPr id="16" name="Text 14"/>
          <p:cNvSpPr/>
          <p:nvPr/>
        </p:nvSpPr>
        <p:spPr>
          <a:xfrm>
            <a:off x="3401568" y="3145536"/>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Tune trigger radius and time window based on pilot conversion data</a:t>
            </a:r>
            <a:endParaRPr lang="en-US" sz="850" dirty="0"/>
          </a:p>
        </p:txBody>
      </p:sp>
      <p:sp>
        <p:nvSpPr>
          <p:cNvPr id="17" name="Text 15"/>
          <p:cNvSpPr/>
          <p:nvPr/>
        </p:nvSpPr>
        <p:spPr>
          <a:xfrm>
            <a:off x="3401568" y="3803904"/>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Add Discovery Points and Explorer badge system to deepen engagement loop</a:t>
            </a:r>
            <a:endParaRPr lang="en-US" sz="850" dirty="0"/>
          </a:p>
        </p:txBody>
      </p:sp>
      <p:sp>
        <p:nvSpPr>
          <p:cNvPr id="18" name="Shape 16"/>
          <p:cNvSpPr/>
          <p:nvPr/>
        </p:nvSpPr>
        <p:spPr>
          <a:xfrm>
            <a:off x="6236208" y="1298448"/>
            <a:ext cx="2743200" cy="4069080"/>
          </a:xfrm>
          <a:prstGeom prst="roundRect">
            <a:avLst>
              <a:gd name="adj" fmla="val 3333"/>
            </a:avLst>
          </a:prstGeom>
          <a:solidFill>
            <a:srgbClr val="2D1515"/>
          </a:solidFill>
          <a:ln w="19050">
            <a:solidFill>
              <a:srgbClr val="22C55E"/>
            </a:solidFill>
            <a:prstDash val="solid"/>
          </a:ln>
          <a:effectLst>
            <a:outerShdw sx="100000" sy="100000" kx="0" ky="0" algn="bl" rotWithShape="0" blurRad="38100" dist="12700" dir="2700000">
              <a:srgbClr val="000000">
                <a:alpha val="12000"/>
              </a:srgbClr>
            </a:outerShdw>
          </a:effectLst>
        </p:spPr>
      </p:sp>
      <p:sp>
        <p:nvSpPr>
          <p:cNvPr id="19" name="Shape 17"/>
          <p:cNvSpPr/>
          <p:nvPr/>
        </p:nvSpPr>
        <p:spPr>
          <a:xfrm>
            <a:off x="6236208" y="1298448"/>
            <a:ext cx="2743200" cy="402336"/>
          </a:xfrm>
          <a:prstGeom prst="rect">
            <a:avLst/>
          </a:prstGeom>
          <a:solidFill>
            <a:srgbClr val="22C55E"/>
          </a:solidFill>
          <a:ln w="12700">
            <a:solidFill>
              <a:srgbClr val="000000"/>
            </a:solidFill>
            <a:prstDash val="solid"/>
          </a:ln>
        </p:spPr>
      </p:sp>
      <p:sp>
        <p:nvSpPr>
          <p:cNvPr id="20" name="Text 18"/>
          <p:cNvSpPr/>
          <p:nvPr/>
        </p:nvSpPr>
        <p:spPr>
          <a:xfrm>
            <a:off x="6327648" y="1316736"/>
            <a:ext cx="2560320" cy="347472"/>
          </a:xfrm>
          <a:prstGeom prst="rect">
            <a:avLst/>
          </a:prstGeom>
          <a:noFill/>
          <a:ln/>
        </p:spPr>
        <p:txBody>
          <a:bodyPr wrap="square" rtlCol="0" anchor="ctr"/>
          <a:lstStyle/>
          <a:p>
            <a:pPr indent="0" marL="0">
              <a:buNone/>
            </a:pPr>
            <a:r>
              <a:rPr lang="en-US" sz="950" b="1" dirty="0">
                <a:solidFill>
                  <a:srgbClr val="1A0A0A"/>
                </a:solidFill>
                <a:latin typeface="Arial" pitchFamily="34" charset="0"/>
                <a:ea typeface="Arial" pitchFamily="34" charset="-122"/>
                <a:cs typeface="Arial" pitchFamily="34" charset="-120"/>
              </a:rPr>
              <a:t>Phase 3  x  Month 5-6: National Rollout</a:t>
            </a:r>
            <a:endParaRPr lang="en-US" sz="950" dirty="0"/>
          </a:p>
        </p:txBody>
      </p:sp>
      <p:sp>
        <p:nvSpPr>
          <p:cNvPr id="21" name="Text 19"/>
          <p:cNvSpPr/>
          <p:nvPr/>
        </p:nvSpPr>
        <p:spPr>
          <a:xfrm>
            <a:off x="6345936" y="1828800"/>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Roll NearPay to all 70M PayPay users and all 4M+ accepting merchants nationally</a:t>
            </a:r>
            <a:endParaRPr lang="en-US" sz="850" dirty="0"/>
          </a:p>
        </p:txBody>
      </p:sp>
      <p:sp>
        <p:nvSpPr>
          <p:cNvPr id="22" name="Text 20"/>
          <p:cNvSpPr/>
          <p:nvPr/>
        </p:nvSpPr>
        <p:spPr>
          <a:xfrm>
            <a:off x="6345936" y="2487168"/>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Integrate with PayPay Step: NearPay discoveries credit Step tier progress</a:t>
            </a:r>
            <a:endParaRPr lang="en-US" sz="850" dirty="0"/>
          </a:p>
        </p:txBody>
      </p:sp>
      <p:sp>
        <p:nvSpPr>
          <p:cNvPr id="23" name="Text 21"/>
          <p:cNvSpPr/>
          <p:nvPr/>
        </p:nvSpPr>
        <p:spPr>
          <a:xfrm>
            <a:off x="6345936" y="3145536"/>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Launch NearPay merchant leaderboard — top-performing campaigns get editorial placement</a:t>
            </a:r>
            <a:endParaRPr lang="en-US" sz="850" dirty="0"/>
          </a:p>
        </p:txBody>
      </p:sp>
      <p:sp>
        <p:nvSpPr>
          <p:cNvPr id="24" name="Text 22"/>
          <p:cNvSpPr/>
          <p:nvPr/>
        </p:nvSpPr>
        <p:spPr>
          <a:xfrm>
            <a:off x="6345936" y="3803904"/>
            <a:ext cx="2523744" cy="603504"/>
          </a:xfrm>
          <a:prstGeom prst="rect">
            <a:avLst/>
          </a:prstGeom>
          <a:noFill/>
          <a:ln/>
        </p:spPr>
        <p:txBody>
          <a:bodyPr wrap="square" rtlCol="0" anchor="ctr"/>
          <a:lstStyle/>
          <a:p>
            <a:pPr indent="0" marL="0">
              <a:buNone/>
            </a:pPr>
            <a:r>
              <a:rPr lang="en-US" sz="850" dirty="0">
                <a:solidFill>
                  <a:srgbClr val="FFF5F5"/>
                </a:solidFill>
                <a:latin typeface="Arial" pitchFamily="34" charset="0"/>
                <a:ea typeface="Arial" pitchFamily="34" charset="-122"/>
                <a:cs typeface="Arial" pitchFamily="34" charset="-120"/>
              </a:rPr>
              <a:t>►  Enable multi-merchant discovery routes: NearPay suggests a 3-stop lunch run nearby</a:t>
            </a:r>
            <a:endParaRPr lang="en-US" sz="850" dirty="0"/>
          </a:p>
        </p:txBody>
      </p:sp>
      <p:sp>
        <p:nvSpPr>
          <p:cNvPr id="25" name="Shape 23"/>
          <p:cNvSpPr/>
          <p:nvPr/>
        </p:nvSpPr>
        <p:spPr>
          <a:xfrm>
            <a:off x="347472" y="5486400"/>
            <a:ext cx="8449056" cy="987552"/>
          </a:xfrm>
          <a:prstGeom prst="roundRect">
            <a:avLst>
              <a:gd name="adj" fmla="val 9259"/>
            </a:avLst>
          </a:prstGeom>
          <a:solidFill>
            <a:srgbClr val="2D1515"/>
          </a:solidFill>
          <a:ln w="19050">
            <a:solidFill>
              <a:srgbClr val="FF6B00"/>
            </a:solidFill>
            <a:prstDash val="solid"/>
          </a:ln>
        </p:spPr>
      </p:sp>
      <p:sp>
        <p:nvSpPr>
          <p:cNvPr id="26" name="Text 24"/>
          <p:cNvSpPr/>
          <p:nvPr/>
        </p:nvSpPr>
        <p:spPr>
          <a:xfrm>
            <a:off x="548640" y="5550408"/>
            <a:ext cx="2743200" cy="256032"/>
          </a:xfrm>
          <a:prstGeom prst="rect">
            <a:avLst/>
          </a:prstGeom>
          <a:noFill/>
          <a:ln/>
        </p:spPr>
        <p:txBody>
          <a:bodyPr wrap="square" rtlCol="0" anchor="ctr"/>
          <a:lstStyle/>
          <a:p>
            <a:pPr indent="0" marL="0">
              <a:buNone/>
            </a:pPr>
            <a:r>
              <a:rPr lang="en-US" sz="1000" b="1" dirty="0">
                <a:solidFill>
                  <a:srgbClr val="FF6B00"/>
                </a:solidFill>
                <a:latin typeface="Arial" pitchFamily="34" charset="0"/>
                <a:ea typeface="Arial" pitchFamily="34" charset="-122"/>
                <a:cs typeface="Arial" pitchFamily="34" charset="-120"/>
              </a:rPr>
              <a:t>What I need to build this:</a:t>
            </a:r>
            <a:endParaRPr lang="en-US" sz="1000" dirty="0"/>
          </a:p>
        </p:txBody>
      </p:sp>
      <p:sp>
        <p:nvSpPr>
          <p:cNvPr id="27" name="Text 25"/>
          <p:cNvSpPr/>
          <p:nvPr/>
        </p:nvSpPr>
        <p:spPr>
          <a:xfrm>
            <a:off x="548640" y="5833872"/>
            <a:ext cx="8083296" cy="502920"/>
          </a:xfrm>
          <a:prstGeom prst="rect">
            <a:avLst/>
          </a:prstGeom>
          <a:noFill/>
          <a:ln/>
        </p:spPr>
        <p:txBody>
          <a:bodyPr wrap="square" rtlCol="0" anchor="ctr"/>
          <a:lstStyle/>
          <a:p>
            <a:pPr indent="0" marL="0">
              <a:buNone/>
            </a:pPr>
            <a:r>
              <a:rPr lang="en-US" sz="950" dirty="0">
                <a:solidFill>
                  <a:srgbClr val="FFF5F5"/>
                </a:solidFill>
                <a:latin typeface="Arial" pitchFamily="34" charset="0"/>
                <a:ea typeface="Arial" pitchFamily="34" charset="-122"/>
                <a:cs typeface="Arial" pitchFamily="34" charset="-120"/>
              </a:rPr>
              <a:t>Merchant location and category data API  x  GPS trigger permissions framework  x  PayPay for Business team alignment  x  Push notification infrastructure  x  1 engineer for proximity scoring service</a:t>
            </a:r>
            <a:endParaRPr lang="en-US" sz="950" dirty="0"/>
          </a:p>
        </p:txBody>
      </p:sp>
      <p:sp>
        <p:nvSpPr>
          <p:cNvPr id="28" name="Shape 26"/>
          <p:cNvSpPr/>
          <p:nvPr/>
        </p:nvSpPr>
        <p:spPr>
          <a:xfrm>
            <a:off x="0" y="6473952"/>
            <a:ext cx="9144000" cy="384048"/>
          </a:xfrm>
          <a:prstGeom prst="rect">
            <a:avLst/>
          </a:prstGeom>
          <a:solidFill>
            <a:srgbClr val="2D1515"/>
          </a:solidFill>
          <a:ln w="12700">
            <a:solidFill>
              <a:srgbClr val="000000"/>
            </a:solidFill>
            <a:prstDash val="solid"/>
          </a:ln>
        </p:spPr>
      </p:sp>
      <p:sp>
        <p:nvSpPr>
          <p:cNvPr id="29" name="Text 27"/>
          <p:cNvSpPr/>
          <p:nvPr/>
        </p:nvSpPr>
        <p:spPr>
          <a:xfrm>
            <a:off x="274320" y="6510528"/>
            <a:ext cx="8595360" cy="256032"/>
          </a:xfrm>
          <a:prstGeom prst="rect">
            <a:avLst/>
          </a:prstGeom>
          <a:noFill/>
          <a:ln/>
        </p:spPr>
        <p:txBody>
          <a:bodyPr wrap="square" rtlCol="0" anchor="ctr"/>
          <a:lstStyle/>
          <a:p>
            <a:pPr algn="ctr" indent="0" marL="0">
              <a:buNone/>
            </a:pPr>
            <a:r>
              <a:rPr lang="en-US" sz="900" dirty="0">
                <a:solidFill>
                  <a:srgbClr val="8B9E9B"/>
                </a:solidFill>
                <a:latin typeface="Arial" pitchFamily="34" charset="0"/>
                <a:ea typeface="Arial" pitchFamily="34" charset="-122"/>
                <a:cs typeface="Arial" pitchFamily="34" charset="-120"/>
              </a:rPr>
              <a:t>Ajay Avaghade  x  avaghadeajay009@gmail.com  x  +91 9561558439  x  linkedin.com/in/ajay-avaghade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2026-05-23T07:40:42Z</dcterms:created>
  <dcterms:modified xsi:type="dcterms:W3CDTF">2026-05-23T07:40:42Z</dcterms:modified>
</cp:coreProperties>
</file>