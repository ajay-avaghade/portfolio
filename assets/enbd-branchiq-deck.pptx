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62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7800" y="0"/>
            <a:ext cx="320040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30632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0"/>
            <a:ext cx="23774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0"/>
            <a:ext cx="16916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0"/>
            <a:ext cx="10058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0"/>
            <a:ext cx="32004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</a:rPr>
              <a:t>EMIRATES NBD × VIRTUSA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8686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8FAFF"/>
                </a:solidFill>
              </a:rPr>
              <a:t>ENBD BranchIQ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457200" y="162763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A8BAA"/>
                </a:solidFill>
              </a:rPr>
              <a:t>Smart Queue &amp; Branch Service Orchestration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2084832"/>
            <a:ext cx="219456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BAA"/>
                </a:solidFill>
              </a:rPr>
              <a:t>Presented by Ajay Avaghade · Service Product Owner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108960"/>
            <a:ext cx="2286000" cy="1645920"/>
          </a:xfrm>
          <a:prstGeom prst="rect">
            <a:avLst>
              <a:gd name="adj" fmla="val 6667"/>
            </a:avLst>
          </a:prstGeom>
          <a:solidFill>
            <a:srgbClr val="102030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3291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14 min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58368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F"/>
                </a:solidFill>
              </a:rPr>
              <a:t>→ 4 min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83680" y="40050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Avg Branch Wait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Branch Transformation · AI Queue Intelligence · Mobile Pre-Booking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F"/>
                </a:solidFill>
              </a:rPr>
              <a:t>ENBD Branches Are Losing Customers in the Queue — Before They Even Reach a Desk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377440"/>
          </a:xfrm>
          <a:prstGeom prst="rect">
            <a:avLst>
              <a:gd name="adj" fmla="val 3846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34 min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Avg walk-in wait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61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Peak: &gt;45 min at high-traffic branches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2377440"/>
          </a:xfrm>
          <a:prstGeom prst="rect">
            <a:avLst>
              <a:gd name="adj" fmla="val 3846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20299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1 in 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Customers abandon queue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2761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Leave without service — deflect to competitor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2377440"/>
          </a:xfrm>
          <a:prstGeom prst="rect">
            <a:avLst>
              <a:gd name="adj" fmla="val 3846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600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26480" y="20299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Pre-booked appointments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761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All walk-ins; zero digital slot management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822960"/>
          </a:xfrm>
          <a:prstGeom prst="rect">
            <a:avLst>
              <a:gd name="adj" fmla="val 8889"/>
            </a:avLst>
          </a:prstGeom>
          <a:solidFill>
            <a:srgbClr val="1E2D4E"/>
          </a:solidFill>
          <a:ln w="1270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148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BAA"/>
                </a:solidFill>
              </a:rPr>
              <a:t>Root cause: Emirates NBD has no real-time queue visibility, no pre-booking capability, and no digital deflection layer. Every service encounter starts with a wait — and that wait is the bank's biggest NPS killer.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1B3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35"/>
                </a:solidFill>
              </a:rPr>
              <a:t>The Queue IS the Branch Experience. Fix the Queue, Fix the NPS.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657600" cy="3017520"/>
          </a:xfrm>
          <a:prstGeom prst="rect">
            <a:avLst>
              <a:gd name="adj" fmla="val 3030"/>
            </a:avLst>
          </a:prstGeom>
          <a:solidFill>
            <a:srgbClr val="FFF0F0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</a:rPr>
              <a:t>❌  Walk-in Only (Today)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8470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Customer arrives → joins queue with no info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Waits 20–45 min with no visibility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054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Staff have no advance preparation time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High abandonment at peak hours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163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Branch manager has no real-time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493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· Zero digital alternatives offered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468880"/>
            <a:ext cx="731520" cy="731520"/>
          </a:xfrm>
          <a:prstGeom prst="ellipse">
            <a:avLst/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4871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VS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325880"/>
            <a:ext cx="3703320" cy="3017520"/>
          </a:xfrm>
          <a:prstGeom prst="rect">
            <a:avLst>
              <a:gd name="adj" fmla="val 3030"/>
            </a:avLst>
          </a:prstGeom>
          <a:solidFill>
            <a:srgbClr val="F0FDF4"/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</a:rPr>
              <a:t>✅  BranchIQ (Proposed)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18470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Mobile pre-booking → customer arrives on 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21762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Real-time wait display in app → zero surprises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25054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Staff see appointment context before meeting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AI capacity management alerts branch ops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31638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Live dashboard for branch &amp; network managers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34930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· Digital deflection for simple service requests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502920"/>
          </a:xfrm>
          <a:prstGeom prst="rect">
            <a:avLst>
              <a:gd name="adj" fmla="val 14545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988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</a:rPr>
              <a:t>Key insight: A pre-booked branch visit costs the bank nothing extra — and converts a frustrated walk-in into a high-NPS engagement. The queue is the product.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F"/>
                </a:solidFill>
              </a:rPr>
              <a:t>How BranchIQ Works: Pre-Book → Arrive → Track → Complete → Learn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417320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Real-Time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Wait Display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Customer opens ENBD X app → sees all nearby branches with live queue lengths and wait times. Color-coded: green/amber/red.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47088" y="196596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05456" y="1417320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93392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Slot Booking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&amp; Confirmation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84832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Customer selects service type, picks a 30-min slot, receives QR code confirmation. RM is pre-briefed on service type.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66160" y="196596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12464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24528" y="1417320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12464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In-Branch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Check-In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03904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Customer scans QR or taps NFC on arrival. Queue position shown in app. RM assigned. ~2 min wait vs 34 min walk-in.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85232" y="196596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31536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1417320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31536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Ops Console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Live 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22976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Branch manager sees real-time queue, staff utilisation, breach alerts (&gt;30 min threshold). One-click staff reassignment.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04304" y="196596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</a:rPr>
              <a:t>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50608" y="1325880"/>
            <a:ext cx="1572768" cy="3200400"/>
          </a:xfrm>
          <a:prstGeom prst="rect">
            <a:avLst>
              <a:gd name="adj" fmla="val 5814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62672" y="1417320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62672" y="143560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50608" y="21031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Post-Visit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FAFF"/>
                </a:solidFill>
              </a:rPr>
              <a:t>Feedback Loop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42048" y="2697480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Automated NPS survey sent 15 min post-visit. Verbatims tagged by NLP → piped to FeedbackLoop analytics backlog.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8229600" cy="274320"/>
          </a:xfrm>
          <a:prstGeom prst="rect">
            <a:avLst>
              <a:gd name="adj" fmla="val 20000"/>
            </a:avLst>
          </a:prstGeom>
          <a:solidFill>
            <a:srgbClr val="1E2D4E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700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Proof: Same deterministic workflow automation architecture as PhonePe ops intelligence layer — 6 siloed workflows → unified orchestration (TAT 2 days → 4 hours)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1B3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35"/>
                </a:solidFill>
              </a:rPr>
              <a:t>4 Key Screens — Built as Interactive Prototype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36576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1B35">
                <a:alpha val="1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011680" cy="347472"/>
          </a:xfrm>
          <a:prstGeom prst="rect">
            <a:avLst>
              <a:gd name="adj" fmla="val 26316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2529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</a:rPr>
              <a:t>S1 — Branch Locator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664208"/>
            <a:ext cx="1792224" cy="1463040"/>
          </a:xfrm>
          <a:prstGeom prst="rect">
            <a:avLst>
              <a:gd name="adj" fmla="val 3750"/>
            </a:avLst>
          </a:prstGeom>
          <a:solidFill>
            <a:srgbClr val="0A1224"/>
          </a:solidFill>
          <a:ln w="12700">
            <a:solidFill>
              <a:srgbClr val="0A12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700784"/>
            <a:ext cx="175564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🟢 DIFC      8 min ]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🟡 Al Barsha 12 min ]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🔴 MoE      31 min ]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3246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Live wait times, colour-coded by severity. User picks best branch before leaving home.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23160" y="1188720"/>
            <a:ext cx="2011680" cy="36576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1B35">
                <a:alpha val="1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188720"/>
            <a:ext cx="2011680" cy="347472"/>
          </a:xfrm>
          <a:prstGeom prst="rect">
            <a:avLst>
              <a:gd name="adj" fmla="val 26316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22529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</a:rPr>
              <a:t>S2 — Slot Booking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32888" y="1664208"/>
            <a:ext cx="1792224" cy="1463040"/>
          </a:xfrm>
          <a:prstGeom prst="rect">
            <a:avLst>
              <a:gd name="adj" fmla="val 3750"/>
            </a:avLst>
          </a:prstGeom>
          <a:solidFill>
            <a:srgbClr val="0A1224"/>
          </a:solidFill>
          <a:ln w="12700">
            <a:solidFill>
              <a:srgbClr val="0A12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1176" y="1700784"/>
            <a:ext cx="175564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[Home Loan  ] [Cards   ]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[Investment ] [General ]</a:t>
            </a:r>
            <a:endParaRPr lang="en-US" sz="700" dirty="0"/>
          </a:p>
          <a:p>
            <a:pPr algn="l" indent="0" marL="0">
              <a:buNone/>
            </a:pP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⏰  10:30 AM  ← selected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14600" y="3246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Service type grid, time chip selector, 30-min slots. QR code confirmation sent.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2011680" cy="36576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1B35">
                <a:alpha val="1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88720"/>
            <a:ext cx="2011680" cy="347472"/>
          </a:xfrm>
          <a:prstGeom prst="rect">
            <a:avLst>
              <a:gd name="adj" fmla="val 26316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22529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</a:rPr>
              <a:t>S3 — In-Branch Check-In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81728" y="1664208"/>
            <a:ext cx="1792224" cy="1463040"/>
          </a:xfrm>
          <a:prstGeom prst="rect">
            <a:avLst>
              <a:gd name="adj" fmla="val 3750"/>
            </a:avLst>
          </a:prstGeom>
          <a:solidFill>
            <a:srgbClr val="0A1224"/>
          </a:solidFill>
          <a:ln w="12700">
            <a:solidFill>
              <a:srgbClr val="0A12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1700784"/>
            <a:ext cx="175564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🎉 Checked In!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Ticket: A-047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#3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Est. Wait: ~2 min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63440" y="3246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QR scan, ticket A-047, queue #3, ~2 min wait. RM Aisha Al-Mansouri assigned.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20840" y="1188720"/>
            <a:ext cx="2011680" cy="365760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0D1B35">
                <a:alpha val="1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1188720"/>
            <a:ext cx="2011680" cy="347472"/>
          </a:xfrm>
          <a:prstGeom prst="rect">
            <a:avLst>
              <a:gd name="adj" fmla="val 26316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122529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A843"/>
                </a:solidFill>
              </a:rPr>
              <a:t>S4 — Ops Console (Web)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30568" y="1664208"/>
            <a:ext cx="1792224" cy="1463040"/>
          </a:xfrm>
          <a:prstGeom prst="rect">
            <a:avLst>
              <a:gd name="adj" fmla="val 3750"/>
            </a:avLst>
          </a:prstGeom>
          <a:solidFill>
            <a:srgbClr val="0A1224"/>
          </a:solidFill>
          <a:ln w="12700">
            <a:solidFill>
              <a:srgbClr val="0A12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48856" y="1700784"/>
            <a:ext cx="175564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MoE &gt; 30 min threshold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┌──────────────────────┐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47 queue │ 14m avg   │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68% pre-booked       │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D4A8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└──────────────────────┘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812280" y="32461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Alert banner: MoE 31 min breach. 47 in queue network-wide. Staff reassignment.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F"/>
                </a:solidFill>
              </a:rPr>
              <a:t>Projected Impact — Grounded in PhonePe Delivery Proof Points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3383280"/>
          </a:xfrm>
          <a:prstGeom prst="rect">
            <a:avLst>
              <a:gd name="adj" fmla="val 2703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843"/>
                </a:solidFill>
              </a:rPr>
              <a:t>CUSTOMER &amp; BRANCH IMPACT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</a:rPr>
              <a:t>−76%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Average wait 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34 min → 8 min (pre-booked visits)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450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</a:rPr>
              <a:t>−67%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Queue abandonment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From 1-in-3 to near-zero for pre-booked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31455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</a:rPr>
              <a:t>+18pt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34198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Branch NPS uplift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027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Queue wait is top NPS detractor — direct causal link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43"/>
                </a:solidFill>
              </a:rPr>
              <a:t>68%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" y="4114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Pre-booked appointment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297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Target by Month 6 — mirrors PhonePe PG onboarding adoption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234440"/>
            <a:ext cx="3931920" cy="3383280"/>
          </a:xfrm>
          <a:prstGeom prst="rect">
            <a:avLst>
              <a:gd name="adj" fmla="val 2703"/>
            </a:avLst>
          </a:prstGeom>
          <a:solidFill>
            <a:srgbClr val="1E2D4E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57A"/>
                </a:solidFill>
              </a:rPr>
              <a:t>EMIRATES NBD BUSINESS ROI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17556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57A"/>
                </a:solidFill>
              </a:rPr>
              <a:t>34%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983480" y="20299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Digital deflection 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22128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Simple queries handled via ENBD X — branch cost saved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2450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57A"/>
                </a:solidFill>
              </a:rPr>
              <a:t>+AED 220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983480" y="2724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Revenue per pre-booked visit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9077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RM-briefed visit converts at 3.4× walk-in rate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31455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57A"/>
                </a:solidFill>
              </a:rPr>
              <a:t>−AED 1.8M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983480" y="34198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Annual branch op cost saving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6027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Reduced staffing overflow, ticket printing, lobby mgmt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3840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57A"/>
                </a:solidFill>
              </a:rPr>
              <a:t>4 months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983480" y="4114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F"/>
                </a:solidFill>
              </a:rPr>
              <a:t>Payback period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4297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Based on 12-branch pilot rollout (Virtusa delivery model)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8229600" cy="292608"/>
          </a:xfrm>
          <a:prstGeom prst="rect">
            <a:avLst>
              <a:gd name="adj" fmla="val 18750"/>
            </a:avLst>
          </a:prstGeom>
          <a:solidFill>
            <a:srgbClr val="1E2D4E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700016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The pre-booked visit pays for itself: RM preparation time → higher product conversion → AED 220 incremental revenue per visit covers infrastructure cost in Month 4.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1B3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1B35"/>
                </a:solidFill>
              </a:rPr>
              <a:t>I Built This. Here's the PhonePe Architecture That Maps Directly.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3291840"/>
          </a:xfrm>
          <a:prstGeom prst="rect">
            <a:avLst>
              <a:gd name="adj" fmla="val 2778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843"/>
                </a:solidFill>
              </a:rPr>
              <a:t>WHAT I SHIPPED AT PHONEPE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Replaced 6 siloed analyst workflows with unified ops intelligence layer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21396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TAT: 2 days → 4 hours. −68% escalation tickets within 60 days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5420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Built deterministic event orchestration: trigger → check → action → notify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Designed ops console with live queue, status tracking, and breach alerting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334670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Context-aware nudge engine → staff intervention at threshold crossings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8FAFF"/>
                </a:solidFill>
              </a:rPr>
              <a:t>· Instrumented all KPIs before build — same approach as BranchIQ ops console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234440"/>
            <a:ext cx="3931920" cy="3291840"/>
          </a:xfrm>
          <a:prstGeom prst="rect">
            <a:avLst>
              <a:gd name="adj" fmla="val 2778"/>
            </a:avLst>
          </a:prstGeom>
          <a:solidFill>
            <a:srgbClr val="E8F5F2"/>
          </a:solidFill>
          <a:ln w="12700">
            <a:solidFill>
              <a:srgbClr val="00957A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57A"/>
                </a:solidFill>
              </a:rPr>
              <a:t>HOW IT MAPS TO THIS ROLE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BranchIQ ops console: real-time queue + breach alerts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83480" y="21396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Pre-booking = ops capacity management (same KPI design)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83480" y="25420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Same orchestration: booking event → prep briefing → assign RM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83480" y="29443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Same live dashboard pattern — branch vs network vs region view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83480" y="334670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Digital deflection nudge = same nudge architecture, different channel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83480" y="37490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→ Virtusa: I deliver Agile sprints with client stakeholder co-ownership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636008"/>
            <a:ext cx="8229600" cy="347472"/>
          </a:xfrm>
          <a:prstGeom prst="rect">
            <a:avLst>
              <a:gd name="adj" fmla="val 21053"/>
            </a:avLst>
          </a:prstGeom>
          <a:solidFill>
            <a:srgbClr val="0D1B35"/>
          </a:solidFill>
          <a:ln w="12700">
            <a:solidFill>
              <a:srgbClr val="0D1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817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4A843"/>
                </a:solidFill>
              </a:rPr>
              <a:t>"This isn't a pitch about what I'd build — it's a description of what I already shipped, applied to ENBD's exact problem."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F"/>
                </a:solidFill>
              </a:rPr>
              <a:t>3-Phase Delivery — Virtusa Agile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97480" cy="3154680"/>
          </a:xfrm>
          <a:prstGeom prst="rect">
            <a:avLst>
              <a:gd name="adj" fmla="val 3390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697480" cy="502920"/>
          </a:xfrm>
          <a:prstGeom prst="rect">
            <a:avLst>
              <a:gd name="adj" fmla="val 18182"/>
            </a:avLst>
          </a:prstGeom>
          <a:solidFill>
            <a:srgbClr val="D4A8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5"/>
                </a:solidFill>
              </a:rPr>
              <a:t>Phase 1 · Months 1–2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5"/>
                </a:solidFill>
              </a:rPr>
              <a:t>Pilot — 3 Branches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Deploy BranchIQ (pre-booking + check-in) to DIFC, Downtown, JBR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3408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Instrument real-time queue and pre-booking KPIs from Day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8529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Ops console live for branch managers — breach alert threshold set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3364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Collect NPS before/after for A/B comparison vs walk-in baseline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27248" y="1188720"/>
            <a:ext cx="2697480" cy="3154680"/>
          </a:xfrm>
          <a:prstGeom prst="rect">
            <a:avLst>
              <a:gd name="adj" fmla="val 3390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27248" y="1188720"/>
            <a:ext cx="2697480" cy="502920"/>
          </a:xfrm>
          <a:prstGeom prst="rect">
            <a:avLst>
              <a:gd name="adj" fmla="val 18182"/>
            </a:avLst>
          </a:prstGeom>
          <a:solidFill>
            <a:srgbClr val="0095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23444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5"/>
                </a:solidFill>
              </a:rPr>
              <a:t>Phase 2 · Months 3–4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18688" y="14173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5"/>
                </a:solidFill>
              </a:rPr>
              <a:t>Expand + Integrate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36976" y="18288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Roll out to 12 branches — include Al Barsha (anomaly branch)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36976" y="23408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Integrate FeedbackLoop NPS tagging → backlog auto-population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36976" y="28529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Launch AdvisorPulse RM dashboard in DIFC and Downtown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36976" y="3364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Digital deflection flow live — track deflection rate weekly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80176" y="1188720"/>
            <a:ext cx="2697480" cy="3154680"/>
          </a:xfrm>
          <a:prstGeom prst="rect">
            <a:avLst>
              <a:gd name="adj" fmla="val 3390"/>
            </a:avLst>
          </a:prstGeom>
          <a:solidFill>
            <a:srgbClr val="1E2D4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0176" y="1188720"/>
            <a:ext cx="2697480" cy="502920"/>
          </a:xfrm>
          <a:prstGeom prst="rect">
            <a:avLst>
              <a:gd name="adj" fmla="val 18182"/>
            </a:avLst>
          </a:prstGeom>
          <a:solidFill>
            <a:srgbClr val="5B8A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1616" y="123444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5"/>
                </a:solidFill>
              </a:rPr>
              <a:t>Phase 3 · Months 5–6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71616" y="14173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5"/>
                </a:solidFill>
              </a:rPr>
              <a:t>Network-Wide + Optimise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89904" y="18288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Full network rollout (all Emirates NBD UAE branches)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9904" y="2340864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AI capacity management: ML-based staff allocation per slot band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9904" y="2852928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FeedbackLoop anomaly alerts live for Branch Quality team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9904" y="3364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A"/>
                </a:solidFill>
              </a:rPr>
              <a:t>· Target: 68% pre-booking rate, &lt;8 min avg wait, NPS +18pt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453128"/>
            <a:ext cx="8412480" cy="502920"/>
          </a:xfrm>
          <a:prstGeom prst="rect">
            <a:avLst>
              <a:gd name="adj" fmla="val 14545"/>
            </a:avLst>
          </a:prstGeom>
          <a:solidFill>
            <a:srgbClr val="1E2D4E"/>
          </a:solidFill>
          <a:ln w="12700">
            <a:solidFill>
              <a:srgbClr val="D4A843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507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</a:rPr>
              <a:t>What I need to build this:  Access to branch queue &amp; booking APIs  ·  Alignment with ENBD Digital &amp; Branch Ops teams  ·  1 engineer (mobile) + 1 (ops console backend)  ·  Virtusa Agile sprint cadence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BAA"/>
                </a:solidFill>
              </a:rPr>
              <a:t>Ajay Avaghade  |  avaghadeajay009@gmail.com  |  +91 9561558439  |  Planning UAE relocation Q2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2026-05-26T20:36:37Z</dcterms:created>
  <dcterms:modified xsi:type="dcterms:W3CDTF">2026-05-26T20:36:37Z</dcterms:modified>
</cp:coreProperties>
</file>