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62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78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30632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0"/>
            <a:ext cx="23774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0"/>
            <a:ext cx="16916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0"/>
            <a:ext cx="10058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0"/>
            <a:ext cx="3200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957A"/>
                </a:solidFill>
              </a:rPr>
              <a:t>EMIRATES NBD × VIRTUSA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8686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8FAFF"/>
                </a:solidFill>
              </a:rPr>
              <a:t>ENBD AdvisorPulse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457200" y="16276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A8BAA"/>
                </a:solidFill>
              </a:rPr>
              <a:t>AI-Powered RM Intelligence Dashboard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2084832"/>
            <a:ext cx="2194560" cy="45720"/>
          </a:xfrm>
          <a:prstGeom prst="rect">
            <a:avLst/>
          </a:prstGeom>
          <a:solidFill>
            <a:srgbClr val="00957A"/>
          </a:solidFill>
          <a:ln w="12700">
            <a:solidFill>
              <a:srgbClr val="0095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BAA"/>
                </a:solidFill>
              </a:rPr>
              <a:t>Presented by Ajay Avaghade · Service Product Owner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108960"/>
            <a:ext cx="2286000" cy="1645920"/>
          </a:xfrm>
          <a:prstGeom prst="rect">
            <a:avLst>
              <a:gd name="adj" fmla="val 6667"/>
            </a:avLst>
          </a:prstGeom>
          <a:solidFill>
            <a:srgbClr val="102030"/>
          </a:solidFill>
          <a:ln w="12700">
            <a:solidFill>
              <a:srgbClr val="00957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957A"/>
                </a:solidFill>
              </a:rPr>
              <a:t>87%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583680" y="37307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Conversion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Confidence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4114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AI-predicted per visit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RM Intelligence · Life Event Signals · AI Conversation Guide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957A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F"/>
                </a:solidFill>
              </a:rPr>
              <a:t>ENBD Relationship Managers Are Walking Into Customer Meetings Blind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377440"/>
          </a:xfrm>
          <a:prstGeom prst="rect">
            <a:avLst>
              <a:gd name="adj" fmla="val 3846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57A"/>
                </a:solidFill>
              </a:rPr>
              <a:t>6+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Systems an RM checks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61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CRM, core banking, portfolio, loans — no unified view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2377440"/>
          </a:xfrm>
          <a:prstGeom prst="rect">
            <a:avLst>
              <a:gd name="adj" fmla="val 3846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20299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57A"/>
                </a:solidFill>
              </a:rPr>
              <a:t>18 min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Avg prep time per meeting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761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Wasted searching disconnected data silos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2377440"/>
          </a:xfrm>
          <a:prstGeom prst="rect">
            <a:avLst>
              <a:gd name="adj" fmla="val 3846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20299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57A"/>
                </a:solidFill>
              </a:rPr>
              <a:t>1 in 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Visits miss upsell signal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761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Life events not surfaced — opportunity lost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822960"/>
          </a:xfrm>
          <a:prstGeom prst="rect">
            <a:avLst>
              <a:gd name="adj" fmla="val 8889"/>
            </a:avLst>
          </a:prstGeom>
          <a:solidFill>
            <a:srgbClr val="1E2D4E"/>
          </a:solidFill>
          <a:ln w="12700">
            <a:solidFill>
              <a:srgbClr val="00957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BAA"/>
                </a:solidFill>
              </a:rPr>
              <a:t>Root cause: RM context is fragmented across 6+ systems with no intelligent aggregation. An RM meeting a Platinum customer with an expiring term deposit has the same visibility as a teller handing out a token. That's a missed AED 600K conversation.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1B3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1B35"/>
                </a:solidFill>
              </a:rPr>
              <a:t>An Informed RM Is a Revenue Event. Every Missed Signal Is a Missed Conversion.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657600" cy="3017520"/>
          </a:xfrm>
          <a:prstGeom prst="rect">
            <a:avLst>
              <a:gd name="adj" fmla="val 3030"/>
            </a:avLst>
          </a:prstGeom>
          <a:solidFill>
            <a:srgbClr val="FFF0F0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</a:rPr>
              <a:t>❌  RM Today (Uninformed)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847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Opens meeting with no context about customer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Spends 10 min asking questions already in CRM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054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Misses term deposit maturity in 4 days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No product recommendation framework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163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Outcome logged manually — no AI assistance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Upsell rate: 12% per visit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468880"/>
            <a:ext cx="731520" cy="731520"/>
          </a:xfrm>
          <a:prstGeom prst="ellipse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4871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VS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325880"/>
            <a:ext cx="3703320" cy="3017520"/>
          </a:xfrm>
          <a:prstGeom prst="rect">
            <a:avLst>
              <a:gd name="adj" fmla="val 3030"/>
            </a:avLst>
          </a:prstGeom>
          <a:solidFill>
            <a:srgbClr val="F0FDF9"/>
          </a:solidFill>
          <a:ln w="12700">
            <a:solidFill>
              <a:srgbClr val="00957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4F"/>
                </a:solidFill>
              </a:rPr>
              <a:t>✅  RM with AdvisorPulse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1847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One-screen 360° view pre-loaded before meeting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2176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AI-flagged: TD maturing in 4 days (AED 600K)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25054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3 ranked conversation priorities with talk tracks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Product recommendation with conversion confidence 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3163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Post-visit action items auto-populated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3493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Upsell rate: 38% per visit (+217%)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502920"/>
          </a:xfrm>
          <a:prstGeom prst="rect">
            <a:avLst>
              <a:gd name="adj" fmla="val 14545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988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957A"/>
                </a:solidFill>
              </a:rPr>
              <a:t>Key insight: The intelligence already exists in ENBD's data — it just isn't aggregated. AdvisorPulse is a synthesis layer, not a new data source. Build once, surface everywhere.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957A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F"/>
                </a:solidFill>
              </a:rPr>
              <a:t>How AdvisorPulse Works: Data Synthesis → Signal Detection → Guided Conversation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417320"/>
            <a:ext cx="548640" cy="548640"/>
          </a:xfrm>
          <a:prstGeom prst="ellipse">
            <a:avLst/>
          </a:prstGeom>
          <a:solidFill>
            <a:srgbClr val="00957A"/>
          </a:solidFill>
          <a:ln w="12700">
            <a:solidFill>
              <a:srgbClr val="0095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Ingestion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Core banking, CRM, portfolio, loan, digital activity pulled into unified customer profile. Updated nightly + real-time for high-signal events.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47088" y="196596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57A"/>
                </a:solidFill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05456" y="1417320"/>
            <a:ext cx="548640" cy="548640"/>
          </a:xfrm>
          <a:prstGeom prst="ellipse">
            <a:avLst/>
          </a:prstGeom>
          <a:solidFill>
            <a:srgbClr val="00957A"/>
          </a:solidFill>
          <a:ln w="12700">
            <a:solidFill>
              <a:srgbClr val="0095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93392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ML Signal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Detection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84832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Life event models score each customer for 12 signal types: expiry events, property intent, portfolio gaps, life stage markers. Updated on each login.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66160" y="196596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57A"/>
                </a:solidFill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12464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24528" y="1417320"/>
            <a:ext cx="548640" cy="548640"/>
          </a:xfrm>
          <a:prstGeom prst="ellipse">
            <a:avLst/>
          </a:prstGeom>
          <a:solidFill>
            <a:srgbClr val="00957A"/>
          </a:solidFill>
          <a:ln w="12700">
            <a:solidFill>
              <a:srgbClr val="0095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12464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Pre-Visit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Briefing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03904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RM opens dashboard 15 min before appointment. Top 3 conversation priorities ranked by conversion confidence. Talking points pre-loaded.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85232" y="196596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57A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31536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417320"/>
            <a:ext cx="548640" cy="548640"/>
          </a:xfrm>
          <a:prstGeom prst="ellipse">
            <a:avLst/>
          </a:prstGeom>
          <a:solidFill>
            <a:srgbClr val="00957A"/>
          </a:solidFill>
          <a:ln w="12700">
            <a:solidFill>
              <a:srgbClr val="0095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31536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In-Meeting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Guide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22976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RM follows AI-suggested flow. Tabs for customer context, product recommendations, competitive benchmarks, and objection handling.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04304" y="196596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57A"/>
                </a:solidFill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50608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62672" y="1417320"/>
            <a:ext cx="548640" cy="548640"/>
          </a:xfrm>
          <a:prstGeom prst="ellipse">
            <a:avLst/>
          </a:prstGeom>
          <a:solidFill>
            <a:srgbClr val="00957A"/>
          </a:solidFill>
          <a:ln w="12700">
            <a:solidFill>
              <a:srgbClr val="0095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62672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50608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Post-Visit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Log &amp; CRM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42048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Action items auto-suggested. RM confirms outcomes. One-click push to Salesforce CRM. Next visit priorities pre-seeded.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274320"/>
          </a:xfrm>
          <a:prstGeom prst="rect">
            <a:avLst>
              <a:gd name="adj" fmla="val 20000"/>
            </a:avLst>
          </a:prstGeom>
          <a:solidFill>
            <a:srgbClr val="1E2D4E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00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Proof: Same ML scoring architecture as PhonePe Propensity-to-Transact model — real-time user-level scoring replacing static rules across 350M+ MAU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1B3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35"/>
                </a:solidFill>
              </a:rPr>
              <a:t>4 Web Dashboard Panels — Built as Interactive Prototype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36576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1B35">
                <a:alpha val="1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011680" cy="347472"/>
          </a:xfrm>
          <a:prstGeom prst="rect">
            <a:avLst>
              <a:gd name="adj" fmla="val 26316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2529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957A"/>
                </a:solidFill>
              </a:rPr>
              <a:t>P1 — Appointment Queue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664208"/>
            <a:ext cx="1792224" cy="1463040"/>
          </a:xfrm>
          <a:prstGeom prst="rect">
            <a:avLst>
              <a:gd name="adj" fmla="val 3750"/>
            </a:avLst>
          </a:prstGeom>
          <a:solidFill>
            <a:srgbClr val="0A1224"/>
          </a:solidFill>
          <a:ln w="12700">
            <a:solidFill>
              <a:srgbClr val="0A12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700784"/>
            <a:ext cx="175564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SA — Sarah Al-Rashidi    ]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[ 10:30 Khalid  ← ACTIVE  ]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[ 11:30 Nour    In 52 min ]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[ 13:00 Farrukh Pre-booked]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RM's daily view. Active meeting highlighted. AI-ready badge shows intelligence loaded. Completion tracking.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23160" y="1188720"/>
            <a:ext cx="2011680" cy="36576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1B35">
                <a:alpha val="1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188720"/>
            <a:ext cx="2011680" cy="347472"/>
          </a:xfrm>
          <a:prstGeom prst="rect">
            <a:avLst>
              <a:gd name="adj" fmla="val 26316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22529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957A"/>
                </a:solidFill>
              </a:rPr>
              <a:t>P2 — Customer 360° Card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32888" y="1664208"/>
            <a:ext cx="1792224" cy="1463040"/>
          </a:xfrm>
          <a:prstGeom prst="rect">
            <a:avLst>
              <a:gd name="adj" fmla="val 3750"/>
            </a:avLst>
          </a:prstGeom>
          <a:solidFill>
            <a:srgbClr val="0A1224"/>
          </a:solidFill>
          <a:ln w="12700">
            <a:solidFill>
              <a:srgbClr val="0A12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1176" y="1700784"/>
            <a:ext cx="175564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Khalid Al-Farsi · Platinum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AUM: AED 2.4M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🔥 TD maturing in 4 days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🏠 Property intent: 74%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14600" y="3246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Holdings, AUM, products, CSAT, relationship tenure. ML life-event signals with confidence scores.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2011680" cy="36576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1B35">
                <a:alpha val="1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88720"/>
            <a:ext cx="2011680" cy="347472"/>
          </a:xfrm>
          <a:prstGeom prst="rect">
            <a:avLst>
              <a:gd name="adj" fmla="val 26316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22529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957A"/>
                </a:solidFill>
              </a:rPr>
              <a:t>P3 — AI Convo Guide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81728" y="1664208"/>
            <a:ext cx="1792224" cy="1463040"/>
          </a:xfrm>
          <a:prstGeom prst="rect">
            <a:avLst>
              <a:gd name="adj" fmla="val 3750"/>
            </a:avLst>
          </a:prstGeom>
          <a:solidFill>
            <a:srgbClr val="0A1224"/>
          </a:solidFill>
          <a:ln w="12700">
            <a:solidFill>
              <a:srgbClr val="0A12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1700784"/>
            <a:ext cx="175564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[P1] TD Renewal  → 87%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"AED 600K matures May 31"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"New 5.8% structured"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[P2] Portfolio gap → 61%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63440" y="3246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Top 3 priorities ranked by confidence. Talking points pre-loaded. Conversion probability bar per topic.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20840" y="1188720"/>
            <a:ext cx="2011680" cy="36576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1B35">
                <a:alpha val="1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1188720"/>
            <a:ext cx="2011680" cy="347472"/>
          </a:xfrm>
          <a:prstGeom prst="rect">
            <a:avLst>
              <a:gd name="adj" fmla="val 26316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122529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957A"/>
                </a:solidFill>
              </a:rPr>
              <a:t>P4 — Post-Visit Log &amp; CRM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30568" y="1664208"/>
            <a:ext cx="1792224" cy="1463040"/>
          </a:xfrm>
          <a:prstGeom prst="rect">
            <a:avLst>
              <a:gd name="adj" fmla="val 3750"/>
            </a:avLst>
          </a:prstGeom>
          <a:solidFill>
            <a:srgbClr val="0A1224"/>
          </a:solidFill>
          <a:ln w="12700">
            <a:solidFill>
              <a:srgbClr val="0A12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48856" y="1700784"/>
            <a:ext cx="175564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Visit: 45 min · 3 actions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[✓] Send term sheet — today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TD decision by May 30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9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[→] Push to Salesforce CRM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812280" y="3246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Action items auto-suggested. RM confirms outcomes. One-click Salesforce CRM push with full visit record.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957A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F"/>
                </a:solidFill>
              </a:rPr>
              <a:t>Projected Impact — Grounded in PhonePe ML Delivery Proof Points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3383280"/>
          </a:xfrm>
          <a:prstGeom prst="rect">
            <a:avLst>
              <a:gd name="adj" fmla="val 2703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57A"/>
                </a:solidFill>
              </a:rPr>
              <a:t>RM &amp; CUSTOMER IMPACT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57A"/>
                </a:solidFill>
              </a:rPr>
              <a:t>+217%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Visit-to-product conversion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12% → 38% per RM visit with AI guidance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57A"/>
                </a:solidFill>
              </a:rPr>
              <a:t>−83%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Pre-meeting prep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18 min → 3 min (AI pre-briefs, RM just reviews)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1455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57A"/>
                </a:solidFill>
              </a:rPr>
              <a:t>94%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34198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Retention post-briefing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02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Customers who receive personalised advice stay (TotalRewards parallel)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57A"/>
                </a:solidFill>
              </a:rPr>
              <a:t>+8pt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Customer satisfaction (CSAT)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297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Informed RM = customer feels valued, not processed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234440"/>
            <a:ext cx="3931920" cy="3383280"/>
          </a:xfrm>
          <a:prstGeom prst="rect">
            <a:avLst>
              <a:gd name="adj" fmla="val 2703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843"/>
                </a:solidFill>
              </a:rPr>
              <a:t>EMIRATES NBD REVENUE ROI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1755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</a:rPr>
              <a:t>AED 3.2M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983480" y="2029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Incremental AUM per RM per year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2128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Based on 38% conversion × 6 visits/day × 220 days × AED 280K avg product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2450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</a:rPr>
              <a:t>AED 1.8M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983480" y="2724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Revenue saved from retained Platinum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9077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$560K replacement cost avoided — direct TotalRewards parallel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31455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</a:rPr>
              <a:t>3×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983480" y="34198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ROI on AdvisorPulse deployment cost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602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Virtusa delivery cost recovered in first quarter post-launch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</a:rPr>
              <a:t>2 months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983480" y="4114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Pilot to full-RM deployment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4297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Phased by segment: Priority → Preferred → Standard RM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8229600" cy="292608"/>
          </a:xfrm>
          <a:prstGeom prst="rect">
            <a:avLst>
              <a:gd name="adj" fmla="val 18750"/>
            </a:avLst>
          </a:prstGeom>
          <a:solidFill>
            <a:srgbClr val="1E2D4E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000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The Khalid Al-Farsi scenario in this prototype represents AED 600K of AUM at renewal decision. AdvisorPulse ensures that conversation happens every time — not just when an RM happens to check the right system.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1B3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35"/>
                </a:solidFill>
              </a:rPr>
              <a:t>I Built the ML Scoring Architecture. Here's the Direct Parallel.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3291840"/>
          </a:xfrm>
          <a:prstGeom prst="rect">
            <a:avLst>
              <a:gd name="adj" fmla="val 2778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57A"/>
                </a:solidFill>
              </a:rPr>
              <a:t>WHAT I SHIPPED AT PHONEPE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Deployed Propensity-to-Transact ML model: real-time user-level scoring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21396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Feature engineering through production rollout across 350M+ MAU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Replaced static rule-based cohorts with dynamic intent signals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−32% marketing spend while sustaining GMV growth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34670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Built dynamic incentivisation: cart × intent × time → personalised nudge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Same ML architecture: signal → score → ranked recommendation → action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234440"/>
            <a:ext cx="3931920" cy="3291840"/>
          </a:xfrm>
          <a:prstGeom prst="rect">
            <a:avLst>
              <a:gd name="adj" fmla="val 2778"/>
            </a:avLst>
          </a:prstGeom>
          <a:solidFill>
            <a:srgbClr val="E8F5F2"/>
          </a:solidFill>
          <a:ln w="12700">
            <a:solidFill>
              <a:srgbClr val="00957A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57A"/>
                </a:solidFill>
              </a:rPr>
              <a:t>HOW IT MAPS TO ADVISORPULSE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User intent signals → customer life event signals (same architecture)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83480" y="21396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Feature engineering: cart + intent → portfolio + maturity + activity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83480" y="25420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Static cohorts → real-time customer-level propensity scores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3480" y="29443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−32% wasted spend → −83% wasted RM prep time (same outcome class)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3480" y="334670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Cart trigger → TD maturity trigger → same nudge-engine pattern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83480" y="37490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Virtusa: I own feature spec + DS coordination + delivery sprint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8229600" cy="347472"/>
          </a:xfrm>
          <a:prstGeom prst="rect">
            <a:avLst>
              <a:gd name="adj" fmla="val 21053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957A"/>
                </a:solidFill>
              </a:rPr>
              <a:t>"Every PhonePe user had a propensity score in real time. Every ENBD customer can have a conversation score in real time. Same architecture, different domain."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957A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F"/>
                </a:solidFill>
              </a:rPr>
              <a:t>3-Phase Delivery — Virtusa Agile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97480" cy="3154680"/>
          </a:xfrm>
          <a:prstGeom prst="rect">
            <a:avLst>
              <a:gd name="adj" fmla="val 3390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697480" cy="502920"/>
          </a:xfrm>
          <a:prstGeom prst="rect">
            <a:avLst>
              <a:gd name="adj" fmla="val 18182"/>
            </a:avLst>
          </a:prstGeom>
          <a:solidFill>
            <a:srgbClr val="0095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Phase 1 · Month 1–2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5"/>
                </a:solidFill>
              </a:rPr>
              <a:t>Pilot — Priority Segment RMs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Deploy AdvisorPulse to 20 Priority/Platinum RMs (DIFC + Downtown)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3408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Wire up CRM, core banking, portfolio data feeds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8529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Measure: prep time, conversion rate, CSAT vs control group RMs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3364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Weekly sprint reviews with ENBD Digital and RM teams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27248" y="1188720"/>
            <a:ext cx="2697480" cy="3154680"/>
          </a:xfrm>
          <a:prstGeom prst="rect">
            <a:avLst>
              <a:gd name="adj" fmla="val 3390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7248" y="1188720"/>
            <a:ext cx="2697480" cy="502920"/>
          </a:xfrm>
          <a:prstGeom prst="rect">
            <a:avLst>
              <a:gd name="adj" fmla="val 18182"/>
            </a:avLst>
          </a:prstGeom>
          <a:solidFill>
            <a:srgbClr val="D4A8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23444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Phase 2 · Month 3–4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18688" y="14173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5"/>
                </a:solidFill>
              </a:rPr>
              <a:t>Expand + ML Signal Tuning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36976" y="18288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Roll out to Preferred segment RMs (50+ RMs, 5 branches)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36976" y="23408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Tune life event signal models on first 2 months of interaction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36976" y="28529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Launch CRM auto-sync (Salesforce) — action items push on visit close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36976" y="3364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NPS delta measured: pilot RMs vs walk-in baseline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0176" y="1188720"/>
            <a:ext cx="2697480" cy="3154680"/>
          </a:xfrm>
          <a:prstGeom prst="rect">
            <a:avLst>
              <a:gd name="adj" fmla="val 3390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0176" y="1188720"/>
            <a:ext cx="2697480" cy="502920"/>
          </a:xfrm>
          <a:prstGeom prst="rect">
            <a:avLst>
              <a:gd name="adj" fmla="val 18182"/>
            </a:avLst>
          </a:prstGeom>
          <a:solidFill>
            <a:srgbClr val="5B8A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1616" y="123444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Phase 3 · Month 5–6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71616" y="14173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5"/>
                </a:solidFill>
              </a:rPr>
              <a:t>Network-Wide + Advanced Signals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9904" y="18288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All RM segments and branches across ENBD UAE network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9904" y="23408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Add advanced signals: FeedbackLoop NPS scores + BranchIQ wait context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9904" y="28529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A/B test: AI-guided visit vs standard RM visit — revenue attribution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9904" y="3364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Target: +217% conversion, −83% prep time, AED 3.2M incremental AUM/RM/yr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453128"/>
            <a:ext cx="8412480" cy="502920"/>
          </a:xfrm>
          <a:prstGeom prst="rect">
            <a:avLst>
              <a:gd name="adj" fmla="val 14545"/>
            </a:avLst>
          </a:prstGeom>
          <a:solidFill>
            <a:srgbClr val="1E2D4E"/>
          </a:solidFill>
          <a:ln w="12700">
            <a:solidFill>
              <a:srgbClr val="00957A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507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957A"/>
                </a:solidFill>
              </a:rPr>
              <a:t>What I need:  Access to CRM + core banking API schema  ·  DS team for signal model tuning  ·  ENBD RM team as design partners  ·  1 engineer (backend) + 1 (frontend)  ·  Virtusa Agile sprint cadence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Ajay Avaghade  |  avaghadeajay009@gmail.com  |  +91 9561558439  |  Planning UAE relocation Q2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2026-05-26T20:36:38Z</dcterms:created>
  <dcterms:modified xsi:type="dcterms:W3CDTF">2026-05-26T20:36:38Z</dcterms:modified>
</cp:coreProperties>
</file>