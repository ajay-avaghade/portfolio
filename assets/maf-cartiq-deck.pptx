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-109728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2743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16459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500000">
            <a:off x="30175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500000">
            <a:off x="43891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500000">
            <a:off x="57607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500000">
            <a:off x="71323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500000">
            <a:off x="85039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500000">
            <a:off x="9875520" y="-457200"/>
            <a:ext cx="54864" cy="8229600"/>
          </a:xfrm>
          <a:prstGeom prst="rect">
            <a:avLst/>
          </a:prstGeom>
          <a:solidFill>
            <a:srgbClr val="200A14"/>
          </a:solidFill>
          <a:ln w="12700">
            <a:solidFill>
              <a:srgbClr val="200A1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92608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RETAIL  ·  CARREFOUR UAE APP  ·  CASE STUDY 02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0040" y="8229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CartIQ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320040" y="2121408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Cart Optimization + SHARE Loyalty Multipliers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20040" y="27066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Product Manager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200400"/>
            <a:ext cx="2560320" cy="1508760"/>
          </a:xfrm>
          <a:prstGeom prst="rect">
            <a:avLst/>
          </a:prstGeom>
          <a:solidFill>
            <a:srgbClr val="180A12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310128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 AOV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309360" y="38221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−60% Cart Abandonment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424281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baseline — same architecture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901184"/>
            <a:ext cx="9144000" cy="246888"/>
          </a:xfrm>
          <a:prstGeom prst="rect">
            <a:avLst/>
          </a:prstGeom>
          <a:solidFill>
            <a:srgbClr val="120810"/>
          </a:solidFill>
          <a:ln w="12700">
            <a:solidFill>
              <a:srgbClr val="12081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901184"/>
            <a:ext cx="1645920" cy="246888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Cart Abandonment. Flat AOV.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Points Sitting Unused at Checkout.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2487168" cy="19933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A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737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31638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average — no cart-level intervention today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36976" y="1664208"/>
            <a:ext cx="2487168" cy="19933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A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74136" y="1737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46704" y="219456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46704" y="27889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loyalty impact at checkout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46704" y="31638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balance visible but no multiplier mechanic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0" y="1664208"/>
            <a:ext cx="2487168" cy="19933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A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737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53328" y="2194560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053328" y="27889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strategy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53328" y="3163824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off AED 200+ — no cart composition intelligence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3822192"/>
            <a:ext cx="8503920" cy="82296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822192"/>
            <a:ext cx="54864" cy="82296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6791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isn't the products — it's the cart experience. A shopper with bread, milk, and eggs in their cart is 68% likely to also want butter. MAF is missing this conversion moment every single time.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Highest-Converting Promotion Is the One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Knows What's Already in the Cart.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13632" cy="2395728"/>
          </a:xfrm>
          <a:prstGeom prst="rect">
            <a:avLst/>
          </a:prstGeom>
          <a:solidFill>
            <a:srgbClr val="0C0408"/>
          </a:solidFill>
          <a:ln w="12700">
            <a:solidFill>
              <a:srgbClr val="2A102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3913632" cy="329184"/>
          </a:xfrm>
          <a:prstGeom prst="rect">
            <a:avLst/>
          </a:prstGeom>
          <a:solidFill>
            <a:srgbClr val="2C1020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1790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Today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503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Generic '10% off AED 200+' banner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 points visible but passive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Cart page is a list, not a sales surface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basket completion intelligence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73168" y="1463040"/>
            <a:ext cx="3913632" cy="2395728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73168" y="1463040"/>
            <a:ext cx="3913632" cy="32918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0328" y="151790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CartIQ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0328" y="1938528"/>
            <a:ext cx="368503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Real-time bundle: 'You have bread+eggs+milk — add butter for AED 8.25'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 multiplier unlocks at incremental cart value thresholds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Cart page becomes the highest-converting screen in the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68% basket completion rate (PhonePe proof: same cart composition model)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15968" y="2359152"/>
            <a:ext cx="512064" cy="512064"/>
          </a:xfrm>
          <a:prstGeom prst="ellipse">
            <a:avLst/>
          </a:prstGeom>
          <a:solidFill>
            <a:srgbClr val="E8001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15968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005072"/>
            <a:ext cx="8229600" cy="768096"/>
          </a:xfrm>
          <a:prstGeom prst="rect">
            <a:avLst/>
          </a:prstGeom>
          <a:solidFill>
            <a:srgbClr val="FFF8E0"/>
          </a:solidFill>
          <a:ln w="12700">
            <a:solidFill>
              <a:srgbClr val="E8C8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05072"/>
            <a:ext cx="54864" cy="768096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50792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Tying SHARE multipliers to cart value thresholds creates urgency without discounting. 'Add AED 38 to get 3× SHARE points' is more compelling than '10% off' — and costs MAF nothing extra.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Composition  ×  User History  ×  SHARE Threshold  =  CartIQ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78992" y="1682496"/>
            <a:ext cx="6656832" cy="0"/>
          </a:xfrm>
          <a:prstGeom prst="line">
            <a:avLst/>
          </a:prstGeom>
          <a:noFill/>
          <a:ln w="25400">
            <a:solidFill>
              <a:srgbClr val="5A304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20040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77824" y="1115568"/>
            <a:ext cx="402336" cy="402336"/>
          </a:xfrm>
          <a:prstGeom prst="ellipse">
            <a:avLst/>
          </a:prstGeom>
          <a:solidFill>
            <a:srgbClr val="0070C9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Scan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Real-time: CartIQ reads cart composition + user purchase history + time-of-day signal (morning → breakfast, Friday → weekend snacks)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84248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42032" y="1115568"/>
            <a:ext cx="402336" cy="402336"/>
          </a:xfrm>
          <a:prstGeom prst="ellipse">
            <a:avLst/>
          </a:prstGeom>
          <a:solidFill>
            <a:srgbClr val="0070C9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42032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75688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Generation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75688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75688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identifies top bundle completion (68% of users with bread+milk+eggs also add butter). Bundle displayed as CartIQ card.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48456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06240" y="1115568"/>
            <a:ext cx="402336" cy="402336"/>
          </a:xfrm>
          <a:prstGeom prst="ellipse">
            <a:avLst/>
          </a:prstGeom>
          <a:solidFill>
            <a:srgbClr val="0070C9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0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39896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Multiplier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39896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value shown vs threshold. 'AED 38 to 3× SHARE points'. Progress bar creates urgency. No discount required.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12664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70448" y="1115568"/>
            <a:ext cx="402336" cy="402336"/>
          </a:xfrm>
          <a:prstGeom prst="ellipse">
            <a:avLst/>
          </a:prstGeom>
          <a:solidFill>
            <a:srgbClr val="0070C9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0448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04104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Add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04104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04104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adds bundle in 1 tap. Cart updates. SHARE multiplier unlocks. Checkout button glows green.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76872" y="1389888"/>
            <a:ext cx="1517904" cy="2743200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34656" y="1115568"/>
            <a:ext cx="402336" cy="402336"/>
          </a:xfrm>
          <a:prstGeom prst="ellipse">
            <a:avLst/>
          </a:prstGeom>
          <a:solidFill>
            <a:srgbClr val="0070C9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34656" y="1115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68312" y="1517904"/>
            <a:ext cx="1362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 Console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68312" y="1901952"/>
            <a:ext cx="1335024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68312" y="1984248"/>
            <a:ext cx="1362456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Merchandising team runs A/B tests on bundle rules. Acceptance rate + AOV uplift tracked per variant. Winning rules auto-promoted.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4370832"/>
            <a:ext cx="8503920" cy="429768"/>
          </a:xfrm>
          <a:prstGeom prst="rect">
            <a:avLst/>
          </a:prstGeom>
          <a:solidFill>
            <a:srgbClr val="120810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07408"/>
            <a:ext cx="8229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tested at PhonePe/Pincode: Dynamic cart incentivization (cart × intent × time) drove 35% AOV uplift, 60% cart abandonment reduction.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Screen States — Cart to Checkout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84048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88720"/>
            <a:ext cx="1920240" cy="54864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353312"/>
            <a:ext cx="347472" cy="237744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93776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multiplier progress banner. CartIQ bundle card below cart items. '68% of shoppers with this cart also added these.' 1-tap bundle add.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50592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188720"/>
            <a:ext cx="1920240" cy="5486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353312"/>
            <a:ext cx="347472" cy="23774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560320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Detail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0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product bundle view. Breakdown of what's included + why CartIQ recommended it. Price saving vs individual items. SHARE bonus unlock confirmation.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17136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17136" y="1188720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6864" y="1353312"/>
            <a:ext cx="347472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626864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Success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26864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Confetti. SHARE points earned (breakdown: base + multiplier bonus). Order total with bundle AOV uplift shown. You earned 840 SHARE points this order.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1188720"/>
            <a:ext cx="1920240" cy="3182112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0" y="1188720"/>
            <a:ext cx="1920240" cy="54864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93408" y="1353312"/>
            <a:ext cx="347472" cy="237744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135331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93408" y="16824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 A/B Console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693408" y="2139696"/>
            <a:ext cx="1700784" cy="0"/>
          </a:xfrm>
          <a:prstGeom prst="line">
            <a:avLst/>
          </a:prstGeom>
          <a:noFill/>
          <a:ln w="12700">
            <a:solidFill>
              <a:srgbClr val="DDD0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3408" y="2267712"/>
            <a:ext cx="173736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3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acceptance rates across all active bundles. A/B test dashboard: Variant A (SHARE trigger) vs Variant B (discount). Winner badge when significance reached.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5537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maf-cartiq-prototype.html  ·  All 4 states interactive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I Shipped at PhonePe — Now on Carrefour UAE's Cart Page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977640" cy="274320"/>
          </a:xfrm>
          <a:prstGeom prst="rect">
            <a:avLst/>
          </a:prstGeom>
          <a:solidFill>
            <a:srgbClr val="180A12"/>
          </a:solidFill>
          <a:ln w="12700">
            <a:solidFill>
              <a:srgbClr val="180A1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27432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Impact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uplift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baseline — same cart architecture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774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688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60%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reduction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4688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bundle + SHARE trigger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retention improvement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metric at PhonePe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3774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688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58%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4688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Breakfast bundle acceptance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4688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A/B test result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63440" y="1188720"/>
            <a:ext cx="3977640" cy="274320"/>
          </a:xfrm>
          <a:prstGeom prst="rect">
            <a:avLst/>
          </a:prstGeom>
          <a:solidFill>
            <a:srgbClr val="180A12"/>
          </a:solidFill>
          <a:ln w="12700">
            <a:solidFill>
              <a:srgbClr val="180A1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188720"/>
            <a:ext cx="54864" cy="274320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207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 Platform ROI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7548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discount cost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548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multiplier, not markdown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720840" y="157276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12280" y="164592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11%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12280" y="204825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per interaction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812280" y="232257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CartIQ bundle acceptance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634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548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7548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multiplier vs GMV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548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is a MAF asset — net zero cost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720840" y="2670048"/>
            <a:ext cx="1920240" cy="1005840"/>
          </a:xfrm>
          <a:prstGeom prst="rect">
            <a:avLst/>
          </a:prstGeom>
          <a:solidFill>
            <a:srgbClr val="160A12"/>
          </a:solidFill>
          <a:ln w="12700">
            <a:solidFill>
              <a:srgbClr val="2E1422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12280" y="2743200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7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22%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812280" y="3145536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when bundle present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812280" y="3419856"/>
            <a:ext cx="1755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control (no suggestion)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572000" y="1188720"/>
            <a:ext cx="0" cy="3127248"/>
          </a:xfrm>
          <a:prstGeom prst="line">
            <a:avLst/>
          </a:prstGeom>
          <a:noFill/>
          <a:ln w="12700">
            <a:solidFill>
              <a:srgbClr val="3A1828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320040" y="4498848"/>
            <a:ext cx="8503920" cy="365760"/>
          </a:xfrm>
          <a:prstGeom prst="rect">
            <a:avLst/>
          </a:prstGeom>
          <a:solidFill>
            <a:srgbClr val="180A12"/>
          </a:solidFill>
          <a:ln w="12700">
            <a:solidFill>
              <a:srgbClr val="2A1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262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CartIQ turns the cart page from a passive list into MAF's highest-converting screen — at near-zero incremental cost.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Exact Architecture This Needs.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2651760"/>
          </a:xfrm>
          <a:prstGeom prst="rect">
            <a:avLst/>
          </a:prstGeom>
          <a:solidFill>
            <a:srgbClr val="0C0408"/>
          </a:solidFill>
          <a:ln w="12700">
            <a:solidFill>
              <a:srgbClr val="2A102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931920" cy="329184"/>
          </a:xfrm>
          <a:prstGeom prst="rect">
            <a:avLst/>
          </a:prstGeom>
          <a:solidFill>
            <a:srgbClr val="2C1020"/>
          </a:solidFill>
          <a:ln w="12700">
            <a:solidFill>
              <a:srgbClr val="2C1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— What I Built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703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PhonePe Pincode: Built dynamic cart incentivisation engine — cart value × user intent × time-of-day signals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Result: 35% AOV uplift, 60% cart abandonment reduction, 20% D30 retention improvement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PhonePe: Deployed Propensity-to-Transact ML models replacing static cohorts across 350M+ MAU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PhonePe: Built A/B test infrastructure for offer variants — tracked across checkout funnel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3931920" cy="2651760"/>
          </a:xfrm>
          <a:prstGeom prst="rect">
            <a:avLst/>
          </a:prstGeom>
          <a:solidFill>
            <a:srgbClr val="F6F1F3"/>
          </a:solidFill>
          <a:ln w="12700">
            <a:solidFill>
              <a:srgbClr val="DDD0D4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34440"/>
            <a:ext cx="3931920" cy="329184"/>
          </a:xfrm>
          <a:prstGeom prst="rect">
            <a:avLst/>
          </a:prstGeom>
          <a:solidFill>
            <a:srgbClr val="0070C9"/>
          </a:solidFill>
          <a:ln w="12700">
            <a:solidFill>
              <a:srgbClr val="0070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Map to CartIQ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92040" y="1691640"/>
            <a:ext cx="3703320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CartIQ cart composition + bundle recommendation engine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CartIQ SHARE multiplier threshold mechanic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CartIQ user-level personalisation (past purchases + time signal)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8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CartIQ merch console A/B test dashboard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15968" y="2359152"/>
            <a:ext cx="512064" cy="512064"/>
          </a:xfrm>
          <a:prstGeom prst="ellipse">
            <a:avLst/>
          </a:prstGeom>
          <a:solidFill>
            <a:srgbClr val="E8001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15968" y="23591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8229600" cy="749808"/>
          </a:xfrm>
          <a:prstGeom prst="rect">
            <a:avLst/>
          </a:prstGeom>
          <a:solidFill>
            <a:srgbClr val="180A12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41648"/>
            <a:ext cx="54864" cy="749808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08736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basket completion rate, SHARE multiplier trigger, and merch A/B console are all direct architectural descendants of systems I shipped at PhonePe.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4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1206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 Grocery Cart → Prove Lift → Full App Rollout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633472" cy="24505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2633472" cy="54864"/>
          </a:xfrm>
          <a:prstGeom prst="rect">
            <a:avLst/>
          </a:prstGeom>
          <a:solidFill>
            <a:srgbClr val="E8001B"/>
          </a:solidFill>
          <a:ln w="12700">
            <a:solidFill>
              <a:srgbClr val="E800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E800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29768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18470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Cart Pilot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" y="2304288"/>
            <a:ext cx="2414016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395728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CartIQ to Grocery category cart page. A/B: CartIQ bundle card vs control (no bundle). Measure: AOV uplift, bundle acceptance rate, SHARE multiplier unlock rate.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18104" y="1188720"/>
            <a:ext cx="2633472" cy="24505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18104" y="1188720"/>
            <a:ext cx="2633472" cy="54864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27832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27832" y="18470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Integration + Categories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2304288"/>
            <a:ext cx="2414016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2395728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SHARE multiplier mechanic with loyalty platform. Expand to Household, Baby, and Beauty categories. Launch merch console for category team self-serve bundle creation.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16168" y="1188720"/>
            <a:ext cx="2633472" cy="2450592"/>
          </a:xfrm>
          <a:prstGeom prst="rect">
            <a:avLst/>
          </a:prstGeom>
          <a:solidFill>
            <a:srgbClr val="180A12"/>
          </a:solidFill>
          <a:ln w="12700">
            <a:solidFill>
              <a:srgbClr val="3A1828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16168" y="1188720"/>
            <a:ext cx="2633472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5896" y="133502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025896" y="159105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5–6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25896" y="184708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Rollout + Personalisation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25896" y="2304288"/>
            <a:ext cx="2414016" cy="0"/>
          </a:xfrm>
          <a:prstGeom prst="line">
            <a:avLst/>
          </a:prstGeom>
          <a:noFill/>
          <a:ln w="12700">
            <a:solidFill>
              <a:srgbClr val="3A1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25896" y="2395728"/>
            <a:ext cx="24505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0A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CartIQ live across all categories. User-level personalisation (purchase history → bundle ranking). Real-time A/B test engine for bundle rule optimisation.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803904"/>
            <a:ext cx="8503920" cy="621792"/>
          </a:xfrm>
          <a:prstGeom prst="rect">
            <a:avLst/>
          </a:prstGeom>
          <a:solidFill>
            <a:srgbClr val="120810"/>
          </a:solidFill>
          <a:ln w="12700">
            <a:solidFill>
              <a:srgbClr val="3A10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803904"/>
            <a:ext cx="54864" cy="621792"/>
          </a:xfrm>
          <a:prstGeom prst="rect">
            <a:avLst/>
          </a:prstGeom>
          <a:solidFill>
            <a:srgbClr val="C8952A"/>
          </a:solidFill>
          <a:ln w="12700">
            <a:solidFill>
              <a:srgbClr val="C89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8404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need: CartIQ API access to SHARE loyalty system  ·  Past purchase history data  ·  1 engineer + 1 data scientist  ·  Merchandising team as co-owner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20810"/>
          </a:solidFill>
          <a:ln w="12700">
            <a:solidFill>
              <a:srgbClr val="12081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8006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8B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·  avaghadeajay009@gmail.com  ·  +91 9561558439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MAF CartIQ — CEO Pitch Deck</dc:title>
  <dc:subject>PptxGenJS Presentation</dc:subject>
  <dc:creator>Ajay Avaghade</dc:creator>
  <cp:lastModifiedBy>Ajay Avaghade</cp:lastModifiedBy>
  <cp:revision>1</cp:revision>
  <dcterms:created xsi:type="dcterms:W3CDTF">2026-05-28T18:57:45Z</dcterms:created>
  <dcterms:modified xsi:type="dcterms:W3CDTF">2026-05-28T18:57:45Z</dcterms:modified>
</cp:coreProperties>
</file>