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00D4AA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0" y="0"/>
            <a:ext cx="0" cy="6858000"/>
          </a:xfrm>
          <a:prstGeom prst="line">
            <a:avLst/>
          </a:prstGeom>
          <a:noFill/>
          <a:ln w="5080">
            <a:solidFill>
              <a:srgbClr val="00D4AA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5080">
            <a:solidFill>
              <a:srgbClr val="00D4AA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0" y="0"/>
            <a:ext cx="0" cy="6858000"/>
          </a:xfrm>
          <a:prstGeom prst="line">
            <a:avLst/>
          </a:prstGeom>
          <a:noFill/>
          <a:ln w="5080">
            <a:solidFill>
              <a:srgbClr val="00D4AA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5080">
            <a:solidFill>
              <a:srgbClr val="00D4AA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5080">
            <a:solidFill>
              <a:srgbClr val="00D4AA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MULTIBANK GROUP  ·  GROWTH MARKETING PM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9144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TradeRise</a:t>
            </a:r>
            <a:endParaRPr lang="en-US" sz="68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Approved Accounts Into Active Traders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128016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788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Ajay Avaghade  ·  Growth &amp; Monetization PM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4754880"/>
            <a:ext cx="2468880" cy="1645920"/>
          </a:xfrm>
          <a:prstGeom prst="rect">
            <a:avLst/>
          </a:prstGeom>
          <a:solidFill>
            <a:srgbClr val="1628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48463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50–65%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400800" y="54864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signups never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 live trade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Platforms Spend to Acquire Users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Never Trade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651760" cy="2743200"/>
          </a:xfrm>
          <a:prstGeom prst="rect">
            <a:avLst/>
          </a:prstGeom>
          <a:solidFill>
            <a:srgbClr val="162840"/>
          </a:solidFill>
          <a:ln w="6350">
            <a:solidFill>
              <a:srgbClr val="00D4AA">
                <a:alpha val="4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874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50–65%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 after approval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4290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get KYC-approved then vanish before first trade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737360"/>
            <a:ext cx="2651760" cy="2743200"/>
          </a:xfrm>
          <a:prstGeom prst="rect">
            <a:avLst/>
          </a:prstGeom>
          <a:solidFill>
            <a:srgbClr val="162840"/>
          </a:solidFill>
          <a:ln w="6350">
            <a:solidFill>
              <a:srgbClr val="00D4AA">
                <a:alpha val="4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874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💸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91840" y="23774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91840" y="3063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blended CAC per user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34290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before they ever generate a dollar of trading volume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2651760" cy="2743200"/>
          </a:xfrm>
          <a:prstGeom prst="rect">
            <a:avLst/>
          </a:prstGeom>
          <a:solidFill>
            <a:srgbClr val="162840"/>
          </a:solidFill>
          <a:ln w="6350">
            <a:solidFill>
              <a:srgbClr val="00D4AA">
                <a:alpha val="4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874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⏳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26480" y="23774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hrs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26480" y="3063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activation window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34290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trade in 72h post-approval, 80% never convert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8229600" cy="1463040"/>
          </a:xfrm>
          <a:prstGeom prst="rect">
            <a:avLst/>
          </a:prstGeom>
          <a:solidFill>
            <a:srgbClr val="0D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892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51663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MultiBank pays full acquisition cost upfront but delivers zero onboarding structure that moves users from "approved" to "first trade." The 72-hour window closes and the user disappears — permanently.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Cashback Bonus Burns Budget.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Milestone Waiver Changes Behaviour.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840480" cy="3108960"/>
          </a:xfrm>
          <a:prstGeom prst="rect">
            <a:avLst/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Current: Sign-Up Bonus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Given upfront, regardless of trading activity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incentive to actually place a trade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Bonus is spent, user remains inactive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977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Platform absorbs cost with zero behaviour change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60520" y="2697480"/>
            <a:ext cx="822960" cy="822960"/>
          </a:xfrm>
          <a:prstGeom prst="ellipse">
            <a:avLst/>
          </a:prstGeom>
          <a:solidFill>
            <a:srgbClr val="0B1A2E"/>
          </a:solidFill>
          <a:ln/>
        </p:spPr>
      </p:sp>
      <p:sp>
        <p:nvSpPr>
          <p:cNvPr id="11" name="Text 9"/>
          <p:cNvSpPr/>
          <p:nvPr/>
        </p:nvSpPr>
        <p:spPr>
          <a:xfrm>
            <a:off x="4160520" y="2724912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1691640"/>
            <a:ext cx="4023360" cy="3108960"/>
          </a:xfrm>
          <a:prstGeom prst="rect">
            <a:avLst/>
          </a:prstGeom>
          <a:solidFill>
            <a:srgbClr val="F0FDF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TradeRise: Milestone Rewards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331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Rewards are earned through real trading actions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880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milestone unlocks a trading-native benefit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3429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Platform only rewards users who are already trading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977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Behaviour change is built into the incentive structure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983480"/>
            <a:ext cx="8229600" cy="1280160"/>
          </a:xfrm>
          <a:prstGeom prst="rect">
            <a:avLst/>
          </a:prstGeom>
          <a:solidFill>
            <a:srgbClr val="0B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1206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reward only triggers AFTER the user has already placed the trade — meaning the behaviour change happens before any cost is incurred. The milestone reward pays for itself.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Milestones. 5 Rewards. 30 Days.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331720"/>
            <a:ext cx="7589520" cy="0"/>
          </a:xfrm>
          <a:prstGeom prst="line">
            <a:avLst/>
          </a:prstGeom>
          <a:noFill/>
          <a:ln w="12700">
            <a:solidFill>
              <a:srgbClr val="00D4AA">
                <a:alpha val="40000"/>
              </a:srgbClr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640080" cy="64008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2996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834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🪪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2461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3886200"/>
            <a:ext cx="914400" cy="640080"/>
          </a:xfrm>
          <a:prstGeom prst="rect">
            <a:avLst/>
          </a:prstGeom>
          <a:solidFill>
            <a:srgbClr val="162840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886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45537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400" kern="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194560" y="2011680"/>
            <a:ext cx="640080" cy="64008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2194560" y="202996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57400" y="2834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011680" y="32461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48840" y="3886200"/>
            <a:ext cx="914400" cy="640080"/>
          </a:xfrm>
          <a:prstGeom prst="rect">
            <a:avLst/>
          </a:prstGeom>
          <a:solidFill>
            <a:srgbClr val="162840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48840" y="3886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pip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48840" y="45537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400" kern="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840480" y="2011680"/>
            <a:ext cx="640080" cy="64008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0" y="202996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03320" y="2834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657600" y="32461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94760" y="3886200"/>
            <a:ext cx="914400" cy="640080"/>
          </a:xfrm>
          <a:prstGeom prst="rect">
            <a:avLst/>
          </a:prstGeom>
          <a:solidFill>
            <a:srgbClr val="162840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94760" y="3886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94760" y="45537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400" kern="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486400" y="2011680"/>
            <a:ext cx="640080" cy="64008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0" y="202996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49240" y="2834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303520" y="32461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Instruments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40680" y="3886200"/>
            <a:ext cx="914400" cy="640080"/>
          </a:xfrm>
          <a:prstGeom prst="rect">
            <a:avLst/>
          </a:prstGeom>
          <a:solidFill>
            <a:srgbClr val="162840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40680" y="3886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40680" y="45537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400" kern="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7132320" y="2011680"/>
            <a:ext cx="640080" cy="64008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34" name="Text 32"/>
          <p:cNvSpPr/>
          <p:nvPr/>
        </p:nvSpPr>
        <p:spPr>
          <a:xfrm>
            <a:off x="7132320" y="202996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95160" y="2834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949440" y="32461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Stop-Loss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086600" y="3886200"/>
            <a:ext cx="914400" cy="640080"/>
          </a:xfrm>
          <a:prstGeom prst="rect">
            <a:avLst/>
          </a:prstGeom>
          <a:solidFill>
            <a:srgbClr val="162840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86600" y="3886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086600" y="45537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400" kern="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57200" y="5120640"/>
            <a:ext cx="8229600" cy="1188720"/>
          </a:xfrm>
          <a:prstGeom prst="rect">
            <a:avLst/>
          </a:prstGeom>
          <a:solidFill>
            <a:srgbClr val="0D2040"/>
          </a:solidFill>
          <a:ln w="10160">
            <a:solidFill>
              <a:srgbClr val="00D4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52303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Nudges: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31520" y="55321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fire at 50%, 80%, and 95% of each milestone with a tailored message — instrument suggestion, market opportunity, or a limited-time spread discount. Ops team dispatches via CRM dashboard.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Key Screen States — Built &amp; Validated at PhonePe Scale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21031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325880"/>
            <a:ext cx="21031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716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Home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1920240" cy="1965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084832"/>
            <a:ext cx="188366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$ 12,450.00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 +1.9% today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TRADERISE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 of 5 · 62%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[████████░░]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 first trade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Unlock $25 rebate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EUR/USD 1.08432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XAU/USD 2,341.50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65760" y="4069080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TradeRise banner shows step 3/5 at 62% progress with 12-day countdown. Visible without navigating — converts passive sessions into action.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87168" y="1325880"/>
            <a:ext cx="21031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87168" y="1325880"/>
            <a:ext cx="21031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2487168" y="13716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78608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Tracker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78608" y="2057400"/>
            <a:ext cx="1920240" cy="1965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96896" y="2084832"/>
            <a:ext cx="188366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⚡ TradeRise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30-DAY PROGRAM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M1 Verified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M2 Deposited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M3 First Trade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[████████░░] 62%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🔒 M4 3 Instruments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🔒 M5 Stop-Loss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$75 total available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578608" y="4069080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sequential goals with live progress bars. Completed steps show earned rewards. Active step shows exact action required. Locked steps create aspiration.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0016" y="1325880"/>
            <a:ext cx="21031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0016" y="1325880"/>
            <a:ext cx="21031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0" name="Text 18"/>
          <p:cNvSpPr/>
          <p:nvPr/>
        </p:nvSpPr>
        <p:spPr>
          <a:xfrm>
            <a:off x="4700016" y="13716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91456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Achieved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91456" y="2057400"/>
            <a:ext cx="1920240" cy="1965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2084832"/>
            <a:ext cx="188366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⚡⚡⚡⚡⚡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🎯 ACHIEVED!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Live Trade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 of 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REWARD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$25.00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Commission Rebate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Auto-applied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Next: 3 Instruments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Leverage Upgrade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791456" y="4069080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unlocked moment — confetti, exact dollar value displayed, auto-apply confirmation. High-emotion success state that drives sharing and next-step momentum.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12864" y="1325880"/>
            <a:ext cx="21031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12864" y="1325880"/>
            <a:ext cx="21031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7" name="Text 25"/>
          <p:cNvSpPr/>
          <p:nvPr/>
        </p:nvSpPr>
        <p:spPr>
          <a:xfrm>
            <a:off x="6912864" y="13716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004304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Dashboard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004304" y="2057400"/>
            <a:ext cx="1920240" cy="1965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22592" y="2084832"/>
            <a:ext cx="188366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TradeRise Ops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4,231 active · 40%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  ████████ 92%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M2  ██████   68%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  ██       23% DROP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M4  █        12%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M5           6%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Send Nudge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1,847 users at M3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004304" y="4069080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funnel with per-milestone completion rates. Identifies the M2→M3 drop (68%→23%) as the critical leak. One-click nudge dispatch to 1,847 stuck users.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Impact — Built on PhonePe Proof Points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65760"/>
          </a:xfrm>
          <a:prstGeom prst="rect">
            <a:avLst/>
          </a:prstGeom>
          <a:solidFill>
            <a:srgbClr val="16284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8988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GROWTH IMPACT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931920" cy="914400"/>
          </a:xfrm>
          <a:prstGeom prst="rect">
            <a:avLst/>
          </a:prstGeom>
          <a:solidFill>
            <a:srgbClr val="162840"/>
          </a:solidFill>
          <a:ln w="635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920240" y="20116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account conversion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(approval → first deposit)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931920" cy="914400"/>
          </a:xfrm>
          <a:prstGeom prst="rect">
            <a:avLst/>
          </a:prstGeom>
          <a:solidFill>
            <a:srgbClr val="162840"/>
          </a:solidFill>
          <a:ln w="635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7180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920240" y="30175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active trader rate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unguided cohort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3931920" cy="914400"/>
          </a:xfrm>
          <a:prstGeom prst="rect">
            <a:avLst/>
          </a:prstGeom>
          <a:solidFill>
            <a:srgbClr val="162840"/>
          </a:solidFill>
          <a:ln w="635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97764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−60%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920240" y="40233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 at M2→M3 step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(first trade execution)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937760"/>
            <a:ext cx="3931920" cy="914400"/>
          </a:xfrm>
          <a:prstGeom prst="rect">
            <a:avLst/>
          </a:prstGeom>
          <a:solidFill>
            <a:srgbClr val="162840"/>
          </a:solidFill>
          <a:ln w="635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98348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920240" y="5029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90-day trading volume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activated trader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solidFill>
            <a:srgbClr val="0D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38988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ROI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920240"/>
            <a:ext cx="3931920" cy="914400"/>
          </a:xfrm>
          <a:prstGeom prst="rect">
            <a:avLst/>
          </a:prstGeom>
          <a:solidFill>
            <a:srgbClr val="0D2040"/>
          </a:solidFill>
          <a:ln w="635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96596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−25%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217920" y="20116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CAC per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trader acquired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926080"/>
            <a:ext cx="3931920" cy="914400"/>
          </a:xfrm>
          <a:prstGeom prst="rect">
            <a:avLst/>
          </a:prstGeom>
          <a:solidFill>
            <a:srgbClr val="0D2040"/>
          </a:solidFill>
          <a:ln w="635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97180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2.4×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217920" y="30175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improvement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milestone completers vs control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931920"/>
            <a:ext cx="3931920" cy="914400"/>
          </a:xfrm>
          <a:prstGeom prst="rect">
            <a:avLst/>
          </a:prstGeom>
          <a:solidFill>
            <a:srgbClr val="0D2040"/>
          </a:solidFill>
          <a:ln w="635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97764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$74K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217920" y="40233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Rebates issued per 4,231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— self-funding at 0.6% GMV cost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4937760"/>
            <a:ext cx="3931920" cy="914400"/>
          </a:xfrm>
          <a:prstGeom prst="rect">
            <a:avLst/>
          </a:prstGeom>
          <a:solidFill>
            <a:srgbClr val="0D2040"/>
          </a:solidFill>
          <a:ln w="635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498348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6217920" y="5029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D90 retention for users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complete all 5 milestones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This. Here Is the Proof.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4023360"/>
          </a:xfrm>
          <a:prstGeom prst="rect">
            <a:avLst/>
          </a:prstGeom>
          <a:solidFill>
            <a:srgbClr val="0B1A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 at PhonePe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Built Milestone Activation for 5,000+ B2B device merchants — same 5-step progressive reward architecture as TradeRise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Designed 6 screen states: goal tracking, progress bars, success confetti, error fallback, nudge campaigns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A/B tested reward mechanics: behaviour-linked waiver vs. flat cashback — waiver drove 34% higher goal completion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Built the Nudges engine: ops-facing CRM tool for threshold-based push dispatch at 50/80/95% completion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Result: 60% improvement in 90-day device activation rate and 23% lower CAC vs prior manual flow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3931920" cy="4023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508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Maps to This Role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9659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JD: "Design &amp; deliver referral and loyalty programs" → Built milestone loyalty program end-to-end at 350M MAU scale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26517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JD: "Identify growth loops and incentive strategies" → A/B tested behaviour-linked vs flat reward — chose the one that changed behaviour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33375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JD: "Conduct A/B testing and leverage behavioral insights" → Ran controlled A/B at PhonePe, owns the data and methodology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40233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JD: "Oversee marketing automation and CRM" → Built the nudge engine that fires at 50/80/95% milestone completion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47091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JD: "Analyze funnel metrics (CAC, LTV, conversion rates)" → Directly measured M2→M3 drop and attributed it to absence of structured nudges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5532120"/>
            <a:ext cx="8229600" cy="914400"/>
          </a:xfrm>
          <a:prstGeom prst="rect">
            <a:avLst/>
          </a:prstGeom>
          <a:solidFill>
            <a:srgbClr val="0B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6235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"TradeRise is not a concept. It is the same activation architecture I shipped at PhonePe — now applied to a trading platform. I know exactly which metric to optimise and where the funnel breaks."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Launch — 6 Months to Full Scale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743200" cy="3749040"/>
          </a:xfrm>
          <a:prstGeom prst="rect">
            <a:avLst/>
          </a:prstGeom>
          <a:solidFill>
            <a:srgbClr val="16284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71600"/>
            <a:ext cx="27432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63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(500 Users)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TradeRise to 500 newly-approved accounts in one market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3832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Instrument milestone completion rate, time-to-trade, and reward cost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41605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Compare vs unguided control group — measure M2→M3 conversion lift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371600"/>
            <a:ext cx="2743200" cy="3749040"/>
          </a:xfrm>
          <a:prstGeom prst="rect">
            <a:avLst/>
          </a:prstGeom>
          <a:solidFill>
            <a:srgbClr val="1628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371600"/>
            <a:ext cx="27432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463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29000" y="17373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2900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Scale + Nudge Engine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29000" y="26060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reward mechanic A/B: commission rebate vs spread discount vs leverage upgrade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33832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ops Nudge dashboard — enable team to dispatch at 50/80/95% thresholds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41605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Expand to 5,000 users across 3 markets based on pilot learnings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1371600"/>
            <a:ext cx="2743200" cy="3749040"/>
          </a:xfrm>
          <a:prstGeom prst="rect">
            <a:avLst/>
          </a:prstGeom>
          <a:solidFill>
            <a:srgbClr val="16284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371600"/>
            <a:ext cx="27432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1463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55080" y="17373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5–6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Rollout + Automation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55080" y="26060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Roll out winning milestone variant to all new account approvals globally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55080" y="33832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 TradeRise into standard onboarding flow — no opt-in required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41605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 nudge sequences via CRM — zero ops overhead per campaign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5303520"/>
            <a:ext cx="5852160" cy="1234440"/>
          </a:xfrm>
          <a:prstGeom prst="rect">
            <a:avLst/>
          </a:prstGeom>
          <a:solidFill>
            <a:srgbClr val="0D204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54223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 to build this: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" y="571500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funnel analytics (approved → deposited → first trade)  ·  CRM / push notification infrastructure  ·  1 engineer for milestone tracking API  ·  Alignment with compliance on reward mechanics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46520" y="5303520"/>
            <a:ext cx="2286000" cy="12344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5440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Avaghade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92240" y="57607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avaghadeajay009@gmail.com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92240" y="60350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+91 9561558439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2026-05-23T05:59:30Z</dcterms:created>
  <dcterms:modified xsi:type="dcterms:W3CDTF">2026-05-23T05:59:30Z</dcterms:modified>
</cp:coreProperties>
</file>