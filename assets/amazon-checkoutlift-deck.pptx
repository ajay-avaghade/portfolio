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-45720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4" name="Shape 2"/>
          <p:cNvSpPr/>
          <p:nvPr/>
        </p:nvSpPr>
        <p:spPr>
          <a:xfrm rot="720000">
            <a:off x="32004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5" name="Shape 3"/>
          <p:cNvSpPr/>
          <p:nvPr/>
        </p:nvSpPr>
        <p:spPr>
          <a:xfrm rot="720000">
            <a:off x="109728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 rot="720000">
            <a:off x="187452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Shape 5"/>
          <p:cNvSpPr/>
          <p:nvPr/>
        </p:nvSpPr>
        <p:spPr>
          <a:xfrm rot="720000">
            <a:off x="265176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8" name="Shape 6"/>
          <p:cNvSpPr/>
          <p:nvPr/>
        </p:nvSpPr>
        <p:spPr>
          <a:xfrm rot="720000">
            <a:off x="342900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Shape 7"/>
          <p:cNvSpPr/>
          <p:nvPr/>
        </p:nvSpPr>
        <p:spPr>
          <a:xfrm rot="720000">
            <a:off x="420624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0" name="Shape 8"/>
          <p:cNvSpPr/>
          <p:nvPr/>
        </p:nvSpPr>
        <p:spPr>
          <a:xfrm rot="720000">
            <a:off x="498348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Shape 9"/>
          <p:cNvSpPr/>
          <p:nvPr/>
        </p:nvSpPr>
        <p:spPr>
          <a:xfrm rot="720000">
            <a:off x="576072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2" name="Shape 10"/>
          <p:cNvSpPr/>
          <p:nvPr/>
        </p:nvSpPr>
        <p:spPr>
          <a:xfrm rot="720000">
            <a:off x="653796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Shape 11"/>
          <p:cNvSpPr/>
          <p:nvPr/>
        </p:nvSpPr>
        <p:spPr>
          <a:xfrm rot="720000">
            <a:off x="731520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4" name="Shape 12"/>
          <p:cNvSpPr/>
          <p:nvPr/>
        </p:nvSpPr>
        <p:spPr>
          <a:xfrm rot="720000">
            <a:off x="809244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5" name="Shape 13"/>
          <p:cNvSpPr/>
          <p:nvPr/>
        </p:nvSpPr>
        <p:spPr>
          <a:xfrm rot="720000">
            <a:off x="886968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Shape 14"/>
          <p:cNvSpPr/>
          <p:nvPr/>
        </p:nvSpPr>
        <p:spPr>
          <a:xfrm rot="720000">
            <a:off x="964692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7" name="Shape 15"/>
          <p:cNvSpPr/>
          <p:nvPr/>
        </p:nvSpPr>
        <p:spPr>
          <a:xfrm>
            <a:off x="6949440" y="0"/>
            <a:ext cx="2194560" cy="10058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8" name="Text 16"/>
          <p:cNvSpPr/>
          <p:nvPr/>
        </p:nvSpPr>
        <p:spPr>
          <a:xfrm>
            <a:off x="6995160" y="914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amazon.ae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95160" y="4754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&amp; LEISURE · MENA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128016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CheckoutLift</a:t>
            </a:r>
            <a:endParaRPr lang="en-US" sz="5200" dirty="0"/>
          </a:p>
        </p:txBody>
      </p:sp>
      <p:sp>
        <p:nvSpPr>
          <p:cNvPr id="21" name="Shape 19"/>
          <p:cNvSpPr/>
          <p:nvPr/>
        </p:nvSpPr>
        <p:spPr>
          <a:xfrm>
            <a:off x="457200" y="2377440"/>
            <a:ext cx="1280160" cy="73152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514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Cart-aware steal deal engine — surfacing the right H&amp;L product at checkout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01 of 03  ·  Amazon MENA Senior PM, Home &amp; Leisure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257800"/>
            <a:ext cx="4572000" cy="54864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53949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Ajay Avaghade  ·  Growth &amp; Category PM  ·  PhonePe → Amazon MENA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49440" y="4663440"/>
            <a:ext cx="1920240" cy="18288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0" y="47548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6949440" y="5440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abandonment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Amazon.ae Leaves AED Millions on the Table at Every Checkout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36576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627632"/>
            <a:ext cx="2651760" cy="3200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75564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🛒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23591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48640" y="312724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abandonment rate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5204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average at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entry — no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cart-level intervention today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1627632"/>
            <a:ext cx="2651760" cy="3200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1840" y="175564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23591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383280" y="312724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Cart-aware upsells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5204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page is a list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items — not 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surface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627632"/>
            <a:ext cx="2651760" cy="3200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26480" y="175564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126480" y="23591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6217920" y="312724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Cross-buy probability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35204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with a Nescafe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also buy 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Nespresso machine — untapped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010912"/>
            <a:ext cx="8229600" cy="1645920"/>
          </a:xfrm>
          <a:prstGeom prst="rect">
            <a:avLst/>
          </a:prstGeom>
          <a:solidFill>
            <a:srgbClr val="1A2332"/>
          </a:solidFill>
          <a:ln w="19050">
            <a:solidFill>
              <a:srgbClr val="FF9900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51389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5468112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knows what is in the cart but does nothing with that signal at checkout. A shopper with Nescafe capsules has a 68% likelihood of also wanting a Nespresso machine — but Amazon shows them a generic checkout with no contextual suggestion. The steal deal moment is given away to Google search, competitor apps, and Instagram ads every single day.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 Is a Purchase-Intent Signal — Amazon Just Isn't Reading It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8229600" cy="3657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72768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73736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Checkout Today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267712"/>
            <a:ext cx="201168" cy="201168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26771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2231136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shows 3 items — page is a list, nothing more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201168" cy="201168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96265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29260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cross-category recommendation at the highest-intent moment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657600"/>
            <a:ext cx="201168" cy="201168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65760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3621024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deals shown on homepage, never at checkout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4352544"/>
            <a:ext cx="201168" cy="201168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35254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8680" y="4315968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abandons, searches on Google, buys from Noon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60520" y="3291840"/>
            <a:ext cx="822960" cy="82296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3291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46320" y="1572768"/>
            <a:ext cx="3840480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FF9900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83480" y="173736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CheckoutLift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983480" y="2267712"/>
            <a:ext cx="201168" cy="20116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226771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7D62"/>
                </a:solidFill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257800" y="2231136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scanned: Nescafe capsules detected in basket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983480" y="2962656"/>
            <a:ext cx="201168" cy="20116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8" name="Text 26"/>
          <p:cNvSpPr/>
          <p:nvPr/>
        </p:nvSpPr>
        <p:spPr>
          <a:xfrm>
            <a:off x="4983480" y="296265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7D62"/>
                </a:solidFill>
              </a:rPr>
              <a:t>✓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7800" y="29260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model: 68% of this cart type also buys Nespresso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983480" y="3657600"/>
            <a:ext cx="201168" cy="20116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1" name="Text 29"/>
          <p:cNvSpPr/>
          <p:nvPr/>
        </p:nvSpPr>
        <p:spPr>
          <a:xfrm>
            <a:off x="4983480" y="365760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7D62"/>
                </a:solidFill>
              </a:rPr>
              <a:t>✓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257800" y="3621024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CheckoutLift surfaces: "Before you checkout — AED 79 off Nespresso (38 min left)"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83480" y="4352544"/>
            <a:ext cx="201168" cy="20116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4" name="Text 32"/>
          <p:cNvSpPr/>
          <p:nvPr/>
        </p:nvSpPr>
        <p:spPr>
          <a:xfrm>
            <a:off x="4983480" y="435254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7D62"/>
                </a:solidFill>
              </a:rPr>
              <a:t>✓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57800" y="4315968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add, order confirmed, AED 246 saved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solidFill>
            <a:srgbClr val="FFFBEB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" y="6464808"/>
            <a:ext cx="7955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The steal deal only needs to be right once — cart composition makes the recommendation precise enough to feel personal, not generic.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Composition × Purchase History × Countdown = CheckoutLift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481328"/>
            <a:ext cx="658368" cy="658368"/>
          </a:xfrm>
          <a:prstGeom prst="ellipse">
            <a:avLst/>
          </a:prstGeom>
          <a:solidFill>
            <a:srgbClr val="FF9900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481328" y="1810512"/>
            <a:ext cx="585216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347472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93192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Scan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checkout entry, engine scans cart SKUs. Category + brand signals extracted in real-time (&lt;50ms).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42032" y="1481328"/>
            <a:ext cx="658368" cy="658368"/>
          </a:xfrm>
          <a:prstGeom prst="ellipse">
            <a:avLst/>
          </a:prstGeom>
          <a:solidFill>
            <a:srgbClr val="FF9900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42032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1810512"/>
            <a:ext cx="585216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066544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112264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Co-buy ML Match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112264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identifies top H&amp;L co-purchase for this cart type. Confidence threshold: &gt;55% to surface.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61104" y="1481328"/>
            <a:ext cx="658368" cy="658368"/>
          </a:xfrm>
          <a:prstGeom prst="ellipse">
            <a:avLst/>
          </a:prstGeom>
          <a:solidFill>
            <a:srgbClr val="FF9900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261104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919472" y="1810512"/>
            <a:ext cx="585216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785616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831336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Eligibility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31336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inventory, discount budget, and countdown window. Only deals with ≥15% off + stock&gt;10 units qualify.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80176" y="1481328"/>
            <a:ext cx="658368" cy="658368"/>
          </a:xfrm>
          <a:prstGeom prst="ellipse">
            <a:avLst/>
          </a:prstGeom>
          <a:solidFill>
            <a:srgbClr val="FF9900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80176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638544" y="1810512"/>
            <a:ext cx="585216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504688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550408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Surface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550408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CheckoutLift card appears below cart items. Timer (30–60 min) creates urgency. AED savings shown prominently.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99248" y="1481328"/>
            <a:ext cx="658368" cy="658368"/>
          </a:xfrm>
          <a:prstGeom prst="ellipse">
            <a:avLst/>
          </a:prstGeom>
          <a:solidFill>
            <a:srgbClr val="FF9900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699248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223760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269480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Add + Learn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69480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adds in one tap. Cart updates. Model records accept/skip signal for weekly retraining.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5779008"/>
            <a:ext cx="8229600" cy="868680"/>
          </a:xfrm>
          <a:prstGeom prst="rect">
            <a:avLst/>
          </a:prstGeom>
          <a:solidFill>
            <a:srgbClr val="1A2332"/>
          </a:solidFill>
          <a:ln w="12700">
            <a:solidFill>
              <a:srgbClr val="FF9900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40080" y="5907024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 Proof  ·  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468880" y="5888736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cart incentivization engine (Pincode, q-commerce): cart value x user intent x time signals → 35% AOV uplift, 60% cart abandonment reduction, 20% 30-day retention improvement. CheckoutLift applies the exact same mechanic to Amazon H&amp;L large-ticket items.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Screens — End-to-End Steal Deal Journey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Home Feed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2918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CheckoutLift steal deal banner on home. Nespresso deal surfaced because Nescafe capsules bought last week.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918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amazon.ae home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CHECKOUTLIFT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Nespresso deal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based on your cart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AED 79 off today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⏱ 38 min left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[Shop Now]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01168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01168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14" name="Text 12"/>
          <p:cNvSpPr/>
          <p:nvPr/>
        </p:nvSpPr>
        <p:spPr>
          <a:xfrm>
            <a:off x="206654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Cart + Deal Card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06654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 you checkout" card below 3 cart items. Countdown timer. AED savings front and center.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06654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Shopping Cart (3)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Nescafe capsules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AED 89.00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CHECKOUTLIFT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Nespresso AED 299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Save AED 246 ⏱38m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[Add to Cart]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74904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4904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20" name="Text 18"/>
          <p:cNvSpPr/>
          <p:nvPr/>
        </p:nvSpPr>
        <p:spPr>
          <a:xfrm>
            <a:off x="380390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Deal Detail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0390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sheet. Why recommended, ratings, features, CTA. "68% of shoppers with your cart also bought this."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80390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Nespresso Vertuo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★★★★☆ 4.4 (891)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AED 299 (was 545)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WHY THIS?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You have Nescafe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capsules in cart.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[Add — AED 299]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48640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26" name="Text 24"/>
          <p:cNvSpPr/>
          <p:nvPr/>
        </p:nvSpPr>
        <p:spPr>
          <a:xfrm>
            <a:off x="554126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Cart Updated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54126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added toast. Cart shows 4 items with steal deal highlighted and savings callout.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54126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7784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Cart (4 items)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✓ You saved AED 246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Nespresso Vertuo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STEAL DEAL -AED246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AED 299.00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[Checkout]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22376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22376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2" name="Text 30"/>
          <p:cNvSpPr/>
          <p:nvPr/>
        </p:nvSpPr>
        <p:spPr>
          <a:xfrm>
            <a:off x="727862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Order Confirmed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27862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Confetti. CheckoutLift savings callout. Total saved displayed prominently alongside order details.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27862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Order Placed! 🎉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CHECKOUTLIFT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STEAL DEAL SAVED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AED 246 today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Order total: 1,132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[Track Order]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ROI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 Proof Points Scaled to Amazon MENA H&amp;L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26464"/>
            <a:ext cx="3931920" cy="3657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26464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IMPACT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83664"/>
            <a:ext cx="393192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94767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48640" y="240487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AOV uplift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240487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Pincode baseline: same cart × intent model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935224"/>
            <a:ext cx="393192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299923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246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48640" y="345643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steal deal saving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45643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successful CheckoutLift transaction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986784"/>
            <a:ext cx="393192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8640" y="405079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48640" y="45079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Co-buy acceptance rate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5079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Cart-composition deals vs. generic banners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5038344"/>
            <a:ext cx="393192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" y="510235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48640" y="555955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conversion lift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55595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 offer redesign baseline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26280" y="1426464"/>
            <a:ext cx="0" cy="5212080"/>
          </a:xfrm>
          <a:prstGeom prst="line">
            <a:avLst/>
          </a:prstGeom>
          <a:noFill/>
          <a:ln w="12700">
            <a:solidFill>
              <a:srgbClr val="232F3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663440" y="1426464"/>
            <a:ext cx="4023360" cy="3657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1426464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H&amp;L ROI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0" y="1883664"/>
            <a:ext cx="402336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194767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4754880" y="240487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abandonment reduction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0" y="240487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Pincode: direct mechanic proof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2935224"/>
            <a:ext cx="402336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54880" y="299923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 items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4754880" y="345643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per order uplift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54880" y="34564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deal attach at checkout entry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3986784"/>
            <a:ext cx="402336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754880" y="405079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0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4754880" y="45079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discount budget needed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754880" y="45079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funding stays in existing margin structure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63440" y="5038344"/>
            <a:ext cx="402336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754880" y="510235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4754880" y="55595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retention improvement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754880" y="55595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Habitual steal deal shopper cohort forms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6163056"/>
            <a:ext cx="8229600" cy="548640"/>
          </a:xfrm>
          <a:prstGeom prst="rect">
            <a:avLst/>
          </a:prstGeom>
          <a:solidFill>
            <a:srgbClr val="1A2332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" y="623620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CheckoutLift doesn't add discount budget — it captures revenue that Amazon was already losing to checkout abandonment and Google search.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WORK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Built the Exact Same Engine at PhonePe. Here's the Map.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26464"/>
            <a:ext cx="3931920" cy="4663440"/>
          </a:xfrm>
          <a:prstGeom prst="rect">
            <a:avLst/>
          </a:prstGeom>
          <a:solidFill>
            <a:srgbClr val="131921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554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BUILT AT PHONEPE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75104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dynamic cart incentivization engine for Pincode (q-commerce) — exact same cart x intent x time trigger model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688336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2651760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 AOV uplift, 60% cart abandonment reduction, 20% 30-day retention improvement across A/B tested variants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3364992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328416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full BRD-to-launch: cart signal ingestion, ML model, deal eligibility engine, checkout UX integration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" y="4041648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005072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4 A/B variants simultaneously across trigger type, discount depth, countdown duration, and placement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4718304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4681728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checkout conversion lift from offers placement redesign — same UX muscle needed for CheckoutLift card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426464"/>
            <a:ext cx="402336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00600" y="15544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MAPS TO CHECKOUTLIFT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00600" y="2011680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2066544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Cart x intent engine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30428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7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CheckoutLift: Cart composition model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00600" y="2688336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274320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60% abandonment drop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92040" y="2980944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7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Target: 50%+ at H&amp;L checkout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00600" y="3364992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7" name="Text 25"/>
          <p:cNvSpPr/>
          <p:nvPr/>
        </p:nvSpPr>
        <p:spPr>
          <a:xfrm>
            <a:off x="4892040" y="341985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Countdown timer A/B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365760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7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CheckoutLift: 30-60 min steal deal window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00600" y="4041648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0" name="Text 28"/>
          <p:cNvSpPr/>
          <p:nvPr/>
        </p:nvSpPr>
        <p:spPr>
          <a:xfrm>
            <a:off x="4892040" y="409651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Eligibility + deal match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92040" y="433425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7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CheckoutLift: SKU co-buy probability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00600" y="4718304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3" name="Text 31"/>
          <p:cNvSpPr/>
          <p:nvPr/>
        </p:nvSpPr>
        <p:spPr>
          <a:xfrm>
            <a:off x="4892040" y="47731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Ops dashboard for offers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501091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7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CheckoutLift: Merch team A/B console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6291072"/>
            <a:ext cx="8229600" cy="420624"/>
          </a:xfrm>
          <a:prstGeom prst="rect">
            <a:avLst/>
          </a:prstGeom>
          <a:solidFill>
            <a:srgbClr val="FFFBEB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45936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"CheckoutLift is the Pincode cart engine — applied to Amazon H&amp;L large-ticket checkout."  — Ajay Avaghade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Phases — UAE Pilot to MENA Category Rollout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26464"/>
            <a:ext cx="2697480" cy="41605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5361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792224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1–2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 Pilot (H&amp;L)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75488" y="2651760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596896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CheckoutLift on 3 H&amp;L subcategories: AC, Washing Machines, Coffee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" y="3328416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test: CheckoutLift card vs. control (no card)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" y="4005072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50208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co-buy model: cart composition → SKU match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" y="4681728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26864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KPIs: AOV uplift, deal accept rate, checkout conversion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0" y="1426464"/>
            <a:ext cx="2697480" cy="4160520"/>
          </a:xfrm>
          <a:prstGeom prst="rect">
            <a:avLst/>
          </a:prstGeom>
          <a:solidFill>
            <a:srgbClr val="FF9900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291840" y="15361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1792224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3–4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91840" y="2066544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+ Optimize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3310128" y="2651760"/>
            <a:ext cx="109728" cy="109728"/>
          </a:xfrm>
          <a:prstGeom prst="ellipse">
            <a:avLst/>
          </a:prstGeom>
          <a:solidFill>
            <a:srgbClr val="131921"/>
          </a:solidFill>
          <a:ln/>
        </p:spPr>
      </p:sp>
      <p:sp>
        <p:nvSpPr>
          <p:cNvPr id="23" name="Text 21"/>
          <p:cNvSpPr/>
          <p:nvPr/>
        </p:nvSpPr>
        <p:spPr>
          <a:xfrm>
            <a:off x="3474720" y="2596896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all H&amp;L checkout sessions (UAE)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10128" y="3328416"/>
            <a:ext cx="109728" cy="109728"/>
          </a:xfrm>
          <a:prstGeom prst="ellipse">
            <a:avLst/>
          </a:prstGeom>
          <a:solidFill>
            <a:srgbClr val="131921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0" y="3273552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merch A/B console for category managers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10128" y="4005072"/>
            <a:ext cx="109728" cy="109728"/>
          </a:xfrm>
          <a:prstGeom prst="ellipse">
            <a:avLst/>
          </a:prstGeom>
          <a:solidFill>
            <a:srgbClr val="131921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0" y="3950208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model retraining loop with accept/skip signals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310128" y="4681728"/>
            <a:ext cx="109728" cy="109728"/>
          </a:xfrm>
          <a:prstGeom prst="ellipse">
            <a:avLst/>
          </a:prstGeom>
          <a:solidFill>
            <a:srgbClr val="131921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4626864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countdown duration optimization (30/45/60 min)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35040" y="1426464"/>
            <a:ext cx="2697480" cy="41605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126480" y="15361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26480" y="1792224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5–6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26480" y="2066544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 Category Rollout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6144768" y="2651760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35" name="Text 33"/>
          <p:cNvSpPr/>
          <p:nvPr/>
        </p:nvSpPr>
        <p:spPr>
          <a:xfrm>
            <a:off x="6309360" y="2596896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to KSA, Egypt, Kuwait — all Amazon.ae H&amp;L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44768" y="3328416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37" name="Text 35"/>
          <p:cNvSpPr/>
          <p:nvPr/>
        </p:nvSpPr>
        <p:spPr>
          <a:xfrm>
            <a:off x="6309360" y="3273552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co-buy model to Electronics and Home Decor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44768" y="4005072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39" name="Text 37"/>
          <p:cNvSpPr/>
          <p:nvPr/>
        </p:nvSpPr>
        <p:spPr>
          <a:xfrm>
            <a:off x="6309360" y="3950208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steal deal notification engine (WhatsApp, push)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144768" y="4681728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41" name="Text 39"/>
          <p:cNvSpPr/>
          <p:nvPr/>
        </p:nvSpPr>
        <p:spPr>
          <a:xfrm>
            <a:off x="6309360" y="4626864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CheckoutLift playbook for global marketplace teams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5806440"/>
            <a:ext cx="8229600" cy="868680"/>
          </a:xfrm>
          <a:prstGeom prst="rect">
            <a:avLst/>
          </a:prstGeom>
          <a:solidFill>
            <a:srgbClr val="1A2332"/>
          </a:solidFill>
          <a:ln w="19050">
            <a:solidFill>
              <a:srgbClr val="FF9900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40080" y="588873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need to build CheckoutLift: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0080" y="6190488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H&amp;L order + cart data access  ·  Co-buy ML model (can adapt PhonePe architecture)  ·  Checkout placement API  ·  1 PM + 2 Engineers + 1 Data Scientist for Phase 1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0" y="6583680"/>
            <a:ext cx="9144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Avaghade  ·  avaghadeajay009@gmail.com  ·  +91 9561558439  ·  ajay-avaghade.github.io/Portfolio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2026-06-24T15:22:12Z</dcterms:created>
  <dcterms:modified xsi:type="dcterms:W3CDTF">2026-06-24T15:22:12Z</dcterms:modified>
</cp:coreProperties>
</file>