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-45720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4" name="Shape 2"/>
          <p:cNvSpPr/>
          <p:nvPr/>
        </p:nvSpPr>
        <p:spPr>
          <a:xfrm rot="720000">
            <a:off x="32004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" name="Shape 3"/>
          <p:cNvSpPr/>
          <p:nvPr/>
        </p:nvSpPr>
        <p:spPr>
          <a:xfrm rot="720000">
            <a:off x="109728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 rot="720000">
            <a:off x="187452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Shape 5"/>
          <p:cNvSpPr/>
          <p:nvPr/>
        </p:nvSpPr>
        <p:spPr>
          <a:xfrm rot="720000">
            <a:off x="265176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8" name="Shape 6"/>
          <p:cNvSpPr/>
          <p:nvPr/>
        </p:nvSpPr>
        <p:spPr>
          <a:xfrm rot="720000">
            <a:off x="342900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Shape 7"/>
          <p:cNvSpPr/>
          <p:nvPr/>
        </p:nvSpPr>
        <p:spPr>
          <a:xfrm rot="720000">
            <a:off x="420624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0" name="Shape 8"/>
          <p:cNvSpPr/>
          <p:nvPr/>
        </p:nvSpPr>
        <p:spPr>
          <a:xfrm rot="720000">
            <a:off x="498348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Shape 9"/>
          <p:cNvSpPr/>
          <p:nvPr/>
        </p:nvSpPr>
        <p:spPr>
          <a:xfrm rot="720000">
            <a:off x="576072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2" name="Shape 10"/>
          <p:cNvSpPr/>
          <p:nvPr/>
        </p:nvSpPr>
        <p:spPr>
          <a:xfrm rot="720000">
            <a:off x="653796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Shape 11"/>
          <p:cNvSpPr/>
          <p:nvPr/>
        </p:nvSpPr>
        <p:spPr>
          <a:xfrm rot="720000">
            <a:off x="731520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4" name="Shape 12"/>
          <p:cNvSpPr/>
          <p:nvPr/>
        </p:nvSpPr>
        <p:spPr>
          <a:xfrm rot="720000">
            <a:off x="809244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5" name="Shape 13"/>
          <p:cNvSpPr/>
          <p:nvPr/>
        </p:nvSpPr>
        <p:spPr>
          <a:xfrm rot="720000">
            <a:off x="886968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Shape 14"/>
          <p:cNvSpPr/>
          <p:nvPr/>
        </p:nvSpPr>
        <p:spPr>
          <a:xfrm rot="720000">
            <a:off x="964692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0"/>
            <a:ext cx="2194560" cy="10058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91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amazon.ae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475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LEISURE · MENA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1280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CheckoutLift</a:t>
            </a:r>
            <a:endParaRPr lang="en-US" sz="52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128016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Cart-aware steal deal engine — surfacing the right H&amp;L product at checkout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3063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01 of 03  ·  Amazon MENA Senior PM, Home &amp; Leisure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257800"/>
            <a:ext cx="4572000" cy="548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394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Growth &amp; Category PM  ·  PhonePe → Amazon MENA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4663440"/>
            <a:ext cx="1920240" cy="18288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4754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949440" y="5440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Amazon.ae Leaves AED Millions on the Table at Every Checkout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27632"/>
            <a:ext cx="2651760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55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 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entry — 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cart-level intervention today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27632"/>
            <a:ext cx="2651760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755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35915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83280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Cart-aware upsells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520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page is a list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items — not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surface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627632"/>
            <a:ext cx="2651760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755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235915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217920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Cross-buy probability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520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with a Nescafe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also buy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Nespresso machine — untapped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010912"/>
            <a:ext cx="8229600" cy="1645920"/>
          </a:xfrm>
          <a:prstGeom prst="rect">
            <a:avLst/>
          </a:prstGeom>
          <a:solidFill>
            <a:srgbClr val="1A2332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5138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468112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knows what is in the cart but does nothing with that signal at checkout. A shopper with Nescafe capsules has a 68% likelihood of also wanting a Nespresso machine — but Amazon shows them a generic checkout with no contextual suggestion. The steal deal moment is given away to Google search, competitor apps, and Instagram ads every single day.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 Is a Purchase-Intent Signal — Amazon Just Isn't Reading It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72768"/>
            <a:ext cx="3840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737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Checkout Today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67712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677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23113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shows 3 items — page is a list, nothing more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9626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926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cross-category recommendation at the highest-intent moment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6576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62102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deals shown on homepage, never at checkout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352544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3525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431596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abandons, searches on Google, buys from Noon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3291840"/>
            <a:ext cx="822960" cy="8229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4160520" y="3291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572768"/>
            <a:ext cx="384048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1737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CheckoutLift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2267712"/>
            <a:ext cx="201168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2677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7D62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223113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scanned: Nescafe capsules detected in basket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2962656"/>
            <a:ext cx="201168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9626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7D62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2926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model: 68% of this cart type also buys Nespresso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3657600"/>
            <a:ext cx="201168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6576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7D62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362102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CheckoutLift surfaces: "Before you checkout — AED 79 off Nespresso (38 min left)"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4352544"/>
            <a:ext cx="201168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43525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7D62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431596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add, order confirmed, AED 246 saved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solidFill>
            <a:srgbClr val="FFFBEB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6464808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steal deal only needs to be right once — cart composition makes the recommendation precise enough to feel personal, not generic.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Composition × Purchase History × Countdown = CheckoutLift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481328"/>
            <a:ext cx="658368" cy="658368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81328" y="1810512"/>
            <a:ext cx="585216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47472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Scan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checkout entry, engine scans cart SKUs. Category + brand signals extracted in real-time (&lt;50ms).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2032" y="1481328"/>
            <a:ext cx="658368" cy="658368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42032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1810512"/>
            <a:ext cx="585216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066544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12264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Co-buy ML Match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12264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identifies top H&amp;L co-purchase for this cart type. Confidence threshold: &gt;55% to surface.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61104" y="1481328"/>
            <a:ext cx="658368" cy="658368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61104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19472" y="1810512"/>
            <a:ext cx="585216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785616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31336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Eligibility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31336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inventory, discount budget, and countdown window. Only deals with ≥15% off + stock&gt;10 units qualify.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0176" y="1481328"/>
            <a:ext cx="658368" cy="658368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0176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38544" y="1810512"/>
            <a:ext cx="585216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504688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50408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Surface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50408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CheckoutLift card appears below cart items. Timer (30–60 min) creates urgency. AED savings shown prominently.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99248" y="1481328"/>
            <a:ext cx="658368" cy="658368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99248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223760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69480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Add + Learn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69480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adds in one tap. Cart updates. Model records accept/skip signal for weekly retraining.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779008"/>
            <a:ext cx="8229600" cy="868680"/>
          </a:xfrm>
          <a:prstGeom prst="rect">
            <a:avLst/>
          </a:prstGeom>
          <a:solidFill>
            <a:srgbClr val="1A2332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590702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  ·  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68880" y="5888736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cart incentivization engine (Pincode, q-commerce): cart value x user intent x time signals → 35% AOV uplift, 60% cart abandonment reduction, 20% 30-day retention improvement. CheckoutLift applies the exact same mechanic to Amazon H&amp;L large-ticket items.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 — End-to-End Steal Deal Journey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Home Feed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CheckoutLift steal deal banner on home. Nespresso deal surfaced because Nescafe capsules bought last week.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amazon.ae home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CHECKOUTLIFT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Nespresso deal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based on your cart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AED 79 off today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⏱ 38 min left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[Shop Now]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1168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Cart + Deal Card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6654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you checkout" card below 3 cart items. Countdown timer. AED savings front and center.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6654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Shopping Cart (3)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Nescafe capsules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AED 89.00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CHECKOUTLIFT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Nespresso AED 299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Save AED 246 ⏱38m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[Add to Cart]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4904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20" name="Text 18"/>
          <p:cNvSpPr/>
          <p:nvPr/>
        </p:nvSpPr>
        <p:spPr>
          <a:xfrm>
            <a:off x="380390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Deal Detail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0390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sheet. Why recommended, ratings, features, CTA. "68% of shoppers with your cart also bought this."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0390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Nespresso Vertuo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★★★★☆ 4.4 (891)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AED 299 (was 545)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WHY THIS?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You have Nescafe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capsules in cart.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[Add — AED 299]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26" name="Text 24"/>
          <p:cNvSpPr/>
          <p:nvPr/>
        </p:nvSpPr>
        <p:spPr>
          <a:xfrm>
            <a:off x="554126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Cart Updated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4126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added toast. Cart shows 4 items with steal deal highlighted and savings callout.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4126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Cart (4 items)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✓ You saved AED 246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Nespresso Vertuo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STEAL DEAL -AED246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AED 299.00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[Checkout]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22376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2376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2" name="Text 30"/>
          <p:cNvSpPr/>
          <p:nvPr/>
        </p:nvSpPr>
        <p:spPr>
          <a:xfrm>
            <a:off x="727862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Order Confirmed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27862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Confetti. CheckoutLift savings callout. Total saved displayed prominently alongside order details.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27862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Order Placed! 🎉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CHECKOUTLIFT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STEAL DEAL SAVED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AED 246 today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Order total: 1,132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[Track Order]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 Points Scaled to Amazon MENA H&amp;L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26464"/>
            <a:ext cx="393192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264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IMPACT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94767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404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uplift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04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 baseline: same cart × intent model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9923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246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steal deal saving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456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successful CheckoutLift transaction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05079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4507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Co-buy acceptance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507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Cart-composition deals vs. generic banners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038344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510235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8640" y="55595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conversion lift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559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offer redesign baseline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1426464"/>
            <a:ext cx="0" cy="5212080"/>
          </a:xfrm>
          <a:prstGeom prst="line">
            <a:avLst/>
          </a:prstGeom>
          <a:noFill/>
          <a:ln w="12700">
            <a:solidFill>
              <a:srgbClr val="232F3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663440" y="1426464"/>
            <a:ext cx="402336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4264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H&amp;L ROI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883664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9476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754880" y="24048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reduction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2404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Pincode: direct mechanic proof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935224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29992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 items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754880" y="3456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per order uplift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456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deal attach at checkout entry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986784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40507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0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754880" y="4507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discount budget needed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4507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funding stays in existing margin structure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5038344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51023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754880" y="5559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 improvement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5559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Habitual steal deal shopper cohort forms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6163056"/>
            <a:ext cx="8229600" cy="548640"/>
          </a:xfrm>
          <a:prstGeom prst="rect">
            <a:avLst/>
          </a:prstGeom>
          <a:solidFill>
            <a:srgbClr val="1A2332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62362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CheckoutLift doesn't add discount budget — it captures revenue that Amazon was already losing to checkout abandonment and Google search.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the Exact Same Engine at PhonePe. Here's the Map.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26464"/>
            <a:ext cx="3931920" cy="4663440"/>
          </a:xfrm>
          <a:prstGeom prst="rect">
            <a:avLst/>
          </a:prstGeom>
          <a:solidFill>
            <a:srgbClr val="131921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975104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dynamic cart incentivization engine for Pincode (q-commerce) — exact same cart x intent x time trigger model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688336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65176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AOV uplift, 60% cart abandonment reduction, 20% 30-day retention improvement across A/B tested variants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364992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32841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full BRD-to-launch: cart signal ingestion, ML model, deal eligibility engine, checkout UX integration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041648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005072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4 A/B variants simultaneously across trigger type, discount depth, countdown duration, and placement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718304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68172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checkout conversion lift from offers placement redesign — same UX muscle needed for CheckoutLift card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426464"/>
            <a:ext cx="40233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CHECKOUTLIFT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011680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0665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Cart x intent engine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3042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CheckoutLift: Cart composition model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688336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743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60% abandonment drop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9809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Target: 50%+ at H&amp;L checkout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364992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4198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Countdown timer A/B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657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CheckoutLift: 30-60 min steal deal window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4041648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40965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Eligibility + deal match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43342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CheckoutLift: SKU co-buy probability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4718304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47731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Ops dashboard for offers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50109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CheckoutLift: Merch team A/B console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6291072"/>
            <a:ext cx="8229600" cy="420624"/>
          </a:xfrm>
          <a:prstGeom prst="rect">
            <a:avLst/>
          </a:prstGeom>
          <a:solidFill>
            <a:srgbClr val="FFFBEB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459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"CheckoutLift is the Pincode cart engine — applied to Amazon H&amp;L large-ticket checkout."  — Ajay Avaghade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UAE Pilot to MENA Category Rollout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26464"/>
            <a:ext cx="2697480" cy="41605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361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Pilot (H&amp;L)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" y="265176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96896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CheckoutLift on 3 H&amp;L subcategories: AC, Washing Machines, Coffee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3328416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7355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 CheckoutLift card vs. control (no card)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4005072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50208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co-buy model: cart composition → SKU match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4681728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26864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AOV uplift, deal accept rate, checkout conversion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426464"/>
            <a:ext cx="2697480" cy="4160520"/>
          </a:xfrm>
          <a:prstGeom prst="rect">
            <a:avLst/>
          </a:prstGeom>
          <a:solidFill>
            <a:srgbClr val="FF99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15361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79222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206654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Optimize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310128" y="2651760"/>
            <a:ext cx="109728" cy="109728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596896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all H&amp;L checkout sessions (UAE)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0128" y="3328416"/>
            <a:ext cx="109728" cy="109728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27355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merch A/B console for category managers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4005072"/>
            <a:ext cx="109728" cy="109728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950208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model retraining loop with accept/skip signals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0128" y="4681728"/>
            <a:ext cx="109728" cy="109728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4626864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countdown duration optimization (30/45/60 min)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1426464"/>
            <a:ext cx="2697480" cy="41605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15361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179222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206654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Category Rollout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144768" y="265176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596896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KSA, Egypt, Kuwait — all Amazon.ae H&amp;L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44768" y="3328416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27355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co-buy model to Electronics and Home Decor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44768" y="4005072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950208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steal deal notification engine (WhatsApp, push)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44768" y="4681728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4626864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CheckoutLift playbook for global marketplace teams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806440"/>
            <a:ext cx="8229600" cy="868680"/>
          </a:xfrm>
          <a:prstGeom prst="rect">
            <a:avLst/>
          </a:prstGeom>
          <a:solidFill>
            <a:srgbClr val="1A2332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0080" y="5888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build CheckoutLift: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619048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H&amp;L order + cart data access  ·  Co-buy ML model (can adapt PhonePe architecture)  ·  Checkout placement API  ·  1 PM + 2 Engineers + 1 Data Scientist for Phase 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0" y="658368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  ·  ajay-avaghade.github.io/Portfolio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2026-06-24T15:37:59Z</dcterms:created>
  <dcterms:modified xsi:type="dcterms:W3CDTF">2026-06-24T15:37:59Z</dcterms:modified>
</cp:coreProperties>
</file>