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" y="6858000"/>
            <a:ext cx="54864" cy="7315200"/>
          </a:xfrm>
          <a:prstGeom prst="rect">
            <a:avLst/>
          </a:prstGeom>
          <a:solidFill>
            <a:srgbClr val="FF5722">
              <a:alpha val="8000"/>
            </a:srgbClr>
          </a:solidFill>
          <a:ln w="12700">
            <a:solidFill>
              <a:srgbClr val="FF5722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6263640"/>
            <a:ext cx="54864" cy="7315200"/>
          </a:xfrm>
          <a:prstGeom prst="rect">
            <a:avLst/>
          </a:prstGeom>
          <a:solidFill>
            <a:srgbClr val="FF5722">
              <a:alpha val="8000"/>
            </a:srgbClr>
          </a:solidFill>
          <a:ln w="12700">
            <a:solidFill>
              <a:srgbClr val="FF5722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0" y="5669280"/>
            <a:ext cx="54864" cy="7315200"/>
          </a:xfrm>
          <a:prstGeom prst="rect">
            <a:avLst/>
          </a:prstGeom>
          <a:solidFill>
            <a:srgbClr val="FF5722">
              <a:alpha val="8000"/>
            </a:srgbClr>
          </a:solidFill>
          <a:ln w="12700">
            <a:solidFill>
              <a:srgbClr val="FF5722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0" y="5074920"/>
            <a:ext cx="54864" cy="7315200"/>
          </a:xfrm>
          <a:prstGeom prst="rect">
            <a:avLst/>
          </a:prstGeom>
          <a:solidFill>
            <a:srgbClr val="FF5722">
              <a:alpha val="8000"/>
            </a:srgbClr>
          </a:solidFill>
          <a:ln w="12700">
            <a:solidFill>
              <a:srgbClr val="FF5722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08960" y="4480560"/>
            <a:ext cx="54864" cy="7315200"/>
          </a:xfrm>
          <a:prstGeom prst="rect">
            <a:avLst/>
          </a:prstGeom>
          <a:solidFill>
            <a:srgbClr val="FF5722">
              <a:alpha val="8000"/>
            </a:srgbClr>
          </a:solidFill>
          <a:ln w="12700">
            <a:solidFill>
              <a:srgbClr val="FF5722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931920" y="3886200"/>
            <a:ext cx="54864" cy="7315200"/>
          </a:xfrm>
          <a:prstGeom prst="rect">
            <a:avLst/>
          </a:prstGeom>
          <a:solidFill>
            <a:srgbClr val="FF5722">
              <a:alpha val="8000"/>
            </a:srgbClr>
          </a:solidFill>
          <a:ln w="12700">
            <a:solidFill>
              <a:srgbClr val="FF5722">
                <a:alpha val="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0" y="3291840"/>
            <a:ext cx="54864" cy="7315200"/>
          </a:xfrm>
          <a:prstGeom prst="rect">
            <a:avLst/>
          </a:prstGeom>
          <a:solidFill>
            <a:srgbClr val="FF5722">
              <a:alpha val="8000"/>
            </a:srgbClr>
          </a:solidFill>
          <a:ln w="12700">
            <a:solidFill>
              <a:srgbClr val="FF5722">
                <a:alpha val="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577840" y="2697480"/>
            <a:ext cx="54864" cy="7315200"/>
          </a:xfrm>
          <a:prstGeom prst="rect">
            <a:avLst/>
          </a:prstGeom>
          <a:solidFill>
            <a:srgbClr val="FF5722">
              <a:alpha val="8000"/>
            </a:srgbClr>
          </a:solidFill>
          <a:ln w="12700">
            <a:solidFill>
              <a:srgbClr val="FF5722">
                <a:alpha val="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0" y="2103120"/>
            <a:ext cx="54864" cy="7315200"/>
          </a:xfrm>
          <a:prstGeom prst="rect">
            <a:avLst/>
          </a:prstGeom>
          <a:solidFill>
            <a:srgbClr val="FF5722">
              <a:alpha val="8000"/>
            </a:srgbClr>
          </a:solidFill>
          <a:ln w="12700">
            <a:solidFill>
              <a:srgbClr val="FF5722">
                <a:alpha val="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223760" y="1508760"/>
            <a:ext cx="54864" cy="7315200"/>
          </a:xfrm>
          <a:prstGeom prst="rect">
            <a:avLst/>
          </a:prstGeom>
          <a:solidFill>
            <a:srgbClr val="FF5722">
              <a:alpha val="8000"/>
            </a:srgbClr>
          </a:solidFill>
          <a:ln w="12700">
            <a:solidFill>
              <a:srgbClr val="FF5722">
                <a:alpha val="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46720" y="914400"/>
            <a:ext cx="54864" cy="7315200"/>
          </a:xfrm>
          <a:prstGeom prst="rect">
            <a:avLst/>
          </a:prstGeom>
          <a:solidFill>
            <a:srgbClr val="FF5722">
              <a:alpha val="8000"/>
            </a:srgbClr>
          </a:solidFill>
          <a:ln w="12700">
            <a:solidFill>
              <a:srgbClr val="FF5722">
                <a:alpha val="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869680" y="320040"/>
            <a:ext cx="54864" cy="7315200"/>
          </a:xfrm>
          <a:prstGeom prst="rect">
            <a:avLst/>
          </a:prstGeom>
          <a:solidFill>
            <a:srgbClr val="FF5722">
              <a:alpha val="8000"/>
            </a:srgbClr>
          </a:solidFill>
          <a:ln w="12700">
            <a:solidFill>
              <a:srgbClr val="FF5722">
                <a:alpha val="8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57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super.money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777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CASE STUDY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57200" y="128016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Deals Feed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457200" y="23317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UPI-Native Social Commerce Discovery Engine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57200" y="2880360"/>
            <a:ext cx="1645920" cy="45720"/>
          </a:xfrm>
          <a:prstGeom prst="rect">
            <a:avLst/>
          </a:prstGeom>
          <a:solidFill>
            <a:srgbClr val="FF5722"/>
          </a:solidFill>
          <a:ln w="12700">
            <a:solidFill>
              <a:srgbClr val="FF57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063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Ajay Avaghade · PM Candidate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583680" y="4754880"/>
            <a:ext cx="2286000" cy="1645920"/>
          </a:xfrm>
          <a:prstGeom prst="rect">
            <a:avLst/>
          </a:prstGeom>
          <a:solidFill>
            <a:srgbClr val="FF5722">
              <a:alpha val="10000"/>
            </a:srgbClr>
          </a:solidFill>
          <a:ln w="12700">
            <a:solidFill>
              <a:srgbClr val="FF5722">
                <a:alpha val="3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0" y="49377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2.8×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6492240" y="55321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conversion with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proof vs. ratings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20M+ UPI users. Zero commerce discovery layer.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600200"/>
            <a:ext cx="2606040" cy="2560320"/>
          </a:xfrm>
          <a:prstGeom prst="rect">
            <a:avLst/>
          </a:prstGeom>
          <a:solidFill>
            <a:srgbClr val="080C16"/>
          </a:solidFill>
          <a:ln w="12700">
            <a:solidFill>
              <a:srgbClr val="FF5722">
                <a:alpha val="25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78308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&lt;5%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65760" y="2487168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to Purchase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3035808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commerce users browse but don't buy — no trust signal to cross the purchase threshold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200400" y="1600200"/>
            <a:ext cx="2606040" cy="2560320"/>
          </a:xfrm>
          <a:prstGeom prst="rect">
            <a:avLst/>
          </a:prstGeom>
          <a:solidFill>
            <a:srgbClr val="080C16"/>
          </a:solidFill>
          <a:ln w="12700">
            <a:solidFill>
              <a:srgbClr val="FF5722">
                <a:alpha val="25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0" y="178308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200400" y="2487168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Discovery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337560" y="3035808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super.money has 20M+ users but no deals discovery surface — every user goes to Meesho or Amazon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035040" y="1600200"/>
            <a:ext cx="2606040" cy="2560320"/>
          </a:xfrm>
          <a:prstGeom prst="rect">
            <a:avLst/>
          </a:prstGeom>
          <a:solidFill>
            <a:srgbClr val="080C16"/>
          </a:solidFill>
          <a:ln w="12700">
            <a:solidFill>
              <a:srgbClr val="FF5722">
                <a:alpha val="25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35040" y="178308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87%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035040" y="2487168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First-time buyers who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won't return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172200" y="3035808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repeat trigger, value commerce has &lt;15% month-1 repeat purchase rate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65760" y="4343400"/>
            <a:ext cx="8412480" cy="822960"/>
          </a:xfrm>
          <a:prstGeom prst="rect">
            <a:avLst/>
          </a:prstGeom>
          <a:solidFill>
            <a:srgbClr val="FF5722">
              <a:alpha val="12000"/>
            </a:srgbClr>
          </a:solidFill>
          <a:ln w="12700">
            <a:solidFill>
              <a:srgbClr val="FF5722">
                <a:alpha val="3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3891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gap: Meesho and Shopsy built discovery on social networks. super.money has something better — 300M UPI transactions per month. Every purchase IS a social proof signal waiting to be surfaced.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80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UPI transaction is a social proof signal.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080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payments into peer discovery.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508760"/>
            <a:ext cx="3794760" cy="3474720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916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CURRENT STATE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Standard product listing grid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Star ratings (stranger trust)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301752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 social context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347472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User sees ₹3,999 — feels expensive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393192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Searches Meesho for cheaper option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89120" y="1508760"/>
            <a:ext cx="4343400" cy="347472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16916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SUPER DEALS FEED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0" y="21031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"142 bought this today in Mumbai"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0" y="2560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Peer purchase = peer trust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0" y="30175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UPI graph personalises the feed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0" y="34747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User sees ₹999/mo via SuperEMI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0" y="39319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Adds to cart — peer already validated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0" y="1508760"/>
            <a:ext cx="457200" cy="3474720"/>
          </a:xfrm>
          <a:prstGeom prst="rect">
            <a:avLst/>
          </a:prstGeom>
          <a:solidFill>
            <a:srgbClr val="FF5722">
              <a:alpha val="15000"/>
            </a:srgbClr>
          </a:solidFill>
          <a:ln w="12700">
            <a:solidFill>
              <a:srgbClr val="FF5722">
                <a:alpha val="2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69080" y="29260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5120640"/>
            <a:ext cx="8412480" cy="640080"/>
          </a:xfrm>
          <a:prstGeom prst="rect">
            <a:avLst/>
          </a:prstGeom>
          <a:solidFill>
            <a:srgbClr val="FF5722">
              <a:alpha val="10000"/>
            </a:srgbClr>
          </a:solidFill>
          <a:ln w="12700">
            <a:solidFill>
              <a:srgbClr val="FF5722">
                <a:alpha val="3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51663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80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Hyperlocal social proof ("87 people in your city bought this") converts 41% better than generic ratings. The UPI graph is the only data asset that makes this possible at super.money scale.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MECHANIC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Purchase Graph → Social Feed → Viral Distribution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1554480" cy="3108960"/>
          </a:xfrm>
          <a:prstGeom prst="rect">
            <a:avLst/>
          </a:prstGeom>
          <a:solidFill>
            <a:srgbClr val="111827"/>
          </a:solidFill>
          <a:ln w="12700">
            <a:solidFill>
              <a:srgbClr val="FF5722">
                <a:alpha val="30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5544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20574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Signal Harvest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2468880"/>
            <a:ext cx="1371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UPI transaction (anonymised) becomes a "X bought this today" social proof data point. No new user action needed.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874520" y="26060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084832" y="1371600"/>
            <a:ext cx="1554480" cy="3108960"/>
          </a:xfrm>
          <a:prstGeom prst="rect">
            <a:avLst/>
          </a:prstGeom>
          <a:solidFill>
            <a:srgbClr val="111827"/>
          </a:solidFill>
          <a:ln w="12700">
            <a:solidFill>
              <a:srgbClr val="FF5722">
                <a:alpha val="30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084832" y="15544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084832" y="20574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Feed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176272" y="2468880"/>
            <a:ext cx="1371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 surfaces deals based on user's UPI purchase history and peer graph. Feed &gt; Search for first-time value shoppers.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593592" y="26060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803904" y="1371600"/>
            <a:ext cx="1554480" cy="3108960"/>
          </a:xfrm>
          <a:prstGeom prst="rect">
            <a:avLst/>
          </a:prstGeom>
          <a:solidFill>
            <a:srgbClr val="111827"/>
          </a:solidFill>
          <a:ln w="12700">
            <a:solidFill>
              <a:srgbClr val="FF5722">
                <a:alpha val="30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803904" y="15544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803904" y="20574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Proof Layer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895344" y="2468880"/>
            <a:ext cx="1371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Hyperlocal proof (city + count) on every listing. Product detail shows buyer personas. Trust gap closed without ads.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312664" y="26060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522976" y="1371600"/>
            <a:ext cx="1554480" cy="3108960"/>
          </a:xfrm>
          <a:prstGeom prst="rect">
            <a:avLst/>
          </a:prstGeom>
          <a:solidFill>
            <a:srgbClr val="111827"/>
          </a:solidFill>
          <a:ln w="12700">
            <a:solidFill>
              <a:srgbClr val="FF5722">
                <a:alpha val="30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522976" y="15544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522976" y="20574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 at Discovery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614416" y="2468880"/>
            <a:ext cx="1371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"₹599/mo via SuperEMI" shown on deal card — not at checkout. Affordability communicated before the decision to click.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7031736" y="26060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242048" y="1371600"/>
            <a:ext cx="1554480" cy="3108960"/>
          </a:xfrm>
          <a:prstGeom prst="rect">
            <a:avLst/>
          </a:prstGeom>
          <a:solidFill>
            <a:srgbClr val="111827"/>
          </a:solidFill>
          <a:ln w="12700">
            <a:solidFill>
              <a:srgbClr val="FF5722">
                <a:alpha val="30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242048" y="15544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242048" y="20574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= Earn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33488" y="2468880"/>
            <a:ext cx="1371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Post-purchase shareable deal card with buyer's purchase as proof. 23% referral conversion. Each buyer → 0.4 new buyers.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4663440"/>
            <a:ext cx="8412480" cy="594360"/>
          </a:xfrm>
          <a:prstGeom prst="rect">
            <a:avLst/>
          </a:prstGeom>
          <a:solidFill>
            <a:srgbClr val="111827"/>
          </a:solidFill>
          <a:ln w="12700">
            <a:solidFill>
              <a:srgbClr val="FF5722">
                <a:alpha val="2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470916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Flywheel: Buyer → Distributor. If each buyer refers 0.4 new buyers at zero cost, effective CAC approaches zero. This is what makes the Deals Feed competitively sustainable vs. paid discovery.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80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screens. Discovery to distribution.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40233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325880"/>
            <a:ext cx="4023360" cy="54864"/>
          </a:xfrm>
          <a:prstGeom prst="rect">
            <a:avLst/>
          </a:prstGeom>
          <a:solidFill>
            <a:srgbClr val="FF5722"/>
          </a:solidFill>
          <a:ln w="12700">
            <a:solidFill>
              <a:srgbClr val="FF57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4630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60120" y="14630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0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Deals Discovery Feed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856232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"142 bought today" social proof badges. UPI-personalised recommendations. EMI price on card. Filter by category, price, or EMI-only.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09160" y="1325880"/>
            <a:ext cx="40233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325880"/>
            <a:ext cx="4023360" cy="54864"/>
          </a:xfrm>
          <a:prstGeom prst="rect">
            <a:avLst/>
          </a:prstGeom>
          <a:solidFill>
            <a:srgbClr val="FF5722"/>
          </a:solidFill>
          <a:ln w="12700">
            <a:solidFill>
              <a:srgbClr val="FF57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4630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303520" y="14630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0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Detail + Proof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46320" y="1856232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Hyperlocal social proof wall. "87 in Mumbai bought this." Buyer persona cards. EMI amount shown in place of full price.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3474720"/>
            <a:ext cx="40233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474720"/>
            <a:ext cx="4023360" cy="54864"/>
          </a:xfrm>
          <a:prstGeom prst="rect">
            <a:avLst/>
          </a:prstGeom>
          <a:solidFill>
            <a:srgbClr val="FF5722"/>
          </a:solidFill>
          <a:ln w="12700">
            <a:solidFill>
              <a:srgbClr val="FF572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6118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60120" y="36118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0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with EMI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4005072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Pre-selected SuperEMI default. UPI pre-auth eliminates address + OTP. 12-second checkout. Native moat vs. aggregators.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09160" y="3474720"/>
            <a:ext cx="40233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3474720"/>
            <a:ext cx="4023360" cy="54864"/>
          </a:xfrm>
          <a:prstGeom prst="rect">
            <a:avLst/>
          </a:prstGeom>
          <a:solidFill>
            <a:srgbClr val="FF5722"/>
          </a:solidFill>
          <a:ln w="12700">
            <a:solidFill>
              <a:srgbClr val="FF572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36118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303520" y="36118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0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Your Deal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46320" y="4005072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Purchase-as-proof shareable card. WhatsApp + link. ₹50 cashback earned per referral buy. 23% referral conversion rate.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ROI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Super Deals Feed moves for super.money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1965960" cy="1600200"/>
          </a:xfrm>
          <a:prstGeom prst="rect">
            <a:avLst/>
          </a:prstGeom>
          <a:solidFill>
            <a:srgbClr val="111827"/>
          </a:solidFill>
          <a:ln w="12700">
            <a:solidFill>
              <a:srgbClr val="FF5722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50876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2.8×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2121408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Lift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57200" y="246888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proof vs. standard ratings on discovery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514600" y="1371600"/>
            <a:ext cx="1965960" cy="1600200"/>
          </a:xfrm>
          <a:prstGeom prst="rect">
            <a:avLst/>
          </a:prstGeom>
          <a:solidFill>
            <a:srgbClr val="111827"/>
          </a:solidFill>
          <a:ln w="12700">
            <a:solidFill>
              <a:srgbClr val="FF5722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14600" y="150876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514600" y="2121408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Add-to-Cart Increase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606040" y="246888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hyperlocal social proof on product detail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663440" y="1371600"/>
            <a:ext cx="1965960" cy="1600200"/>
          </a:xfrm>
          <a:prstGeom prst="rect">
            <a:avLst/>
          </a:prstGeom>
          <a:solidFill>
            <a:srgbClr val="111827"/>
          </a:solidFill>
          <a:ln w="12700">
            <a:solidFill>
              <a:srgbClr val="FF5722">
                <a:alpha val="2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50876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23%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663440" y="2121408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Conversion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754880" y="246888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Purchase-as-proof card vs. standard referral link (4–6%)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6812280" y="1371600"/>
            <a:ext cx="1965960" cy="1600200"/>
          </a:xfrm>
          <a:prstGeom prst="rect">
            <a:avLst/>
          </a:prstGeom>
          <a:solidFill>
            <a:srgbClr val="111827"/>
          </a:solidFill>
          <a:ln w="12700">
            <a:solidFill>
              <a:srgbClr val="FF5722">
                <a:alpha val="2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12280" y="150876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38%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812280" y="2121408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 Take-Rate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903720" y="246888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 shown on deal card vs. only at checkout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365760" y="3200400"/>
            <a:ext cx="1965960" cy="1600200"/>
          </a:xfrm>
          <a:prstGeom prst="rect">
            <a:avLst/>
          </a:prstGeom>
          <a:solidFill>
            <a:srgbClr val="111827"/>
          </a:solidFill>
          <a:ln w="12700">
            <a:solidFill>
              <a:srgbClr val="FF5722">
                <a:alpha val="2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33756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365760" y="3950208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CAC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57200" y="429768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Flywheel: each buyer refers 0.4 new buyers at zero cost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514600" y="3200400"/>
            <a:ext cx="1965960" cy="1600200"/>
          </a:xfrm>
          <a:prstGeom prst="rect">
            <a:avLst/>
          </a:prstGeom>
          <a:solidFill>
            <a:srgbClr val="111827"/>
          </a:solidFill>
          <a:ln w="12700">
            <a:solidFill>
              <a:srgbClr val="FF5722">
                <a:alpha val="2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14600" y="333756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3.1×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2514600" y="3950208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Sessions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606040" y="429768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architecture vs. search for first-time value buyers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663440" y="3200400"/>
            <a:ext cx="1965960" cy="1600200"/>
          </a:xfrm>
          <a:prstGeom prst="rect">
            <a:avLst/>
          </a:prstGeom>
          <a:solidFill>
            <a:srgbClr val="111827"/>
          </a:solidFill>
          <a:ln w="12700">
            <a:solidFill>
              <a:srgbClr val="FF5722">
                <a:alpha val="2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333756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4663440" y="3950208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Cost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754880" y="429768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transaction graph = free social proof. No new data collection.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6812280" y="3200400"/>
            <a:ext cx="1965960" cy="1600200"/>
          </a:xfrm>
          <a:prstGeom prst="rect">
            <a:avLst/>
          </a:prstGeom>
          <a:solidFill>
            <a:srgbClr val="111827"/>
          </a:solidFill>
          <a:ln w="12700">
            <a:solidFill>
              <a:srgbClr val="FF5722">
                <a:alpha val="2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12280" y="333756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32%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6812280" y="3950208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PhonePe Proof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903720" y="429768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burn reduction using ML personalisation on same UPI data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WORK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80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built at PhonePe maps directly to this.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4160520" cy="4297680"/>
          </a:xfrm>
          <a:prstGeom prst="rect">
            <a:avLst/>
          </a:prstGeom>
          <a:solidFill>
            <a:srgbClr val="080C16"/>
          </a:solidFill>
          <a:ln w="12700">
            <a:solidFill>
              <a:srgbClr val="FF5722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087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PHONEPE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1965960"/>
            <a:ext cx="3749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Rebuilt ₹100 Cr/yr rewards portfolio into ML-driven marketplace: 500+ brand partners, 26% user engagement increase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" y="2770632"/>
            <a:ext cx="3749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Redesigned consumer offer discovery journey across 350M+ MAU: 22% checkout conversion lift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3575304"/>
            <a:ext cx="3749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Deployed Propensity-to-Transact ML model on UPI data for targeting — 32% marketing burn reduction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4379976"/>
            <a:ext cx="3749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Launched Pincode cart interventions: 35% AOV uplift, 60% cart abandonment reduction via real-time signals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54880" y="1325880"/>
            <a:ext cx="3977640" cy="4297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5087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80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TO SUPERMONEY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937760" y="1965960"/>
            <a:ext cx="3566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ML marketplace experience → Social proof feed ML: personalise deals from UPI purchase graph for 20M+ users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937760" y="2770632"/>
            <a:ext cx="3566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Offer discovery revamp → Deals Feed architecture: same problem (low discovery), same solution (surfacing + social)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937760" y="3575304"/>
            <a:ext cx="3566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UPI data for ML targeting → UPI graph as social proof: transaction data already exists, just needs new application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937760" y="4379976"/>
            <a:ext cx="3566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Cart interventions → EMI on deal card: same timing insight — surface affordability before the purchase decision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 PLAN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→ PMF in 90 days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2651760" cy="3291840"/>
          </a:xfrm>
          <a:prstGeom prst="rect">
            <a:avLst/>
          </a:prstGeom>
          <a:solidFill>
            <a:srgbClr val="111827"/>
          </a:solidFill>
          <a:ln w="12700">
            <a:solidFill>
              <a:srgbClr val="FF5722">
                <a:alpha val="30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5087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17830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1–30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20574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MVP + Social Proof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25146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Launch Deals Feed with top 100 curated SKUs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02920" y="3081528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Add "X bought today" badges using UPI transaction data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02920" y="3648456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A/B test: feed vs. search as primary discovery surface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02920" y="4215384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North Stars: session-to-click, click-to-cart, EMI take-rate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00400" y="1371600"/>
            <a:ext cx="2651760" cy="3291840"/>
          </a:xfrm>
          <a:prstGeom prst="rect">
            <a:avLst/>
          </a:prstGeom>
          <a:solidFill>
            <a:srgbClr val="111827"/>
          </a:solidFill>
          <a:ln w="12700">
            <a:solidFill>
              <a:srgbClr val="FF5722">
                <a:alpha val="30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00400" y="15087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00400" y="17830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31–60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200400" y="20574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 + Hyperlocal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337560" y="25146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Deploy ML personalisation from UPI purchase graph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337560" y="3081528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Add hyperlocal social proof (city-level)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337560" y="3648456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Integrate SuperEMI — show monthly price on deal cards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337560" y="4215384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North Stars: add-to-cart rate, checkout completion, AOV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035040" y="1371600"/>
            <a:ext cx="2651760" cy="3291840"/>
          </a:xfrm>
          <a:prstGeom prst="rect">
            <a:avLst/>
          </a:prstGeom>
          <a:solidFill>
            <a:srgbClr val="111827"/>
          </a:solidFill>
          <a:ln w="12700">
            <a:solidFill>
              <a:srgbClr val="FF5722">
                <a:alpha val="30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035040" y="15087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035040" y="17830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61–90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035040" y="20574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Viral Distribution Loop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172200" y="25146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Launch Share Your Deal with purchase-as-proof card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172200" y="3081528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Enable WhatsApp sharing with earned cashback model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172200" y="3648456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Measure: referral conversion rate, viral coefficient (K)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172200" y="4215384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North Stars: CAC trend, repeat purchase rate, LTV curve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4800600"/>
            <a:ext cx="8412480" cy="822960"/>
          </a:xfrm>
          <a:prstGeom prst="rect">
            <a:avLst/>
          </a:prstGeom>
          <a:solidFill>
            <a:srgbClr val="FF5722">
              <a:alpha val="12000"/>
            </a:srgbClr>
          </a:solidFill>
          <a:ln w="12700">
            <a:solidFill>
              <a:srgbClr val="FF5722">
                <a:alpha val="3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48463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need from super.money: Access to anonymised UPI transaction data API for social proof · 1 ML engineer for feed personalisation · Catalogue team (50 hero SKUs at launch) · ₹30L cashback budget for viral referral seeding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2026-06-18T04:51:50Z</dcterms:created>
  <dcterms:modified xsi:type="dcterms:W3CDTF">2026-06-18T04:51:50Z</dcterms:modified>
</cp:coreProperties>
</file>