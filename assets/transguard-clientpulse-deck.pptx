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5080">
            <a:solidFill>
              <a:srgbClr val="F59E0B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5080">
            <a:solidFill>
              <a:srgbClr val="F59E0B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5080">
            <a:solidFill>
              <a:srgbClr val="F59E0B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5080">
            <a:solidFill>
              <a:srgbClr val="F59E0B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5080">
            <a:solidFill>
              <a:srgbClr val="F59E0B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A2E"/>
                </a:solidFill>
              </a:rPr>
              <a:t>TG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4389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</a:rPr>
              <a:t>TRANSGUARD GROUP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1560" y="62179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</a:rPr>
              <a:t>Cash Services Division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11430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ClientPulse</a:t>
            </a:r>
            <a:endParaRPr lang="en-US" sz="68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29260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14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Account Health &amp; Retention Intelligence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2971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Proactive AM Playbooks · 60-Day Renewal Foresight · ACV Protection Engine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943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</a:rPr>
              <a:t>Ajay Avaghade · Product Manager · Applied Case Study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1996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ajay-avaghade.github.io/Portfolio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0" y="4937760"/>
            <a:ext cx="2377440" cy="1645920"/>
          </a:xfrm>
          <a:prstGeom prst="rect">
            <a:avLst/>
          </a:prstGeom>
          <a:solidFill>
            <a:srgbClr val="0F25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5074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AED 7.8M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583680" y="55778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BB4"/>
                </a:solidFill>
              </a:rPr>
              <a:t>ACV at renewal risk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83680" y="57607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</a:rPr>
              <a:t>in the next 60 days alone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Transguard loses enterprise clients at renewal because account health signals arrive too late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51760" cy="2560320"/>
          </a:xfrm>
          <a:prstGeom prst="rect">
            <a:avLst/>
          </a:prstGeom>
          <a:solidFill>
            <a:srgbClr val="0F2540"/>
          </a:solidFill>
          <a:ln w="635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2651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days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Average lag between health signal and AM awareness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By the time a client shows dissatisfaction, the renewal conversation is already at risk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1645920"/>
            <a:ext cx="2651760" cy="2560320"/>
          </a:xfrm>
          <a:prstGeom prst="rect">
            <a:avLst/>
          </a:prstGeom>
          <a:solidFill>
            <a:srgbClr val="0F2540"/>
          </a:solidFill>
          <a:ln w="635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645920"/>
            <a:ext cx="2651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7373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AED 7.8M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29000" y="25146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Enterprise ACV at renewal risk in any 60-day window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28346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3 accounts at HIGH risk. No systematic early-warning triggers in place today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2651760" cy="2560320"/>
          </a:xfrm>
          <a:prstGeom prst="rect">
            <a:avLst/>
          </a:prstGeom>
          <a:solidFill>
            <a:srgbClr val="0F2540"/>
          </a:solidFill>
          <a:ln w="635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645920"/>
            <a:ext cx="2651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7373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open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09360" y="25146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Support tickets unresolved at Emirates NBD renewal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28346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Clients measure relationship health by ticket resolution speed — not by what AMs believe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82296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52628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Root cause: Account management is relationship-driven and reactive. There is no system that scores client health, trends it over time, and fires a proactive intervention before renewal.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A1A2E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2E"/>
                </a:solidFill>
              </a:rPr>
              <a:t>Replace relationship intuition with a real-time client health score and automated intervention playbooks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840480" cy="3840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91B1B"/>
                </a:solidFill>
              </a:rPr>
              <a:t>TODAY (WITHOUT CLIENTPULSE)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❌ AM checks in with client based on "feel"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4414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❌ Health signals (SLA dips, ticket spikes) invisible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8712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❌ Churn risk discovered at contract renewal meeting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33009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❌ No consistent playbook — every AM improvises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7307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❌ ACV at risk only visible to Finance, not AMs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4160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❌ Upsell conversations driven by quota, not 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60520" y="3017520"/>
            <a:ext cx="822960" cy="822960"/>
          </a:xfrm>
          <a:prstGeom prst="ellipse">
            <a:avLst/>
          </a:prstGeom>
          <a:solidFill>
            <a:srgbClr val="0A1A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1508760"/>
            <a:ext cx="3840480" cy="384048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600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2400E"/>
                </a:solidFill>
              </a:rPr>
              <a:t>WITH CLIENTPULSE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8348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✅ Daily health score per account (6 dimensions)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24414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✅ SLA dips, ticket spikes flagged within 24 hours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8712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✅ 60-day renewal horizon with risk banding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33009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✅ 5-step playbook auto-triggered for RED accounts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37307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✅ ACV at risk surfaced to AM and their director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4160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✅ Upsell triggers tied to health score improvement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5532120"/>
            <a:ext cx="8229600" cy="640080"/>
          </a:xfrm>
          <a:prstGeom prst="rect">
            <a:avLst/>
          </a:prstGeom>
          <a:solidFill>
            <a:srgbClr val="0A1A2E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55778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All data required already exists in Transguard systems. ClientPulse is a synthesis and alerting layer on top — no new data collection, no new systems, fast time-to-build.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Six-dimension health score with automated playbook and renewal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A2E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" y="1965960"/>
            <a:ext cx="0" cy="411480"/>
          </a:xfrm>
          <a:prstGeom prst="line">
            <a:avLst/>
          </a:prstGeom>
          <a:noFill/>
          <a:ln w="12700">
            <a:solidFill>
              <a:srgbClr val="F59E0B">
                <a:alpha val="50000"/>
              </a:srgbClr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005840" y="1499616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Six-Dimension Daily Scoring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Score computed daily from: SCDM uptime, collection SLA %, ERP reconciliation rate, open support tickets, QBR attendance, and AM contact frequency. Each dimension weighted and combined into 0-100 score.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A2E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" y="2880360"/>
            <a:ext cx="0" cy="411480"/>
          </a:xfrm>
          <a:prstGeom prst="line">
            <a:avLst/>
          </a:prstGeom>
          <a:noFill/>
          <a:ln w="12700">
            <a:solidFill>
              <a:srgbClr val="F59E0B">
                <a:alpha val="50000"/>
              </a:srgbClr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005840" y="2414016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RED / AMBER / GREEN Banding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65176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Score &gt;= 75: GREEN (healthy, auto-renewal eligible). Score 50-74: AMBER (attention needed, QBR triggered). Score &lt; 50: RED (at-risk, 5-step playbook auto-fired). AM notified within 24 hours of band change.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A2E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" y="3794760"/>
            <a:ext cx="0" cy="411480"/>
          </a:xfrm>
          <a:prstGeom prst="line">
            <a:avLst/>
          </a:prstGeom>
          <a:noFill/>
          <a:ln w="12700">
            <a:solidFill>
              <a:srgbClr val="F59E0B">
                <a:alpha val="50000"/>
              </a:srgbClr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005840" y="3328416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Auto-Playbook Execution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56616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RED account triggers a 5-step playbook: root cause diagnosis → executive outreach → SLA review meeting → remediation offer → renewal sign-off. Each step has an auto-generated message template and deadline.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4206240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A2E"/>
                </a:solidFill>
              </a:rPr>
              <a:t>04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8076" y="4709160"/>
            <a:ext cx="0" cy="411480"/>
          </a:xfrm>
          <a:prstGeom prst="line">
            <a:avLst/>
          </a:prstGeom>
          <a:noFill/>
          <a:ln w="12700">
            <a:solidFill>
              <a:srgbClr val="F59E0B">
                <a:alpha val="50000"/>
              </a:srgbClr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005840" y="4242816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60-Day Renewal Horizon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48056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Pipeline view showing all renewals in the next 60 days with risk score, ACV at stake, and recommended AM action. Director-level visibility without needing 24 status calls.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5120640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A2E"/>
                </a:solidFill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5157216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Upsell Trigger at Recovery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539496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Accounts that improve from RED to AMBER after playbook execution are flagged as upsell candidates. The health recovery conversation naturally opens the door to adding CashPulse or expanded services.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6080760"/>
            <a:ext cx="8412480" cy="475488"/>
          </a:xfrm>
          <a:prstGeom prst="rect">
            <a:avLst/>
          </a:prstGeom>
          <a:solidFill>
            <a:srgbClr val="111827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1081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POC scope: 20 accounts, 4 AMs, 90 days. Measure: renewal rate delta vs control group, escalation reduction, and upsell conversion. Break-even on build cost from a single saved renewal.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A1A2E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A2E"/>
                </a:solidFill>
              </a:rPr>
              <a:t>Four screens · AM platform · Director-level pipeline 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4114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16736"/>
            <a:ext cx="4114800" cy="347472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3350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Screen 01 — Account Portfolio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737360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Grid of all accounts with health scores in RED/AMBER/GREEN. Summary bar: 24 total, 3 at risk, 7 need attention, 14 healthy. ACV at stake displayed per account card.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" y="2450592"/>
            <a:ext cx="3913632" cy="11521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505456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24 Total   3 At Risk  7 Attention  14 Healthy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21792" y="2761488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Emirates NBD  [38 RED]  28d renewal  AED 4.2M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21792" y="3017520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ENOC Group    [61 AMB]  55d renewal  AED 2.8M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21792" y="3273552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Carrefour UAE [87 GRN]  142d renewal AED 1.9M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846320" y="1280160"/>
            <a:ext cx="4114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280160"/>
            <a:ext cx="4114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4846320" y="1316736"/>
            <a:ext cx="4114800" cy="347472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4956048" y="13350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Screen 02 — Health Score Detail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56048" y="1737360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Per-account drill-down: 6-dimension score breakdown, 6-month trend chart, recent touchpoints log. Root cause surfaced automatically from the lowest-scoring dimensions.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56048" y="2450592"/>
            <a:ext cx="3913632" cy="11521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2505456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Emirates NBD · Score: 38 ↓17pts · AT RISK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010912" y="2761488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SCDM Uptime:    91.2%  ██████████░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10912" y="3017520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 SLA: 78.4%  ████████░░░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010912" y="3273552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 Tickets: 14 open  ↑ 8 from last month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4114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31920"/>
            <a:ext cx="4114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968496"/>
            <a:ext cx="4114800" cy="347472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9867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Screen 03 — Intervention Playbook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" y="4389120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5-step playbook auto-triggered for RED accounts. Step 2 active: auto-generated executive outreach email ready to send in one click. Step completion tracked with due dates.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6928" y="5102352"/>
            <a:ext cx="3913632" cy="11521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5157216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Step 1: Root Cause Diagnosis  [Done]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21792" y="5413248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Step 2: Executive Outreach   [Due Today]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21792" y="5669280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○ Step 3: SLA Review Meeting   [15 Jun]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21792" y="5925312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○ Step 4: Remediation Offer    [22 Jun]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846320" y="3931920"/>
            <a:ext cx="4114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931920"/>
            <a:ext cx="4114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4846320" y="3968496"/>
            <a:ext cx="4114800" cy="347472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37" name="Text 35"/>
          <p:cNvSpPr/>
          <p:nvPr/>
        </p:nvSpPr>
        <p:spPr>
          <a:xfrm>
            <a:off x="4956048" y="39867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Screen 04 — Renewal Risk Horizon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56048" y="4389120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60-day pipeline view of all upcoming renewals. Risk score, ACV, assigned AM, and recommended action per renewal. Director-level visibility across all accounts.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956048" y="5102352"/>
            <a:ext cx="3913632" cy="11521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10912" y="5157216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19d  Waitrose UAE   [HIGH]  AED 0.8M  Playbook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010912" y="5413248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28d  Emirates NBD   [HIGH]  AED 4.2M  Playbook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10912" y="5669280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41d  Carrefour DXB  [MED]   AED 0.6M  QBR Sched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010912" y="5925312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55d  ENOC Group     [MED]   AED 2.8M  Upsell Rev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Retention revenue protected + upsell conversion unlocked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</a:rPr>
              <a:t>CLIENT / RETENTION IMPACT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A623"/>
                </a:solidFill>
              </a:rPr>
              <a:t>TRANSGUARD ROI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02336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6479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920240" y="1783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Improvement in enterprise client retention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20240" y="2057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</a:rPr>
              <a:t>Proactive playbooks catch at-risk accounts 60 days before renewal — enough time to intervene and save the contract.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02336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8163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92024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Fewer surprise churn events at renewal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20240" y="3108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</a:rPr>
              <a:t>No more AED 4.2M contracts lost because the AM did not know the score was in freefall for 90 days.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402336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6791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-60%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920240" y="3886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Reduction in reactive escalation calls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4160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</a:rPr>
              <a:t>Clients whose issues are caught early through ClientPulse scoring do not escalate to Director level.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4846320"/>
            <a:ext cx="402336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91947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920240" y="4937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Increase in upsell conversion rate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20240" y="5212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</a:rPr>
              <a:t>Health-recovering accounts are the warmest upsell targets. ClientPulse identifies the exact moment to introduce CashPulse.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1691640"/>
            <a:ext cx="402336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76479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AED 4.2M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583680" y="1783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Saved from a single Emirates NBD renewal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0" y="20574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</a:rPr>
              <a:t>The entire ClientPulse build cost is recovered from preventing one large enterprise account from churning.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2743200"/>
            <a:ext cx="402336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81635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AED 85K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2834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Cost of proactive service credit (2% of ACV)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83680" y="31089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</a:rPr>
              <a:t>Versus losing AED 4.2M contract entirely. The remediation economics are fundamentally asymmetric.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54880" y="3794760"/>
            <a:ext cx="402336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86791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days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583680" y="3886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Build time to POC-ready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83680" y="4160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</a:rPr>
              <a:t>No new data collection. Only integration with existing Transguard operational data and a scoring algorithm.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0" y="4846320"/>
            <a:ext cx="4023360" cy="914400"/>
          </a:xfrm>
          <a:prstGeom prst="rect">
            <a:avLst/>
          </a:prstGeom>
          <a:solidFill>
            <a:srgbClr val="0F2540"/>
          </a:solidFill>
          <a:ln w="63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491947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quarter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583680" y="4937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Payback period from first saved renewal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83680" y="52120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</a:rPr>
              <a:t>Break-even on product cost from the first high-risk account retained. Every subsequent save is pure margin.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44568" y="1371600"/>
            <a:ext cx="0" cy="4754880"/>
          </a:xfrm>
          <a:prstGeom prst="line">
            <a:avLst/>
          </a:prstGeom>
          <a:noFill/>
          <a:ln w="6350">
            <a:solidFill>
              <a:srgbClr val="F59E0B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A1A2E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A2E"/>
                </a:solidFill>
              </a:rPr>
              <a:t>What I built at PhonePe maps exactly to what ClientPulse requires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4846320"/>
          </a:xfrm>
          <a:prstGeom prst="rect">
            <a:avLst/>
          </a:prstGeom>
          <a:solidFill>
            <a:srgbClr val="0A1A2E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WHAT I BUILT AT PHONEPE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3749040" cy="914400"/>
          </a:xfrm>
          <a:prstGeom prst="rect">
            <a:avLst/>
          </a:prstGeom>
          <a:solidFill>
            <a:srgbClr val="0F2540"/>
          </a:solidFill>
          <a:ln w="381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90195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Milestone Engine: Merchant Retention +23%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2148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</a:rPr>
              <a:t>Built gamified milestone system that shaped merchant behaviour over time via data-triggered nudges. Reduced merchant escalations by 85%. ClientPulse uses the same mechanic: data-triggered intervention at the right moment.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2880360"/>
            <a:ext cx="3749040" cy="914400"/>
          </a:xfrm>
          <a:prstGeom prst="rect">
            <a:avLst/>
          </a:prstGeom>
          <a:solidFill>
            <a:srgbClr val="0F2540"/>
          </a:solidFill>
          <a:ln w="381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9535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Lifecycle Retention: -60% Cart Abandonment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3200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</a:rPr>
              <a:t>Built context-aware, real-time triggers for Pincode quick commerce. Same architecture as ClientPulse health score triggers — different domain, identical system design principle.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4360" y="3931920"/>
            <a:ext cx="3749040" cy="914400"/>
          </a:xfrm>
          <a:prstGeom prst="rect">
            <a:avLst/>
          </a:prstGeom>
          <a:solidFill>
            <a:srgbClr val="0F2540"/>
          </a:solidFill>
          <a:ln w="381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0050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B2B Self-Serve: 5,000+ Merchants, -23% CAC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4251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</a:rPr>
              <a:t>Zero-to-one B2B platform launch. Merchants self-serve their own offer configuration with no AM dependency. ClientPulse reduces AM dependency for account health monitoring using the same self-serve philosophy.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4360" y="4983480"/>
            <a:ext cx="3749040" cy="914400"/>
          </a:xfrm>
          <a:prstGeom prst="rect">
            <a:avLst/>
          </a:prstGeom>
          <a:solidFill>
            <a:srgbClr val="0F2540"/>
          </a:solidFill>
          <a:ln w="381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0566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ML Personalization: 26% Engagement Uplift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5303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</a:rPr>
              <a:t>Deployed ML models for audience segmentation and timing optimization. ClientPulse health scoring uses the same weighting logic: dimensional scores are like engagement signals, combined into a single propensity metric.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1325880"/>
            <a:ext cx="402336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417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1A2E"/>
                </a:solidFill>
              </a:rPr>
              <a:t>HOW IT MAPS TO CLIENTPULSE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00600" y="1828800"/>
            <a:ext cx="3749040" cy="914400"/>
          </a:xfrm>
          <a:prstGeom prst="rect">
            <a:avLst/>
          </a:prstGeom>
          <a:solidFill>
            <a:srgbClr val="E8EE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90195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A2E"/>
                </a:solidFill>
              </a:rPr>
              <a:t>Merchant Milestone = AM Intervention Playbook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9472" y="2148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PhonePe milestones triggered specific merchant actions via data signals. ClientPulse playbooks trigger specific AM actions via health score signals. Same architecture — the domain shifts from consumer merchants to enterprise clients.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2880360"/>
            <a:ext cx="3749040" cy="914400"/>
          </a:xfrm>
          <a:prstGeom prst="rect">
            <a:avLst/>
          </a:prstGeom>
          <a:solidFill>
            <a:srgbClr val="E8EE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9535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A2E"/>
                </a:solidFill>
              </a:rPr>
              <a:t>Cart Abandonment Engine = Churn Prevention Engine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19472" y="3200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Both systems identify a user at risk of abandoning (cart / contract) and fire a contextual intervention at the right moment. The intervention design logic is identical.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00600" y="3931920"/>
            <a:ext cx="3749040" cy="914400"/>
          </a:xfrm>
          <a:prstGeom prst="rect">
            <a:avLst/>
          </a:prstGeom>
          <a:solidFill>
            <a:srgbClr val="E8EE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40050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A2E"/>
                </a:solidFill>
              </a:rPr>
              <a:t>B2B Self-Serve = AM Self-Serve Dashboard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9472" y="4251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PhonePe removed the need for AMs to manually configure merchant offers. ClientPulse removes the need for Directors to call AMs for status updates. Same self-serve principle, applied to the AM layer.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4983480"/>
            <a:ext cx="3749040" cy="914400"/>
          </a:xfrm>
          <a:prstGeom prst="rect">
            <a:avLst/>
          </a:prstGeom>
          <a:solidFill>
            <a:srgbClr val="E8EE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50566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A2E"/>
                </a:solidFill>
              </a:rPr>
              <a:t>Audience Segmentation = Health Score Banding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19472" y="5303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Propensity-to-transact model segments users into HIGH/MED/LOW. ClientPulse health score segments clients into GREEN/AMBER/RED. The algorithmic logic and response triggers are structurally identical.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6355080"/>
            <a:ext cx="8229600" cy="685800"/>
          </a:xfrm>
          <a:prstGeom prst="rect">
            <a:avLst/>
          </a:prstGeom>
          <a:solidFill>
            <a:srgbClr val="0A1A2E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640080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"I have already built and shipped every component of ClientPulse — just applied to a different business domain. The playbook design, the scoring architecture, and the AM tooling are all proven patterns from my work."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POC in 20 days · First renewal saved in 30 days · Full rollout in 90 days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4114800"/>
          </a:xfrm>
          <a:prstGeom prst="rect">
            <a:avLst/>
          </a:prstGeom>
          <a:solidFill>
            <a:srgbClr val="0F25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Phase 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POC Launch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148840"/>
            <a:ext cx="128016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488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A2E"/>
                </a:solidFill>
              </a:rPr>
              <a:t>Days 1–30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54203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• 20 accounts, 4 AMs enrolled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313639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• Daily health score computed from existing data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73075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• Playbook fired for Emirates NBD + Waitrose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432511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• Success metric: renewal save rate + AM feedback NPS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64992" y="1371600"/>
            <a:ext cx="2743200" cy="4114800"/>
          </a:xfrm>
          <a:prstGeom prst="rect">
            <a:avLst/>
          </a:prstGeom>
          <a:solidFill>
            <a:srgbClr val="0F2540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64992" y="1371600"/>
            <a:ext cx="27432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Text 14"/>
          <p:cNvSpPr/>
          <p:nvPr/>
        </p:nvSpPr>
        <p:spPr>
          <a:xfrm>
            <a:off x="3502152" y="146304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CD4"/>
                </a:solidFill>
              </a:rPr>
              <a:t>Phase 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02152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Full AM Rollout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502152" y="2148840"/>
            <a:ext cx="1280160" cy="21945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21488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A2E"/>
                </a:solidFill>
              </a:rPr>
              <a:t>Days 31–90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02152" y="254203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• All 24 enterprise accounts on ClientPulse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02152" y="313639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• Director renewal horizon view live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02152" y="373075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• Playbook library expanded (upsell, QBR, expansion)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02152" y="432511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• Integration with Transguard CRM / Salesforce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72784" y="1371600"/>
            <a:ext cx="2743200" cy="4114800"/>
          </a:xfrm>
          <a:prstGeom prst="rect">
            <a:avLst/>
          </a:prstGeom>
          <a:solidFill>
            <a:srgbClr val="0F254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72784" y="1371600"/>
            <a:ext cx="27432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9944" y="146304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A623"/>
                </a:solidFill>
              </a:rPr>
              <a:t>Phase 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9944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Scale &amp; Product Value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409944" y="2148840"/>
            <a:ext cx="1280160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9944" y="21488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A2E"/>
                </a:solidFill>
              </a:rPr>
              <a:t>Days 91–180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09944" y="254203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• Cross-sell CashPulse to ClientPulse renewals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9944" y="313639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• Build client-facing health portal (shared view)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9944" y="373075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• Upsell trigger system goes live (est. +18% conversion)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9944" y="432511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• Target: AED 4.2M+ ACV retained in first 180 days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5669280"/>
            <a:ext cx="8229600" cy="1051560"/>
          </a:xfrm>
          <a:prstGeom prst="rect">
            <a:avLst/>
          </a:prstGeom>
          <a:solidFill>
            <a:srgbClr val="0F25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74243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What I need from Transguard to start: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" y="6016752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Access to Transguard operational data (SCDM uptime, collection SLA, ticket system) · List of 20 accounts for POC · 2 weeks of AM time to define scoring weights · 90-day mandate with leadership visibility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67482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</a:rPr>
              <a:t>Ajay Avaghade · avaghadeajay009@gmail.com · ajay-avaghade.github.io/Portfolio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2026-06-12T06:45:24Z</dcterms:created>
  <dcterms:modified xsi:type="dcterms:W3CDTF">2026-06-12T06:45:24Z</dcterms:modified>
</cp:coreProperties>
</file>