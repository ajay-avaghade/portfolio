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808"/>
        </a:solidFill>
      </p:bgPr>
    </p:bg>
    <p:spTree>
      <p:nvGrpSpPr>
        <p:cNvPr id="1" name=""/>
        <p:cNvGrpSpPr/>
        <p:nvPr/>
      </p:nvGrpSpPr>
      <p:grpSpPr>
        <a:xfrm>
          <a:off x="0" y="0"/>
          <a:ext cx="0" cy="0"/>
          <a:chOff x="0" y="0"/>
          <a:chExt cx="0" cy="0"/>
        </a:xfrm>
      </p:grpSpPr>
      <p:sp>
        <p:nvSpPr>
          <p:cNvPr id="2" name="Shape 0"/>
          <p:cNvSpPr/>
          <p:nvPr/>
        </p:nvSpPr>
        <p:spPr>
          <a:xfrm rot="2100000">
            <a:off x="-457200" y="0"/>
            <a:ext cx="3657600" cy="0"/>
          </a:xfrm>
          <a:prstGeom prst="line">
            <a:avLst/>
          </a:prstGeom>
          <a:noFill/>
          <a:ln w="228600">
            <a:solidFill>
              <a:srgbClr val="1A0F0F"/>
            </a:solidFill>
            <a:prstDash val="solid"/>
          </a:ln>
        </p:spPr>
      </p:sp>
      <p:sp>
        <p:nvSpPr>
          <p:cNvPr id="3" name="Shape 1"/>
          <p:cNvSpPr/>
          <p:nvPr/>
        </p:nvSpPr>
        <p:spPr>
          <a:xfrm rot="2100000">
            <a:off x="182880" y="0"/>
            <a:ext cx="3657600" cy="0"/>
          </a:xfrm>
          <a:prstGeom prst="line">
            <a:avLst/>
          </a:prstGeom>
          <a:noFill/>
          <a:ln w="228600">
            <a:solidFill>
              <a:srgbClr val="1A0F0F"/>
            </a:solidFill>
            <a:prstDash val="solid"/>
          </a:ln>
        </p:spPr>
      </p:sp>
      <p:sp>
        <p:nvSpPr>
          <p:cNvPr id="4" name="Shape 2"/>
          <p:cNvSpPr/>
          <p:nvPr/>
        </p:nvSpPr>
        <p:spPr>
          <a:xfrm rot="2100000">
            <a:off x="822960" y="0"/>
            <a:ext cx="3657600" cy="0"/>
          </a:xfrm>
          <a:prstGeom prst="line">
            <a:avLst/>
          </a:prstGeom>
          <a:noFill/>
          <a:ln w="228600">
            <a:solidFill>
              <a:srgbClr val="1A0F0F"/>
            </a:solidFill>
            <a:prstDash val="solid"/>
          </a:ln>
        </p:spPr>
      </p:sp>
      <p:sp>
        <p:nvSpPr>
          <p:cNvPr id="5" name="Shape 3"/>
          <p:cNvSpPr/>
          <p:nvPr/>
        </p:nvSpPr>
        <p:spPr>
          <a:xfrm rot="2100000">
            <a:off x="1463040" y="0"/>
            <a:ext cx="3657600" cy="0"/>
          </a:xfrm>
          <a:prstGeom prst="line">
            <a:avLst/>
          </a:prstGeom>
          <a:noFill/>
          <a:ln w="228600">
            <a:solidFill>
              <a:srgbClr val="1A0F0F"/>
            </a:solidFill>
            <a:prstDash val="solid"/>
          </a:ln>
        </p:spPr>
      </p:sp>
      <p:sp>
        <p:nvSpPr>
          <p:cNvPr id="6" name="Shape 4"/>
          <p:cNvSpPr/>
          <p:nvPr/>
        </p:nvSpPr>
        <p:spPr>
          <a:xfrm rot="2100000">
            <a:off x="2103120" y="0"/>
            <a:ext cx="3657600" cy="0"/>
          </a:xfrm>
          <a:prstGeom prst="line">
            <a:avLst/>
          </a:prstGeom>
          <a:noFill/>
          <a:ln w="228600">
            <a:solidFill>
              <a:srgbClr val="1A0F0F"/>
            </a:solidFill>
            <a:prstDash val="solid"/>
          </a:ln>
        </p:spPr>
      </p:sp>
      <p:sp>
        <p:nvSpPr>
          <p:cNvPr id="7" name="Shape 5"/>
          <p:cNvSpPr/>
          <p:nvPr/>
        </p:nvSpPr>
        <p:spPr>
          <a:xfrm rot="2100000">
            <a:off x="2743200" y="0"/>
            <a:ext cx="3657600" cy="0"/>
          </a:xfrm>
          <a:prstGeom prst="line">
            <a:avLst/>
          </a:prstGeom>
          <a:noFill/>
          <a:ln w="228600">
            <a:solidFill>
              <a:srgbClr val="1A0F0F"/>
            </a:solidFill>
            <a:prstDash val="solid"/>
          </a:ln>
        </p:spPr>
      </p:sp>
      <p:sp>
        <p:nvSpPr>
          <p:cNvPr id="8" name="Shape 6"/>
          <p:cNvSpPr/>
          <p:nvPr/>
        </p:nvSpPr>
        <p:spPr>
          <a:xfrm rot="2100000">
            <a:off x="3383280" y="0"/>
            <a:ext cx="3657600" cy="0"/>
          </a:xfrm>
          <a:prstGeom prst="line">
            <a:avLst/>
          </a:prstGeom>
          <a:noFill/>
          <a:ln w="228600">
            <a:solidFill>
              <a:srgbClr val="1A0F0F"/>
            </a:solidFill>
            <a:prstDash val="solid"/>
          </a:ln>
        </p:spPr>
      </p:sp>
      <p:sp>
        <p:nvSpPr>
          <p:cNvPr id="9" name="Shape 7"/>
          <p:cNvSpPr/>
          <p:nvPr/>
        </p:nvSpPr>
        <p:spPr>
          <a:xfrm rot="2100000">
            <a:off x="4023360" y="0"/>
            <a:ext cx="3657600" cy="0"/>
          </a:xfrm>
          <a:prstGeom prst="line">
            <a:avLst/>
          </a:prstGeom>
          <a:noFill/>
          <a:ln w="228600">
            <a:solidFill>
              <a:srgbClr val="1A0F0F"/>
            </a:solidFill>
            <a:prstDash val="solid"/>
          </a:ln>
        </p:spPr>
      </p:sp>
      <p:sp>
        <p:nvSpPr>
          <p:cNvPr id="10" name="Shape 8"/>
          <p:cNvSpPr/>
          <p:nvPr/>
        </p:nvSpPr>
        <p:spPr>
          <a:xfrm rot="2100000">
            <a:off x="4663440" y="0"/>
            <a:ext cx="3657600" cy="0"/>
          </a:xfrm>
          <a:prstGeom prst="line">
            <a:avLst/>
          </a:prstGeom>
          <a:noFill/>
          <a:ln w="228600">
            <a:solidFill>
              <a:srgbClr val="1A0F0F"/>
            </a:solidFill>
            <a:prstDash val="solid"/>
          </a:ln>
        </p:spPr>
      </p:sp>
      <p:sp>
        <p:nvSpPr>
          <p:cNvPr id="11" name="Shape 9"/>
          <p:cNvSpPr/>
          <p:nvPr/>
        </p:nvSpPr>
        <p:spPr>
          <a:xfrm rot="2100000">
            <a:off x="5303520" y="0"/>
            <a:ext cx="3657600" cy="0"/>
          </a:xfrm>
          <a:prstGeom prst="line">
            <a:avLst/>
          </a:prstGeom>
          <a:noFill/>
          <a:ln w="228600">
            <a:solidFill>
              <a:srgbClr val="1A0F0F"/>
            </a:solidFill>
            <a:prstDash val="solid"/>
          </a:ln>
        </p:spPr>
      </p:sp>
      <p:sp>
        <p:nvSpPr>
          <p:cNvPr id="12" name="Shape 10"/>
          <p:cNvSpPr/>
          <p:nvPr/>
        </p:nvSpPr>
        <p:spPr>
          <a:xfrm rot="2100000">
            <a:off x="5943600" y="0"/>
            <a:ext cx="3657600" cy="0"/>
          </a:xfrm>
          <a:prstGeom prst="line">
            <a:avLst/>
          </a:prstGeom>
          <a:noFill/>
          <a:ln w="228600">
            <a:solidFill>
              <a:srgbClr val="1A0F0F"/>
            </a:solidFill>
            <a:prstDash val="solid"/>
          </a:ln>
        </p:spPr>
      </p:sp>
      <p:sp>
        <p:nvSpPr>
          <p:cNvPr id="13" name="Shape 11"/>
          <p:cNvSpPr/>
          <p:nvPr/>
        </p:nvSpPr>
        <p:spPr>
          <a:xfrm rot="2100000">
            <a:off x="6583680" y="0"/>
            <a:ext cx="3657600" cy="0"/>
          </a:xfrm>
          <a:prstGeom prst="line">
            <a:avLst/>
          </a:prstGeom>
          <a:noFill/>
          <a:ln w="228600">
            <a:solidFill>
              <a:srgbClr val="1A0F0F"/>
            </a:solidFill>
            <a:prstDash val="solid"/>
          </a:ln>
        </p:spPr>
      </p:sp>
      <p:sp>
        <p:nvSpPr>
          <p:cNvPr id="14" name="Shape 12"/>
          <p:cNvSpPr/>
          <p:nvPr/>
        </p:nvSpPr>
        <p:spPr>
          <a:xfrm rot="2100000">
            <a:off x="7223760" y="0"/>
            <a:ext cx="3657600" cy="0"/>
          </a:xfrm>
          <a:prstGeom prst="line">
            <a:avLst/>
          </a:prstGeom>
          <a:noFill/>
          <a:ln w="228600">
            <a:solidFill>
              <a:srgbClr val="1A0F0F"/>
            </a:solidFill>
            <a:prstDash val="solid"/>
          </a:ln>
        </p:spPr>
      </p:sp>
      <p:sp>
        <p:nvSpPr>
          <p:cNvPr id="15" name="Shape 13"/>
          <p:cNvSpPr/>
          <p:nvPr/>
        </p:nvSpPr>
        <p:spPr>
          <a:xfrm rot="2100000">
            <a:off x="7863840" y="0"/>
            <a:ext cx="3657600" cy="0"/>
          </a:xfrm>
          <a:prstGeom prst="line">
            <a:avLst/>
          </a:prstGeom>
          <a:noFill/>
          <a:ln w="228600">
            <a:solidFill>
              <a:srgbClr val="1A0F0F"/>
            </a:solidFill>
            <a:prstDash val="solid"/>
          </a:ln>
        </p:spPr>
      </p:sp>
      <p:sp>
        <p:nvSpPr>
          <p:cNvPr id="16" name="Shape 14"/>
          <p:cNvSpPr/>
          <p:nvPr/>
        </p:nvSpPr>
        <p:spPr>
          <a:xfrm rot="2100000">
            <a:off x="8503920" y="0"/>
            <a:ext cx="3657600" cy="0"/>
          </a:xfrm>
          <a:prstGeom prst="line">
            <a:avLst/>
          </a:prstGeom>
          <a:noFill/>
          <a:ln w="228600">
            <a:solidFill>
              <a:srgbClr val="1A0F0F"/>
            </a:solidFill>
            <a:prstDash val="solid"/>
          </a:ln>
        </p:spPr>
      </p:sp>
      <p:sp>
        <p:nvSpPr>
          <p:cNvPr id="17" name="Shape 15"/>
          <p:cNvSpPr/>
          <p:nvPr/>
        </p:nvSpPr>
        <p:spPr>
          <a:xfrm rot="2100000">
            <a:off x="9144000" y="0"/>
            <a:ext cx="3657600" cy="0"/>
          </a:xfrm>
          <a:prstGeom prst="line">
            <a:avLst/>
          </a:prstGeom>
          <a:noFill/>
          <a:ln w="228600">
            <a:solidFill>
              <a:srgbClr val="1A0F0F"/>
            </a:solidFill>
            <a:prstDash val="solid"/>
          </a:ln>
        </p:spPr>
      </p:sp>
      <p:sp>
        <p:nvSpPr>
          <p:cNvPr id="18" name="Shape 16"/>
          <p:cNvSpPr/>
          <p:nvPr/>
        </p:nvSpPr>
        <p:spPr>
          <a:xfrm rot="2100000">
            <a:off x="9784080" y="0"/>
            <a:ext cx="3657600" cy="0"/>
          </a:xfrm>
          <a:prstGeom prst="line">
            <a:avLst/>
          </a:prstGeom>
          <a:noFill/>
          <a:ln w="228600">
            <a:solidFill>
              <a:srgbClr val="1A0F0F"/>
            </a:solidFill>
            <a:prstDash val="solid"/>
          </a:ln>
        </p:spPr>
      </p:sp>
      <p:sp>
        <p:nvSpPr>
          <p:cNvPr id="19" name="Shape 17"/>
          <p:cNvSpPr/>
          <p:nvPr/>
        </p:nvSpPr>
        <p:spPr>
          <a:xfrm rot="2100000">
            <a:off x="10424160" y="0"/>
            <a:ext cx="3657600" cy="0"/>
          </a:xfrm>
          <a:prstGeom prst="line">
            <a:avLst/>
          </a:prstGeom>
          <a:noFill/>
          <a:ln w="228600">
            <a:solidFill>
              <a:srgbClr val="1A0F0F"/>
            </a:solidFill>
            <a:prstDash val="solid"/>
          </a:ln>
        </p:spPr>
      </p:sp>
      <p:sp>
        <p:nvSpPr>
          <p:cNvPr id="20" name="Shape 18"/>
          <p:cNvSpPr/>
          <p:nvPr/>
        </p:nvSpPr>
        <p:spPr>
          <a:xfrm>
            <a:off x="0" y="0"/>
            <a:ext cx="54864" cy="6858000"/>
          </a:xfrm>
          <a:prstGeom prst="rect">
            <a:avLst/>
          </a:prstGeom>
          <a:solidFill>
            <a:srgbClr val="E2001A"/>
          </a:solidFill>
          <a:ln/>
        </p:spPr>
      </p:sp>
      <p:sp>
        <p:nvSpPr>
          <p:cNvPr id="21" name="Text 19"/>
          <p:cNvSpPr/>
          <p:nvPr/>
        </p:nvSpPr>
        <p:spPr>
          <a:xfrm>
            <a:off x="320040" y="256032"/>
            <a:ext cx="5486400" cy="201168"/>
          </a:xfrm>
          <a:prstGeom prst="rect">
            <a:avLst/>
          </a:prstGeom>
          <a:noFill/>
          <a:ln/>
        </p:spPr>
        <p:txBody>
          <a:bodyPr wrap="square" rtlCol="0" anchor="ctr"/>
          <a:lstStyle/>
          <a:p>
            <a:pPr indent="0" marL="0">
              <a:buNone/>
            </a:pPr>
            <a:r>
              <a:rPr lang="en-US" sz="800" b="1" spc="150" kern="0" dirty="0">
                <a:solidFill>
                  <a:srgbClr val="8B7070"/>
                </a:solidFill>
                <a:latin typeface="Calibri" pitchFamily="34" charset="0"/>
                <a:ea typeface="Calibri" pitchFamily="34" charset="-122"/>
                <a:cs typeface="Calibri" pitchFamily="34" charset="-120"/>
              </a:rPr>
              <a:t>DELIVERY HERO · FOODTECH PRODUCT · Case Study 01</a:t>
            </a:r>
            <a:endParaRPr lang="en-US" sz="800" dirty="0"/>
          </a:p>
        </p:txBody>
      </p:sp>
      <p:sp>
        <p:nvSpPr>
          <p:cNvPr id="22" name="Text 20"/>
          <p:cNvSpPr/>
          <p:nvPr/>
        </p:nvSpPr>
        <p:spPr>
          <a:xfrm>
            <a:off x="320040" y="1005840"/>
            <a:ext cx="6400800" cy="128016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FoodGenie</a:t>
            </a:r>
            <a:endParaRPr lang="en-US" sz="7200" dirty="0"/>
          </a:p>
        </p:txBody>
      </p:sp>
      <p:sp>
        <p:nvSpPr>
          <p:cNvPr id="23" name="Shape 21"/>
          <p:cNvSpPr/>
          <p:nvPr/>
        </p:nvSpPr>
        <p:spPr>
          <a:xfrm>
            <a:off x="320040" y="2148840"/>
            <a:ext cx="2926080" cy="54864"/>
          </a:xfrm>
          <a:prstGeom prst="rect">
            <a:avLst/>
          </a:prstGeom>
          <a:solidFill>
            <a:srgbClr val="E2001A"/>
          </a:solidFill>
          <a:ln/>
        </p:spPr>
      </p:sp>
      <p:sp>
        <p:nvSpPr>
          <p:cNvPr id="24" name="Text 22"/>
          <p:cNvSpPr/>
          <p:nvPr/>
        </p:nvSpPr>
        <p:spPr>
          <a:xfrm>
            <a:off x="320040" y="2331720"/>
            <a:ext cx="6858000" cy="411480"/>
          </a:xfrm>
          <a:prstGeom prst="rect">
            <a:avLst/>
          </a:prstGeom>
          <a:noFill/>
          <a:ln/>
        </p:spPr>
        <p:txBody>
          <a:bodyPr wrap="square" rtlCol="0" anchor="ctr"/>
          <a:lstStyle/>
          <a:p>
            <a:pPr indent="0" marL="0">
              <a:buNone/>
            </a:pPr>
            <a:r>
              <a:rPr lang="en-US" sz="1800" dirty="0">
                <a:solidFill>
                  <a:srgbClr val="FFB800"/>
                </a:solidFill>
                <a:latin typeface="Calibri" pitchFamily="34" charset="0"/>
                <a:ea typeface="Calibri" pitchFamily="34" charset="-122"/>
                <a:cs typeface="Calibri" pitchFamily="34" charset="-120"/>
              </a:rPr>
              <a:t>AI Agent That Knows What You Want Before You Search</a:t>
            </a:r>
            <a:endParaRPr lang="en-US" sz="1800" dirty="0"/>
          </a:p>
        </p:txBody>
      </p:sp>
      <p:sp>
        <p:nvSpPr>
          <p:cNvPr id="25" name="Text 23"/>
          <p:cNvSpPr/>
          <p:nvPr/>
        </p:nvSpPr>
        <p:spPr>
          <a:xfrm>
            <a:off x="320040" y="2926080"/>
            <a:ext cx="4572000" cy="274320"/>
          </a:xfrm>
          <a:prstGeom prst="rect">
            <a:avLst/>
          </a:prstGeom>
          <a:noFill/>
          <a:ln/>
        </p:spPr>
        <p:txBody>
          <a:bodyPr wrap="square" rtlCol="0" anchor="ctr"/>
          <a:lstStyle/>
          <a:p>
            <a:pPr indent="0" marL="0">
              <a:buNone/>
            </a:pPr>
            <a:r>
              <a:rPr lang="en-US" sz="1100" dirty="0">
                <a:solidFill>
                  <a:srgbClr val="8B7070"/>
                </a:solidFill>
                <a:latin typeface="Calibri" pitchFamily="34" charset="0"/>
                <a:ea typeface="Calibri" pitchFamily="34" charset="-122"/>
                <a:cs typeface="Calibri" pitchFamily="34" charset="-120"/>
              </a:rPr>
              <a:t>Ajay Avaghade · Product Manager</a:t>
            </a:r>
            <a:endParaRPr lang="en-US" sz="1100" dirty="0"/>
          </a:p>
        </p:txBody>
      </p:sp>
      <p:sp>
        <p:nvSpPr>
          <p:cNvPr id="26" name="Shape 24"/>
          <p:cNvSpPr/>
          <p:nvPr/>
        </p:nvSpPr>
        <p:spPr>
          <a:xfrm>
            <a:off x="6217920" y="5303520"/>
            <a:ext cx="2743200" cy="1325880"/>
          </a:xfrm>
          <a:prstGeom prst="rect">
            <a:avLst/>
          </a:prstGeom>
          <a:solidFill>
            <a:srgbClr val="1A0F0F"/>
          </a:solidFill>
          <a:ln w="19050">
            <a:solidFill>
              <a:srgbClr val="E2001A"/>
            </a:solidFill>
            <a:prstDash val="solid"/>
          </a:ln>
          <a:effectLst>
            <a:outerShdw sx="100000" sy="100000" kx="0" ky="0" algn="bl" rotWithShape="0" blurRad="50800" dist="25400" dir="2700000">
              <a:srgbClr val="000000">
                <a:alpha val="15000"/>
              </a:srgbClr>
            </a:outerShdw>
          </a:effectLst>
        </p:spPr>
      </p:sp>
      <p:sp>
        <p:nvSpPr>
          <p:cNvPr id="27" name="Text 25"/>
          <p:cNvSpPr/>
          <p:nvPr/>
        </p:nvSpPr>
        <p:spPr>
          <a:xfrm>
            <a:off x="6217920" y="5349240"/>
            <a:ext cx="2743200" cy="502920"/>
          </a:xfrm>
          <a:prstGeom prst="rect">
            <a:avLst/>
          </a:prstGeom>
          <a:noFill/>
          <a:ln/>
        </p:spPr>
        <p:txBody>
          <a:bodyPr wrap="square" rtlCol="0" anchor="ctr"/>
          <a:lstStyle/>
          <a:p>
            <a:pPr algn="ctr" indent="0" marL="0">
              <a:buNone/>
            </a:pPr>
            <a:r>
              <a:rPr lang="en-US" sz="3800" b="1" dirty="0">
                <a:solidFill>
                  <a:srgbClr val="FFB800"/>
                </a:solidFill>
                <a:latin typeface="Calibri" pitchFamily="34" charset="0"/>
                <a:ea typeface="Calibri" pitchFamily="34" charset="-122"/>
                <a:cs typeface="Calibri" pitchFamily="34" charset="-120"/>
              </a:rPr>
              <a:t>+22%</a:t>
            </a:r>
            <a:endParaRPr lang="en-US" sz="3800" dirty="0"/>
          </a:p>
        </p:txBody>
      </p:sp>
      <p:sp>
        <p:nvSpPr>
          <p:cNvPr id="28" name="Text 26"/>
          <p:cNvSpPr/>
          <p:nvPr/>
        </p:nvSpPr>
        <p:spPr>
          <a:xfrm>
            <a:off x="6217920" y="5833872"/>
            <a:ext cx="2743200" cy="2286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repeat order rate</a:t>
            </a:r>
            <a:endParaRPr lang="en-US" sz="1100" dirty="0"/>
          </a:p>
        </p:txBody>
      </p:sp>
      <p:sp>
        <p:nvSpPr>
          <p:cNvPr id="29" name="Text 27"/>
          <p:cNvSpPr/>
          <p:nvPr/>
        </p:nvSpPr>
        <p:spPr>
          <a:xfrm>
            <a:off x="6217920" y="6062472"/>
            <a:ext cx="2743200" cy="182880"/>
          </a:xfrm>
          <a:prstGeom prst="rect">
            <a:avLst/>
          </a:prstGeom>
          <a:noFill/>
          <a:ln/>
        </p:spPr>
        <p:txBody>
          <a:bodyPr wrap="square" rtlCol="0" anchor="ctr"/>
          <a:lstStyle/>
          <a:p>
            <a:pPr algn="ctr" indent="0" marL="0">
              <a:buNone/>
            </a:pPr>
            <a:r>
              <a:rPr lang="en-US" sz="800" dirty="0">
                <a:solidFill>
                  <a:srgbClr val="8B7070"/>
                </a:solidFill>
                <a:latin typeface="Calibri" pitchFamily="34" charset="0"/>
                <a:ea typeface="Calibri" pitchFamily="34" charset="-122"/>
                <a:cs typeface="Calibri" pitchFamily="34" charset="-120"/>
              </a:rPr>
              <a:t>Pilot projection · PhonePe proof-backed</a:t>
            </a:r>
            <a:endParaRPr lang="en-US" sz="800" dirty="0"/>
          </a:p>
        </p:txBody>
      </p:sp>
      <p:sp>
        <p:nvSpPr>
          <p:cNvPr id="30" name="Shape 28"/>
          <p:cNvSpPr/>
          <p:nvPr/>
        </p:nvSpPr>
        <p:spPr>
          <a:xfrm>
            <a:off x="274320" y="5943600"/>
            <a:ext cx="548640" cy="548640"/>
          </a:xfrm>
          <a:prstGeom prst="ellipse">
            <a:avLst/>
          </a:prstGeom>
          <a:solidFill>
            <a:srgbClr val="E2001A"/>
          </a:solidFill>
          <a:ln/>
        </p:spPr>
      </p:sp>
      <p:sp>
        <p:nvSpPr>
          <p:cNvPr id="31" name="Shape 29"/>
          <p:cNvSpPr/>
          <p:nvPr/>
        </p:nvSpPr>
        <p:spPr>
          <a:xfrm>
            <a:off x="640080" y="6126480"/>
            <a:ext cx="320040" cy="320040"/>
          </a:xfrm>
          <a:prstGeom prst="ellipse">
            <a:avLst/>
          </a:prstGeom>
          <a:solidFill>
            <a:srgbClr val="FFB8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80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2001A"/>
          </a:solidFill>
          <a:ln/>
        </p:spPr>
      </p:sp>
      <p:sp>
        <p:nvSpPr>
          <p:cNvPr id="3" name="Text 1"/>
          <p:cNvSpPr/>
          <p:nvPr/>
        </p:nvSpPr>
        <p:spPr>
          <a:xfrm>
            <a:off x="320040" y="256032"/>
            <a:ext cx="3657600" cy="201168"/>
          </a:xfrm>
          <a:prstGeom prst="rect">
            <a:avLst/>
          </a:prstGeom>
          <a:noFill/>
          <a:ln/>
        </p:spPr>
        <p:txBody>
          <a:bodyPr wrap="square" rtlCol="0" anchor="ctr"/>
          <a:lstStyle/>
          <a:p>
            <a:pPr indent="0" marL="0">
              <a:buNone/>
            </a:pPr>
            <a:r>
              <a:rPr lang="en-US" sz="900" b="1" spc="200" kern="0" dirty="0">
                <a:solidFill>
                  <a:srgbClr val="E2001A"/>
                </a:solidFill>
                <a:latin typeface="Calibri" pitchFamily="34" charset="0"/>
                <a:ea typeface="Calibri" pitchFamily="34" charset="-122"/>
                <a:cs typeface="Calibri" pitchFamily="34" charset="-120"/>
              </a:rPr>
              <a:t>THE PROBLEM</a:t>
            </a:r>
            <a:endParaRPr lang="en-US" sz="900" dirty="0"/>
          </a:p>
        </p:txBody>
      </p:sp>
      <p:sp>
        <p:nvSpPr>
          <p:cNvPr id="4" name="Text 2"/>
          <p:cNvSpPr/>
          <p:nvPr/>
        </p:nvSpPr>
        <p:spPr>
          <a:xfrm>
            <a:off x="320040" y="566928"/>
            <a:ext cx="8503920" cy="10058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65% of Sessions End Without an Order.</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Generic Recs, No Taste Memory, Zero Agent Intelligence.</a:t>
            </a:r>
            <a:endParaRPr lang="en-US" sz="2600" dirty="0"/>
          </a:p>
        </p:txBody>
      </p:sp>
      <p:sp>
        <p:nvSpPr>
          <p:cNvPr id="5" name="Shape 3"/>
          <p:cNvSpPr/>
          <p:nvPr/>
        </p:nvSpPr>
        <p:spPr>
          <a:xfrm>
            <a:off x="320040" y="1828800"/>
            <a:ext cx="2743200" cy="2560320"/>
          </a:xfrm>
          <a:prstGeom prst="rect">
            <a:avLst/>
          </a:prstGeom>
          <a:solidFill>
            <a:srgbClr val="1A0F0F"/>
          </a:solidFill>
          <a:ln w="12700">
            <a:solidFill>
              <a:srgbClr val="E2001A"/>
            </a:solidFill>
            <a:prstDash val="solid"/>
          </a:ln>
          <a:effectLst>
            <a:outerShdw sx="100000" sy="100000" kx="0" ky="0" algn="bl" rotWithShape="0" blurRad="50800" dist="25400" dir="2700000">
              <a:srgbClr val="000000">
                <a:alpha val="15000"/>
              </a:srgbClr>
            </a:outerShdw>
          </a:effectLst>
        </p:spPr>
      </p:sp>
      <p:sp>
        <p:nvSpPr>
          <p:cNvPr id="6" name="Text 4"/>
          <p:cNvSpPr/>
          <p:nvPr/>
        </p:nvSpPr>
        <p:spPr>
          <a:xfrm>
            <a:off x="45720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7" name="Text 5"/>
          <p:cNvSpPr/>
          <p:nvPr/>
        </p:nvSpPr>
        <p:spPr>
          <a:xfrm>
            <a:off x="457200" y="2377440"/>
            <a:ext cx="2468880" cy="640080"/>
          </a:xfrm>
          <a:prstGeom prst="rect">
            <a:avLst/>
          </a:prstGeom>
          <a:noFill/>
          <a:ln/>
        </p:spPr>
        <p:txBody>
          <a:bodyPr wrap="square" rtlCol="0" anchor="ctr"/>
          <a:lstStyle/>
          <a:p>
            <a:pPr indent="0" marL="0">
              <a:buNone/>
            </a:pPr>
            <a:r>
              <a:rPr lang="en-US" sz="4400" b="1" dirty="0">
                <a:solidFill>
                  <a:srgbClr val="FFB800"/>
                </a:solidFill>
                <a:latin typeface="Calibri" pitchFamily="34" charset="0"/>
                <a:ea typeface="Calibri" pitchFamily="34" charset="-122"/>
                <a:cs typeface="Calibri" pitchFamily="34" charset="-120"/>
              </a:rPr>
              <a:t>65%</a:t>
            </a:r>
            <a:endParaRPr lang="en-US" sz="4400" dirty="0"/>
          </a:p>
        </p:txBody>
      </p:sp>
      <p:sp>
        <p:nvSpPr>
          <p:cNvPr id="8" name="Text 6"/>
          <p:cNvSpPr/>
          <p:nvPr/>
        </p:nvSpPr>
        <p:spPr>
          <a:xfrm>
            <a:off x="457200" y="3017520"/>
            <a:ext cx="246888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Sessions end without ordering</a:t>
            </a:r>
            <a:endParaRPr lang="en-US" sz="1200" dirty="0"/>
          </a:p>
        </p:txBody>
      </p:sp>
      <p:sp>
        <p:nvSpPr>
          <p:cNvPr id="9" name="Text 7"/>
          <p:cNvSpPr/>
          <p:nvPr/>
        </p:nvSpPr>
        <p:spPr>
          <a:xfrm>
            <a:off x="457200" y="3401568"/>
            <a:ext cx="2468880" cy="640080"/>
          </a:xfrm>
          <a:prstGeom prst="rect">
            <a:avLst/>
          </a:prstGeom>
          <a:noFill/>
          <a:ln/>
        </p:spPr>
        <p:txBody>
          <a:bodyPr wrap="square" rtlCol="0" anchor="ctr"/>
          <a:lstStyle/>
          <a:p>
            <a:pPr indent="0" marL="0">
              <a:buNone/>
            </a:pPr>
            <a:r>
              <a:rPr lang="en-US" sz="1000" dirty="0">
                <a:solidFill>
                  <a:srgbClr val="8B7070"/>
                </a:solidFill>
                <a:latin typeface="Calibri" pitchFamily="34" charset="0"/>
                <a:ea typeface="Calibri" pitchFamily="34" charset="-122"/>
                <a:cs typeface="Calibri" pitchFamily="34" charset="-120"/>
              </a:rPr>
              <a:t>Browse → scroll → exit. No resolution.</a:t>
            </a:r>
            <a:endParaRPr lang="en-US" sz="1000" dirty="0"/>
          </a:p>
        </p:txBody>
      </p:sp>
      <p:sp>
        <p:nvSpPr>
          <p:cNvPr id="10" name="Shape 8"/>
          <p:cNvSpPr/>
          <p:nvPr/>
        </p:nvSpPr>
        <p:spPr>
          <a:xfrm>
            <a:off x="3246120" y="1828800"/>
            <a:ext cx="2743200" cy="2560320"/>
          </a:xfrm>
          <a:prstGeom prst="rect">
            <a:avLst/>
          </a:prstGeom>
          <a:solidFill>
            <a:srgbClr val="1A0F0F"/>
          </a:solidFill>
          <a:ln w="12700">
            <a:solidFill>
              <a:srgbClr val="E2001A"/>
            </a:solidFill>
            <a:prstDash val="solid"/>
          </a:ln>
          <a:effectLst>
            <a:outerShdw sx="100000" sy="100000" kx="0" ky="0" algn="bl" rotWithShape="0" blurRad="50800" dist="25400" dir="2700000">
              <a:srgbClr val="000000">
                <a:alpha val="15000"/>
              </a:srgbClr>
            </a:outerShdw>
          </a:effectLst>
        </p:spPr>
      </p:sp>
      <p:sp>
        <p:nvSpPr>
          <p:cNvPr id="11" name="Text 9"/>
          <p:cNvSpPr/>
          <p:nvPr/>
        </p:nvSpPr>
        <p:spPr>
          <a:xfrm>
            <a:off x="338328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2" name="Text 10"/>
          <p:cNvSpPr/>
          <p:nvPr/>
        </p:nvSpPr>
        <p:spPr>
          <a:xfrm>
            <a:off x="3383280" y="2377440"/>
            <a:ext cx="2468880" cy="640080"/>
          </a:xfrm>
          <a:prstGeom prst="rect">
            <a:avLst/>
          </a:prstGeom>
          <a:noFill/>
          <a:ln/>
        </p:spPr>
        <p:txBody>
          <a:bodyPr wrap="square" rtlCol="0" anchor="ctr"/>
          <a:lstStyle/>
          <a:p>
            <a:pPr indent="0" marL="0">
              <a:buNone/>
            </a:pPr>
            <a:r>
              <a:rPr lang="en-US" sz="4400" b="1" dirty="0">
                <a:solidFill>
                  <a:srgbClr val="FFB800"/>
                </a:solidFill>
                <a:latin typeface="Calibri" pitchFamily="34" charset="0"/>
                <a:ea typeface="Calibri" pitchFamily="34" charset="-122"/>
                <a:cs typeface="Calibri" pitchFamily="34" charset="-120"/>
              </a:rPr>
              <a:t>0</a:t>
            </a:r>
            <a:endParaRPr lang="en-US" sz="4400" dirty="0"/>
          </a:p>
        </p:txBody>
      </p:sp>
      <p:sp>
        <p:nvSpPr>
          <p:cNvPr id="13" name="Text 11"/>
          <p:cNvSpPr/>
          <p:nvPr/>
        </p:nvSpPr>
        <p:spPr>
          <a:xfrm>
            <a:off x="3383280" y="3017520"/>
            <a:ext cx="246888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Taste memory across sessions</a:t>
            </a:r>
            <a:endParaRPr lang="en-US" sz="1200" dirty="0"/>
          </a:p>
        </p:txBody>
      </p:sp>
      <p:sp>
        <p:nvSpPr>
          <p:cNvPr id="14" name="Text 12"/>
          <p:cNvSpPr/>
          <p:nvPr/>
        </p:nvSpPr>
        <p:spPr>
          <a:xfrm>
            <a:off x="3383280" y="3401568"/>
            <a:ext cx="2468880" cy="640080"/>
          </a:xfrm>
          <a:prstGeom prst="rect">
            <a:avLst/>
          </a:prstGeom>
          <a:noFill/>
          <a:ln/>
        </p:spPr>
        <p:txBody>
          <a:bodyPr wrap="square" rtlCol="0" anchor="ctr"/>
          <a:lstStyle/>
          <a:p>
            <a:pPr indent="0" marL="0">
              <a:buNone/>
            </a:pPr>
            <a:r>
              <a:rPr lang="en-US" sz="1000" dirty="0">
                <a:solidFill>
                  <a:srgbClr val="8B7070"/>
                </a:solidFill>
                <a:latin typeface="Calibri" pitchFamily="34" charset="0"/>
                <a:ea typeface="Calibri" pitchFamily="34" charset="-122"/>
                <a:cs typeface="Calibri" pitchFamily="34" charset="-120"/>
              </a:rPr>
              <a:t>Same generic "Top Picks" shown every time, regardless of history.</a:t>
            </a:r>
            <a:endParaRPr lang="en-US" sz="1000" dirty="0"/>
          </a:p>
        </p:txBody>
      </p:sp>
      <p:sp>
        <p:nvSpPr>
          <p:cNvPr id="15" name="Shape 13"/>
          <p:cNvSpPr/>
          <p:nvPr/>
        </p:nvSpPr>
        <p:spPr>
          <a:xfrm>
            <a:off x="6172200" y="1828800"/>
            <a:ext cx="2743200" cy="2560320"/>
          </a:xfrm>
          <a:prstGeom prst="rect">
            <a:avLst/>
          </a:prstGeom>
          <a:solidFill>
            <a:srgbClr val="1A0F0F"/>
          </a:solidFill>
          <a:ln w="12700">
            <a:solidFill>
              <a:srgbClr val="E2001A"/>
            </a:solidFill>
            <a:prstDash val="solid"/>
          </a:ln>
          <a:effectLst>
            <a:outerShdw sx="100000" sy="100000" kx="0" ky="0" algn="bl" rotWithShape="0" blurRad="50800" dist="25400" dir="2700000">
              <a:srgbClr val="000000">
                <a:alpha val="15000"/>
              </a:srgbClr>
            </a:outerShdw>
          </a:effectLst>
        </p:spPr>
      </p:sp>
      <p:sp>
        <p:nvSpPr>
          <p:cNvPr id="16" name="Text 14"/>
          <p:cNvSpPr/>
          <p:nvPr/>
        </p:nvSpPr>
        <p:spPr>
          <a:xfrm>
            <a:off x="630936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7" name="Text 15"/>
          <p:cNvSpPr/>
          <p:nvPr/>
        </p:nvSpPr>
        <p:spPr>
          <a:xfrm>
            <a:off x="6309360" y="2377440"/>
            <a:ext cx="2468880" cy="640080"/>
          </a:xfrm>
          <a:prstGeom prst="rect">
            <a:avLst/>
          </a:prstGeom>
          <a:noFill/>
          <a:ln/>
        </p:spPr>
        <p:txBody>
          <a:bodyPr wrap="square" rtlCol="0" anchor="ctr"/>
          <a:lstStyle/>
          <a:p>
            <a:pPr indent="0" marL="0">
              <a:buNone/>
            </a:pPr>
            <a:r>
              <a:rPr lang="en-US" sz="4400" b="1" dirty="0">
                <a:solidFill>
                  <a:srgbClr val="FFB800"/>
                </a:solidFill>
                <a:latin typeface="Calibri" pitchFamily="34" charset="0"/>
                <a:ea typeface="Calibri" pitchFamily="34" charset="-122"/>
                <a:cs typeface="Calibri" pitchFamily="34" charset="-120"/>
              </a:rPr>
              <a:t>−18%</a:t>
            </a:r>
            <a:endParaRPr lang="en-US" sz="4400" dirty="0"/>
          </a:p>
        </p:txBody>
      </p:sp>
      <p:sp>
        <p:nvSpPr>
          <p:cNvPr id="18" name="Text 16"/>
          <p:cNvSpPr/>
          <p:nvPr/>
        </p:nvSpPr>
        <p:spPr>
          <a:xfrm>
            <a:off x="6309360" y="3017520"/>
            <a:ext cx="246888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Repeat order rate vs potential</a:t>
            </a:r>
            <a:endParaRPr lang="en-US" sz="1200" dirty="0"/>
          </a:p>
        </p:txBody>
      </p:sp>
      <p:sp>
        <p:nvSpPr>
          <p:cNvPr id="19" name="Text 17"/>
          <p:cNvSpPr/>
          <p:nvPr/>
        </p:nvSpPr>
        <p:spPr>
          <a:xfrm>
            <a:off x="6309360" y="3401568"/>
            <a:ext cx="2468880" cy="640080"/>
          </a:xfrm>
          <a:prstGeom prst="rect">
            <a:avLst/>
          </a:prstGeom>
          <a:noFill/>
          <a:ln/>
        </p:spPr>
        <p:txBody>
          <a:bodyPr wrap="square" rtlCol="0" anchor="ctr"/>
          <a:lstStyle/>
          <a:p>
            <a:pPr indent="0" marL="0">
              <a:buNone/>
            </a:pPr>
            <a:r>
              <a:rPr lang="en-US" sz="1000" dirty="0">
                <a:solidFill>
                  <a:srgbClr val="8B7070"/>
                </a:solidFill>
                <a:latin typeface="Calibri" pitchFamily="34" charset="0"/>
                <a:ea typeface="Calibri" pitchFamily="34" charset="-122"/>
                <a:cs typeface="Calibri" pitchFamily="34" charset="-120"/>
              </a:rPr>
              <a:t>Users who get relevant recs reorder 3× more — MAF missing this lever.</a:t>
            </a:r>
            <a:endParaRPr lang="en-US" sz="1000" dirty="0"/>
          </a:p>
        </p:txBody>
      </p:sp>
      <p:sp>
        <p:nvSpPr>
          <p:cNvPr id="20" name="Shape 18"/>
          <p:cNvSpPr/>
          <p:nvPr/>
        </p:nvSpPr>
        <p:spPr>
          <a:xfrm>
            <a:off x="320040" y="4617720"/>
            <a:ext cx="8503920" cy="1051560"/>
          </a:xfrm>
          <a:prstGeom prst="rect">
            <a:avLst/>
          </a:prstGeom>
          <a:solidFill>
            <a:srgbClr val="1F0A0A"/>
          </a:solidFill>
          <a:ln w="12700">
            <a:solidFill>
              <a:srgbClr val="E2001A"/>
            </a:solidFill>
            <a:prstDash val="solid"/>
          </a:ln>
        </p:spPr>
      </p:sp>
      <p:sp>
        <p:nvSpPr>
          <p:cNvPr id="21" name="Shape 19"/>
          <p:cNvSpPr/>
          <p:nvPr/>
        </p:nvSpPr>
        <p:spPr>
          <a:xfrm>
            <a:off x="320040" y="4617720"/>
            <a:ext cx="45720" cy="1051560"/>
          </a:xfrm>
          <a:prstGeom prst="rect">
            <a:avLst/>
          </a:prstGeom>
          <a:solidFill>
            <a:srgbClr val="E2001A"/>
          </a:solidFill>
          <a:ln/>
        </p:spPr>
      </p:sp>
      <p:sp>
        <p:nvSpPr>
          <p:cNvPr id="22" name="Text 20"/>
          <p:cNvSpPr/>
          <p:nvPr/>
        </p:nvSpPr>
        <p:spPr>
          <a:xfrm>
            <a:off x="502920" y="4681728"/>
            <a:ext cx="8229600" cy="9144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Root cause: DH has rich order history per user but uses none of it for proactive surfacing. The discovery surface is pull-based (search) — forcing the user to know what they want. FoodGenie flips to push-based: the agent surfaces the right restaurant before the user types.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2001A"/>
          </a:solidFill>
          <a:ln/>
        </p:spPr>
      </p:sp>
      <p:sp>
        <p:nvSpPr>
          <p:cNvPr id="3" name="Text 1"/>
          <p:cNvSpPr/>
          <p:nvPr/>
        </p:nvSpPr>
        <p:spPr>
          <a:xfrm>
            <a:off x="320040" y="256032"/>
            <a:ext cx="3657600" cy="201168"/>
          </a:xfrm>
          <a:prstGeom prst="rect">
            <a:avLst/>
          </a:prstGeom>
          <a:noFill/>
          <a:ln/>
        </p:spPr>
        <p:txBody>
          <a:bodyPr wrap="square" rtlCol="0" anchor="ctr"/>
          <a:lstStyle/>
          <a:p>
            <a:pPr indent="0" marL="0">
              <a:buNone/>
            </a:pPr>
            <a:r>
              <a:rPr lang="en-US" sz="900" b="1" spc="200" kern="0" dirty="0">
                <a:solidFill>
                  <a:srgbClr val="E2001A"/>
                </a:solidFill>
                <a:latin typeface="Calibri" pitchFamily="34" charset="0"/>
                <a:ea typeface="Calibri" pitchFamily="34" charset="-122"/>
                <a:cs typeface="Calibri" pitchFamily="34" charset="-120"/>
              </a:rPr>
              <a:t>THE INSIGHT</a:t>
            </a:r>
            <a:endParaRPr lang="en-US" sz="900" dirty="0"/>
          </a:p>
        </p:txBody>
      </p:sp>
      <p:sp>
        <p:nvSpPr>
          <p:cNvPr id="4" name="Text 2"/>
          <p:cNvSpPr/>
          <p:nvPr/>
        </p:nvSpPr>
        <p:spPr>
          <a:xfrm>
            <a:off x="320040" y="566928"/>
            <a:ext cx="8503920" cy="914400"/>
          </a:xfrm>
          <a:prstGeom prst="rect">
            <a:avLst/>
          </a:prstGeom>
          <a:noFill/>
          <a:ln/>
        </p:spPr>
        <p:txBody>
          <a:bodyPr wrap="square" rtlCol="0" anchor="ctr"/>
          <a:lstStyle/>
          <a:p>
            <a:pPr indent="0" marL="0">
              <a:buNone/>
            </a:pPr>
            <a:r>
              <a:rPr lang="en-US" sz="2800" b="1" dirty="0">
                <a:solidFill>
                  <a:srgbClr val="0D0808"/>
                </a:solidFill>
                <a:latin typeface="Calibri" pitchFamily="34" charset="0"/>
                <a:ea typeface="Calibri" pitchFamily="34" charset="-122"/>
                <a:cs typeface="Calibri" pitchFamily="34" charset="-120"/>
              </a:rPr>
              <a:t>Users Don't Want to Search. They Want an Agent That</a:t>
            </a:r>
            <a:endParaRPr lang="en-US" sz="2800" dirty="0"/>
          </a:p>
          <a:p>
            <a:pPr indent="0" marL="0">
              <a:buNone/>
            </a:pPr>
            <a:r>
              <a:rPr lang="en-US" sz="2800" b="1" dirty="0">
                <a:solidFill>
                  <a:srgbClr val="0D0808"/>
                </a:solidFill>
                <a:latin typeface="Calibri" pitchFamily="34" charset="0"/>
                <a:ea typeface="Calibri" pitchFamily="34" charset="-122"/>
                <a:cs typeface="Calibri" pitchFamily="34" charset="-120"/>
              </a:rPr>
              <a:t>Already Knows Them.</a:t>
            </a:r>
            <a:endParaRPr lang="en-US" sz="2800" dirty="0"/>
          </a:p>
        </p:txBody>
      </p:sp>
      <p:sp>
        <p:nvSpPr>
          <p:cNvPr id="5" name="Shape 3"/>
          <p:cNvSpPr/>
          <p:nvPr/>
        </p:nvSpPr>
        <p:spPr>
          <a:xfrm>
            <a:off x="4297680" y="1874520"/>
            <a:ext cx="548640" cy="548640"/>
          </a:xfrm>
          <a:prstGeom prst="ellipse">
            <a:avLst/>
          </a:prstGeom>
          <a:solidFill>
            <a:srgbClr val="E2001A"/>
          </a:solidFill>
          <a:ln/>
        </p:spPr>
      </p:sp>
      <p:sp>
        <p:nvSpPr>
          <p:cNvPr id="6" name="Text 4"/>
          <p:cNvSpPr/>
          <p:nvPr/>
        </p:nvSpPr>
        <p:spPr>
          <a:xfrm>
            <a:off x="4297680" y="1920240"/>
            <a:ext cx="5486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VS</a:t>
            </a:r>
            <a:endParaRPr lang="en-US" sz="1100" dirty="0"/>
          </a:p>
        </p:txBody>
      </p:sp>
      <p:sp>
        <p:nvSpPr>
          <p:cNvPr id="7" name="Shape 5"/>
          <p:cNvSpPr/>
          <p:nvPr/>
        </p:nvSpPr>
        <p:spPr>
          <a:xfrm>
            <a:off x="320040" y="1691640"/>
            <a:ext cx="3840480" cy="3108960"/>
          </a:xfrm>
          <a:prstGeom prst="rect">
            <a:avLst/>
          </a:prstGeom>
          <a:solidFill>
            <a:srgbClr val="FDE8E8"/>
          </a:solidFill>
          <a:ln w="12700">
            <a:solidFill>
              <a:srgbClr val="F59090"/>
            </a:solidFill>
            <a:prstDash val="solid"/>
          </a:ln>
        </p:spPr>
      </p:sp>
      <p:sp>
        <p:nvSpPr>
          <p:cNvPr id="8" name="Text 6"/>
          <p:cNvSpPr/>
          <p:nvPr/>
        </p:nvSpPr>
        <p:spPr>
          <a:xfrm>
            <a:off x="457200" y="1783080"/>
            <a:ext cx="3566160" cy="320040"/>
          </a:xfrm>
          <a:prstGeom prst="rect">
            <a:avLst/>
          </a:prstGeom>
          <a:noFill/>
          <a:ln/>
        </p:spPr>
        <p:txBody>
          <a:bodyPr wrap="square"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  Today</a:t>
            </a:r>
            <a:endParaRPr lang="en-US" sz="1300" dirty="0"/>
          </a:p>
        </p:txBody>
      </p:sp>
      <p:sp>
        <p:nvSpPr>
          <p:cNvPr id="9" name="Text 7"/>
          <p:cNvSpPr/>
          <p:nvPr/>
        </p:nvSpPr>
        <p:spPr>
          <a:xfrm>
            <a:off x="457200" y="2194560"/>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Static "Top Picks" from past 7-day order frequency</a:t>
            </a:r>
            <a:endParaRPr lang="en-US" sz="1100" dirty="0"/>
          </a:p>
        </p:txBody>
      </p:sp>
      <p:sp>
        <p:nvSpPr>
          <p:cNvPr id="10" name="Text 8"/>
          <p:cNvSpPr/>
          <p:nvPr/>
        </p:nvSpPr>
        <p:spPr>
          <a:xfrm>
            <a:off x="457200" y="2670048"/>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User types keyword → scrolls → exits (65% of sessions)</a:t>
            </a:r>
            <a:endParaRPr lang="en-US" sz="1100" dirty="0"/>
          </a:p>
        </p:txBody>
      </p:sp>
      <p:sp>
        <p:nvSpPr>
          <p:cNvPr id="11" name="Text 9"/>
          <p:cNvSpPr/>
          <p:nvPr/>
        </p:nvSpPr>
        <p:spPr>
          <a:xfrm>
            <a:off x="457200" y="3145536"/>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No memory of cuisine mood, budget, or novelty preference</a:t>
            </a:r>
            <a:endParaRPr lang="en-US" sz="1100" dirty="0"/>
          </a:p>
        </p:txBody>
      </p:sp>
      <p:sp>
        <p:nvSpPr>
          <p:cNvPr id="12" name="Text 10"/>
          <p:cNvSpPr/>
          <p:nvPr/>
        </p:nvSpPr>
        <p:spPr>
          <a:xfrm>
            <a:off x="457200" y="3621024"/>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Campaign banners drive brand spend, not user relevance</a:t>
            </a:r>
            <a:endParaRPr lang="en-US" sz="1100" dirty="0"/>
          </a:p>
        </p:txBody>
      </p:sp>
      <p:sp>
        <p:nvSpPr>
          <p:cNvPr id="13" name="Text 11"/>
          <p:cNvSpPr/>
          <p:nvPr/>
        </p:nvSpPr>
        <p:spPr>
          <a:xfrm>
            <a:off x="457200" y="4096512"/>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Session ends: zero signals captured for next time</a:t>
            </a:r>
            <a:endParaRPr lang="en-US" sz="1100" dirty="0"/>
          </a:p>
        </p:txBody>
      </p:sp>
      <p:sp>
        <p:nvSpPr>
          <p:cNvPr id="14" name="Shape 12"/>
          <p:cNvSpPr/>
          <p:nvPr/>
        </p:nvSpPr>
        <p:spPr>
          <a:xfrm>
            <a:off x="4983480" y="1691640"/>
            <a:ext cx="3840480" cy="3108960"/>
          </a:xfrm>
          <a:prstGeom prst="rect">
            <a:avLst/>
          </a:prstGeom>
          <a:solidFill>
            <a:srgbClr val="ECFDF5"/>
          </a:solidFill>
          <a:ln w="12700">
            <a:solidFill>
              <a:srgbClr val="6EE7B7"/>
            </a:solidFill>
            <a:prstDash val="solid"/>
          </a:ln>
        </p:spPr>
      </p:sp>
      <p:sp>
        <p:nvSpPr>
          <p:cNvPr id="15" name="Text 13"/>
          <p:cNvSpPr/>
          <p:nvPr/>
        </p:nvSpPr>
        <p:spPr>
          <a:xfrm>
            <a:off x="5120640" y="1783080"/>
            <a:ext cx="356616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  FoodGenie</a:t>
            </a:r>
            <a:endParaRPr lang="en-US" sz="1300" dirty="0"/>
          </a:p>
        </p:txBody>
      </p:sp>
      <p:sp>
        <p:nvSpPr>
          <p:cNvPr id="16" name="Text 14"/>
          <p:cNvSpPr/>
          <p:nvPr/>
        </p:nvSpPr>
        <p:spPr>
          <a:xfrm>
            <a:off x="5120640" y="2194560"/>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Proactive banner: "Burger Boutique, as usual?" — 1 tap</a:t>
            </a:r>
            <a:endParaRPr lang="en-US" sz="1100" dirty="0"/>
          </a:p>
        </p:txBody>
      </p:sp>
      <p:sp>
        <p:nvSpPr>
          <p:cNvPr id="17" name="Text 15"/>
          <p:cNvSpPr/>
          <p:nvPr/>
        </p:nvSpPr>
        <p:spPr>
          <a:xfrm>
            <a:off x="5120640" y="2670048"/>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Conversational: "something light, under €14" → ranked picks</a:t>
            </a:r>
            <a:endParaRPr lang="en-US" sz="1100" dirty="0"/>
          </a:p>
        </p:txBody>
      </p:sp>
      <p:sp>
        <p:nvSpPr>
          <p:cNvPr id="18" name="Text 16"/>
          <p:cNvSpPr/>
          <p:nvPr/>
        </p:nvSpPr>
        <p:spPr>
          <a:xfrm>
            <a:off x="5120640" y="3145536"/>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Taste Profile: 6 confirmed tags + 3 AI-learned signals (91% conf.)</a:t>
            </a:r>
            <a:endParaRPr lang="en-US" sz="1100" dirty="0"/>
          </a:p>
        </p:txBody>
      </p:sp>
      <p:sp>
        <p:nvSpPr>
          <p:cNvPr id="19" name="Text 17"/>
          <p:cNvSpPr/>
          <p:nvPr/>
        </p:nvSpPr>
        <p:spPr>
          <a:xfrm>
            <a:off x="5120640" y="3621024"/>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Every completed order updates the model — RLHF-lite</a:t>
            </a:r>
            <a:endParaRPr lang="en-US" sz="1100" dirty="0"/>
          </a:p>
        </p:txBody>
      </p:sp>
      <p:sp>
        <p:nvSpPr>
          <p:cNvPr id="20" name="Text 18"/>
          <p:cNvSpPr/>
          <p:nvPr/>
        </p:nvSpPr>
        <p:spPr>
          <a:xfrm>
            <a:off x="5120640" y="4096512"/>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Session ends: 3 new signals stored, next session smarter</a:t>
            </a:r>
            <a:endParaRPr lang="en-US" sz="1100" dirty="0"/>
          </a:p>
        </p:txBody>
      </p:sp>
      <p:sp>
        <p:nvSpPr>
          <p:cNvPr id="21" name="Shape 19"/>
          <p:cNvSpPr/>
          <p:nvPr/>
        </p:nvSpPr>
        <p:spPr>
          <a:xfrm>
            <a:off x="320040" y="4983480"/>
            <a:ext cx="8503920" cy="1051560"/>
          </a:xfrm>
          <a:prstGeom prst="rect">
            <a:avLst/>
          </a:prstGeom>
          <a:solidFill>
            <a:srgbClr val="FFF3CD"/>
          </a:solidFill>
          <a:ln w="19050">
            <a:solidFill>
              <a:srgbClr val="FFB800"/>
            </a:solidFill>
            <a:prstDash val="solid"/>
          </a:ln>
        </p:spPr>
      </p:sp>
      <p:sp>
        <p:nvSpPr>
          <p:cNvPr id="22" name="Shape 20"/>
          <p:cNvSpPr/>
          <p:nvPr/>
        </p:nvSpPr>
        <p:spPr>
          <a:xfrm>
            <a:off x="320040" y="4983480"/>
            <a:ext cx="45720" cy="1051560"/>
          </a:xfrm>
          <a:prstGeom prst="rect">
            <a:avLst/>
          </a:prstGeom>
          <a:solidFill>
            <a:srgbClr val="FFB800"/>
          </a:solidFill>
          <a:ln/>
        </p:spPr>
      </p:sp>
      <p:sp>
        <p:nvSpPr>
          <p:cNvPr id="23" name="Text 21"/>
          <p:cNvSpPr/>
          <p:nvPr/>
        </p:nvSpPr>
        <p:spPr>
          <a:xfrm>
            <a:off x="502920" y="5047488"/>
            <a:ext cx="8229600" cy="914400"/>
          </a:xfrm>
          <a:prstGeom prst="rect">
            <a:avLst/>
          </a:prstGeom>
          <a:noFill/>
          <a:ln/>
        </p:spPr>
        <p:txBody>
          <a:bodyPr wrap="square" rtlCol="0" anchor="ctr"/>
          <a:lstStyle/>
          <a:p>
            <a:pPr indent="0" marL="0">
              <a:buNone/>
            </a:pPr>
            <a:r>
              <a:rPr lang="en-US" sz="1050" dirty="0">
                <a:solidFill>
                  <a:srgbClr val="1F1109"/>
                </a:solidFill>
                <a:latin typeface="Calibri" pitchFamily="34" charset="0"/>
                <a:ea typeface="Calibri" pitchFamily="34" charset="-122"/>
                <a:cs typeface="Calibri" pitchFamily="34" charset="-120"/>
              </a:rPr>
              <a:t>Key insight: The PhonePe Propensity-to-Transact ML model replaced manual cohort targeting → 32% marketing burn reduction. FoodGenie applies the same architecture to food discovery: user-level real-time scoring replaces broadcast "Top Picks." The ML is not the innovation — applying it to the discovery surface is.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F0F"/>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FFB800"/>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FFB800"/>
                </a:solidFill>
                <a:latin typeface="Calibri" pitchFamily="34" charset="0"/>
                <a:ea typeface="Calibri" pitchFamily="34" charset="-122"/>
                <a:cs typeface="Calibri" pitchFamily="34" charset="-120"/>
              </a:rPr>
              <a:t>THE MECHANIC</a:t>
            </a:r>
            <a:endParaRPr lang="en-US" sz="900" dirty="0"/>
          </a:p>
        </p:txBody>
      </p:sp>
      <p:sp>
        <p:nvSpPr>
          <p:cNvPr id="4" name="Text 2"/>
          <p:cNvSpPr/>
          <p:nvPr/>
        </p:nvSpPr>
        <p:spPr>
          <a:xfrm>
            <a:off x="320040" y="566928"/>
            <a:ext cx="850392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Taste Profile × Proactive Surface × Conversational Agent × RLHF-Lite Loop</a:t>
            </a:r>
            <a:endParaRPr lang="en-US" sz="2400" dirty="0"/>
          </a:p>
        </p:txBody>
      </p:sp>
      <p:sp>
        <p:nvSpPr>
          <p:cNvPr id="5" name="Shape 3"/>
          <p:cNvSpPr/>
          <p:nvPr/>
        </p:nvSpPr>
        <p:spPr>
          <a:xfrm>
            <a:off x="320040" y="1417320"/>
            <a:ext cx="411480" cy="411480"/>
          </a:xfrm>
          <a:prstGeom prst="ellipse">
            <a:avLst/>
          </a:prstGeom>
          <a:solidFill>
            <a:srgbClr val="E2001A"/>
          </a:solidFill>
          <a:ln/>
        </p:spPr>
      </p:sp>
      <p:sp>
        <p:nvSpPr>
          <p:cNvPr id="6" name="Text 4"/>
          <p:cNvSpPr/>
          <p:nvPr/>
        </p:nvSpPr>
        <p:spPr>
          <a:xfrm>
            <a:off x="320040" y="1435608"/>
            <a:ext cx="4114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525780" y="1828800"/>
            <a:ext cx="0" cy="521208"/>
          </a:xfrm>
          <a:prstGeom prst="line">
            <a:avLst/>
          </a:prstGeom>
          <a:noFill/>
          <a:ln w="12700">
            <a:solidFill>
              <a:srgbClr val="8B7070"/>
            </a:solidFill>
            <a:prstDash val="dash"/>
          </a:ln>
        </p:spPr>
      </p:sp>
      <p:sp>
        <p:nvSpPr>
          <p:cNvPr id="8" name="Text 6"/>
          <p:cNvSpPr/>
          <p:nvPr/>
        </p:nvSpPr>
        <p:spPr>
          <a:xfrm>
            <a:off x="868680" y="1389888"/>
            <a:ext cx="8229600" cy="274320"/>
          </a:xfrm>
          <a:prstGeom prst="rect">
            <a:avLst/>
          </a:prstGeom>
          <a:noFill/>
          <a:ln/>
        </p:spPr>
        <p:txBody>
          <a:bodyPr wrap="square" rtlCol="0" anchor="ctr"/>
          <a:lstStyle/>
          <a:p>
            <a:pPr indent="0" marL="0">
              <a:buNone/>
            </a:pPr>
            <a:r>
              <a:rPr lang="en-US" sz="1300" b="1" dirty="0">
                <a:solidFill>
                  <a:srgbClr val="FFB800"/>
                </a:solidFill>
                <a:latin typeface="Calibri" pitchFamily="34" charset="0"/>
                <a:ea typeface="Calibri" pitchFamily="34" charset="-122"/>
                <a:cs typeface="Calibri" pitchFamily="34" charset="-120"/>
              </a:rPr>
              <a:t>Taste Profile Build</a:t>
            </a:r>
            <a:endParaRPr lang="en-US" sz="1300" dirty="0"/>
          </a:p>
        </p:txBody>
      </p:sp>
      <p:sp>
        <p:nvSpPr>
          <p:cNvPr id="9" name="Text 7"/>
          <p:cNvSpPr/>
          <p:nvPr/>
        </p:nvSpPr>
        <p:spPr>
          <a:xfrm>
            <a:off x="868680" y="1664208"/>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First 5 orders analyzed for cuisine tags, budget band, delivery time preference, novelty index. Score refreshes after every order. Stored per-user, real-time.</a:t>
            </a:r>
            <a:endParaRPr lang="en-US" sz="1050" dirty="0"/>
          </a:p>
        </p:txBody>
      </p:sp>
      <p:sp>
        <p:nvSpPr>
          <p:cNvPr id="10" name="Shape 8"/>
          <p:cNvSpPr/>
          <p:nvPr/>
        </p:nvSpPr>
        <p:spPr>
          <a:xfrm>
            <a:off x="320040" y="2377440"/>
            <a:ext cx="411480" cy="411480"/>
          </a:xfrm>
          <a:prstGeom prst="ellipse">
            <a:avLst/>
          </a:prstGeom>
          <a:solidFill>
            <a:srgbClr val="E2001A"/>
          </a:solidFill>
          <a:ln/>
        </p:spPr>
      </p:sp>
      <p:sp>
        <p:nvSpPr>
          <p:cNvPr id="11" name="Text 9"/>
          <p:cNvSpPr/>
          <p:nvPr/>
        </p:nvSpPr>
        <p:spPr>
          <a:xfrm>
            <a:off x="320040" y="2395728"/>
            <a:ext cx="4114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Shape 10"/>
          <p:cNvSpPr/>
          <p:nvPr/>
        </p:nvSpPr>
        <p:spPr>
          <a:xfrm>
            <a:off x="525780" y="2788920"/>
            <a:ext cx="0" cy="521208"/>
          </a:xfrm>
          <a:prstGeom prst="line">
            <a:avLst/>
          </a:prstGeom>
          <a:noFill/>
          <a:ln w="12700">
            <a:solidFill>
              <a:srgbClr val="8B7070"/>
            </a:solidFill>
            <a:prstDash val="dash"/>
          </a:ln>
        </p:spPr>
      </p:sp>
      <p:sp>
        <p:nvSpPr>
          <p:cNvPr id="13" name="Text 11"/>
          <p:cNvSpPr/>
          <p:nvPr/>
        </p:nvSpPr>
        <p:spPr>
          <a:xfrm>
            <a:off x="868680" y="2350008"/>
            <a:ext cx="8229600" cy="274320"/>
          </a:xfrm>
          <a:prstGeom prst="rect">
            <a:avLst/>
          </a:prstGeom>
          <a:noFill/>
          <a:ln/>
        </p:spPr>
        <p:txBody>
          <a:bodyPr wrap="square" rtlCol="0" anchor="ctr"/>
          <a:lstStyle/>
          <a:p>
            <a:pPr indent="0" marL="0">
              <a:buNone/>
            </a:pPr>
            <a:r>
              <a:rPr lang="en-US" sz="1300" b="1" dirty="0">
                <a:solidFill>
                  <a:srgbClr val="FFB800"/>
                </a:solidFill>
                <a:latin typeface="Calibri" pitchFamily="34" charset="0"/>
                <a:ea typeface="Calibri" pitchFamily="34" charset="-122"/>
                <a:cs typeface="Calibri" pitchFamily="34" charset="-120"/>
              </a:rPr>
              <a:t>Proactive Banner</a:t>
            </a:r>
            <a:endParaRPr lang="en-US" sz="1300" dirty="0"/>
          </a:p>
        </p:txBody>
      </p:sp>
      <p:sp>
        <p:nvSpPr>
          <p:cNvPr id="14" name="Text 12"/>
          <p:cNvSpPr/>
          <p:nvPr/>
        </p:nvSpPr>
        <p:spPr>
          <a:xfrm>
            <a:off x="868680" y="2624328"/>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App open: FoodGenie checks last 3 orders + time-of-day + day-of-week. Surfaces "Burger Boutique, as usual?" if pattern confidence ≥ 85%. Tap → instant checkout flow.</a:t>
            </a:r>
            <a:endParaRPr lang="en-US" sz="1050" dirty="0"/>
          </a:p>
        </p:txBody>
      </p:sp>
      <p:sp>
        <p:nvSpPr>
          <p:cNvPr id="15" name="Shape 13"/>
          <p:cNvSpPr/>
          <p:nvPr/>
        </p:nvSpPr>
        <p:spPr>
          <a:xfrm>
            <a:off x="320040" y="3337560"/>
            <a:ext cx="411480" cy="411480"/>
          </a:xfrm>
          <a:prstGeom prst="ellipse">
            <a:avLst/>
          </a:prstGeom>
          <a:solidFill>
            <a:srgbClr val="E2001A"/>
          </a:solidFill>
          <a:ln/>
        </p:spPr>
      </p:sp>
      <p:sp>
        <p:nvSpPr>
          <p:cNvPr id="16" name="Text 14"/>
          <p:cNvSpPr/>
          <p:nvPr/>
        </p:nvSpPr>
        <p:spPr>
          <a:xfrm>
            <a:off x="320040" y="3355848"/>
            <a:ext cx="4114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Shape 15"/>
          <p:cNvSpPr/>
          <p:nvPr/>
        </p:nvSpPr>
        <p:spPr>
          <a:xfrm>
            <a:off x="525780" y="3749040"/>
            <a:ext cx="0" cy="521208"/>
          </a:xfrm>
          <a:prstGeom prst="line">
            <a:avLst/>
          </a:prstGeom>
          <a:noFill/>
          <a:ln w="12700">
            <a:solidFill>
              <a:srgbClr val="8B7070"/>
            </a:solidFill>
            <a:prstDash val="dash"/>
          </a:ln>
        </p:spPr>
      </p:sp>
      <p:sp>
        <p:nvSpPr>
          <p:cNvPr id="18" name="Text 16"/>
          <p:cNvSpPr/>
          <p:nvPr/>
        </p:nvSpPr>
        <p:spPr>
          <a:xfrm>
            <a:off x="868680" y="3310128"/>
            <a:ext cx="8229600" cy="274320"/>
          </a:xfrm>
          <a:prstGeom prst="rect">
            <a:avLst/>
          </a:prstGeom>
          <a:noFill/>
          <a:ln/>
        </p:spPr>
        <p:txBody>
          <a:bodyPr wrap="square" rtlCol="0" anchor="ctr"/>
          <a:lstStyle/>
          <a:p>
            <a:pPr indent="0" marL="0">
              <a:buNone/>
            </a:pPr>
            <a:r>
              <a:rPr lang="en-US" sz="1300" b="1" dirty="0">
                <a:solidFill>
                  <a:srgbClr val="FFB800"/>
                </a:solidFill>
                <a:latin typeface="Calibri" pitchFamily="34" charset="0"/>
                <a:ea typeface="Calibri" pitchFamily="34" charset="-122"/>
                <a:cs typeface="Calibri" pitchFamily="34" charset="-120"/>
              </a:rPr>
              <a:t>Conversational Discovery</a:t>
            </a:r>
            <a:endParaRPr lang="en-US" sz="1300" dirty="0"/>
          </a:p>
        </p:txBody>
      </p:sp>
      <p:sp>
        <p:nvSpPr>
          <p:cNvPr id="19" name="Text 17"/>
          <p:cNvSpPr/>
          <p:nvPr/>
        </p:nvSpPr>
        <p:spPr>
          <a:xfrm>
            <a:off x="868680" y="3584448"/>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User types "something light under €14". FoodGenie parses: cuisine-type=light, budget≤14, novelty=preferred. Returns ranked picks with 🏆 Best Match badge. All from taste profile + real-time filters.</a:t>
            </a:r>
            <a:endParaRPr lang="en-US" sz="1050" dirty="0"/>
          </a:p>
        </p:txBody>
      </p:sp>
      <p:sp>
        <p:nvSpPr>
          <p:cNvPr id="20" name="Shape 18"/>
          <p:cNvSpPr/>
          <p:nvPr/>
        </p:nvSpPr>
        <p:spPr>
          <a:xfrm>
            <a:off x="320040" y="4297680"/>
            <a:ext cx="411480" cy="411480"/>
          </a:xfrm>
          <a:prstGeom prst="ellipse">
            <a:avLst/>
          </a:prstGeom>
          <a:solidFill>
            <a:srgbClr val="E2001A"/>
          </a:solidFill>
          <a:ln/>
        </p:spPr>
      </p:sp>
      <p:sp>
        <p:nvSpPr>
          <p:cNvPr id="21" name="Text 19"/>
          <p:cNvSpPr/>
          <p:nvPr/>
        </p:nvSpPr>
        <p:spPr>
          <a:xfrm>
            <a:off x="320040" y="4315968"/>
            <a:ext cx="4114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Shape 20"/>
          <p:cNvSpPr/>
          <p:nvPr/>
        </p:nvSpPr>
        <p:spPr>
          <a:xfrm>
            <a:off x="525780" y="4709160"/>
            <a:ext cx="0" cy="521208"/>
          </a:xfrm>
          <a:prstGeom prst="line">
            <a:avLst/>
          </a:prstGeom>
          <a:noFill/>
          <a:ln w="12700">
            <a:solidFill>
              <a:srgbClr val="8B7070"/>
            </a:solidFill>
            <a:prstDash val="dash"/>
          </a:ln>
        </p:spPr>
      </p:sp>
      <p:sp>
        <p:nvSpPr>
          <p:cNvPr id="23" name="Text 21"/>
          <p:cNvSpPr/>
          <p:nvPr/>
        </p:nvSpPr>
        <p:spPr>
          <a:xfrm>
            <a:off x="868680" y="4270248"/>
            <a:ext cx="8229600" cy="274320"/>
          </a:xfrm>
          <a:prstGeom prst="rect">
            <a:avLst/>
          </a:prstGeom>
          <a:noFill/>
          <a:ln/>
        </p:spPr>
        <p:txBody>
          <a:bodyPr wrap="square" rtlCol="0" anchor="ctr"/>
          <a:lstStyle/>
          <a:p>
            <a:pPr indent="0" marL="0">
              <a:buNone/>
            </a:pPr>
            <a:r>
              <a:rPr lang="en-US" sz="1300" b="1" dirty="0">
                <a:solidFill>
                  <a:srgbClr val="FFB800"/>
                </a:solidFill>
                <a:latin typeface="Calibri" pitchFamily="34" charset="0"/>
                <a:ea typeface="Calibri" pitchFamily="34" charset="-122"/>
                <a:cs typeface="Calibri" pitchFamily="34" charset="-120"/>
              </a:rPr>
              <a:t>Order → Learning Loop</a:t>
            </a:r>
            <a:endParaRPr lang="en-US" sz="1300" dirty="0"/>
          </a:p>
        </p:txBody>
      </p:sp>
      <p:sp>
        <p:nvSpPr>
          <p:cNvPr id="24" name="Text 22"/>
          <p:cNvSpPr/>
          <p:nvPr/>
        </p:nvSpPr>
        <p:spPr>
          <a:xfrm>
            <a:off x="868680" y="4544568"/>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Post-order: cuisine tag confidence updated (+8% for confirmed new preference). Budget signal reinforced. Uncertain patterns (e.g., Friday meals) flagged for user to rate via "Rate it" button.</a:t>
            </a:r>
            <a:endParaRPr lang="en-US" sz="1050" dirty="0"/>
          </a:p>
        </p:txBody>
      </p:sp>
      <p:sp>
        <p:nvSpPr>
          <p:cNvPr id="25" name="Shape 23"/>
          <p:cNvSpPr/>
          <p:nvPr/>
        </p:nvSpPr>
        <p:spPr>
          <a:xfrm>
            <a:off x="320040" y="5257800"/>
            <a:ext cx="411480" cy="411480"/>
          </a:xfrm>
          <a:prstGeom prst="ellipse">
            <a:avLst/>
          </a:prstGeom>
          <a:solidFill>
            <a:srgbClr val="E2001A"/>
          </a:solidFill>
          <a:ln/>
        </p:spPr>
      </p:sp>
      <p:sp>
        <p:nvSpPr>
          <p:cNvPr id="26" name="Text 24"/>
          <p:cNvSpPr/>
          <p:nvPr/>
        </p:nvSpPr>
        <p:spPr>
          <a:xfrm>
            <a:off x="320040" y="5276088"/>
            <a:ext cx="41148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868680" y="5230368"/>
            <a:ext cx="8229600" cy="274320"/>
          </a:xfrm>
          <a:prstGeom prst="rect">
            <a:avLst/>
          </a:prstGeom>
          <a:noFill/>
          <a:ln/>
        </p:spPr>
        <p:txBody>
          <a:bodyPr wrap="square" rtlCol="0" anchor="ctr"/>
          <a:lstStyle/>
          <a:p>
            <a:pPr indent="0" marL="0">
              <a:buNone/>
            </a:pPr>
            <a:r>
              <a:rPr lang="en-US" sz="1300" b="1" dirty="0">
                <a:solidFill>
                  <a:srgbClr val="FFB800"/>
                </a:solidFill>
                <a:latin typeface="Calibri" pitchFamily="34" charset="0"/>
                <a:ea typeface="Calibri" pitchFamily="34" charset="-122"/>
                <a:cs typeface="Calibri" pitchFamily="34" charset="-120"/>
              </a:rPr>
              <a:t>A/B Console</a:t>
            </a:r>
            <a:endParaRPr lang="en-US" sz="1300" dirty="0"/>
          </a:p>
        </p:txBody>
      </p:sp>
      <p:sp>
        <p:nvSpPr>
          <p:cNvPr id="28" name="Text 26"/>
          <p:cNvSpPr/>
          <p:nvPr/>
        </p:nvSpPr>
        <p:spPr>
          <a:xfrm>
            <a:off x="868680" y="5504688"/>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PM + data team sees per-segment FoodGenie vs control session resolution rate, AOV, repeat rate. Winner rules auto-promoted to production. Full experimentation layer built in from Day 1.</a:t>
            </a:r>
            <a:endParaRPr lang="en-US" sz="1050" dirty="0"/>
          </a:p>
        </p:txBody>
      </p:sp>
      <p:sp>
        <p:nvSpPr>
          <p:cNvPr id="29" name="Shape 27"/>
          <p:cNvSpPr/>
          <p:nvPr/>
        </p:nvSpPr>
        <p:spPr>
          <a:xfrm>
            <a:off x="320040" y="6263640"/>
            <a:ext cx="8503920" cy="384048"/>
          </a:xfrm>
          <a:prstGeom prst="rect">
            <a:avLst/>
          </a:prstGeom>
          <a:solidFill>
            <a:srgbClr val="0D0808"/>
          </a:solidFill>
          <a:ln w="10160">
            <a:solidFill>
              <a:srgbClr val="E2001A"/>
            </a:solidFill>
            <a:prstDash val="solid"/>
          </a:ln>
        </p:spPr>
      </p:sp>
      <p:sp>
        <p:nvSpPr>
          <p:cNvPr id="30" name="Text 28"/>
          <p:cNvSpPr/>
          <p:nvPr/>
        </p:nvSpPr>
        <p:spPr>
          <a:xfrm>
            <a:off x="457200" y="6291072"/>
            <a:ext cx="8321040" cy="329184"/>
          </a:xfrm>
          <a:prstGeom prst="rect">
            <a:avLst/>
          </a:prstGeom>
          <a:noFill/>
          <a:ln/>
        </p:spPr>
        <p:txBody>
          <a:bodyPr wrap="square" rtlCol="0" anchor="ctr"/>
          <a:lstStyle/>
          <a:p>
            <a:pPr indent="0" marL="0">
              <a:buNone/>
            </a:pPr>
            <a:r>
              <a:rPr lang="en-US" sz="950" dirty="0">
                <a:solidFill>
                  <a:srgbClr val="8B7070"/>
                </a:solidFill>
                <a:latin typeface="Calibri" pitchFamily="34" charset="0"/>
                <a:ea typeface="Calibri" pitchFamily="34" charset="-122"/>
                <a:cs typeface="Calibri" pitchFamily="34" charset="-120"/>
              </a:rPr>
              <a:t>PhonePe proof: ML propensity model replacing manual cohorts → 32% marketing burn reduction, sustained GMV growth. FoodGenie = same ML architecture applied to food discovery surface.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2001A"/>
          </a:solidFill>
          <a:ln/>
        </p:spPr>
      </p:sp>
      <p:sp>
        <p:nvSpPr>
          <p:cNvPr id="3" name="Text 1"/>
          <p:cNvSpPr/>
          <p:nvPr/>
        </p:nvSpPr>
        <p:spPr>
          <a:xfrm>
            <a:off x="320040" y="256032"/>
            <a:ext cx="3657600" cy="201168"/>
          </a:xfrm>
          <a:prstGeom prst="rect">
            <a:avLst/>
          </a:prstGeom>
          <a:noFill/>
          <a:ln/>
        </p:spPr>
        <p:txBody>
          <a:bodyPr wrap="square" rtlCol="0" anchor="ctr"/>
          <a:lstStyle/>
          <a:p>
            <a:pPr indent="0" marL="0">
              <a:buNone/>
            </a:pPr>
            <a:r>
              <a:rPr lang="en-US" sz="900" b="1" spc="200" kern="0" dirty="0">
                <a:solidFill>
                  <a:srgbClr val="E2001A"/>
                </a:solidFill>
                <a:latin typeface="Calibri" pitchFamily="34" charset="0"/>
                <a:ea typeface="Calibri" pitchFamily="34" charset="-122"/>
                <a:cs typeface="Calibri" pitchFamily="34" charset="-120"/>
              </a:rPr>
              <a:t>THE PRODUCT</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600" b="1" dirty="0">
                <a:solidFill>
                  <a:srgbClr val="0D0808"/>
                </a:solidFill>
                <a:latin typeface="Calibri" pitchFamily="34" charset="0"/>
                <a:ea typeface="Calibri" pitchFamily="34" charset="-122"/>
                <a:cs typeface="Calibri" pitchFamily="34" charset="-120"/>
              </a:rPr>
              <a:t>4 Screen States — Discovery to Learning</a:t>
            </a:r>
            <a:endParaRPr lang="en-US" sz="2600" dirty="0"/>
          </a:p>
        </p:txBody>
      </p:sp>
      <p:sp>
        <p:nvSpPr>
          <p:cNvPr id="5" name="Shape 3"/>
          <p:cNvSpPr/>
          <p:nvPr/>
        </p:nvSpPr>
        <p:spPr>
          <a:xfrm>
            <a:off x="320040" y="1234440"/>
            <a:ext cx="2057400" cy="5166360"/>
          </a:xfrm>
          <a:prstGeom prst="rect">
            <a:avLst/>
          </a:prstGeom>
          <a:solidFill>
            <a:srgbClr val="FFFFFF"/>
          </a:solidFill>
          <a:ln w="12700">
            <a:solidFill>
              <a:srgbClr val="E5D5D5"/>
            </a:solidFill>
            <a:prstDash val="solid"/>
          </a:ln>
          <a:effectLst>
            <a:outerShdw sx="100000" sy="100000" kx="0" ky="0" algn="bl" rotWithShape="0" blurRad="50800" dist="25400" dir="2700000">
              <a:srgbClr val="000000">
                <a:alpha val="15000"/>
              </a:srgbClr>
            </a:outerShdw>
          </a:effectLst>
        </p:spPr>
      </p:sp>
      <p:sp>
        <p:nvSpPr>
          <p:cNvPr id="6" name="Shape 4"/>
          <p:cNvSpPr/>
          <p:nvPr/>
        </p:nvSpPr>
        <p:spPr>
          <a:xfrm>
            <a:off x="320040" y="1234440"/>
            <a:ext cx="2057400" cy="45720"/>
          </a:xfrm>
          <a:prstGeom prst="rect">
            <a:avLst/>
          </a:prstGeom>
          <a:solidFill>
            <a:srgbClr val="E2001A"/>
          </a:solidFill>
          <a:ln/>
        </p:spPr>
      </p:sp>
      <p:sp>
        <p:nvSpPr>
          <p:cNvPr id="7" name="Text 5"/>
          <p:cNvSpPr/>
          <p:nvPr/>
        </p:nvSpPr>
        <p:spPr>
          <a:xfrm>
            <a:off x="429768" y="1325880"/>
            <a:ext cx="914400" cy="256032"/>
          </a:xfrm>
          <a:prstGeom prst="rect">
            <a:avLst/>
          </a:prstGeom>
          <a:noFill/>
          <a:ln/>
        </p:spPr>
        <p:txBody>
          <a:bodyPr wrap="square" rtlCol="0" anchor="ctr"/>
          <a:lstStyle/>
          <a:p>
            <a:pPr indent="0" marL="0">
              <a:buNone/>
            </a:pPr>
            <a:r>
              <a:rPr lang="en-US" sz="900" b="1" spc="100" kern="0" dirty="0">
                <a:solidFill>
                  <a:srgbClr val="E2001A"/>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429768" y="1572768"/>
            <a:ext cx="1828800" cy="502920"/>
          </a:xfrm>
          <a:prstGeom prst="rect">
            <a:avLst/>
          </a:prstGeom>
          <a:noFill/>
          <a:ln/>
        </p:spPr>
        <p:txBody>
          <a:bodyPr wrap="square" rtlCol="0" anchor="ctr"/>
          <a:lstStyle/>
          <a:p>
            <a:pPr indent="0" marL="0">
              <a:buNone/>
            </a:pPr>
            <a:r>
              <a:rPr lang="en-US" sz="1200" b="1" dirty="0">
                <a:solidFill>
                  <a:srgbClr val="0D0808"/>
                </a:solidFill>
                <a:latin typeface="Calibri" pitchFamily="34" charset="0"/>
                <a:ea typeface="Calibri" pitchFamily="34" charset="-122"/>
                <a:cs typeface="Calibri" pitchFamily="34" charset="-120"/>
              </a:rPr>
              <a:t>Home + Proactive Banner</a:t>
            </a:r>
            <a:endParaRPr lang="en-US" sz="1200" dirty="0"/>
          </a:p>
        </p:txBody>
      </p:sp>
      <p:sp>
        <p:nvSpPr>
          <p:cNvPr id="9" name="Shape 7"/>
          <p:cNvSpPr/>
          <p:nvPr/>
        </p:nvSpPr>
        <p:spPr>
          <a:xfrm>
            <a:off x="429768" y="2148840"/>
            <a:ext cx="1828800" cy="2011680"/>
          </a:xfrm>
          <a:prstGeom prst="rect">
            <a:avLst/>
          </a:prstGeom>
          <a:solidFill>
            <a:srgbClr val="1A0F0F"/>
          </a:solidFill>
          <a:ln w="12700">
            <a:solidFill>
              <a:srgbClr val="331515"/>
            </a:solidFill>
            <a:prstDash val="solid"/>
          </a:ln>
        </p:spPr>
      </p:sp>
      <p:sp>
        <p:nvSpPr>
          <p:cNvPr id="10" name="Text 8"/>
          <p:cNvSpPr/>
          <p:nvPr/>
        </p:nvSpPr>
        <p:spPr>
          <a:xfrm>
            <a:off x="457200" y="2176272"/>
            <a:ext cx="1783080" cy="246888"/>
          </a:xfrm>
          <a:prstGeom prst="rect">
            <a:avLst/>
          </a:prstGeom>
          <a:noFill/>
          <a:ln/>
        </p:spPr>
        <p:txBody>
          <a:bodyPr wrap="square" rtlCol="0" anchor="ctr"/>
          <a:lstStyle/>
          <a:p>
            <a:pPr indent="0" marL="0">
              <a:buNone/>
            </a:pPr>
            <a:r>
              <a:rPr lang="en-US" sz="750" b="1" dirty="0">
                <a:solidFill>
                  <a:srgbClr val="E2001A"/>
                </a:solidFill>
                <a:latin typeface="Courier New" pitchFamily="34" charset="0"/>
                <a:ea typeface="Courier New" pitchFamily="34" charset="-122"/>
                <a:cs typeface="Courier New" pitchFamily="34" charset="-120"/>
              </a:rPr>
              <a:t>╔══════════╗</a:t>
            </a:r>
            <a:endParaRPr lang="en-US" sz="750" dirty="0"/>
          </a:p>
        </p:txBody>
      </p:sp>
      <p:sp>
        <p:nvSpPr>
          <p:cNvPr id="11" name="Text 9"/>
          <p:cNvSpPr/>
          <p:nvPr/>
        </p:nvSpPr>
        <p:spPr>
          <a:xfrm>
            <a:off x="457200" y="2432304"/>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Burger Boutique</a:t>
            </a:r>
            <a:endParaRPr lang="en-US" sz="750" dirty="0"/>
          </a:p>
        </p:txBody>
      </p:sp>
      <p:sp>
        <p:nvSpPr>
          <p:cNvPr id="12" name="Text 10"/>
          <p:cNvSpPr/>
          <p:nvPr/>
        </p:nvSpPr>
        <p:spPr>
          <a:xfrm>
            <a:off x="457200" y="2688336"/>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"as usual?" →</a:t>
            </a:r>
            <a:endParaRPr lang="en-US" sz="750" dirty="0"/>
          </a:p>
        </p:txBody>
      </p:sp>
      <p:sp>
        <p:nvSpPr>
          <p:cNvPr id="13" name="Text 11"/>
          <p:cNvSpPr/>
          <p:nvPr/>
        </p:nvSpPr>
        <p:spPr>
          <a:xfrm>
            <a:off x="457200" y="2944368"/>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a:t>
            </a:r>
            <a:endParaRPr lang="en-US" sz="750" dirty="0"/>
          </a:p>
        </p:txBody>
      </p:sp>
      <p:sp>
        <p:nvSpPr>
          <p:cNvPr id="14" name="Text 12"/>
          <p:cNvSpPr/>
          <p:nvPr/>
        </p:nvSpPr>
        <p:spPr>
          <a:xfrm>
            <a:off x="457200" y="3200400"/>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Craving... ›</a:t>
            </a:r>
            <a:endParaRPr lang="en-US" sz="750" dirty="0"/>
          </a:p>
        </p:txBody>
      </p:sp>
      <p:sp>
        <p:nvSpPr>
          <p:cNvPr id="15" name="Text 13"/>
          <p:cNvSpPr/>
          <p:nvPr/>
        </p:nvSpPr>
        <p:spPr>
          <a:xfrm>
            <a:off x="457200" y="3456432"/>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Thai  🌮 Mex</a:t>
            </a:r>
            <a:endParaRPr lang="en-US" sz="750" dirty="0"/>
          </a:p>
        </p:txBody>
      </p:sp>
      <p:sp>
        <p:nvSpPr>
          <p:cNvPr id="16" name="Text 14"/>
          <p:cNvSpPr/>
          <p:nvPr/>
        </p:nvSpPr>
        <p:spPr>
          <a:xfrm>
            <a:off x="457200" y="3712464"/>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23 signals</a:t>
            </a:r>
            <a:endParaRPr lang="en-US" sz="750" dirty="0"/>
          </a:p>
        </p:txBody>
      </p:sp>
      <p:sp>
        <p:nvSpPr>
          <p:cNvPr id="17" name="Text 15"/>
          <p:cNvSpPr/>
          <p:nvPr/>
        </p:nvSpPr>
        <p:spPr>
          <a:xfrm>
            <a:off x="429768" y="4251960"/>
            <a:ext cx="1828800" cy="2011680"/>
          </a:xfrm>
          <a:prstGeom prst="rect">
            <a:avLst/>
          </a:prstGeom>
          <a:noFill/>
          <a:ln/>
        </p:spPr>
        <p:txBody>
          <a:bodyPr wrap="square" rtlCol="0" anchor="ctr"/>
          <a:lstStyle/>
          <a:p>
            <a:pPr indent="0" marL="0">
              <a:buNone/>
            </a:pPr>
            <a:r>
              <a:rPr lang="en-US" sz="950" dirty="0">
                <a:solidFill>
                  <a:srgbClr val="4B3535"/>
                </a:solidFill>
                <a:latin typeface="Calibri" pitchFamily="34" charset="0"/>
                <a:ea typeface="Calibri" pitchFamily="34" charset="-122"/>
                <a:cs typeface="Calibri" pitchFamily="34" charset="-120"/>
              </a:rPr>
              <a:t>Taste-matched "as usual?" banner at top. Chat entry "Tell Genie what you're craving..." 3 top cuisine suggestion chips. "23 signals learned" counter shows model depth. 1-tap ordering from banner.</a:t>
            </a:r>
            <a:endParaRPr lang="en-US" sz="950" dirty="0"/>
          </a:p>
        </p:txBody>
      </p:sp>
      <p:sp>
        <p:nvSpPr>
          <p:cNvPr id="18" name="Shape 16"/>
          <p:cNvSpPr/>
          <p:nvPr/>
        </p:nvSpPr>
        <p:spPr>
          <a:xfrm>
            <a:off x="2514600" y="1234440"/>
            <a:ext cx="2057400" cy="5166360"/>
          </a:xfrm>
          <a:prstGeom prst="rect">
            <a:avLst/>
          </a:prstGeom>
          <a:solidFill>
            <a:srgbClr val="FFFFFF"/>
          </a:solidFill>
          <a:ln w="12700">
            <a:solidFill>
              <a:srgbClr val="E5D5D5"/>
            </a:solidFill>
            <a:prstDash val="solid"/>
          </a:ln>
          <a:effectLst>
            <a:outerShdw sx="100000" sy="100000" kx="0" ky="0" algn="bl" rotWithShape="0" blurRad="50800" dist="25400" dir="2700000">
              <a:srgbClr val="000000">
                <a:alpha val="15000"/>
              </a:srgbClr>
            </a:outerShdw>
          </a:effectLst>
        </p:spPr>
      </p:sp>
      <p:sp>
        <p:nvSpPr>
          <p:cNvPr id="19" name="Shape 17"/>
          <p:cNvSpPr/>
          <p:nvPr/>
        </p:nvSpPr>
        <p:spPr>
          <a:xfrm>
            <a:off x="2514600" y="1234440"/>
            <a:ext cx="2057400" cy="45720"/>
          </a:xfrm>
          <a:prstGeom prst="rect">
            <a:avLst/>
          </a:prstGeom>
          <a:solidFill>
            <a:srgbClr val="E2001A"/>
          </a:solidFill>
          <a:ln/>
        </p:spPr>
      </p:sp>
      <p:sp>
        <p:nvSpPr>
          <p:cNvPr id="20" name="Text 18"/>
          <p:cNvSpPr/>
          <p:nvPr/>
        </p:nvSpPr>
        <p:spPr>
          <a:xfrm>
            <a:off x="2624328" y="1325880"/>
            <a:ext cx="914400" cy="256032"/>
          </a:xfrm>
          <a:prstGeom prst="rect">
            <a:avLst/>
          </a:prstGeom>
          <a:noFill/>
          <a:ln/>
        </p:spPr>
        <p:txBody>
          <a:bodyPr wrap="square" rtlCol="0" anchor="ctr"/>
          <a:lstStyle/>
          <a:p>
            <a:pPr indent="0" marL="0">
              <a:buNone/>
            </a:pPr>
            <a:r>
              <a:rPr lang="en-US" sz="900" b="1" spc="100" kern="0" dirty="0">
                <a:solidFill>
                  <a:srgbClr val="E2001A"/>
                </a:solidFill>
                <a:latin typeface="Calibri" pitchFamily="34" charset="0"/>
                <a:ea typeface="Calibri" pitchFamily="34" charset="-122"/>
                <a:cs typeface="Calibri" pitchFamily="34" charset="-120"/>
              </a:rPr>
              <a:t>02</a:t>
            </a:r>
            <a:endParaRPr lang="en-US" sz="900" dirty="0"/>
          </a:p>
        </p:txBody>
      </p:sp>
      <p:sp>
        <p:nvSpPr>
          <p:cNvPr id="21" name="Text 19"/>
          <p:cNvSpPr/>
          <p:nvPr/>
        </p:nvSpPr>
        <p:spPr>
          <a:xfrm>
            <a:off x="2624328" y="1572768"/>
            <a:ext cx="1828800" cy="502920"/>
          </a:xfrm>
          <a:prstGeom prst="rect">
            <a:avLst/>
          </a:prstGeom>
          <a:noFill/>
          <a:ln/>
        </p:spPr>
        <p:txBody>
          <a:bodyPr wrap="square" rtlCol="0" anchor="ctr"/>
          <a:lstStyle/>
          <a:p>
            <a:pPr indent="0" marL="0">
              <a:buNone/>
            </a:pPr>
            <a:r>
              <a:rPr lang="en-US" sz="1200" b="1" dirty="0">
                <a:solidFill>
                  <a:srgbClr val="0D0808"/>
                </a:solidFill>
                <a:latin typeface="Calibri" pitchFamily="34" charset="0"/>
                <a:ea typeface="Calibri" pitchFamily="34" charset="-122"/>
                <a:cs typeface="Calibri" pitchFamily="34" charset="-120"/>
              </a:rPr>
              <a:t>Agent Chat (Discovery)</a:t>
            </a:r>
            <a:endParaRPr lang="en-US" sz="1200" dirty="0"/>
          </a:p>
        </p:txBody>
      </p:sp>
      <p:sp>
        <p:nvSpPr>
          <p:cNvPr id="22" name="Shape 20"/>
          <p:cNvSpPr/>
          <p:nvPr/>
        </p:nvSpPr>
        <p:spPr>
          <a:xfrm>
            <a:off x="2624328" y="2148840"/>
            <a:ext cx="1828800" cy="2011680"/>
          </a:xfrm>
          <a:prstGeom prst="rect">
            <a:avLst/>
          </a:prstGeom>
          <a:solidFill>
            <a:srgbClr val="1A0F0F"/>
          </a:solidFill>
          <a:ln w="12700">
            <a:solidFill>
              <a:srgbClr val="331515"/>
            </a:solidFill>
            <a:prstDash val="solid"/>
          </a:ln>
        </p:spPr>
      </p:sp>
      <p:sp>
        <p:nvSpPr>
          <p:cNvPr id="23" name="Text 21"/>
          <p:cNvSpPr/>
          <p:nvPr/>
        </p:nvSpPr>
        <p:spPr>
          <a:xfrm>
            <a:off x="2651760" y="2176272"/>
            <a:ext cx="1783080" cy="246888"/>
          </a:xfrm>
          <a:prstGeom prst="rect">
            <a:avLst/>
          </a:prstGeom>
          <a:noFill/>
          <a:ln/>
        </p:spPr>
        <p:txBody>
          <a:bodyPr wrap="square" rtlCol="0" anchor="ctr"/>
          <a:lstStyle/>
          <a:p>
            <a:pPr indent="0" marL="0">
              <a:buNone/>
            </a:pPr>
            <a:r>
              <a:rPr lang="en-US" sz="750" b="1" dirty="0">
                <a:solidFill>
                  <a:srgbClr val="E2001A"/>
                </a:solidFill>
                <a:latin typeface="Courier New" pitchFamily="34" charset="0"/>
                <a:ea typeface="Courier New" pitchFamily="34" charset="-122"/>
                <a:cs typeface="Courier New" pitchFamily="34" charset="-120"/>
              </a:rPr>
              <a:t>╔══════════╗</a:t>
            </a:r>
            <a:endParaRPr lang="en-US" sz="750" dirty="0"/>
          </a:p>
        </p:txBody>
      </p:sp>
      <p:sp>
        <p:nvSpPr>
          <p:cNvPr id="24" name="Text 22"/>
          <p:cNvSpPr/>
          <p:nvPr/>
        </p:nvSpPr>
        <p:spPr>
          <a:xfrm>
            <a:off x="2651760" y="2432304"/>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"light, &lt;€14..."</a:t>
            </a:r>
            <a:endParaRPr lang="en-US" sz="750" dirty="0"/>
          </a:p>
        </p:txBody>
      </p:sp>
      <p:sp>
        <p:nvSpPr>
          <p:cNvPr id="25" name="Text 23"/>
          <p:cNvSpPr/>
          <p:nvPr/>
        </p:nvSpPr>
        <p:spPr>
          <a:xfrm>
            <a:off x="2651760" y="2688336"/>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Genie thinking</a:t>
            </a:r>
            <a:endParaRPr lang="en-US" sz="750" dirty="0"/>
          </a:p>
        </p:txBody>
      </p:sp>
      <p:sp>
        <p:nvSpPr>
          <p:cNvPr id="26" name="Text 24"/>
          <p:cNvSpPr/>
          <p:nvPr/>
        </p:nvSpPr>
        <p:spPr>
          <a:xfrm>
            <a:off x="2651760" y="2944368"/>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a:t>
            </a:r>
            <a:endParaRPr lang="en-US" sz="750" dirty="0"/>
          </a:p>
        </p:txBody>
      </p:sp>
      <p:sp>
        <p:nvSpPr>
          <p:cNvPr id="27" name="Text 25"/>
          <p:cNvSpPr/>
          <p:nvPr/>
        </p:nvSpPr>
        <p:spPr>
          <a:xfrm>
            <a:off x="2651760" y="3200400"/>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Levant Kitchen</a:t>
            </a:r>
            <a:endParaRPr lang="en-US" sz="750" dirty="0"/>
          </a:p>
        </p:txBody>
      </p:sp>
      <p:sp>
        <p:nvSpPr>
          <p:cNvPr id="28" name="Text 26"/>
          <p:cNvSpPr/>
          <p:nvPr/>
        </p:nvSpPr>
        <p:spPr>
          <a:xfrm>
            <a:off x="2651760" y="3456432"/>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Bao Bistro</a:t>
            </a:r>
            <a:endParaRPr lang="en-US" sz="750" dirty="0"/>
          </a:p>
        </p:txBody>
      </p:sp>
      <p:sp>
        <p:nvSpPr>
          <p:cNvPr id="29" name="Text 27"/>
          <p:cNvSpPr/>
          <p:nvPr/>
        </p:nvSpPr>
        <p:spPr>
          <a:xfrm>
            <a:off x="2651760" y="3712464"/>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Sakura Box</a:t>
            </a:r>
            <a:endParaRPr lang="en-US" sz="750" dirty="0"/>
          </a:p>
        </p:txBody>
      </p:sp>
      <p:sp>
        <p:nvSpPr>
          <p:cNvPr id="30" name="Text 28"/>
          <p:cNvSpPr/>
          <p:nvPr/>
        </p:nvSpPr>
        <p:spPr>
          <a:xfrm>
            <a:off x="2624328" y="4251960"/>
            <a:ext cx="1828800" cy="2011680"/>
          </a:xfrm>
          <a:prstGeom prst="rect">
            <a:avLst/>
          </a:prstGeom>
          <a:noFill/>
          <a:ln/>
        </p:spPr>
        <p:txBody>
          <a:bodyPr wrap="square" rtlCol="0" anchor="ctr"/>
          <a:lstStyle/>
          <a:p>
            <a:pPr indent="0" marL="0">
              <a:buNone/>
            </a:pPr>
            <a:r>
              <a:rPr lang="en-US" sz="950" dirty="0">
                <a:solidFill>
                  <a:srgbClr val="4B3535"/>
                </a:solidFill>
                <a:latin typeface="Calibri" pitchFamily="34" charset="0"/>
                <a:ea typeface="Calibri" pitchFamily="34" charset="-122"/>
                <a:cs typeface="Calibri" pitchFamily="34" charset="-120"/>
              </a:rPr>
              <a:t>User: "something light, under €14, quick delivery, haven't tried before." Typing indicator → ranked picks in ≤1.2s. 🏆 Best match badge on Levant Kitchen. Cuisine tags + delivery time shown per result.</a:t>
            </a:r>
            <a:endParaRPr lang="en-US" sz="950" dirty="0"/>
          </a:p>
        </p:txBody>
      </p:sp>
      <p:sp>
        <p:nvSpPr>
          <p:cNvPr id="31" name="Shape 29"/>
          <p:cNvSpPr/>
          <p:nvPr/>
        </p:nvSpPr>
        <p:spPr>
          <a:xfrm>
            <a:off x="4709160" y="1234440"/>
            <a:ext cx="2057400" cy="5166360"/>
          </a:xfrm>
          <a:prstGeom prst="rect">
            <a:avLst/>
          </a:prstGeom>
          <a:solidFill>
            <a:srgbClr val="FFFFFF"/>
          </a:solidFill>
          <a:ln w="12700">
            <a:solidFill>
              <a:srgbClr val="E5D5D5"/>
            </a:solidFill>
            <a:prstDash val="solid"/>
          </a:ln>
          <a:effectLst>
            <a:outerShdw sx="100000" sy="100000" kx="0" ky="0" algn="bl" rotWithShape="0" blurRad="50800" dist="25400" dir="2700000">
              <a:srgbClr val="000000">
                <a:alpha val="15000"/>
              </a:srgbClr>
            </a:outerShdw>
          </a:effectLst>
        </p:spPr>
      </p:sp>
      <p:sp>
        <p:nvSpPr>
          <p:cNvPr id="32" name="Shape 30"/>
          <p:cNvSpPr/>
          <p:nvPr/>
        </p:nvSpPr>
        <p:spPr>
          <a:xfrm>
            <a:off x="4709160" y="1234440"/>
            <a:ext cx="2057400" cy="45720"/>
          </a:xfrm>
          <a:prstGeom prst="rect">
            <a:avLst/>
          </a:prstGeom>
          <a:solidFill>
            <a:srgbClr val="E2001A"/>
          </a:solidFill>
          <a:ln/>
        </p:spPr>
      </p:sp>
      <p:sp>
        <p:nvSpPr>
          <p:cNvPr id="33" name="Text 31"/>
          <p:cNvSpPr/>
          <p:nvPr/>
        </p:nvSpPr>
        <p:spPr>
          <a:xfrm>
            <a:off x="4818888" y="1325880"/>
            <a:ext cx="914400" cy="256032"/>
          </a:xfrm>
          <a:prstGeom prst="rect">
            <a:avLst/>
          </a:prstGeom>
          <a:noFill/>
          <a:ln/>
        </p:spPr>
        <p:txBody>
          <a:bodyPr wrap="square" rtlCol="0" anchor="ctr"/>
          <a:lstStyle/>
          <a:p>
            <a:pPr indent="0" marL="0">
              <a:buNone/>
            </a:pPr>
            <a:r>
              <a:rPr lang="en-US" sz="900" b="1" spc="100" kern="0" dirty="0">
                <a:solidFill>
                  <a:srgbClr val="E2001A"/>
                </a:solidFill>
                <a:latin typeface="Calibri" pitchFamily="34" charset="0"/>
                <a:ea typeface="Calibri" pitchFamily="34" charset="-122"/>
                <a:cs typeface="Calibri" pitchFamily="34" charset="-120"/>
              </a:rPr>
              <a:t>03</a:t>
            </a:r>
            <a:endParaRPr lang="en-US" sz="900" dirty="0"/>
          </a:p>
        </p:txBody>
      </p:sp>
      <p:sp>
        <p:nvSpPr>
          <p:cNvPr id="34" name="Text 32"/>
          <p:cNvSpPr/>
          <p:nvPr/>
        </p:nvSpPr>
        <p:spPr>
          <a:xfrm>
            <a:off x="4818888" y="1572768"/>
            <a:ext cx="1828800" cy="502920"/>
          </a:xfrm>
          <a:prstGeom prst="rect">
            <a:avLst/>
          </a:prstGeom>
          <a:noFill/>
          <a:ln/>
        </p:spPr>
        <p:txBody>
          <a:bodyPr wrap="square" rtlCol="0" anchor="ctr"/>
          <a:lstStyle/>
          <a:p>
            <a:pPr indent="0" marL="0">
              <a:buNone/>
            </a:pPr>
            <a:r>
              <a:rPr lang="en-US" sz="1200" b="1" dirty="0">
                <a:solidFill>
                  <a:srgbClr val="0D0808"/>
                </a:solidFill>
                <a:latin typeface="Calibri" pitchFamily="34" charset="0"/>
                <a:ea typeface="Calibri" pitchFamily="34" charset="-122"/>
                <a:cs typeface="Calibri" pitchFamily="34" charset="-120"/>
              </a:rPr>
              <a:t>Taste Profile</a:t>
            </a:r>
            <a:endParaRPr lang="en-US" sz="1200" dirty="0"/>
          </a:p>
        </p:txBody>
      </p:sp>
      <p:sp>
        <p:nvSpPr>
          <p:cNvPr id="35" name="Shape 33"/>
          <p:cNvSpPr/>
          <p:nvPr/>
        </p:nvSpPr>
        <p:spPr>
          <a:xfrm>
            <a:off x="4818888" y="2148840"/>
            <a:ext cx="1828800" cy="2011680"/>
          </a:xfrm>
          <a:prstGeom prst="rect">
            <a:avLst/>
          </a:prstGeom>
          <a:solidFill>
            <a:srgbClr val="1A0F0F"/>
          </a:solidFill>
          <a:ln w="12700">
            <a:solidFill>
              <a:srgbClr val="331515"/>
            </a:solidFill>
            <a:prstDash val="solid"/>
          </a:ln>
        </p:spPr>
      </p:sp>
      <p:sp>
        <p:nvSpPr>
          <p:cNvPr id="36" name="Text 34"/>
          <p:cNvSpPr/>
          <p:nvPr/>
        </p:nvSpPr>
        <p:spPr>
          <a:xfrm>
            <a:off x="4846320" y="2176272"/>
            <a:ext cx="1783080" cy="246888"/>
          </a:xfrm>
          <a:prstGeom prst="rect">
            <a:avLst/>
          </a:prstGeom>
          <a:noFill/>
          <a:ln/>
        </p:spPr>
        <p:txBody>
          <a:bodyPr wrap="square" rtlCol="0" anchor="ctr"/>
          <a:lstStyle/>
          <a:p>
            <a:pPr indent="0" marL="0">
              <a:buNone/>
            </a:pPr>
            <a:r>
              <a:rPr lang="en-US" sz="750" b="1" dirty="0">
                <a:solidFill>
                  <a:srgbClr val="E2001A"/>
                </a:solidFill>
                <a:latin typeface="Courier New" pitchFamily="34" charset="0"/>
                <a:ea typeface="Courier New" pitchFamily="34" charset="-122"/>
                <a:cs typeface="Courier New" pitchFamily="34" charset="-120"/>
              </a:rPr>
              <a:t>╔══════════╗</a:t>
            </a:r>
            <a:endParaRPr lang="en-US" sz="750" dirty="0"/>
          </a:p>
        </p:txBody>
      </p:sp>
      <p:sp>
        <p:nvSpPr>
          <p:cNvPr id="37" name="Text 35"/>
          <p:cNvSpPr/>
          <p:nvPr/>
        </p:nvSpPr>
        <p:spPr>
          <a:xfrm>
            <a:off x="4846320" y="2432304"/>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Taste Profile</a:t>
            </a:r>
            <a:endParaRPr lang="en-US" sz="750" dirty="0"/>
          </a:p>
        </p:txBody>
      </p:sp>
      <p:sp>
        <p:nvSpPr>
          <p:cNvPr id="38" name="Text 36"/>
          <p:cNvSpPr/>
          <p:nvPr/>
        </p:nvSpPr>
        <p:spPr>
          <a:xfrm>
            <a:off x="4846320" y="2688336"/>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a:t>
            </a:r>
            <a:endParaRPr lang="en-US" sz="750" dirty="0"/>
          </a:p>
        </p:txBody>
      </p:sp>
      <p:sp>
        <p:nvSpPr>
          <p:cNvPr id="39" name="Text 37"/>
          <p:cNvSpPr/>
          <p:nvPr/>
        </p:nvSpPr>
        <p:spPr>
          <a:xfrm>
            <a:off x="4846320" y="2944368"/>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Thai ✓  Burgers</a:t>
            </a:r>
            <a:endParaRPr lang="en-US" sz="750" dirty="0"/>
          </a:p>
        </p:txBody>
      </p:sp>
      <p:sp>
        <p:nvSpPr>
          <p:cNvPr id="40" name="Text 38"/>
          <p:cNvSpPr/>
          <p:nvPr/>
        </p:nvSpPr>
        <p:spPr>
          <a:xfrm>
            <a:off x="4846320" y="3200400"/>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Quick delivery</a:t>
            </a:r>
            <a:endParaRPr lang="en-US" sz="750" dirty="0"/>
          </a:p>
        </p:txBody>
      </p:sp>
      <p:sp>
        <p:nvSpPr>
          <p:cNvPr id="41" name="Text 39"/>
          <p:cNvSpPr/>
          <p:nvPr/>
        </p:nvSpPr>
        <p:spPr>
          <a:xfrm>
            <a:off x="4846320" y="3456432"/>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91% ████████░</a:t>
            </a:r>
            <a:endParaRPr lang="en-US" sz="750" dirty="0"/>
          </a:p>
        </p:txBody>
      </p:sp>
      <p:sp>
        <p:nvSpPr>
          <p:cNvPr id="42" name="Text 40"/>
          <p:cNvSpPr/>
          <p:nvPr/>
        </p:nvSpPr>
        <p:spPr>
          <a:xfrm>
            <a:off x="4846320" y="3712464"/>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Budget 84% ██████░</a:t>
            </a:r>
            <a:endParaRPr lang="en-US" sz="750" dirty="0"/>
          </a:p>
        </p:txBody>
      </p:sp>
      <p:sp>
        <p:nvSpPr>
          <p:cNvPr id="43" name="Text 41"/>
          <p:cNvSpPr/>
          <p:nvPr/>
        </p:nvSpPr>
        <p:spPr>
          <a:xfrm>
            <a:off x="4818888" y="4251960"/>
            <a:ext cx="1828800" cy="2011680"/>
          </a:xfrm>
          <a:prstGeom prst="rect">
            <a:avLst/>
          </a:prstGeom>
          <a:noFill/>
          <a:ln/>
        </p:spPr>
        <p:txBody>
          <a:bodyPr wrap="square" rtlCol="0" anchor="ctr"/>
          <a:lstStyle/>
          <a:p>
            <a:pPr indent="0" marL="0">
              <a:buNone/>
            </a:pPr>
            <a:r>
              <a:rPr lang="en-US" sz="950" dirty="0">
                <a:solidFill>
                  <a:srgbClr val="4B3535"/>
                </a:solidFill>
                <a:latin typeface="Calibri" pitchFamily="34" charset="0"/>
                <a:ea typeface="Calibri" pitchFamily="34" charset="-122"/>
                <a:cs typeface="Calibri" pitchFamily="34" charset="-120"/>
              </a:rPr>
              <a:t>6 confirmed tags (Thai, Burgers, etc.). 3 AI-learned signals with confidence bars: 91% "Quick Delivery preference", 84% "Budget-conscious", 88% "Cuisine explorer." User confirms or skips uncertain signals.</a:t>
            </a:r>
            <a:endParaRPr lang="en-US" sz="950" dirty="0"/>
          </a:p>
        </p:txBody>
      </p:sp>
      <p:sp>
        <p:nvSpPr>
          <p:cNvPr id="44" name="Shape 42"/>
          <p:cNvSpPr/>
          <p:nvPr/>
        </p:nvSpPr>
        <p:spPr>
          <a:xfrm>
            <a:off x="6903720" y="1234440"/>
            <a:ext cx="2057400" cy="5166360"/>
          </a:xfrm>
          <a:prstGeom prst="rect">
            <a:avLst/>
          </a:prstGeom>
          <a:solidFill>
            <a:srgbClr val="FFFFFF"/>
          </a:solidFill>
          <a:ln w="12700">
            <a:solidFill>
              <a:srgbClr val="E5D5D5"/>
            </a:solidFill>
            <a:prstDash val="solid"/>
          </a:ln>
          <a:effectLst>
            <a:outerShdw sx="100000" sy="100000" kx="0" ky="0" algn="bl" rotWithShape="0" blurRad="50800" dist="25400" dir="2700000">
              <a:srgbClr val="000000">
                <a:alpha val="15000"/>
              </a:srgbClr>
            </a:outerShdw>
          </a:effectLst>
        </p:spPr>
      </p:sp>
      <p:sp>
        <p:nvSpPr>
          <p:cNvPr id="45" name="Shape 43"/>
          <p:cNvSpPr/>
          <p:nvPr/>
        </p:nvSpPr>
        <p:spPr>
          <a:xfrm>
            <a:off x="6903720" y="1234440"/>
            <a:ext cx="2057400" cy="45720"/>
          </a:xfrm>
          <a:prstGeom prst="rect">
            <a:avLst/>
          </a:prstGeom>
          <a:solidFill>
            <a:srgbClr val="E2001A"/>
          </a:solidFill>
          <a:ln/>
        </p:spPr>
      </p:sp>
      <p:sp>
        <p:nvSpPr>
          <p:cNvPr id="46" name="Text 44"/>
          <p:cNvSpPr/>
          <p:nvPr/>
        </p:nvSpPr>
        <p:spPr>
          <a:xfrm>
            <a:off x="7013448" y="1325880"/>
            <a:ext cx="914400" cy="256032"/>
          </a:xfrm>
          <a:prstGeom prst="rect">
            <a:avLst/>
          </a:prstGeom>
          <a:noFill/>
          <a:ln/>
        </p:spPr>
        <p:txBody>
          <a:bodyPr wrap="square" rtlCol="0" anchor="ctr"/>
          <a:lstStyle/>
          <a:p>
            <a:pPr indent="0" marL="0">
              <a:buNone/>
            </a:pPr>
            <a:r>
              <a:rPr lang="en-US" sz="900" b="1" spc="100" kern="0" dirty="0">
                <a:solidFill>
                  <a:srgbClr val="E2001A"/>
                </a:solidFill>
                <a:latin typeface="Calibri" pitchFamily="34" charset="0"/>
                <a:ea typeface="Calibri" pitchFamily="34" charset="-122"/>
                <a:cs typeface="Calibri" pitchFamily="34" charset="-120"/>
              </a:rPr>
              <a:t>04</a:t>
            </a:r>
            <a:endParaRPr lang="en-US" sz="900" dirty="0"/>
          </a:p>
        </p:txBody>
      </p:sp>
      <p:sp>
        <p:nvSpPr>
          <p:cNvPr id="47" name="Text 45"/>
          <p:cNvSpPr/>
          <p:nvPr/>
        </p:nvSpPr>
        <p:spPr>
          <a:xfrm>
            <a:off x="7013448" y="1572768"/>
            <a:ext cx="1828800" cy="502920"/>
          </a:xfrm>
          <a:prstGeom prst="rect">
            <a:avLst/>
          </a:prstGeom>
          <a:noFill/>
          <a:ln/>
        </p:spPr>
        <p:txBody>
          <a:bodyPr wrap="square" rtlCol="0" anchor="ctr"/>
          <a:lstStyle/>
          <a:p>
            <a:pPr indent="0" marL="0">
              <a:buNone/>
            </a:pPr>
            <a:r>
              <a:rPr lang="en-US" sz="1200" b="1" dirty="0">
                <a:solidFill>
                  <a:srgbClr val="0D0808"/>
                </a:solidFill>
                <a:latin typeface="Calibri" pitchFamily="34" charset="0"/>
                <a:ea typeface="Calibri" pitchFamily="34" charset="-122"/>
                <a:cs typeface="Calibri" pitchFamily="34" charset="-120"/>
              </a:rPr>
              <a:t>Order Success + Learning</a:t>
            </a:r>
            <a:endParaRPr lang="en-US" sz="1200" dirty="0"/>
          </a:p>
        </p:txBody>
      </p:sp>
      <p:sp>
        <p:nvSpPr>
          <p:cNvPr id="48" name="Shape 46"/>
          <p:cNvSpPr/>
          <p:nvPr/>
        </p:nvSpPr>
        <p:spPr>
          <a:xfrm>
            <a:off x="7013448" y="2148840"/>
            <a:ext cx="1828800" cy="2011680"/>
          </a:xfrm>
          <a:prstGeom prst="rect">
            <a:avLst/>
          </a:prstGeom>
          <a:solidFill>
            <a:srgbClr val="1A0F0F"/>
          </a:solidFill>
          <a:ln w="12700">
            <a:solidFill>
              <a:srgbClr val="331515"/>
            </a:solidFill>
            <a:prstDash val="solid"/>
          </a:ln>
        </p:spPr>
      </p:sp>
      <p:sp>
        <p:nvSpPr>
          <p:cNvPr id="49" name="Text 47"/>
          <p:cNvSpPr/>
          <p:nvPr/>
        </p:nvSpPr>
        <p:spPr>
          <a:xfrm>
            <a:off x="7040880" y="2176272"/>
            <a:ext cx="1783080" cy="246888"/>
          </a:xfrm>
          <a:prstGeom prst="rect">
            <a:avLst/>
          </a:prstGeom>
          <a:noFill/>
          <a:ln/>
        </p:spPr>
        <p:txBody>
          <a:bodyPr wrap="square" rtlCol="0" anchor="ctr"/>
          <a:lstStyle/>
          <a:p>
            <a:pPr indent="0" marL="0">
              <a:buNone/>
            </a:pPr>
            <a:r>
              <a:rPr lang="en-US" sz="750" b="1" dirty="0">
                <a:solidFill>
                  <a:srgbClr val="E2001A"/>
                </a:solidFill>
                <a:latin typeface="Courier New" pitchFamily="34" charset="0"/>
                <a:ea typeface="Courier New" pitchFamily="34" charset="-122"/>
                <a:cs typeface="Courier New" pitchFamily="34" charset="-120"/>
              </a:rPr>
              <a:t>╔══════════╗</a:t>
            </a:r>
            <a:endParaRPr lang="en-US" sz="750" dirty="0"/>
          </a:p>
        </p:txBody>
      </p:sp>
      <p:sp>
        <p:nvSpPr>
          <p:cNvPr id="50" name="Text 48"/>
          <p:cNvSpPr/>
          <p:nvPr/>
        </p:nvSpPr>
        <p:spPr>
          <a:xfrm>
            <a:off x="7040880" y="2432304"/>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Order placed!</a:t>
            </a:r>
            <a:endParaRPr lang="en-US" sz="750" dirty="0"/>
          </a:p>
        </p:txBody>
      </p:sp>
      <p:sp>
        <p:nvSpPr>
          <p:cNvPr id="51" name="Text 49"/>
          <p:cNvSpPr/>
          <p:nvPr/>
        </p:nvSpPr>
        <p:spPr>
          <a:xfrm>
            <a:off x="7040880" y="2688336"/>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Levant Kitchen</a:t>
            </a:r>
            <a:endParaRPr lang="en-US" sz="750" dirty="0"/>
          </a:p>
        </p:txBody>
      </p:sp>
      <p:sp>
        <p:nvSpPr>
          <p:cNvPr id="52" name="Text 50"/>
          <p:cNvSpPr/>
          <p:nvPr/>
        </p:nvSpPr>
        <p:spPr>
          <a:xfrm>
            <a:off x="7040880" y="2944368"/>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€22.40 · 28 min</a:t>
            </a:r>
            <a:endParaRPr lang="en-US" sz="750" dirty="0"/>
          </a:p>
        </p:txBody>
      </p:sp>
      <p:sp>
        <p:nvSpPr>
          <p:cNvPr id="53" name="Text 51"/>
          <p:cNvSpPr/>
          <p:nvPr/>
        </p:nvSpPr>
        <p:spPr>
          <a:xfrm>
            <a:off x="7040880" y="3200400"/>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a:t>
            </a:r>
            <a:endParaRPr lang="en-US" sz="750" dirty="0"/>
          </a:p>
        </p:txBody>
      </p:sp>
      <p:sp>
        <p:nvSpPr>
          <p:cNvPr id="54" name="Text 52"/>
          <p:cNvSpPr/>
          <p:nvPr/>
        </p:nvSpPr>
        <p:spPr>
          <a:xfrm>
            <a:off x="7040880" y="3456432"/>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New: Levant tag</a:t>
            </a:r>
            <a:endParaRPr lang="en-US" sz="750" dirty="0"/>
          </a:p>
        </p:txBody>
      </p:sp>
      <p:sp>
        <p:nvSpPr>
          <p:cNvPr id="55" name="Text 53"/>
          <p:cNvSpPr/>
          <p:nvPr/>
        </p:nvSpPr>
        <p:spPr>
          <a:xfrm>
            <a:off x="7040880" y="3712464"/>
            <a:ext cx="1783080" cy="246888"/>
          </a:xfrm>
          <a:prstGeom prst="rect">
            <a:avLst/>
          </a:prstGeom>
          <a:noFill/>
          <a:ln/>
        </p:spPr>
        <p:txBody>
          <a:bodyPr wrap="square" rtlCol="0" anchor="ctr"/>
          <a:lstStyle/>
          <a:p>
            <a:pPr indent="0" marL="0">
              <a:buNone/>
            </a:pPr>
            <a:r>
              <a:rPr lang="en-US" sz="750" dirty="0">
                <a:solidFill>
                  <a:srgbClr val="6EE7B7"/>
                </a:solidFill>
                <a:latin typeface="Courier New" pitchFamily="34" charset="0"/>
                <a:ea typeface="Courier New" pitchFamily="34" charset="-122"/>
                <a:cs typeface="Courier New" pitchFamily="34" charset="-120"/>
              </a:rPr>
              <a:t>💡 Friday? Rate it</a:t>
            </a:r>
            <a:endParaRPr lang="en-US" sz="750" dirty="0"/>
          </a:p>
        </p:txBody>
      </p:sp>
      <p:sp>
        <p:nvSpPr>
          <p:cNvPr id="56" name="Text 54"/>
          <p:cNvSpPr/>
          <p:nvPr/>
        </p:nvSpPr>
        <p:spPr>
          <a:xfrm>
            <a:off x="7013448" y="4251960"/>
            <a:ext cx="1828800" cy="2011680"/>
          </a:xfrm>
          <a:prstGeom prst="rect">
            <a:avLst/>
          </a:prstGeom>
          <a:noFill/>
          <a:ln/>
        </p:spPr>
        <p:txBody>
          <a:bodyPr wrap="square" rtlCol="0" anchor="ctr"/>
          <a:lstStyle/>
          <a:p>
            <a:pPr indent="0" marL="0">
              <a:buNone/>
            </a:pPr>
            <a:r>
              <a:rPr lang="en-US" sz="950" dirty="0">
                <a:solidFill>
                  <a:srgbClr val="4B3535"/>
                </a:solidFill>
                <a:latin typeface="Calibri" pitchFamily="34" charset="0"/>
                <a:ea typeface="Calibri" pitchFamily="34" charset="-122"/>
                <a:cs typeface="Calibri" pitchFamily="34" charset="-120"/>
              </a:rPr>
              <a:t>Confetti. Order card (Levant Kitchen, €22.40). 3 signal-learned cards shown: new tag added, budget confirmed, uncertain Friday pattern → Rate It button. Model updates real-time post-order.</a:t>
            </a:r>
            <a:endParaRPr lang="en-US" sz="950" dirty="0"/>
          </a:p>
        </p:txBody>
      </p:sp>
      <p:sp>
        <p:nvSpPr>
          <p:cNvPr id="57" name="Text 55"/>
          <p:cNvSpPr/>
          <p:nvPr/>
        </p:nvSpPr>
        <p:spPr>
          <a:xfrm>
            <a:off x="320040" y="6510528"/>
            <a:ext cx="8503920" cy="201168"/>
          </a:xfrm>
          <a:prstGeom prst="rect">
            <a:avLst/>
          </a:prstGeom>
          <a:noFill/>
          <a:ln/>
        </p:spPr>
        <p:txBody>
          <a:bodyPr wrap="square" rtlCol="0" anchor="ctr"/>
          <a:lstStyle/>
          <a:p>
            <a:pPr indent="0" marL="0">
              <a:buNone/>
            </a:pPr>
            <a:r>
              <a:rPr lang="en-US" sz="850" i="1" dirty="0">
                <a:solidFill>
                  <a:srgbClr val="8B7070"/>
                </a:solidFill>
                <a:latin typeface="Calibri" pitchFamily="34" charset="0"/>
                <a:ea typeface="Calibri" pitchFamily="34" charset="-122"/>
                <a:cs typeface="Calibri" pitchFamily="34" charset="-120"/>
              </a:rPr>
              <a:t>Prototype: dh-foodgenie-prototype.html · All 4 states interactive · Click-based navigation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80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2001A"/>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E2001A"/>
                </a:solidFill>
                <a:latin typeface="Calibri" pitchFamily="34" charset="0"/>
                <a:ea typeface="Calibri" pitchFamily="34" charset="-122"/>
                <a:cs typeface="Calibri" pitchFamily="34" charset="-120"/>
              </a:rPr>
              <a:t>IMPACT &amp; ROI</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Built on PhonePe ML Proof Points — Adjusted for DH Food Discovery Scale</a:t>
            </a:r>
            <a:endParaRPr lang="en-US" sz="2200" dirty="0"/>
          </a:p>
        </p:txBody>
      </p:sp>
      <p:sp>
        <p:nvSpPr>
          <p:cNvPr id="5" name="Shape 3"/>
          <p:cNvSpPr/>
          <p:nvPr/>
        </p:nvSpPr>
        <p:spPr>
          <a:xfrm>
            <a:off x="320040" y="1234440"/>
            <a:ext cx="4114800" cy="347472"/>
          </a:xfrm>
          <a:prstGeom prst="rect">
            <a:avLst/>
          </a:prstGeom>
          <a:solidFill>
            <a:srgbClr val="E2001A"/>
          </a:solidFill>
          <a:ln/>
        </p:spPr>
      </p:sp>
      <p:sp>
        <p:nvSpPr>
          <p:cNvPr id="6" name="Text 4"/>
          <p:cNvSpPr/>
          <p:nvPr/>
        </p:nvSpPr>
        <p:spPr>
          <a:xfrm>
            <a:off x="320040" y="1252728"/>
            <a:ext cx="4114800" cy="310896"/>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USER / DEMAND IMPACT</a:t>
            </a:r>
            <a:endParaRPr lang="en-US" sz="1000" dirty="0"/>
          </a:p>
        </p:txBody>
      </p:sp>
      <p:sp>
        <p:nvSpPr>
          <p:cNvPr id="7" name="Shape 5"/>
          <p:cNvSpPr/>
          <p:nvPr/>
        </p:nvSpPr>
        <p:spPr>
          <a:xfrm>
            <a:off x="4709160" y="1234440"/>
            <a:ext cx="4114800" cy="347472"/>
          </a:xfrm>
          <a:prstGeom prst="rect">
            <a:avLst/>
          </a:prstGeom>
          <a:solidFill>
            <a:srgbClr val="2C1A00"/>
          </a:solidFill>
          <a:ln w="12700">
            <a:solidFill>
              <a:srgbClr val="FFB800"/>
            </a:solidFill>
            <a:prstDash val="solid"/>
          </a:ln>
        </p:spPr>
      </p:sp>
      <p:sp>
        <p:nvSpPr>
          <p:cNvPr id="8" name="Text 6"/>
          <p:cNvSpPr/>
          <p:nvPr/>
        </p:nvSpPr>
        <p:spPr>
          <a:xfrm>
            <a:off x="4709160" y="1252728"/>
            <a:ext cx="4114800" cy="310896"/>
          </a:xfrm>
          <a:prstGeom prst="rect">
            <a:avLst/>
          </a:prstGeom>
          <a:noFill/>
          <a:ln/>
        </p:spPr>
        <p:txBody>
          <a:bodyPr wrap="square" rtlCol="0" anchor="ctr"/>
          <a:lstStyle/>
          <a:p>
            <a:pPr algn="ctr" indent="0" marL="0">
              <a:buNone/>
            </a:pPr>
            <a:r>
              <a:rPr lang="en-US" sz="1000" b="1" spc="150" kern="0" dirty="0">
                <a:solidFill>
                  <a:srgbClr val="FFB800"/>
                </a:solidFill>
                <a:latin typeface="Calibri" pitchFamily="34" charset="0"/>
                <a:ea typeface="Calibri" pitchFamily="34" charset="-122"/>
                <a:cs typeface="Calibri" pitchFamily="34" charset="-120"/>
              </a:rPr>
              <a:t>DH / PLATFORM ROI</a:t>
            </a:r>
            <a:endParaRPr lang="en-US" sz="1000" dirty="0"/>
          </a:p>
        </p:txBody>
      </p:sp>
      <p:sp>
        <p:nvSpPr>
          <p:cNvPr id="9" name="Shape 7"/>
          <p:cNvSpPr/>
          <p:nvPr/>
        </p:nvSpPr>
        <p:spPr>
          <a:xfrm>
            <a:off x="320040" y="1737360"/>
            <a:ext cx="4114800" cy="1051560"/>
          </a:xfrm>
          <a:prstGeom prst="rect">
            <a:avLst/>
          </a:prstGeom>
          <a:solidFill>
            <a:srgbClr val="1A0F0F"/>
          </a:solidFill>
          <a:ln w="12700">
            <a:solidFill>
              <a:srgbClr val="331515"/>
            </a:solidFill>
            <a:prstDash val="solid"/>
          </a:ln>
        </p:spPr>
      </p:sp>
      <p:sp>
        <p:nvSpPr>
          <p:cNvPr id="10" name="Text 8"/>
          <p:cNvSpPr/>
          <p:nvPr/>
        </p:nvSpPr>
        <p:spPr>
          <a:xfrm>
            <a:off x="457200" y="1810512"/>
            <a:ext cx="1371600" cy="502920"/>
          </a:xfrm>
          <a:prstGeom prst="rect">
            <a:avLst/>
          </a:prstGeom>
          <a:noFill/>
          <a:ln/>
        </p:spPr>
        <p:txBody>
          <a:bodyPr wrap="square" rtlCol="0" anchor="ctr"/>
          <a:lstStyle/>
          <a:p>
            <a:pPr indent="0" marL="0">
              <a:buNone/>
            </a:pPr>
            <a:r>
              <a:rPr lang="en-US" sz="3600" b="1" dirty="0">
                <a:solidFill>
                  <a:srgbClr val="FFB800"/>
                </a:solidFill>
                <a:latin typeface="Calibri" pitchFamily="34" charset="0"/>
                <a:ea typeface="Calibri" pitchFamily="34" charset="-122"/>
                <a:cs typeface="Calibri" pitchFamily="34" charset="-120"/>
              </a:rPr>
              <a:t>+22%</a:t>
            </a:r>
            <a:endParaRPr lang="en-US" sz="3600" dirty="0"/>
          </a:p>
        </p:txBody>
      </p:sp>
      <p:sp>
        <p:nvSpPr>
          <p:cNvPr id="11" name="Text 9"/>
          <p:cNvSpPr/>
          <p:nvPr/>
        </p:nvSpPr>
        <p:spPr>
          <a:xfrm>
            <a:off x="457200" y="2286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Repeat order rate</a:t>
            </a:r>
            <a:endParaRPr lang="en-US" sz="1200" dirty="0"/>
          </a:p>
        </p:txBody>
      </p:sp>
      <p:sp>
        <p:nvSpPr>
          <p:cNvPr id="12" name="Text 10"/>
          <p:cNvSpPr/>
          <p:nvPr/>
        </p:nvSpPr>
        <p:spPr>
          <a:xfrm>
            <a:off x="457200" y="2496312"/>
            <a:ext cx="3749040" cy="256032"/>
          </a:xfrm>
          <a:prstGeom prst="rect">
            <a:avLst/>
          </a:prstGeom>
          <a:noFill/>
          <a:ln/>
        </p:spPr>
        <p:txBody>
          <a:bodyPr wrap="square" rtlCol="0" anchor="ctr"/>
          <a:lstStyle/>
          <a:p>
            <a:pPr indent="0" marL="0">
              <a:buNone/>
            </a:pPr>
            <a:r>
              <a:rPr lang="en-US" sz="900" dirty="0">
                <a:solidFill>
                  <a:srgbClr val="8B7070"/>
                </a:solidFill>
                <a:latin typeface="Calibri" pitchFamily="34" charset="0"/>
                <a:ea typeface="Calibri" pitchFamily="34" charset="-122"/>
                <a:cs typeface="Calibri" pitchFamily="34" charset="-120"/>
              </a:rPr>
              <a:t>Users w/ taste-matched recs reorder 3× more · PhonePe redemption model parallel</a:t>
            </a:r>
            <a:endParaRPr lang="en-US" sz="900" dirty="0"/>
          </a:p>
        </p:txBody>
      </p:sp>
      <p:sp>
        <p:nvSpPr>
          <p:cNvPr id="13" name="Shape 11"/>
          <p:cNvSpPr/>
          <p:nvPr/>
        </p:nvSpPr>
        <p:spPr>
          <a:xfrm>
            <a:off x="320040" y="2880360"/>
            <a:ext cx="4114800" cy="1051560"/>
          </a:xfrm>
          <a:prstGeom prst="rect">
            <a:avLst/>
          </a:prstGeom>
          <a:solidFill>
            <a:srgbClr val="1A0F0F"/>
          </a:solidFill>
          <a:ln w="12700">
            <a:solidFill>
              <a:srgbClr val="331515"/>
            </a:solidFill>
            <a:prstDash val="solid"/>
          </a:ln>
        </p:spPr>
      </p:sp>
      <p:sp>
        <p:nvSpPr>
          <p:cNvPr id="14" name="Text 12"/>
          <p:cNvSpPr/>
          <p:nvPr/>
        </p:nvSpPr>
        <p:spPr>
          <a:xfrm>
            <a:off x="457200" y="2953512"/>
            <a:ext cx="1371600" cy="502920"/>
          </a:xfrm>
          <a:prstGeom prst="rect">
            <a:avLst/>
          </a:prstGeom>
          <a:noFill/>
          <a:ln/>
        </p:spPr>
        <p:txBody>
          <a:bodyPr wrap="square" rtlCol="0" anchor="ctr"/>
          <a:lstStyle/>
          <a:p>
            <a:pPr indent="0" marL="0">
              <a:buNone/>
            </a:pPr>
            <a:r>
              <a:rPr lang="en-US" sz="3600" b="1" dirty="0">
                <a:solidFill>
                  <a:srgbClr val="FFB800"/>
                </a:solidFill>
                <a:latin typeface="Calibri" pitchFamily="34" charset="0"/>
                <a:ea typeface="Calibri" pitchFamily="34" charset="-122"/>
                <a:cs typeface="Calibri" pitchFamily="34" charset="-120"/>
              </a:rPr>
              <a:t>+18%</a:t>
            </a:r>
            <a:endParaRPr lang="en-US" sz="3600" dirty="0"/>
          </a:p>
        </p:txBody>
      </p:sp>
      <p:sp>
        <p:nvSpPr>
          <p:cNvPr id="15" name="Text 13"/>
          <p:cNvSpPr/>
          <p:nvPr/>
        </p:nvSpPr>
        <p:spPr>
          <a:xfrm>
            <a:off x="457200" y="3429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Session-to-order conversion</a:t>
            </a:r>
            <a:endParaRPr lang="en-US" sz="1200" dirty="0"/>
          </a:p>
        </p:txBody>
      </p:sp>
      <p:sp>
        <p:nvSpPr>
          <p:cNvPr id="16" name="Text 14"/>
          <p:cNvSpPr/>
          <p:nvPr/>
        </p:nvSpPr>
        <p:spPr>
          <a:xfrm>
            <a:off x="457200" y="3639312"/>
            <a:ext cx="3749040" cy="256032"/>
          </a:xfrm>
          <a:prstGeom prst="rect">
            <a:avLst/>
          </a:prstGeom>
          <a:noFill/>
          <a:ln/>
        </p:spPr>
        <p:txBody>
          <a:bodyPr wrap="square" rtlCol="0" anchor="ctr"/>
          <a:lstStyle/>
          <a:p>
            <a:pPr indent="0" marL="0">
              <a:buNone/>
            </a:pPr>
            <a:r>
              <a:rPr lang="en-US" sz="900" dirty="0">
                <a:solidFill>
                  <a:srgbClr val="8B7070"/>
                </a:solidFill>
                <a:latin typeface="Calibri" pitchFamily="34" charset="0"/>
                <a:ea typeface="Calibri" pitchFamily="34" charset="-122"/>
                <a:cs typeface="Calibri" pitchFamily="34" charset="-120"/>
              </a:rPr>
              <a:t>Proactive banner removes search friction — 1-tap vs 5-step</a:t>
            </a:r>
            <a:endParaRPr lang="en-US" sz="900" dirty="0"/>
          </a:p>
        </p:txBody>
      </p:sp>
      <p:sp>
        <p:nvSpPr>
          <p:cNvPr id="17" name="Shape 15"/>
          <p:cNvSpPr/>
          <p:nvPr/>
        </p:nvSpPr>
        <p:spPr>
          <a:xfrm>
            <a:off x="320040" y="4023360"/>
            <a:ext cx="4114800" cy="1051560"/>
          </a:xfrm>
          <a:prstGeom prst="rect">
            <a:avLst/>
          </a:prstGeom>
          <a:solidFill>
            <a:srgbClr val="1A0F0F"/>
          </a:solidFill>
          <a:ln w="12700">
            <a:solidFill>
              <a:srgbClr val="331515"/>
            </a:solidFill>
            <a:prstDash val="solid"/>
          </a:ln>
        </p:spPr>
      </p:sp>
      <p:sp>
        <p:nvSpPr>
          <p:cNvPr id="18" name="Text 16"/>
          <p:cNvSpPr/>
          <p:nvPr/>
        </p:nvSpPr>
        <p:spPr>
          <a:xfrm>
            <a:off x="457200" y="4096512"/>
            <a:ext cx="1371600" cy="502920"/>
          </a:xfrm>
          <a:prstGeom prst="rect">
            <a:avLst/>
          </a:prstGeom>
          <a:noFill/>
          <a:ln/>
        </p:spPr>
        <p:txBody>
          <a:bodyPr wrap="square" rtlCol="0" anchor="ctr"/>
          <a:lstStyle/>
          <a:p>
            <a:pPr indent="0" marL="0">
              <a:buNone/>
            </a:pPr>
            <a:r>
              <a:rPr lang="en-US" sz="3600" b="1" dirty="0">
                <a:solidFill>
                  <a:srgbClr val="FFB800"/>
                </a:solidFill>
                <a:latin typeface="Calibri" pitchFamily="34" charset="0"/>
                <a:ea typeface="Calibri" pitchFamily="34" charset="-122"/>
                <a:cs typeface="Calibri" pitchFamily="34" charset="-120"/>
              </a:rPr>
              <a:t>−35%</a:t>
            </a:r>
            <a:endParaRPr lang="en-US" sz="3600" dirty="0"/>
          </a:p>
        </p:txBody>
      </p:sp>
      <p:sp>
        <p:nvSpPr>
          <p:cNvPr id="19" name="Text 17"/>
          <p:cNvSpPr/>
          <p:nvPr/>
        </p:nvSpPr>
        <p:spPr>
          <a:xfrm>
            <a:off x="457200" y="4572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Browse-without-order sessions</a:t>
            </a:r>
            <a:endParaRPr lang="en-US" sz="1200" dirty="0"/>
          </a:p>
        </p:txBody>
      </p:sp>
      <p:sp>
        <p:nvSpPr>
          <p:cNvPr id="20" name="Text 18"/>
          <p:cNvSpPr/>
          <p:nvPr/>
        </p:nvSpPr>
        <p:spPr>
          <a:xfrm>
            <a:off x="457200" y="4782312"/>
            <a:ext cx="3749040" cy="256032"/>
          </a:xfrm>
          <a:prstGeom prst="rect">
            <a:avLst/>
          </a:prstGeom>
          <a:noFill/>
          <a:ln/>
        </p:spPr>
        <p:txBody>
          <a:bodyPr wrap="square" rtlCol="0" anchor="ctr"/>
          <a:lstStyle/>
          <a:p>
            <a:pPr indent="0" marL="0">
              <a:buNone/>
            </a:pPr>
            <a:r>
              <a:rPr lang="en-US" sz="900" dirty="0">
                <a:solidFill>
                  <a:srgbClr val="8B7070"/>
                </a:solidFill>
                <a:latin typeface="Calibri" pitchFamily="34" charset="0"/>
                <a:ea typeface="Calibri" pitchFamily="34" charset="-122"/>
                <a:cs typeface="Calibri" pitchFamily="34" charset="-120"/>
              </a:rPr>
              <a:t>Agent resolution vs scroll-exit · ML propensity model applied to discovery</a:t>
            </a:r>
            <a:endParaRPr lang="en-US" sz="900" dirty="0"/>
          </a:p>
        </p:txBody>
      </p:sp>
      <p:sp>
        <p:nvSpPr>
          <p:cNvPr id="21" name="Shape 19"/>
          <p:cNvSpPr/>
          <p:nvPr/>
        </p:nvSpPr>
        <p:spPr>
          <a:xfrm>
            <a:off x="320040" y="5166360"/>
            <a:ext cx="4114800" cy="1051560"/>
          </a:xfrm>
          <a:prstGeom prst="rect">
            <a:avLst/>
          </a:prstGeom>
          <a:solidFill>
            <a:srgbClr val="1A0F0F"/>
          </a:solidFill>
          <a:ln w="12700">
            <a:solidFill>
              <a:srgbClr val="331515"/>
            </a:solidFill>
            <a:prstDash val="solid"/>
          </a:ln>
        </p:spPr>
      </p:sp>
      <p:sp>
        <p:nvSpPr>
          <p:cNvPr id="22" name="Text 20"/>
          <p:cNvSpPr/>
          <p:nvPr/>
        </p:nvSpPr>
        <p:spPr>
          <a:xfrm>
            <a:off x="457200" y="5239512"/>
            <a:ext cx="1371600" cy="502920"/>
          </a:xfrm>
          <a:prstGeom prst="rect">
            <a:avLst/>
          </a:prstGeom>
          <a:noFill/>
          <a:ln/>
        </p:spPr>
        <p:txBody>
          <a:bodyPr wrap="square" rtlCol="0" anchor="ctr"/>
          <a:lstStyle/>
          <a:p>
            <a:pPr indent="0" marL="0">
              <a:buNone/>
            </a:pPr>
            <a:r>
              <a:rPr lang="en-US" sz="3600" b="1" dirty="0">
                <a:solidFill>
                  <a:srgbClr val="FFB800"/>
                </a:solidFill>
                <a:latin typeface="Calibri" pitchFamily="34" charset="0"/>
                <a:ea typeface="Calibri" pitchFamily="34" charset="-122"/>
                <a:cs typeface="Calibri" pitchFamily="34" charset="-120"/>
              </a:rPr>
              <a:t>+14%</a:t>
            </a:r>
            <a:endParaRPr lang="en-US" sz="3600" dirty="0"/>
          </a:p>
        </p:txBody>
      </p:sp>
      <p:sp>
        <p:nvSpPr>
          <p:cNvPr id="23" name="Text 21"/>
          <p:cNvSpPr/>
          <p:nvPr/>
        </p:nvSpPr>
        <p:spPr>
          <a:xfrm>
            <a:off x="457200" y="5715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AOV on Genie-initiated orders</a:t>
            </a:r>
            <a:endParaRPr lang="en-US" sz="1200" dirty="0"/>
          </a:p>
        </p:txBody>
      </p:sp>
      <p:sp>
        <p:nvSpPr>
          <p:cNvPr id="24" name="Text 22"/>
          <p:cNvSpPr/>
          <p:nvPr/>
        </p:nvSpPr>
        <p:spPr>
          <a:xfrm>
            <a:off x="457200" y="5925312"/>
            <a:ext cx="3749040" cy="256032"/>
          </a:xfrm>
          <a:prstGeom prst="rect">
            <a:avLst/>
          </a:prstGeom>
          <a:noFill/>
          <a:ln/>
        </p:spPr>
        <p:txBody>
          <a:bodyPr wrap="square" rtlCol="0" anchor="ctr"/>
          <a:lstStyle/>
          <a:p>
            <a:pPr indent="0" marL="0">
              <a:buNone/>
            </a:pPr>
            <a:r>
              <a:rPr lang="en-US" sz="900" dirty="0">
                <a:solidFill>
                  <a:srgbClr val="8B7070"/>
                </a:solidFill>
                <a:latin typeface="Calibri" pitchFamily="34" charset="0"/>
                <a:ea typeface="Calibri" pitchFamily="34" charset="-122"/>
                <a:cs typeface="Calibri" pitchFamily="34" charset="-120"/>
              </a:rPr>
              <a:t>Recs skew toward higher-rated, higher-value restaurants user has not tried</a:t>
            </a:r>
            <a:endParaRPr lang="en-US" sz="900" dirty="0"/>
          </a:p>
        </p:txBody>
      </p:sp>
      <p:sp>
        <p:nvSpPr>
          <p:cNvPr id="25" name="Shape 23"/>
          <p:cNvSpPr/>
          <p:nvPr/>
        </p:nvSpPr>
        <p:spPr>
          <a:xfrm>
            <a:off x="4709160" y="1737360"/>
            <a:ext cx="4114800" cy="1051560"/>
          </a:xfrm>
          <a:prstGeom prst="rect">
            <a:avLst/>
          </a:prstGeom>
          <a:solidFill>
            <a:srgbClr val="1F1200"/>
          </a:solidFill>
          <a:ln w="12700">
            <a:solidFill>
              <a:srgbClr val="4A3300"/>
            </a:solidFill>
            <a:prstDash val="solid"/>
          </a:ln>
        </p:spPr>
      </p:sp>
      <p:sp>
        <p:nvSpPr>
          <p:cNvPr id="26" name="Text 24"/>
          <p:cNvSpPr/>
          <p:nvPr/>
        </p:nvSpPr>
        <p:spPr>
          <a:xfrm>
            <a:off x="4846320" y="1810512"/>
            <a:ext cx="1371600" cy="502920"/>
          </a:xfrm>
          <a:prstGeom prst="rect">
            <a:avLst/>
          </a:prstGeom>
          <a:noFill/>
          <a:ln/>
        </p:spPr>
        <p:txBody>
          <a:bodyPr wrap="square" rtlCol="0" anchor="ctr"/>
          <a:lstStyle/>
          <a:p>
            <a:pPr indent="0" marL="0">
              <a:buNone/>
            </a:pPr>
            <a:r>
              <a:rPr lang="en-US" sz="3600" b="1" dirty="0">
                <a:solidFill>
                  <a:srgbClr val="FFB800"/>
                </a:solidFill>
                <a:latin typeface="Calibri" pitchFamily="34" charset="0"/>
                <a:ea typeface="Calibri" pitchFamily="34" charset="-122"/>
                <a:cs typeface="Calibri" pitchFamily="34" charset="-120"/>
              </a:rPr>
              <a:t>€0</a:t>
            </a:r>
            <a:endParaRPr lang="en-US" sz="3600" dirty="0"/>
          </a:p>
        </p:txBody>
      </p:sp>
      <p:sp>
        <p:nvSpPr>
          <p:cNvPr id="27" name="Text 25"/>
          <p:cNvSpPr/>
          <p:nvPr/>
        </p:nvSpPr>
        <p:spPr>
          <a:xfrm>
            <a:off x="4846320" y="2286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Incremental cost per session</a:t>
            </a:r>
            <a:endParaRPr lang="en-US" sz="1200" dirty="0"/>
          </a:p>
        </p:txBody>
      </p:sp>
      <p:sp>
        <p:nvSpPr>
          <p:cNvPr id="28" name="Text 26"/>
          <p:cNvSpPr/>
          <p:nvPr/>
        </p:nvSpPr>
        <p:spPr>
          <a:xfrm>
            <a:off x="4846320" y="2496312"/>
            <a:ext cx="3749040" cy="256032"/>
          </a:xfrm>
          <a:prstGeom prst="rect">
            <a:avLst/>
          </a:prstGeom>
          <a:noFill/>
          <a:ln/>
        </p:spPr>
        <p:txBody>
          <a:bodyPr wrap="square" rtlCol="0" anchor="ctr"/>
          <a:lstStyle/>
          <a:p>
            <a:pPr indent="0" marL="0">
              <a:buNone/>
            </a:pPr>
            <a:r>
              <a:rPr lang="en-US" sz="900" dirty="0">
                <a:solidFill>
                  <a:srgbClr val="8B7070"/>
                </a:solidFill>
                <a:latin typeface="Calibri" pitchFamily="34" charset="0"/>
                <a:ea typeface="Calibri" pitchFamily="34" charset="-122"/>
                <a:cs typeface="Calibri" pitchFamily="34" charset="-120"/>
              </a:rPr>
              <a:t>Taste Profile runs on existing order history — no new data collection required</a:t>
            </a:r>
            <a:endParaRPr lang="en-US" sz="900" dirty="0"/>
          </a:p>
        </p:txBody>
      </p:sp>
      <p:sp>
        <p:nvSpPr>
          <p:cNvPr id="29" name="Shape 27"/>
          <p:cNvSpPr/>
          <p:nvPr/>
        </p:nvSpPr>
        <p:spPr>
          <a:xfrm>
            <a:off x="4709160" y="2880360"/>
            <a:ext cx="4114800" cy="1051560"/>
          </a:xfrm>
          <a:prstGeom prst="rect">
            <a:avLst/>
          </a:prstGeom>
          <a:solidFill>
            <a:srgbClr val="1F1200"/>
          </a:solidFill>
          <a:ln w="12700">
            <a:solidFill>
              <a:srgbClr val="4A3300"/>
            </a:solidFill>
            <a:prstDash val="solid"/>
          </a:ln>
        </p:spPr>
      </p:sp>
      <p:sp>
        <p:nvSpPr>
          <p:cNvPr id="30" name="Text 28"/>
          <p:cNvSpPr/>
          <p:nvPr/>
        </p:nvSpPr>
        <p:spPr>
          <a:xfrm>
            <a:off x="4846320" y="2953512"/>
            <a:ext cx="1371600" cy="502920"/>
          </a:xfrm>
          <a:prstGeom prst="rect">
            <a:avLst/>
          </a:prstGeom>
          <a:noFill/>
          <a:ln/>
        </p:spPr>
        <p:txBody>
          <a:bodyPr wrap="square" rtlCol="0" anchor="ctr"/>
          <a:lstStyle/>
          <a:p>
            <a:pPr indent="0" marL="0">
              <a:buNone/>
            </a:pPr>
            <a:r>
              <a:rPr lang="en-US" sz="3600" b="1" dirty="0">
                <a:solidFill>
                  <a:srgbClr val="FFB800"/>
                </a:solidFill>
                <a:latin typeface="Calibri" pitchFamily="34" charset="0"/>
                <a:ea typeface="Calibri" pitchFamily="34" charset="-122"/>
                <a:cs typeface="Calibri" pitchFamily="34" charset="-120"/>
              </a:rPr>
              <a:t>+31%</a:t>
            </a:r>
            <a:endParaRPr lang="en-US" sz="3600" dirty="0"/>
          </a:p>
        </p:txBody>
      </p:sp>
      <p:sp>
        <p:nvSpPr>
          <p:cNvPr id="31" name="Text 29"/>
          <p:cNvSpPr/>
          <p:nvPr/>
        </p:nvSpPr>
        <p:spPr>
          <a:xfrm>
            <a:off x="4846320" y="3429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Commission revenue per active user</a:t>
            </a:r>
            <a:endParaRPr lang="en-US" sz="1200" dirty="0"/>
          </a:p>
        </p:txBody>
      </p:sp>
      <p:sp>
        <p:nvSpPr>
          <p:cNvPr id="32" name="Text 30"/>
          <p:cNvSpPr/>
          <p:nvPr/>
        </p:nvSpPr>
        <p:spPr>
          <a:xfrm>
            <a:off x="4846320" y="3639312"/>
            <a:ext cx="3749040" cy="256032"/>
          </a:xfrm>
          <a:prstGeom prst="rect">
            <a:avLst/>
          </a:prstGeom>
          <a:noFill/>
          <a:ln/>
        </p:spPr>
        <p:txBody>
          <a:bodyPr wrap="square" rtlCol="0" anchor="ctr"/>
          <a:lstStyle/>
          <a:p>
            <a:pPr indent="0" marL="0">
              <a:buNone/>
            </a:pPr>
            <a:r>
              <a:rPr lang="en-US" sz="900" dirty="0">
                <a:solidFill>
                  <a:srgbClr val="8B7070"/>
                </a:solidFill>
                <a:latin typeface="Calibri" pitchFamily="34" charset="0"/>
                <a:ea typeface="Calibri" pitchFamily="34" charset="-122"/>
                <a:cs typeface="Calibri" pitchFamily="34" charset="-120"/>
              </a:rPr>
              <a:t>AOV uplift × repeat rate uplift = compound revenue per user cohort</a:t>
            </a:r>
            <a:endParaRPr lang="en-US" sz="900" dirty="0"/>
          </a:p>
        </p:txBody>
      </p:sp>
      <p:sp>
        <p:nvSpPr>
          <p:cNvPr id="33" name="Shape 31"/>
          <p:cNvSpPr/>
          <p:nvPr/>
        </p:nvSpPr>
        <p:spPr>
          <a:xfrm>
            <a:off x="4709160" y="4023360"/>
            <a:ext cx="4114800" cy="1051560"/>
          </a:xfrm>
          <a:prstGeom prst="rect">
            <a:avLst/>
          </a:prstGeom>
          <a:solidFill>
            <a:srgbClr val="1F1200"/>
          </a:solidFill>
          <a:ln w="12700">
            <a:solidFill>
              <a:srgbClr val="4A3300"/>
            </a:solidFill>
            <a:prstDash val="solid"/>
          </a:ln>
        </p:spPr>
      </p:sp>
      <p:sp>
        <p:nvSpPr>
          <p:cNvPr id="34" name="Text 32"/>
          <p:cNvSpPr/>
          <p:nvPr/>
        </p:nvSpPr>
        <p:spPr>
          <a:xfrm>
            <a:off x="4846320" y="4096512"/>
            <a:ext cx="1371600" cy="502920"/>
          </a:xfrm>
          <a:prstGeom prst="rect">
            <a:avLst/>
          </a:prstGeom>
          <a:noFill/>
          <a:ln/>
        </p:spPr>
        <p:txBody>
          <a:bodyPr wrap="square" rtlCol="0" anchor="ctr"/>
          <a:lstStyle/>
          <a:p>
            <a:pPr indent="0" marL="0">
              <a:buNone/>
            </a:pPr>
            <a:r>
              <a:rPr lang="en-US" sz="3600" b="1" dirty="0">
                <a:solidFill>
                  <a:srgbClr val="FFB800"/>
                </a:solidFill>
                <a:latin typeface="Calibri" pitchFamily="34" charset="0"/>
                <a:ea typeface="Calibri" pitchFamily="34" charset="-122"/>
                <a:cs typeface="Calibri" pitchFamily="34" charset="-120"/>
              </a:rPr>
              <a:t>−40%</a:t>
            </a:r>
            <a:endParaRPr lang="en-US" sz="3600" dirty="0"/>
          </a:p>
        </p:txBody>
      </p:sp>
      <p:sp>
        <p:nvSpPr>
          <p:cNvPr id="35" name="Text 33"/>
          <p:cNvSpPr/>
          <p:nvPr/>
        </p:nvSpPr>
        <p:spPr>
          <a:xfrm>
            <a:off x="4846320" y="4572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Campaign CPO (cost per order)</a:t>
            </a:r>
            <a:endParaRPr lang="en-US" sz="1200" dirty="0"/>
          </a:p>
        </p:txBody>
      </p:sp>
      <p:sp>
        <p:nvSpPr>
          <p:cNvPr id="36" name="Text 34"/>
          <p:cNvSpPr/>
          <p:nvPr/>
        </p:nvSpPr>
        <p:spPr>
          <a:xfrm>
            <a:off x="4846320" y="4782312"/>
            <a:ext cx="3749040" cy="256032"/>
          </a:xfrm>
          <a:prstGeom prst="rect">
            <a:avLst/>
          </a:prstGeom>
          <a:noFill/>
          <a:ln/>
        </p:spPr>
        <p:txBody>
          <a:bodyPr wrap="square" rtlCol="0" anchor="ctr"/>
          <a:lstStyle/>
          <a:p>
            <a:pPr indent="0" marL="0">
              <a:buNone/>
            </a:pPr>
            <a:r>
              <a:rPr lang="en-US" sz="900" dirty="0">
                <a:solidFill>
                  <a:srgbClr val="8B7070"/>
                </a:solidFill>
                <a:latin typeface="Calibri" pitchFamily="34" charset="0"/>
                <a:ea typeface="Calibri" pitchFamily="34" charset="-122"/>
                <a:cs typeface="Calibri" pitchFamily="34" charset="-120"/>
              </a:rPr>
              <a:t>Targeted Genie push vs broadcast banner → same GMV, lower media spend</a:t>
            </a:r>
            <a:endParaRPr lang="en-US" sz="900" dirty="0"/>
          </a:p>
        </p:txBody>
      </p:sp>
      <p:sp>
        <p:nvSpPr>
          <p:cNvPr id="37" name="Shape 35"/>
          <p:cNvSpPr/>
          <p:nvPr/>
        </p:nvSpPr>
        <p:spPr>
          <a:xfrm>
            <a:off x="4709160" y="5166360"/>
            <a:ext cx="4114800" cy="1051560"/>
          </a:xfrm>
          <a:prstGeom prst="rect">
            <a:avLst/>
          </a:prstGeom>
          <a:solidFill>
            <a:srgbClr val="1F1200"/>
          </a:solidFill>
          <a:ln w="12700">
            <a:solidFill>
              <a:srgbClr val="4A3300"/>
            </a:solidFill>
            <a:prstDash val="solid"/>
          </a:ln>
        </p:spPr>
      </p:sp>
      <p:sp>
        <p:nvSpPr>
          <p:cNvPr id="38" name="Text 36"/>
          <p:cNvSpPr/>
          <p:nvPr/>
        </p:nvSpPr>
        <p:spPr>
          <a:xfrm>
            <a:off x="4846320" y="5239512"/>
            <a:ext cx="1371600" cy="502920"/>
          </a:xfrm>
          <a:prstGeom prst="rect">
            <a:avLst/>
          </a:prstGeom>
          <a:noFill/>
          <a:ln/>
        </p:spPr>
        <p:txBody>
          <a:bodyPr wrap="square" rtlCol="0" anchor="ctr"/>
          <a:lstStyle/>
          <a:p>
            <a:pPr indent="0" marL="0">
              <a:buNone/>
            </a:pPr>
            <a:r>
              <a:rPr lang="en-US" sz="3600" b="1" dirty="0">
                <a:solidFill>
                  <a:srgbClr val="FFB800"/>
                </a:solidFill>
                <a:latin typeface="Calibri" pitchFamily="34" charset="0"/>
                <a:ea typeface="Calibri" pitchFamily="34" charset="-122"/>
                <a:cs typeface="Calibri" pitchFamily="34" charset="-120"/>
              </a:rPr>
              <a:t>×3</a:t>
            </a:r>
            <a:endParaRPr lang="en-US" sz="3600" dirty="0"/>
          </a:p>
        </p:txBody>
      </p:sp>
      <p:sp>
        <p:nvSpPr>
          <p:cNvPr id="39" name="Text 37"/>
          <p:cNvSpPr/>
          <p:nvPr/>
        </p:nvSpPr>
        <p:spPr>
          <a:xfrm>
            <a:off x="4846320" y="5715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Lifetime GMV per cohort vs control</a:t>
            </a:r>
            <a:endParaRPr lang="en-US" sz="1200" dirty="0"/>
          </a:p>
        </p:txBody>
      </p:sp>
      <p:sp>
        <p:nvSpPr>
          <p:cNvPr id="40" name="Text 38"/>
          <p:cNvSpPr/>
          <p:nvPr/>
        </p:nvSpPr>
        <p:spPr>
          <a:xfrm>
            <a:off x="4846320" y="5925312"/>
            <a:ext cx="3749040" cy="256032"/>
          </a:xfrm>
          <a:prstGeom prst="rect">
            <a:avLst/>
          </a:prstGeom>
          <a:noFill/>
          <a:ln/>
        </p:spPr>
        <p:txBody>
          <a:bodyPr wrap="square" rtlCol="0" anchor="ctr"/>
          <a:lstStyle/>
          <a:p>
            <a:pPr indent="0" marL="0">
              <a:buNone/>
            </a:pPr>
            <a:r>
              <a:rPr lang="en-US" sz="900" dirty="0">
                <a:solidFill>
                  <a:srgbClr val="8B7070"/>
                </a:solidFill>
                <a:latin typeface="Calibri" pitchFamily="34" charset="0"/>
                <a:ea typeface="Calibri" pitchFamily="34" charset="-122"/>
                <a:cs typeface="Calibri" pitchFamily="34" charset="-120"/>
              </a:rPr>
              <a:t>Every session adds a signal: FoodGenie compounds while static recs plateau</a:t>
            </a:r>
            <a:endParaRPr lang="en-US" sz="900" dirty="0"/>
          </a:p>
        </p:txBody>
      </p:sp>
      <p:sp>
        <p:nvSpPr>
          <p:cNvPr id="41" name="Shape 39"/>
          <p:cNvSpPr/>
          <p:nvPr/>
        </p:nvSpPr>
        <p:spPr>
          <a:xfrm>
            <a:off x="320040" y="6309360"/>
            <a:ext cx="8503920" cy="347472"/>
          </a:xfrm>
          <a:prstGeom prst="rect">
            <a:avLst/>
          </a:prstGeom>
          <a:solidFill>
            <a:srgbClr val="100505"/>
          </a:solidFill>
          <a:ln w="12700">
            <a:solidFill>
              <a:srgbClr val="E2001A"/>
            </a:solidFill>
            <a:prstDash val="solid"/>
          </a:ln>
        </p:spPr>
      </p:sp>
      <p:sp>
        <p:nvSpPr>
          <p:cNvPr id="42" name="Text 40"/>
          <p:cNvSpPr/>
          <p:nvPr/>
        </p:nvSpPr>
        <p:spPr>
          <a:xfrm>
            <a:off x="457200" y="6336792"/>
            <a:ext cx="8229600" cy="29260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FoodGenie compounds: every order makes the model smarter → next session has higher conversion → same MAU delivers more GMV. Unlike discounts, this improvement is permanent.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2001A"/>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E2001A"/>
                </a:solidFill>
                <a:latin typeface="Calibri" pitchFamily="34" charset="0"/>
                <a:ea typeface="Calibri" pitchFamily="34" charset="-122"/>
                <a:cs typeface="Calibri" pitchFamily="34" charset="-120"/>
              </a:rPr>
              <a:t>PROOF OF WORK</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600" b="1" dirty="0">
                <a:solidFill>
                  <a:srgbClr val="0D0808"/>
                </a:solidFill>
                <a:latin typeface="Calibri" pitchFamily="34" charset="0"/>
                <a:ea typeface="Calibri" pitchFamily="34" charset="-122"/>
                <a:cs typeface="Calibri" pitchFamily="34" charset="-120"/>
              </a:rPr>
              <a:t>I Built This at PhonePe. Here's the Direct Map.</a:t>
            </a:r>
            <a:endParaRPr lang="en-US" sz="2600" dirty="0"/>
          </a:p>
        </p:txBody>
      </p:sp>
      <p:sp>
        <p:nvSpPr>
          <p:cNvPr id="5" name="Shape 3"/>
          <p:cNvSpPr/>
          <p:nvPr/>
        </p:nvSpPr>
        <p:spPr>
          <a:xfrm>
            <a:off x="320040" y="1234440"/>
            <a:ext cx="4114800" cy="4206240"/>
          </a:xfrm>
          <a:prstGeom prst="rect">
            <a:avLst/>
          </a:prstGeom>
          <a:solidFill>
            <a:srgbClr val="0D0808"/>
          </a:solidFill>
          <a:ln/>
        </p:spPr>
      </p:sp>
      <p:sp>
        <p:nvSpPr>
          <p:cNvPr id="6" name="Shape 4"/>
          <p:cNvSpPr/>
          <p:nvPr/>
        </p:nvSpPr>
        <p:spPr>
          <a:xfrm>
            <a:off x="320040" y="1234440"/>
            <a:ext cx="4114800" cy="292608"/>
          </a:xfrm>
          <a:prstGeom prst="rect">
            <a:avLst/>
          </a:prstGeom>
          <a:solidFill>
            <a:srgbClr val="E2001A"/>
          </a:solidFill>
          <a:ln/>
        </p:spPr>
      </p:sp>
      <p:sp>
        <p:nvSpPr>
          <p:cNvPr id="7" name="Text 5"/>
          <p:cNvSpPr/>
          <p:nvPr/>
        </p:nvSpPr>
        <p:spPr>
          <a:xfrm>
            <a:off x="457200" y="1252728"/>
            <a:ext cx="384048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 shipped at PhonePe</a:t>
            </a:r>
            <a:endParaRPr lang="en-US" sz="1000" dirty="0"/>
          </a:p>
        </p:txBody>
      </p:sp>
      <p:sp>
        <p:nvSpPr>
          <p:cNvPr id="8" name="Shape 6"/>
          <p:cNvSpPr/>
          <p:nvPr/>
        </p:nvSpPr>
        <p:spPr>
          <a:xfrm>
            <a:off x="438912" y="1719072"/>
            <a:ext cx="201168" cy="201168"/>
          </a:xfrm>
          <a:prstGeom prst="ellipse">
            <a:avLst/>
          </a:prstGeom>
          <a:solidFill>
            <a:srgbClr val="E2001A"/>
          </a:solidFill>
          <a:ln/>
        </p:spPr>
      </p:sp>
      <p:sp>
        <p:nvSpPr>
          <p:cNvPr id="9" name="Text 7"/>
          <p:cNvSpPr/>
          <p:nvPr/>
        </p:nvSpPr>
        <p:spPr>
          <a:xfrm>
            <a:off x="749808" y="1664208"/>
            <a:ext cx="3520440" cy="256032"/>
          </a:xfrm>
          <a:prstGeom prst="rect">
            <a:avLst/>
          </a:prstGeom>
          <a:noFill/>
          <a:ln/>
        </p:spPr>
        <p:txBody>
          <a:bodyPr wrap="square" rtlCol="0" anchor="ctr"/>
          <a:lstStyle/>
          <a:p>
            <a:pPr indent="0" marL="0">
              <a:buNone/>
            </a:pPr>
            <a:r>
              <a:rPr lang="en-US" sz="1100" b="1" dirty="0">
                <a:solidFill>
                  <a:srgbClr val="FFB800"/>
                </a:solidFill>
                <a:latin typeface="Calibri" pitchFamily="34" charset="0"/>
                <a:ea typeface="Calibri" pitchFamily="34" charset="-122"/>
                <a:cs typeface="Calibri" pitchFamily="34" charset="-120"/>
              </a:rPr>
              <a:t>Propensity-to-Transact ML</a:t>
            </a:r>
            <a:endParaRPr lang="en-US" sz="1100" dirty="0"/>
          </a:p>
        </p:txBody>
      </p:sp>
      <p:sp>
        <p:nvSpPr>
          <p:cNvPr id="10" name="Text 8"/>
          <p:cNvSpPr/>
          <p:nvPr/>
        </p:nvSpPr>
        <p:spPr>
          <a:xfrm>
            <a:off x="749808" y="1920240"/>
            <a:ext cx="3520440" cy="54864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Replaced static cohort targeting with real-time user-level ML scoring across 350M+ MAU → 32% marketing burn reduction, sustained GMV growth</a:t>
            </a:r>
            <a:endParaRPr lang="en-US" sz="950" dirty="0"/>
          </a:p>
        </p:txBody>
      </p:sp>
      <p:sp>
        <p:nvSpPr>
          <p:cNvPr id="11" name="Shape 9"/>
          <p:cNvSpPr/>
          <p:nvPr/>
        </p:nvSpPr>
        <p:spPr>
          <a:xfrm>
            <a:off x="438912" y="2651760"/>
            <a:ext cx="201168" cy="201168"/>
          </a:xfrm>
          <a:prstGeom prst="ellipse">
            <a:avLst/>
          </a:prstGeom>
          <a:solidFill>
            <a:srgbClr val="E2001A"/>
          </a:solidFill>
          <a:ln/>
        </p:spPr>
      </p:sp>
      <p:sp>
        <p:nvSpPr>
          <p:cNvPr id="12" name="Text 10"/>
          <p:cNvSpPr/>
          <p:nvPr/>
        </p:nvSpPr>
        <p:spPr>
          <a:xfrm>
            <a:off x="749808" y="2596896"/>
            <a:ext cx="3520440" cy="256032"/>
          </a:xfrm>
          <a:prstGeom prst="rect">
            <a:avLst/>
          </a:prstGeom>
          <a:noFill/>
          <a:ln/>
        </p:spPr>
        <p:txBody>
          <a:bodyPr wrap="square" rtlCol="0" anchor="ctr"/>
          <a:lstStyle/>
          <a:p>
            <a:pPr indent="0" marL="0">
              <a:buNone/>
            </a:pPr>
            <a:r>
              <a:rPr lang="en-US" sz="1100" b="1" dirty="0">
                <a:solidFill>
                  <a:srgbClr val="FFB800"/>
                </a:solidFill>
                <a:latin typeface="Calibri" pitchFamily="34" charset="0"/>
                <a:ea typeface="Calibri" pitchFamily="34" charset="-122"/>
                <a:cs typeface="Calibri" pitchFamily="34" charset="-120"/>
              </a:rPr>
              <a:t>Dynamic Cart Incentivization</a:t>
            </a:r>
            <a:endParaRPr lang="en-US" sz="1100" dirty="0"/>
          </a:p>
        </p:txBody>
      </p:sp>
      <p:sp>
        <p:nvSpPr>
          <p:cNvPr id="13" name="Text 11"/>
          <p:cNvSpPr/>
          <p:nvPr/>
        </p:nvSpPr>
        <p:spPr>
          <a:xfrm>
            <a:off x="749808" y="2852928"/>
            <a:ext cx="3520440" cy="54864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Context-aware triggers: cart value × user intent × time-of-day → 35% AOV uplift, 60% cart abandonment reduction, 20% retention improvement</a:t>
            </a:r>
            <a:endParaRPr lang="en-US" sz="950" dirty="0"/>
          </a:p>
        </p:txBody>
      </p:sp>
      <p:sp>
        <p:nvSpPr>
          <p:cNvPr id="14" name="Shape 12"/>
          <p:cNvSpPr/>
          <p:nvPr/>
        </p:nvSpPr>
        <p:spPr>
          <a:xfrm>
            <a:off x="438912" y="3584448"/>
            <a:ext cx="201168" cy="201168"/>
          </a:xfrm>
          <a:prstGeom prst="ellipse">
            <a:avLst/>
          </a:prstGeom>
          <a:solidFill>
            <a:srgbClr val="E2001A"/>
          </a:solidFill>
          <a:ln/>
        </p:spPr>
      </p:sp>
      <p:sp>
        <p:nvSpPr>
          <p:cNvPr id="15" name="Text 13"/>
          <p:cNvSpPr/>
          <p:nvPr/>
        </p:nvSpPr>
        <p:spPr>
          <a:xfrm>
            <a:off x="749808" y="3529584"/>
            <a:ext cx="3520440" cy="256032"/>
          </a:xfrm>
          <a:prstGeom prst="rect">
            <a:avLst/>
          </a:prstGeom>
          <a:noFill/>
          <a:ln/>
        </p:spPr>
        <p:txBody>
          <a:bodyPr wrap="square" rtlCol="0" anchor="ctr"/>
          <a:lstStyle/>
          <a:p>
            <a:pPr indent="0" marL="0">
              <a:buNone/>
            </a:pPr>
            <a:r>
              <a:rPr lang="en-US" sz="1100" b="1" dirty="0">
                <a:solidFill>
                  <a:srgbClr val="FFB800"/>
                </a:solidFill>
                <a:latin typeface="Calibri" pitchFamily="34" charset="0"/>
                <a:ea typeface="Calibri" pitchFamily="34" charset="-122"/>
                <a:cs typeface="Calibri" pitchFamily="34" charset="-120"/>
              </a:rPr>
              <a:t>Personalized Offers Placement</a:t>
            </a:r>
            <a:endParaRPr lang="en-US" sz="1100" dirty="0"/>
          </a:p>
        </p:txBody>
      </p:sp>
      <p:sp>
        <p:nvSpPr>
          <p:cNvPr id="16" name="Text 14"/>
          <p:cNvSpPr/>
          <p:nvPr/>
        </p:nvSpPr>
        <p:spPr>
          <a:xfrm>
            <a:off x="749808" y="3785616"/>
            <a:ext cx="3520440" cy="54864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Redesigned offers placement + eligibility surfacing with ML-ranked relevance → 22% checkout conversion lift across fragmented offers stack</a:t>
            </a:r>
            <a:endParaRPr lang="en-US" sz="950" dirty="0"/>
          </a:p>
        </p:txBody>
      </p:sp>
      <p:sp>
        <p:nvSpPr>
          <p:cNvPr id="17" name="Shape 15"/>
          <p:cNvSpPr/>
          <p:nvPr/>
        </p:nvSpPr>
        <p:spPr>
          <a:xfrm>
            <a:off x="438912" y="4517136"/>
            <a:ext cx="201168" cy="201168"/>
          </a:xfrm>
          <a:prstGeom prst="ellipse">
            <a:avLst/>
          </a:prstGeom>
          <a:solidFill>
            <a:srgbClr val="E2001A"/>
          </a:solidFill>
          <a:ln/>
        </p:spPr>
      </p:sp>
      <p:sp>
        <p:nvSpPr>
          <p:cNvPr id="18" name="Text 16"/>
          <p:cNvSpPr/>
          <p:nvPr/>
        </p:nvSpPr>
        <p:spPr>
          <a:xfrm>
            <a:off x="749808" y="4462272"/>
            <a:ext cx="3520440" cy="256032"/>
          </a:xfrm>
          <a:prstGeom prst="rect">
            <a:avLst/>
          </a:prstGeom>
          <a:noFill/>
          <a:ln/>
        </p:spPr>
        <p:txBody>
          <a:bodyPr wrap="square" rtlCol="0" anchor="ctr"/>
          <a:lstStyle/>
          <a:p>
            <a:pPr indent="0" marL="0">
              <a:buNone/>
            </a:pPr>
            <a:r>
              <a:rPr lang="en-US" sz="1100" b="1" dirty="0">
                <a:solidFill>
                  <a:srgbClr val="FFB800"/>
                </a:solidFill>
                <a:latin typeface="Calibri" pitchFamily="34" charset="0"/>
                <a:ea typeface="Calibri" pitchFamily="34" charset="-122"/>
                <a:cs typeface="Calibri" pitchFamily="34" charset="-120"/>
              </a:rPr>
              <a:t>Third-Party Rewards Marketplace</a:t>
            </a:r>
            <a:endParaRPr lang="en-US" sz="1100" dirty="0"/>
          </a:p>
        </p:txBody>
      </p:sp>
      <p:sp>
        <p:nvSpPr>
          <p:cNvPr id="19" name="Text 17"/>
          <p:cNvSpPr/>
          <p:nvPr/>
        </p:nvSpPr>
        <p:spPr>
          <a:xfrm>
            <a:off x="749808" y="4718304"/>
            <a:ext cx="3520440" cy="54864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Built brand self-serve tooling + audience segmentation → 500+ brand partners, 26% user engagement increase, 11% YoY revenue growth</a:t>
            </a:r>
            <a:endParaRPr lang="en-US" sz="950" dirty="0"/>
          </a:p>
        </p:txBody>
      </p:sp>
      <p:sp>
        <p:nvSpPr>
          <p:cNvPr id="20" name="Shape 18"/>
          <p:cNvSpPr/>
          <p:nvPr/>
        </p:nvSpPr>
        <p:spPr>
          <a:xfrm>
            <a:off x="4709160" y="1234440"/>
            <a:ext cx="4114800" cy="4206240"/>
          </a:xfrm>
          <a:prstGeom prst="rect">
            <a:avLst/>
          </a:prstGeom>
          <a:solidFill>
            <a:srgbClr val="FDE8E8"/>
          </a:solidFill>
          <a:ln/>
        </p:spPr>
      </p:sp>
      <p:sp>
        <p:nvSpPr>
          <p:cNvPr id="21" name="Shape 19"/>
          <p:cNvSpPr/>
          <p:nvPr/>
        </p:nvSpPr>
        <p:spPr>
          <a:xfrm>
            <a:off x="4709160" y="1234440"/>
            <a:ext cx="4114800" cy="292608"/>
          </a:xfrm>
          <a:prstGeom prst="rect">
            <a:avLst/>
          </a:prstGeom>
          <a:solidFill>
            <a:srgbClr val="F59090"/>
          </a:solidFill>
          <a:ln/>
        </p:spPr>
      </p:sp>
      <p:sp>
        <p:nvSpPr>
          <p:cNvPr id="22" name="Text 20"/>
          <p:cNvSpPr/>
          <p:nvPr/>
        </p:nvSpPr>
        <p:spPr>
          <a:xfrm>
            <a:off x="4846320" y="1252728"/>
            <a:ext cx="3840480" cy="256032"/>
          </a:xfrm>
          <a:prstGeom prst="rect">
            <a:avLst/>
          </a:prstGeom>
          <a:noFill/>
          <a:ln/>
        </p:spPr>
        <p:txBody>
          <a:bodyPr wrap="square" rtlCol="0" anchor="ctr"/>
          <a:lstStyle/>
          <a:p>
            <a:pPr indent="0" marL="0">
              <a:buNone/>
            </a:pPr>
            <a:r>
              <a:rPr lang="en-US" sz="1000" b="1" dirty="0">
                <a:solidFill>
                  <a:srgbClr val="0D0808"/>
                </a:solidFill>
                <a:latin typeface="Calibri" pitchFamily="34" charset="0"/>
                <a:ea typeface="Calibri" pitchFamily="34" charset="-122"/>
                <a:cs typeface="Calibri" pitchFamily="34" charset="-120"/>
              </a:rPr>
              <a:t>How it maps to FoodGenie at DH</a:t>
            </a:r>
            <a:endParaRPr lang="en-US" sz="1000" dirty="0"/>
          </a:p>
        </p:txBody>
      </p:sp>
      <p:sp>
        <p:nvSpPr>
          <p:cNvPr id="23" name="Shape 21"/>
          <p:cNvSpPr/>
          <p:nvPr/>
        </p:nvSpPr>
        <p:spPr>
          <a:xfrm>
            <a:off x="4773168" y="1709928"/>
            <a:ext cx="45720" cy="822960"/>
          </a:xfrm>
          <a:prstGeom prst="rect">
            <a:avLst/>
          </a:prstGeom>
          <a:solidFill>
            <a:srgbClr val="B91C1C"/>
          </a:solidFill>
          <a:ln/>
        </p:spPr>
      </p:sp>
      <p:sp>
        <p:nvSpPr>
          <p:cNvPr id="24" name="Text 22"/>
          <p:cNvSpPr/>
          <p:nvPr/>
        </p:nvSpPr>
        <p:spPr>
          <a:xfrm>
            <a:off x="4937760" y="1709928"/>
            <a:ext cx="3749040" cy="822960"/>
          </a:xfrm>
          <a:prstGeom prst="rect">
            <a:avLst/>
          </a:prstGeom>
          <a:noFill/>
          <a:ln/>
        </p:spPr>
        <p:txBody>
          <a:bodyPr wrap="square" rtlCol="0" anchor="ctr"/>
          <a:lstStyle/>
          <a:p>
            <a:pPr indent="0" marL="0">
              <a:buNone/>
            </a:pPr>
            <a:r>
              <a:rPr lang="en-US" sz="1100" dirty="0">
                <a:solidFill>
                  <a:srgbClr val="1F0A0A"/>
                </a:solidFill>
                <a:latin typeface="Calibri" pitchFamily="34" charset="0"/>
                <a:ea typeface="Calibri" pitchFamily="34" charset="-122"/>
                <a:cs typeface="Calibri" pitchFamily="34" charset="-120"/>
              </a:rPr>
              <a:t>→ FoodGenie Taste Profile: per-user real-time taste scoring replacing "Top Picks" broadcast feed</a:t>
            </a:r>
            <a:endParaRPr lang="en-US" sz="1100" dirty="0"/>
          </a:p>
        </p:txBody>
      </p:sp>
      <p:sp>
        <p:nvSpPr>
          <p:cNvPr id="25" name="Shape 23"/>
          <p:cNvSpPr/>
          <p:nvPr/>
        </p:nvSpPr>
        <p:spPr>
          <a:xfrm>
            <a:off x="4773168" y="2642616"/>
            <a:ext cx="45720" cy="822960"/>
          </a:xfrm>
          <a:prstGeom prst="rect">
            <a:avLst/>
          </a:prstGeom>
          <a:solidFill>
            <a:srgbClr val="B91C1C"/>
          </a:solidFill>
          <a:ln/>
        </p:spPr>
      </p:sp>
      <p:sp>
        <p:nvSpPr>
          <p:cNvPr id="26" name="Text 24"/>
          <p:cNvSpPr/>
          <p:nvPr/>
        </p:nvSpPr>
        <p:spPr>
          <a:xfrm>
            <a:off x="4937760" y="2642616"/>
            <a:ext cx="3749040" cy="822960"/>
          </a:xfrm>
          <a:prstGeom prst="rect">
            <a:avLst/>
          </a:prstGeom>
          <a:noFill/>
          <a:ln/>
        </p:spPr>
        <p:txBody>
          <a:bodyPr wrap="square" rtlCol="0" anchor="ctr"/>
          <a:lstStyle/>
          <a:p>
            <a:pPr indent="0" marL="0">
              <a:buNone/>
            </a:pPr>
            <a:r>
              <a:rPr lang="en-US" sz="1100" dirty="0">
                <a:solidFill>
                  <a:srgbClr val="1F0A0A"/>
                </a:solidFill>
                <a:latin typeface="Calibri" pitchFamily="34" charset="0"/>
                <a:ea typeface="Calibri" pitchFamily="34" charset="-122"/>
                <a:cs typeface="Calibri" pitchFamily="34" charset="-120"/>
              </a:rPr>
              <a:t>→ FoodGenie proactive banner + conversational agent: context × history → 1-tap order vs 5-step search</a:t>
            </a:r>
            <a:endParaRPr lang="en-US" sz="1100" dirty="0"/>
          </a:p>
        </p:txBody>
      </p:sp>
      <p:sp>
        <p:nvSpPr>
          <p:cNvPr id="27" name="Shape 25"/>
          <p:cNvSpPr/>
          <p:nvPr/>
        </p:nvSpPr>
        <p:spPr>
          <a:xfrm>
            <a:off x="4773168" y="3575304"/>
            <a:ext cx="45720" cy="822960"/>
          </a:xfrm>
          <a:prstGeom prst="rect">
            <a:avLst/>
          </a:prstGeom>
          <a:solidFill>
            <a:srgbClr val="B91C1C"/>
          </a:solidFill>
          <a:ln/>
        </p:spPr>
      </p:sp>
      <p:sp>
        <p:nvSpPr>
          <p:cNvPr id="28" name="Text 26"/>
          <p:cNvSpPr/>
          <p:nvPr/>
        </p:nvSpPr>
        <p:spPr>
          <a:xfrm>
            <a:off x="4937760" y="3575304"/>
            <a:ext cx="3749040" cy="822960"/>
          </a:xfrm>
          <a:prstGeom prst="rect">
            <a:avLst/>
          </a:prstGeom>
          <a:noFill/>
          <a:ln/>
        </p:spPr>
        <p:txBody>
          <a:bodyPr wrap="square" rtlCol="0" anchor="ctr"/>
          <a:lstStyle/>
          <a:p>
            <a:pPr indent="0" marL="0">
              <a:buNone/>
            </a:pPr>
            <a:r>
              <a:rPr lang="en-US" sz="1100" dirty="0">
                <a:solidFill>
                  <a:srgbClr val="1F0A0A"/>
                </a:solidFill>
                <a:latin typeface="Calibri" pitchFamily="34" charset="0"/>
                <a:ea typeface="Calibri" pitchFamily="34" charset="-122"/>
                <a:cs typeface="Calibri" pitchFamily="34" charset="-120"/>
              </a:rPr>
              <a:t>→ FoodGenie ranked picks surfacing in discovery, not just checkout → ML applied to top-of-funnel</a:t>
            </a:r>
            <a:endParaRPr lang="en-US" sz="1100" dirty="0"/>
          </a:p>
        </p:txBody>
      </p:sp>
      <p:sp>
        <p:nvSpPr>
          <p:cNvPr id="29" name="Shape 27"/>
          <p:cNvSpPr/>
          <p:nvPr/>
        </p:nvSpPr>
        <p:spPr>
          <a:xfrm>
            <a:off x="4773168" y="4507992"/>
            <a:ext cx="45720" cy="822960"/>
          </a:xfrm>
          <a:prstGeom prst="rect">
            <a:avLst/>
          </a:prstGeom>
          <a:solidFill>
            <a:srgbClr val="B91C1C"/>
          </a:solidFill>
          <a:ln/>
        </p:spPr>
      </p:sp>
      <p:sp>
        <p:nvSpPr>
          <p:cNvPr id="30" name="Text 28"/>
          <p:cNvSpPr/>
          <p:nvPr/>
        </p:nvSpPr>
        <p:spPr>
          <a:xfrm>
            <a:off x="4937760" y="4507992"/>
            <a:ext cx="3749040" cy="822960"/>
          </a:xfrm>
          <a:prstGeom prst="rect">
            <a:avLst/>
          </a:prstGeom>
          <a:noFill/>
          <a:ln/>
        </p:spPr>
        <p:txBody>
          <a:bodyPr wrap="square" rtlCol="0" anchor="ctr"/>
          <a:lstStyle/>
          <a:p>
            <a:pPr indent="0" marL="0">
              <a:buNone/>
            </a:pPr>
            <a:r>
              <a:rPr lang="en-US" sz="1100" dirty="0">
                <a:solidFill>
                  <a:srgbClr val="1F0A0A"/>
                </a:solidFill>
                <a:latin typeface="Calibri" pitchFamily="34" charset="0"/>
                <a:ea typeface="Calibri" pitchFamily="34" charset="-122"/>
                <a:cs typeface="Calibri" pitchFamily="34" charset="-120"/>
              </a:rPr>
              <a:t>→ FoodGenie A/B console + post-order signal capture → brand-safe personalization with measurement layer</a:t>
            </a:r>
            <a:endParaRPr lang="en-US" sz="1100" dirty="0"/>
          </a:p>
        </p:txBody>
      </p:sp>
      <p:sp>
        <p:nvSpPr>
          <p:cNvPr id="31" name="Shape 29"/>
          <p:cNvSpPr/>
          <p:nvPr/>
        </p:nvSpPr>
        <p:spPr>
          <a:xfrm>
            <a:off x="320040" y="5577840"/>
            <a:ext cx="8503920" cy="1005840"/>
          </a:xfrm>
          <a:prstGeom prst="rect">
            <a:avLst/>
          </a:prstGeom>
          <a:solidFill>
            <a:srgbClr val="0D0808"/>
          </a:solidFill>
          <a:ln w="19050">
            <a:solidFill>
              <a:srgbClr val="E2001A"/>
            </a:solidFill>
            <a:prstDash val="solid"/>
          </a:ln>
        </p:spPr>
      </p:sp>
      <p:sp>
        <p:nvSpPr>
          <p:cNvPr id="32" name="Text 30"/>
          <p:cNvSpPr/>
          <p:nvPr/>
        </p:nvSpPr>
        <p:spPr>
          <a:xfrm>
            <a:off x="502920" y="5650992"/>
            <a:ext cx="8229600" cy="685800"/>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"This isn't a case study built in a weekend. This is architecture I've shipped at scale — applied to DH's food discovery problem."</a:t>
            </a:r>
            <a:endParaRPr lang="en-US" sz="1200" dirty="0"/>
          </a:p>
        </p:txBody>
      </p:sp>
      <p:sp>
        <p:nvSpPr>
          <p:cNvPr id="33" name="Text 31"/>
          <p:cNvSpPr/>
          <p:nvPr/>
        </p:nvSpPr>
        <p:spPr>
          <a:xfrm>
            <a:off x="502920" y="6291072"/>
            <a:ext cx="8229600" cy="228600"/>
          </a:xfrm>
          <a:prstGeom prst="rect">
            <a:avLst/>
          </a:prstGeom>
          <a:noFill/>
          <a:ln/>
        </p:spPr>
        <p:txBody>
          <a:bodyPr wrap="square" rtlCol="0" anchor="ctr"/>
          <a:lstStyle/>
          <a:p>
            <a:pPr algn="ctr" indent="0" marL="0">
              <a:buNone/>
            </a:pPr>
            <a:r>
              <a:rPr lang="en-US" sz="1000" dirty="0">
                <a:solidFill>
                  <a:srgbClr val="8B7070"/>
                </a:solidFill>
                <a:latin typeface="Calibri" pitchFamily="34" charset="0"/>
                <a:ea typeface="Calibri" pitchFamily="34" charset="-122"/>
                <a:cs typeface="Calibri" pitchFamily="34" charset="-120"/>
              </a:rPr>
              <a:t>— Ajay Avaghade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808"/>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FFB800"/>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FFB800"/>
                </a:solidFill>
                <a:latin typeface="Calibri" pitchFamily="34" charset="0"/>
                <a:ea typeface="Calibri" pitchFamily="34" charset="-122"/>
                <a:cs typeface="Calibri" pitchFamily="34" charset="-120"/>
              </a:rPr>
              <a:t>ROLLOUT PLAN</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Three Phases — Zero-Risk Pilot to Full App Rollout</a:t>
            </a:r>
            <a:endParaRPr lang="en-US" sz="2400" dirty="0"/>
          </a:p>
        </p:txBody>
      </p:sp>
      <p:sp>
        <p:nvSpPr>
          <p:cNvPr id="5" name="Shape 3"/>
          <p:cNvSpPr/>
          <p:nvPr/>
        </p:nvSpPr>
        <p:spPr>
          <a:xfrm>
            <a:off x="320040" y="1280160"/>
            <a:ext cx="2743200" cy="4251960"/>
          </a:xfrm>
          <a:prstGeom prst="rect">
            <a:avLst/>
          </a:prstGeom>
          <a:solidFill>
            <a:srgbClr val="1A0F0F"/>
          </a:solidFill>
          <a:ln w="25400">
            <a:solidFill>
              <a:srgbClr val="E2001A"/>
            </a:solidFill>
            <a:prstDash val="solid"/>
          </a:ln>
          <a:effectLst>
            <a:outerShdw sx="100000" sy="100000" kx="0" ky="0" algn="bl" rotWithShape="0" blurRad="50800" dist="25400" dir="2700000">
              <a:srgbClr val="000000">
                <a:alpha val="15000"/>
              </a:srgbClr>
            </a:outerShdw>
          </a:effectLst>
        </p:spPr>
      </p:sp>
      <p:sp>
        <p:nvSpPr>
          <p:cNvPr id="6" name="Shape 4"/>
          <p:cNvSpPr/>
          <p:nvPr/>
        </p:nvSpPr>
        <p:spPr>
          <a:xfrm>
            <a:off x="320040" y="1280160"/>
            <a:ext cx="2743200" cy="54864"/>
          </a:xfrm>
          <a:prstGeom prst="rect">
            <a:avLst/>
          </a:prstGeom>
          <a:solidFill>
            <a:srgbClr val="E2001A"/>
          </a:solidFill>
          <a:ln/>
        </p:spPr>
      </p:sp>
      <p:sp>
        <p:nvSpPr>
          <p:cNvPr id="7" name="Text 5"/>
          <p:cNvSpPr/>
          <p:nvPr/>
        </p:nvSpPr>
        <p:spPr>
          <a:xfrm>
            <a:off x="45720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1</a:t>
            </a:r>
            <a:endParaRPr lang="en-US" sz="1800" dirty="0"/>
          </a:p>
        </p:txBody>
      </p:sp>
      <p:sp>
        <p:nvSpPr>
          <p:cNvPr id="8" name="Text 6"/>
          <p:cNvSpPr/>
          <p:nvPr/>
        </p:nvSpPr>
        <p:spPr>
          <a:xfrm>
            <a:off x="457200" y="1719072"/>
            <a:ext cx="2468880" cy="256032"/>
          </a:xfrm>
          <a:prstGeom prst="rect">
            <a:avLst/>
          </a:prstGeom>
          <a:noFill/>
          <a:ln/>
        </p:spPr>
        <p:txBody>
          <a:bodyPr wrap="square" rtlCol="0" anchor="ctr"/>
          <a:lstStyle/>
          <a:p>
            <a:pPr indent="0" marL="0">
              <a:buNone/>
            </a:pPr>
            <a:r>
              <a:rPr lang="en-US" sz="1100" b="1" dirty="0">
                <a:solidFill>
                  <a:srgbClr val="E2001A"/>
                </a:solidFill>
                <a:latin typeface="Calibri" pitchFamily="34" charset="0"/>
                <a:ea typeface="Calibri" pitchFamily="34" charset="-122"/>
                <a:cs typeface="Calibri" pitchFamily="34" charset="-120"/>
              </a:rPr>
              <a:t>Month 1–2</a:t>
            </a:r>
            <a:endParaRPr lang="en-US" sz="1100" dirty="0"/>
          </a:p>
        </p:txBody>
      </p:sp>
      <p:sp>
        <p:nvSpPr>
          <p:cNvPr id="9" name="Text 7"/>
          <p:cNvSpPr/>
          <p:nvPr/>
        </p:nvSpPr>
        <p:spPr>
          <a:xfrm>
            <a:off x="457200" y="1956816"/>
            <a:ext cx="2468880" cy="256032"/>
          </a:xfrm>
          <a:prstGeom prst="rect">
            <a:avLst/>
          </a:prstGeom>
          <a:noFill/>
          <a:ln/>
        </p:spPr>
        <p:txBody>
          <a:bodyPr wrap="square" rtlCol="0" anchor="ctr"/>
          <a:lstStyle/>
          <a:p>
            <a:pPr indent="0" marL="0">
              <a:buNone/>
            </a:pPr>
            <a:r>
              <a:rPr lang="en-US" sz="1100" dirty="0">
                <a:solidFill>
                  <a:srgbClr val="8B7070"/>
                </a:solidFill>
                <a:latin typeface="Calibri" pitchFamily="34" charset="0"/>
                <a:ea typeface="Calibri" pitchFamily="34" charset="-122"/>
                <a:cs typeface="Calibri" pitchFamily="34" charset="-120"/>
              </a:rPr>
              <a:t>Berlin Pilot · 50K MAU</a:t>
            </a:r>
            <a:endParaRPr lang="en-US" sz="1100" dirty="0"/>
          </a:p>
        </p:txBody>
      </p:sp>
      <p:sp>
        <p:nvSpPr>
          <p:cNvPr id="10" name="Shape 8"/>
          <p:cNvSpPr/>
          <p:nvPr/>
        </p:nvSpPr>
        <p:spPr>
          <a:xfrm>
            <a:off x="457200" y="2258568"/>
            <a:ext cx="2377440" cy="0"/>
          </a:xfrm>
          <a:prstGeom prst="line">
            <a:avLst/>
          </a:prstGeom>
          <a:noFill/>
          <a:ln w="10160">
            <a:solidFill>
              <a:srgbClr val="331515"/>
            </a:solidFill>
            <a:prstDash val="solid"/>
          </a:ln>
        </p:spPr>
      </p:sp>
      <p:sp>
        <p:nvSpPr>
          <p:cNvPr id="11" name="Text 9"/>
          <p:cNvSpPr/>
          <p:nvPr/>
        </p:nvSpPr>
        <p:spPr>
          <a:xfrm>
            <a:off x="45720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Deploy FoodGenie to 50K power users in Berlin (highest order frequency cohort). Activate Taste Profile on existing order history (no new data collection). Measure session resolution rate vs control. Ship proactive banner + taste profile screen.</a:t>
            </a:r>
            <a:endParaRPr lang="en-US" sz="1050" dirty="0"/>
          </a:p>
        </p:txBody>
      </p:sp>
      <p:sp>
        <p:nvSpPr>
          <p:cNvPr id="12" name="Shape 10"/>
          <p:cNvSpPr/>
          <p:nvPr/>
        </p:nvSpPr>
        <p:spPr>
          <a:xfrm>
            <a:off x="3246120" y="1280160"/>
            <a:ext cx="2743200" cy="4251960"/>
          </a:xfrm>
          <a:prstGeom prst="rect">
            <a:avLst/>
          </a:prstGeom>
          <a:solidFill>
            <a:srgbClr val="1A0F0F"/>
          </a:solidFill>
          <a:ln w="25400">
            <a:solidFill>
              <a:srgbClr val="FFB800"/>
            </a:solidFill>
            <a:prstDash val="solid"/>
          </a:ln>
          <a:effectLst>
            <a:outerShdw sx="100000" sy="100000" kx="0" ky="0" algn="bl" rotWithShape="0" blurRad="50800" dist="25400" dir="2700000">
              <a:srgbClr val="000000">
                <a:alpha val="15000"/>
              </a:srgbClr>
            </a:outerShdw>
          </a:effectLst>
        </p:spPr>
      </p:sp>
      <p:sp>
        <p:nvSpPr>
          <p:cNvPr id="13" name="Shape 11"/>
          <p:cNvSpPr/>
          <p:nvPr/>
        </p:nvSpPr>
        <p:spPr>
          <a:xfrm>
            <a:off x="3246120" y="1280160"/>
            <a:ext cx="2743200" cy="54864"/>
          </a:xfrm>
          <a:prstGeom prst="rect">
            <a:avLst/>
          </a:prstGeom>
          <a:solidFill>
            <a:srgbClr val="FFB800"/>
          </a:solidFill>
          <a:ln/>
        </p:spPr>
      </p:sp>
      <p:sp>
        <p:nvSpPr>
          <p:cNvPr id="14" name="Text 12"/>
          <p:cNvSpPr/>
          <p:nvPr/>
        </p:nvSpPr>
        <p:spPr>
          <a:xfrm>
            <a:off x="338328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2</a:t>
            </a:r>
            <a:endParaRPr lang="en-US" sz="1800" dirty="0"/>
          </a:p>
        </p:txBody>
      </p:sp>
      <p:sp>
        <p:nvSpPr>
          <p:cNvPr id="15" name="Text 13"/>
          <p:cNvSpPr/>
          <p:nvPr/>
        </p:nvSpPr>
        <p:spPr>
          <a:xfrm>
            <a:off x="3383280" y="1719072"/>
            <a:ext cx="2468880" cy="256032"/>
          </a:xfrm>
          <a:prstGeom prst="rect">
            <a:avLst/>
          </a:prstGeom>
          <a:noFill/>
          <a:ln/>
        </p:spPr>
        <p:txBody>
          <a:bodyPr wrap="square" rtlCol="0" anchor="ctr"/>
          <a:lstStyle/>
          <a:p>
            <a:pPr indent="0" marL="0">
              <a:buNone/>
            </a:pPr>
            <a:r>
              <a:rPr lang="en-US" sz="1100" b="1" dirty="0">
                <a:solidFill>
                  <a:srgbClr val="FFB800"/>
                </a:solidFill>
                <a:latin typeface="Calibri" pitchFamily="34" charset="0"/>
                <a:ea typeface="Calibri" pitchFamily="34" charset="-122"/>
                <a:cs typeface="Calibri" pitchFamily="34" charset="-120"/>
              </a:rPr>
              <a:t>Month 3–4</a:t>
            </a:r>
            <a:endParaRPr lang="en-US" sz="1100" dirty="0"/>
          </a:p>
        </p:txBody>
      </p:sp>
      <p:sp>
        <p:nvSpPr>
          <p:cNvPr id="16" name="Text 14"/>
          <p:cNvSpPr/>
          <p:nvPr/>
        </p:nvSpPr>
        <p:spPr>
          <a:xfrm>
            <a:off x="3383280" y="1956816"/>
            <a:ext cx="2468880" cy="256032"/>
          </a:xfrm>
          <a:prstGeom prst="rect">
            <a:avLst/>
          </a:prstGeom>
          <a:noFill/>
          <a:ln/>
        </p:spPr>
        <p:txBody>
          <a:bodyPr wrap="square" rtlCol="0" anchor="ctr"/>
          <a:lstStyle/>
          <a:p>
            <a:pPr indent="0" marL="0">
              <a:buNone/>
            </a:pPr>
            <a:r>
              <a:rPr lang="en-US" sz="1100" dirty="0">
                <a:solidFill>
                  <a:srgbClr val="8B7070"/>
                </a:solidFill>
                <a:latin typeface="Calibri" pitchFamily="34" charset="0"/>
                <a:ea typeface="Calibri" pitchFamily="34" charset="-122"/>
                <a:cs typeface="Calibri" pitchFamily="34" charset="-120"/>
              </a:rPr>
              <a:t>A/B vs Keyword Search</a:t>
            </a:r>
            <a:endParaRPr lang="en-US" sz="1100" dirty="0"/>
          </a:p>
        </p:txBody>
      </p:sp>
      <p:sp>
        <p:nvSpPr>
          <p:cNvPr id="17" name="Shape 15"/>
          <p:cNvSpPr/>
          <p:nvPr/>
        </p:nvSpPr>
        <p:spPr>
          <a:xfrm>
            <a:off x="3383280" y="2258568"/>
            <a:ext cx="2377440" cy="0"/>
          </a:xfrm>
          <a:prstGeom prst="line">
            <a:avLst/>
          </a:prstGeom>
          <a:noFill/>
          <a:ln w="10160">
            <a:solidFill>
              <a:srgbClr val="331515"/>
            </a:solidFill>
            <a:prstDash val="solid"/>
          </a:ln>
        </p:spPr>
      </p:sp>
      <p:sp>
        <p:nvSpPr>
          <p:cNvPr id="18" name="Text 16"/>
          <p:cNvSpPr/>
          <p:nvPr/>
        </p:nvSpPr>
        <p:spPr>
          <a:xfrm>
            <a:off x="338328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Run FoodGenie (full agent) vs keyword search control A/B across 500K MAU. Ship conversational discovery + ranked picks. Tune taste profile confidence thresholds. Measure: repeat rate, AOV, session-to-order conversion per variant.</a:t>
            </a:r>
            <a:endParaRPr lang="en-US" sz="1050" dirty="0"/>
          </a:p>
        </p:txBody>
      </p:sp>
      <p:sp>
        <p:nvSpPr>
          <p:cNvPr id="19" name="Shape 17"/>
          <p:cNvSpPr/>
          <p:nvPr/>
        </p:nvSpPr>
        <p:spPr>
          <a:xfrm>
            <a:off x="6172200" y="1280160"/>
            <a:ext cx="2743200" cy="4251960"/>
          </a:xfrm>
          <a:prstGeom prst="rect">
            <a:avLst/>
          </a:prstGeom>
          <a:solidFill>
            <a:srgbClr val="1A0F0F"/>
          </a:solidFill>
          <a:ln w="25400">
            <a:solidFill>
              <a:srgbClr val="22C55E"/>
            </a:solidFill>
            <a:prstDash val="solid"/>
          </a:ln>
          <a:effectLst>
            <a:outerShdw sx="100000" sy="100000" kx="0" ky="0" algn="bl" rotWithShape="0" blurRad="50800" dist="25400" dir="2700000">
              <a:srgbClr val="000000">
                <a:alpha val="15000"/>
              </a:srgbClr>
            </a:outerShdw>
          </a:effectLst>
        </p:spPr>
      </p:sp>
      <p:sp>
        <p:nvSpPr>
          <p:cNvPr id="20" name="Shape 18"/>
          <p:cNvSpPr/>
          <p:nvPr/>
        </p:nvSpPr>
        <p:spPr>
          <a:xfrm>
            <a:off x="6172200" y="1280160"/>
            <a:ext cx="2743200" cy="54864"/>
          </a:xfrm>
          <a:prstGeom prst="rect">
            <a:avLst/>
          </a:prstGeom>
          <a:solidFill>
            <a:srgbClr val="22C55E"/>
          </a:solidFill>
          <a:ln/>
        </p:spPr>
      </p:sp>
      <p:sp>
        <p:nvSpPr>
          <p:cNvPr id="21" name="Text 19"/>
          <p:cNvSpPr/>
          <p:nvPr/>
        </p:nvSpPr>
        <p:spPr>
          <a:xfrm>
            <a:off x="630936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3</a:t>
            </a:r>
            <a:endParaRPr lang="en-US" sz="1800" dirty="0"/>
          </a:p>
        </p:txBody>
      </p:sp>
      <p:sp>
        <p:nvSpPr>
          <p:cNvPr id="22" name="Text 20"/>
          <p:cNvSpPr/>
          <p:nvPr/>
        </p:nvSpPr>
        <p:spPr>
          <a:xfrm>
            <a:off x="6309360" y="1719072"/>
            <a:ext cx="2468880" cy="256032"/>
          </a:xfrm>
          <a:prstGeom prst="rect">
            <a:avLst/>
          </a:prstGeom>
          <a:noFill/>
          <a:ln/>
        </p:spPr>
        <p:txBody>
          <a:bodyPr wrap="square"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Month 5–6</a:t>
            </a:r>
            <a:endParaRPr lang="en-US" sz="1100" dirty="0"/>
          </a:p>
        </p:txBody>
      </p:sp>
      <p:sp>
        <p:nvSpPr>
          <p:cNvPr id="23" name="Text 21"/>
          <p:cNvSpPr/>
          <p:nvPr/>
        </p:nvSpPr>
        <p:spPr>
          <a:xfrm>
            <a:off x="6309360" y="1956816"/>
            <a:ext cx="2468880" cy="256032"/>
          </a:xfrm>
          <a:prstGeom prst="rect">
            <a:avLst/>
          </a:prstGeom>
          <a:noFill/>
          <a:ln/>
        </p:spPr>
        <p:txBody>
          <a:bodyPr wrap="square" rtlCol="0" anchor="ctr"/>
          <a:lstStyle/>
          <a:p>
            <a:pPr indent="0" marL="0">
              <a:buNone/>
            </a:pPr>
            <a:r>
              <a:rPr lang="en-US" sz="1100" dirty="0">
                <a:solidFill>
                  <a:srgbClr val="8B7070"/>
                </a:solidFill>
                <a:latin typeface="Calibri" pitchFamily="34" charset="0"/>
                <a:ea typeface="Calibri" pitchFamily="34" charset="-122"/>
                <a:cs typeface="Calibri" pitchFamily="34" charset="-120"/>
              </a:rPr>
              <a:t>Full App Rollout</a:t>
            </a:r>
            <a:endParaRPr lang="en-US" sz="1100" dirty="0"/>
          </a:p>
        </p:txBody>
      </p:sp>
      <p:sp>
        <p:nvSpPr>
          <p:cNvPr id="24" name="Shape 22"/>
          <p:cNvSpPr/>
          <p:nvPr/>
        </p:nvSpPr>
        <p:spPr>
          <a:xfrm>
            <a:off x="6309360" y="2258568"/>
            <a:ext cx="2377440" cy="0"/>
          </a:xfrm>
          <a:prstGeom prst="line">
            <a:avLst/>
          </a:prstGeom>
          <a:noFill/>
          <a:ln w="10160">
            <a:solidFill>
              <a:srgbClr val="331515"/>
            </a:solidFill>
            <a:prstDash val="solid"/>
          </a:ln>
        </p:spPr>
      </p:sp>
      <p:sp>
        <p:nvSpPr>
          <p:cNvPr id="25" name="Text 23"/>
          <p:cNvSpPr/>
          <p:nvPr/>
        </p:nvSpPr>
        <p:spPr>
          <a:xfrm>
            <a:off x="630936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Roll out FoodGenie to all DH markets. Integrate with campaign/voucher stack — FoodGenie-initiated orders get brand-side attribution. Scale RLHF-lite post-order learning loop. Launch A/B console for market-level experimentation.</a:t>
            </a:r>
            <a:endParaRPr lang="en-US" sz="1050" dirty="0"/>
          </a:p>
        </p:txBody>
      </p:sp>
      <p:sp>
        <p:nvSpPr>
          <p:cNvPr id="26" name="Shape 24"/>
          <p:cNvSpPr/>
          <p:nvPr/>
        </p:nvSpPr>
        <p:spPr>
          <a:xfrm>
            <a:off x="320040" y="5669280"/>
            <a:ext cx="8503920" cy="822960"/>
          </a:xfrm>
          <a:prstGeom prst="rect">
            <a:avLst/>
          </a:prstGeom>
          <a:solidFill>
            <a:srgbClr val="1F1200"/>
          </a:solidFill>
          <a:ln w="19050">
            <a:solidFill>
              <a:srgbClr val="FFB800"/>
            </a:solidFill>
            <a:prstDash val="solid"/>
          </a:ln>
        </p:spPr>
      </p:sp>
      <p:sp>
        <p:nvSpPr>
          <p:cNvPr id="27" name="Text 25"/>
          <p:cNvSpPr/>
          <p:nvPr/>
        </p:nvSpPr>
        <p:spPr>
          <a:xfrm>
            <a:off x="502920" y="5733288"/>
            <a:ext cx="2743200" cy="256032"/>
          </a:xfrm>
          <a:prstGeom prst="rect">
            <a:avLst/>
          </a:prstGeom>
          <a:noFill/>
          <a:ln/>
        </p:spPr>
        <p:txBody>
          <a:bodyPr wrap="square" rtlCol="0" anchor="ctr"/>
          <a:lstStyle/>
          <a:p>
            <a:pPr indent="0" marL="0">
              <a:buNone/>
            </a:pPr>
            <a:r>
              <a:rPr lang="en-US" sz="1100" b="1" dirty="0">
                <a:solidFill>
                  <a:srgbClr val="FFB800"/>
                </a:solidFill>
                <a:latin typeface="Calibri" pitchFamily="34" charset="0"/>
                <a:ea typeface="Calibri" pitchFamily="34" charset="-122"/>
                <a:cs typeface="Calibri" pitchFamily="34" charset="-120"/>
              </a:rPr>
              <a:t>What I need to ship this:</a:t>
            </a:r>
            <a:endParaRPr lang="en-US" sz="1100" dirty="0"/>
          </a:p>
        </p:txBody>
      </p:sp>
      <p:sp>
        <p:nvSpPr>
          <p:cNvPr id="28" name="Text 26"/>
          <p:cNvSpPr/>
          <p:nvPr/>
        </p:nvSpPr>
        <p:spPr>
          <a:xfrm>
            <a:off x="502920" y="5989320"/>
            <a:ext cx="822960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Anonymized user order history (last 90 days) for taste profile seeding  ·  1 ML engineer (propensity scoring API)  ·  Alignment with Discovery PM team</a:t>
            </a:r>
            <a:endParaRPr lang="en-US" sz="1000" dirty="0"/>
          </a:p>
        </p:txBody>
      </p:sp>
      <p:sp>
        <p:nvSpPr>
          <p:cNvPr id="29" name="Text 27"/>
          <p:cNvSpPr/>
          <p:nvPr/>
        </p:nvSpPr>
        <p:spPr>
          <a:xfrm>
            <a:off x="320040" y="6583680"/>
            <a:ext cx="8503920" cy="201168"/>
          </a:xfrm>
          <a:prstGeom prst="rect">
            <a:avLst/>
          </a:prstGeom>
          <a:noFill/>
          <a:ln/>
        </p:spPr>
        <p:txBody>
          <a:bodyPr wrap="square" rtlCol="0" anchor="ctr"/>
          <a:lstStyle/>
          <a:p>
            <a:pPr algn="ctr" indent="0" marL="0">
              <a:buNone/>
            </a:pPr>
            <a:r>
              <a:rPr lang="en-US" sz="850" dirty="0">
                <a:solidFill>
                  <a:srgbClr val="8B7070"/>
                </a:solidFill>
                <a:latin typeface="Calibri" pitchFamily="34" charset="0"/>
                <a:ea typeface="Calibri" pitchFamily="34" charset="-122"/>
                <a:cs typeface="Calibri" pitchFamily="34" charset="-120"/>
              </a:rPr>
              <a:t>Ajay Avaghade  |  avaghadeajay009@gmail.com  |  +91 9561558439  |  linkedin.com/in/ajay-avaghade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2026-05-28T19:50:46Z</dcterms:created>
  <dcterms:modified xsi:type="dcterms:W3CDTF">2026-05-28T19:50:46Z</dcterms:modified>
</cp:coreProperties>
</file>