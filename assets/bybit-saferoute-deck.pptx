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YBIT_MASTER">
    <p:bg>
      <p:bgPr>
        <a:solidFill>
          <a:srgbClr val="0B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7A6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5488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48E9C"/>
                </a:solidFill>
              </a:rPr>
              <a:t>BYBIT EMI PRODUCT STRATEGY // CONFIDENTIAL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25400" dir="16200000">
              <a:srgbClr val="000000">
                <a:alpha val="8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7A600"/>
                </a:solidFill>
              </a:rPr>
              <a:t>SafeRoute Engine: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ECEF"/>
                </a:solidFill>
              </a:rPr>
              <a:t>Dynamic Payment Routing &amp; Safeguarding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283464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48E9C"/>
                </a:solidFill>
              </a:rPr>
              <a:t>Automating SEPA routing and T+0 fund reconciliation for EMI compliance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ECEF"/>
                </a:solidFill>
              </a:rPr>
              <a:t>Ajay Avaghade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A600"/>
                </a:solidFill>
              </a:rPr>
              <a:t>The Friction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181A2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54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AECEF"/>
                </a:solidFill>
              </a:rPr>
              <a:t>Current State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32918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848E9C"/>
                </a:solidFill>
              </a:rPr>
              <a:t>• Static SEPA/SWIFT payment rails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848E9C"/>
                </a:solidFill>
              </a:rPr>
              <a:t>• Manual end-of-day safeguarding sweeps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848E9C"/>
                </a:solidFill>
              </a:rPr>
              <a:t>• Bank downtimes causing Txn failures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848E9C"/>
                </a:solidFill>
              </a:rPr>
              <a:t>• Reconciliation bottlenecks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2286000"/>
          </a:xfrm>
          <a:prstGeom prst="rect">
            <a:avLst/>
          </a:prstGeom>
          <a:solidFill>
            <a:srgbClr val="181A20"/>
          </a:solidFill>
          <a:ln w="12700">
            <a:solidFill>
              <a:srgbClr val="F7A6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AECEF"/>
                </a:solidFill>
              </a:rPr>
              <a:t>The Business Impact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212080" y="1920240"/>
            <a:ext cx="32918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848E9C"/>
                </a:solidFill>
              </a:rPr>
              <a:t>• Poor fiat deposit success rates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848E9C"/>
                </a:solidFill>
              </a:rPr>
              <a:t>• Regulatory risk in EEA jurisdictions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848E9C"/>
                </a:solidFill>
              </a:rPr>
              <a:t>• High operational overhead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A600"/>
                </a:solidFill>
              </a:rPr>
              <a:t>SafeRoute Architecture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48E9C"/>
                </a:solidFill>
              </a:rPr>
              <a:t>❌ Legacy Rails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848E9C"/>
                </a:solidFill>
              </a:rPr>
              <a:t>• Single bank dependency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848E9C"/>
                </a:solidFill>
              </a:rPr>
              <a:t>• Batch reconciliation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848E9C"/>
                </a:solidFill>
              </a:rPr>
              <a:t>• High failure rates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848E9C"/>
                </a:solidFill>
              </a:rPr>
              <a:t>• Compliance risk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7A600"/>
                </a:solidFill>
              </a:rPr>
              <a:t>✅ SafeRoute Engine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0" y="182880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EAECEF"/>
                </a:solidFill>
              </a:rPr>
              <a:t>• Multi-bank smart routing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EAECEF"/>
                </a:solidFill>
              </a:rPr>
              <a:t>• Real-time safeguarding sweeps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EAECEF"/>
                </a:solidFill>
              </a:rPr>
              <a:t>• Automated fallback logic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EAECEF"/>
                </a:solidFill>
              </a:rPr>
              <a:t>• T+0 EEA compliance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06240" y="1920240"/>
            <a:ext cx="731520" cy="731520"/>
          </a:xfrm>
          <a:prstGeom prst="ellipse">
            <a:avLst/>
          </a:prstGeom>
          <a:solidFill>
            <a:srgbClr val="F7A600"/>
          </a:solidFill>
          <a:ln/>
          <a:effectLst>
            <a:outerShdw sx="100000" sy="100000" kx="0" ky="0" algn="bl" rotWithShape="0" blurRad="38100" dist="25400" dir="16200000">
              <a:srgbClr val="000000">
                <a:alpha val="8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06240" y="1920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VS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A600"/>
                </a:solidFill>
              </a:rPr>
              <a:t>How it works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914400" y="2286000"/>
            <a:ext cx="7315200" cy="45720"/>
          </a:xfrm>
          <a:prstGeom prst="rect">
            <a:avLst/>
          </a:prstGeom>
          <a:solidFill>
            <a:srgbClr val="848E9C"/>
          </a:solidFill>
          <a:ln/>
        </p:spPr>
      </p:sp>
      <p:sp>
        <p:nvSpPr>
          <p:cNvPr id="4" name="Shape 2"/>
          <p:cNvSpPr/>
          <p:nvPr/>
        </p:nvSpPr>
        <p:spPr>
          <a:xfrm>
            <a:off x="1188720" y="2103120"/>
            <a:ext cx="365760" cy="365760"/>
          </a:xfrm>
          <a:prstGeom prst="ellipse">
            <a:avLst/>
          </a:prstGeom>
          <a:solidFill>
            <a:srgbClr val="F7A600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ECEF"/>
                </a:solidFill>
              </a:rPr>
              <a:t>User Deposit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017520" y="2103120"/>
            <a:ext cx="365760" cy="365760"/>
          </a:xfrm>
          <a:prstGeom prst="ellipse">
            <a:avLst/>
          </a:prstGeom>
          <a:solidFill>
            <a:srgbClr val="F7A600"/>
          </a:solidFill>
          <a:ln/>
        </p:spPr>
      </p:sp>
      <p:sp>
        <p:nvSpPr>
          <p:cNvPr id="8" name="Text 6"/>
          <p:cNvSpPr/>
          <p:nvPr/>
        </p:nvSpPr>
        <p:spPr>
          <a:xfrm>
            <a:off x="301752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286000" y="27432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ECEF"/>
                </a:solidFill>
              </a:rPr>
              <a:t>Engine Routes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846320" y="2103120"/>
            <a:ext cx="365760" cy="365760"/>
          </a:xfrm>
          <a:prstGeom prst="ellipse">
            <a:avLst/>
          </a:prstGeom>
          <a:solidFill>
            <a:srgbClr val="F7A600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0" y="27432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ECEF"/>
                </a:solidFill>
              </a:rPr>
              <a:t>Bank Process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675120" y="2103120"/>
            <a:ext cx="365760" cy="365760"/>
          </a:xfrm>
          <a:prstGeom prst="ellipse">
            <a:avLst/>
          </a:prstGeom>
          <a:solidFill>
            <a:srgbClr val="F7A600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0" y="27432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ECEF"/>
                </a:solidFill>
              </a:rPr>
              <a:t>Auto Safeguard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A600"/>
                </a:solidFill>
              </a:rPr>
              <a:t>Impact &amp; KPIs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645920"/>
            <a:ext cx="2560320" cy="1828800"/>
          </a:xfrm>
          <a:prstGeom prst="rect">
            <a:avLst/>
          </a:prstGeom>
          <a:solidFill>
            <a:srgbClr val="181A20"/>
          </a:solidFill>
          <a:ln w="12700">
            <a:solidFill>
              <a:srgbClr val="F7A6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0116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CB81"/>
                </a:solidFill>
              </a:rPr>
              <a:t>99.8%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AECEF"/>
                </a:solidFill>
              </a:rPr>
              <a:t>SEPA Success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83280" y="1645920"/>
            <a:ext cx="2560320" cy="1828800"/>
          </a:xfrm>
          <a:prstGeom prst="rect">
            <a:avLst/>
          </a:prstGeom>
          <a:solidFill>
            <a:srgbClr val="181A20"/>
          </a:solidFill>
          <a:ln w="12700">
            <a:solidFill>
              <a:srgbClr val="F7A6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20116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CB81"/>
                </a:solidFill>
              </a:rPr>
              <a:t>100%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383280" y="274320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AECEF"/>
                </a:solidFill>
              </a:rPr>
              <a:t>Recovery Rate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2560320" cy="1828800"/>
          </a:xfrm>
          <a:prstGeom prst="rect">
            <a:avLst/>
          </a:prstGeom>
          <a:solidFill>
            <a:srgbClr val="181A20"/>
          </a:solidFill>
          <a:ln w="12700">
            <a:solidFill>
              <a:srgbClr val="F7A6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20116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CB81"/>
                </a:solidFill>
              </a:rPr>
              <a:t>T+0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309360" y="274320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AECEF"/>
                </a:solidFill>
              </a:rPr>
              <a:t>Reconciliation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2026-06-08T09:42:10Z</dcterms:created>
  <dcterms:modified xsi:type="dcterms:W3CDTF">2026-06-08T09:42:10Z</dcterms:modified>
</cp:coreProperties>
</file>