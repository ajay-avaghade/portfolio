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55448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356616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900000">
            <a:off x="557784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900000">
            <a:off x="758952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900000">
            <a:off x="9601200" y="-182880"/>
            <a:ext cx="164592" cy="9144000"/>
          </a:xfrm>
          <a:prstGeom prst="rect">
            <a:avLst/>
          </a:prstGeom>
          <a:solidFill>
            <a:srgbClr val="C2A582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A5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DEZERV — INVESTMENT EXECUTION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8368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WealthTrack Pro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48640" y="1664208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high-fidelity client reporting that drives trust and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AUM growth through radical transparency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450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Product Manager — Investment Execution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2194560" cy="1737360"/>
          </a:xfrm>
          <a:prstGeom prst="rect">
            <a:avLst>
              <a:gd name="adj" fmla="val 5263"/>
            </a:avLst>
          </a:prstGeom>
          <a:solidFill>
            <a:srgbClr val="C2A582">
              <a:alpha val="85000"/>
            </a:srgbClr>
          </a:solidFill>
          <a:ln w="12700">
            <a:solidFill>
              <a:srgbClr val="C2A5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7276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583680" y="2231136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support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projected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9144000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Dezerv — Proprietary &amp; Confidential  ·  Prepared by Ajay Avaghade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Reporting Creates Friction and Erodes Trust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41414"/>
          </a:solidFill>
          <a:ln w="12700">
            <a:solidFill>
              <a:srgbClr val="C2A582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8521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Classes per 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clients hold PMS, AIFs, and MFs, each reporting on different schedules and formats.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41414"/>
          </a:solidFill>
          <a:ln w="12700">
            <a:solidFill>
              <a:srgbClr val="C2A582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41985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Anxiety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transactions sit in a black box during settlement, driving support calls to Relationship Managers.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572768"/>
            <a:ext cx="2606040" cy="3108960"/>
          </a:xfrm>
          <a:prstGeom prst="rect">
            <a:avLst>
              <a:gd name="adj" fmla="val 3509"/>
            </a:avLst>
          </a:prstGeom>
          <a:solidFill>
            <a:srgbClr val="141414"/>
          </a:solidFill>
          <a:ln w="12700">
            <a:solidFill>
              <a:srgbClr val="C2A582">
                <a:alpha val="4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71907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157984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54496" y="28529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&amp; True Tax Yield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3364992"/>
            <a:ext cx="2450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returns obscure the real net yield after platform fees and capital gains taxes.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919472"/>
            <a:ext cx="8229600" cy="1078992"/>
          </a:xfrm>
          <a:prstGeom prst="rect">
            <a:avLst>
              <a:gd name="adj" fmla="val 8475"/>
            </a:avLst>
          </a:prstGeom>
          <a:solidFill>
            <a:srgbClr val="141414"/>
          </a:solidFill>
          <a:ln w="12700">
            <a:solidFill>
              <a:srgbClr val="D4B89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029200"/>
            <a:ext cx="78638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Traditional wealth management relies on static, monthly PDF statements that hide execution complexity. For affluent Indians, trust is built through real-time transparency. When they can't see exactly where their ₹50L AIF capital call is in the settlement pipeline, or what their true post-tax yield is, they hesitate to allocate more capital.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 as an AUM Growth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0" y="215798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FF5F5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Static Reporting (Today)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spreadsheets managed by Relationship Managers to answer basic client questions.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68833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Siloed views: PMS and AIFs tracked separately, requiring manual client mental math.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334670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yield reporting that surprises clients at tax season.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400507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Black-box execution: "Your funds have been debited, wait 2 days for unit allocation."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3657600" cy="3840480"/>
          </a:xfrm>
          <a:prstGeom prst="rect">
            <a:avLst>
              <a:gd name="adj" fmla="val 2500"/>
            </a:avLst>
          </a:prstGeom>
          <a:solidFill>
            <a:srgbClr val="FAF8F5"/>
          </a:solidFill>
          <a:ln w="12700">
            <a:solidFill>
              <a:srgbClr val="C2A582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609344"/>
            <a:ext cx="3364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WealthTrack Pro (Proposed)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93792" y="202996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API layer aggregating PMS, AIF, and MF ledgers into a single real-time view.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93792" y="268833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settlement steppers (like food delivery tracking) for high-value executions.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93792" y="334670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True Net Yield calculations automatically deducting Dezerv fees and projected LTCG tax.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93792" y="400507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Proactive AI growth nudges showing the future compounding impact of an increased SIP.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5486400"/>
            <a:ext cx="8229600" cy="877824"/>
          </a:xfrm>
          <a:prstGeom prst="rect">
            <a:avLst>
              <a:gd name="adj" fmla="val 10417"/>
            </a:avLst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577840"/>
            <a:ext cx="78638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Demystifying execution complexity is a feature. By showing clients exactly what is happening under the hood (fees, taxes, settlement states), Dezerv positions itself as a fully aligned partner, turning the reporting dashboard into a proactive growth engine.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WealthTrack Works: Aggregation, Calculation, Projection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8132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901952"/>
            <a:ext cx="36576" cy="658368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4630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71907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ledgers, AMC APIs, and AIF reporting feeds are normalized into a unified client portfolio schema, ensuring single-source-of-truth accuracy.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786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999232"/>
            <a:ext cx="36576" cy="658368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25603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 Webhooks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81635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batch updates, PG and AMC settlement webhooks push real-time status changes to the client app, updating the "Settlement Stepper" instantly.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7588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4096512"/>
            <a:ext cx="36576" cy="658368"/>
          </a:xfrm>
          <a:prstGeom prst="rect">
            <a:avLst/>
          </a:prstGeom>
          <a:solidFill>
            <a:srgbClr val="C2A582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36576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Yield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91363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calculates Gross XIRR, then automatically deducts Dezerv platform fees and estimated capital gains (LTCG/STCG) based on the client's holding period.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438912" cy="438912"/>
          </a:xfrm>
          <a:prstGeom prst="ellipse">
            <a:avLst/>
          </a:prstGeom>
          <a:solidFill>
            <a:srgbClr val="C2A5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" y="47548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Projection &amp; Nudging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501091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forecast 5-year wealth trajectories based on historical performance and current SIPs, triggering highly contextual "Increase SIP" nudges.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 States — High-Fidelity Client Transparency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Unified Portfolio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Total Value: ₹2.45 Cr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↑ 18.4% XIRR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Dezerv PMS  | 48%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AIFs        | 35%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MFs         | 17% 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PMS, AIFs, and MFs into a single view. Shows total AUM and individual asset class XIRR performance transparently.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Settlement Tracking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2032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Dezerv PMS Addition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₹1,00,000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Payment Deducted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✓ Sent to AMC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⏳ Units Allotted (T+1)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42032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execution steppers. Eliminates anxiety for high-value transactions by showing exactly where capital is in the T+2 flow.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08576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Tax &amp; Fee Breakdown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Gross XIRR: 18.4%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 Net XIRR:   16.1%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Platform Fee: -₹42,000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Realized Tax: -₹1.15L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00016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ultimate trust by proactively showing Gross Yield vs True Net Yield after Dezerv fees and projected capital gains taxes.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80160"/>
            <a:ext cx="2011680" cy="484632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80160"/>
            <a:ext cx="2011680" cy="329184"/>
          </a:xfrm>
          <a:prstGeom prst="rect">
            <a:avLst>
              <a:gd name="adj" fmla="val 27778"/>
            </a:avLst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31673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Wealth Predictor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58000" y="1700784"/>
            <a:ext cx="1847088" cy="2103120"/>
          </a:xfrm>
          <a:prstGeom prst="rect">
            <a:avLst>
              <a:gd name="adj" fmla="val 3960"/>
            </a:avLst>
          </a:prstGeom>
          <a:solidFill>
            <a:srgbClr val="FAF8F5"/>
          </a:solidFill>
          <a:ln w="12700">
            <a:solidFill>
              <a:srgbClr val="C2A58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94576" y="173736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Projected: ₹5.82 Cr ]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💡 Actionable Insight: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Increasing SIP by ₹50k</a:t>
            </a:r>
            <a:endParaRPr lang="en-US" sz="7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hits ₹6Cr 14 mos faster.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0" y="3877056"/>
            <a:ext cx="18470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5-year projections. Includes contextual nudges proving how small SIP increases compound over time, driving organic AUM.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291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prototype: dezerv-wealthtrack-prototype.html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Why Transparency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931920" cy="1051560"/>
          </a:xfrm>
          <a:prstGeom prst="rect">
            <a:avLst>
              <a:gd name="adj" fmla="val 695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099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21408" y="1709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Support Queries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21408" y="200253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self-serve settlement status and tax questions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761488"/>
            <a:ext cx="3931920" cy="1051560"/>
          </a:xfrm>
          <a:prstGeom prst="rect">
            <a:avLst>
              <a:gd name="adj" fmla="val 695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8986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21408" y="2898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Delay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319125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steps are pushed instantly to the app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3931920" cy="1051560"/>
          </a:xfrm>
          <a:prstGeom prst="rect">
            <a:avLst>
              <a:gd name="adj" fmla="val 6957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0873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21408" y="40873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Transparency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43799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friction and surprises during tax season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12618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AUM GROWTH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3931920" cy="1051560"/>
          </a:xfrm>
          <a:prstGeom prst="rect">
            <a:avLst>
              <a:gd name="adj" fmla="val 695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170992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27648" y="1709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Upsell Conversion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27648" y="200253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organically by AI wealth projection nudges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761488"/>
            <a:ext cx="3931920" cy="1051560"/>
          </a:xfrm>
          <a:prstGeom prst="rect">
            <a:avLst>
              <a:gd name="adj" fmla="val 695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89864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27648" y="2898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Wallet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319125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consolidate external portfolios into Dezerv due to UX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950208"/>
            <a:ext cx="3931920" cy="1051560"/>
          </a:xfrm>
          <a:prstGeom prst="rect">
            <a:avLst>
              <a:gd name="adj" fmla="val 6957"/>
            </a:avLst>
          </a:prstGeom>
          <a:solidFill>
            <a:srgbClr val="141414"/>
          </a:solidFill>
          <a:ln w="12700">
            <a:solidFill>
              <a:srgbClr val="D4B895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40873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327648" y="408736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Due to Confusion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43799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never leave because they "don't understand the returns"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5998464"/>
            <a:ext cx="8229600" cy="548640"/>
          </a:xfrm>
          <a:prstGeom prst="rect">
            <a:avLst>
              <a:gd name="adj" fmla="val 13333"/>
            </a:avLst>
          </a:prstGeom>
          <a:solidFill>
            <a:srgbClr val="141414"/>
          </a:solidFill>
          <a:ln w="12700">
            <a:solidFill>
              <a:srgbClr val="C2A582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607161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WealthTrack Pro transforms the app from a passive dashboard into a primary engagement tool. By treating reporting reliability as a core product feature, Dezerv directly drives organic AUM consolidation.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Architecture. At PhonePe. At Scale.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execution architecture for third-party rewards, rebuilding ₹100 Cr/yr infrastructure into an ML-driven marketplace handling massive transaction volumes seamlessly.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disparate merchant data streams into a single reliable reporting dashboard used by 5,000+ B2B partners.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803904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complex data reconciliation pipelines, dropping operational TAT from 2 days to 30 minutes by automating ledger updates.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791456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cross-functional alignment across Engineering, Data Science, and Finance to ship accurate financial reporting at a 350M+ MAU scale.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3931920" cy="484632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2A582">
                <a:alpha val="6000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2646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the Dezerv JD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Reporting Reliability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08483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B2B partner dashboards → Dezerv High-Net-Worth client reporting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TAT Reduction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07238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to 30 mins at PhonePe → Real-time Dezerv settlement steppers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3803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Execution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4059936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marketplace execution and P&amp;L → Dezerv trust &amp; execution accountability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4791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Leadership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504748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products across tech, ops, finance → Dezerv PM culture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Deployment — Data First, Nudges Later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41414"/>
          </a:solidFill>
          <a:ln w="12700">
            <a:solidFill>
              <a:srgbClr val="C2A582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8521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 · Foundation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521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Ledgers &amp; Live Settlement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AMC and internal Dezerv data pipelines to build a unified client schema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the Real-Time Settlement Stepper for PMS &amp; AIF transactions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Beta test with top 5% of RM clients to ensure data accuracy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reduction in RM support queries regarding execution status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41414"/>
          </a:solidFill>
          <a:ln w="12700">
            <a:solidFill>
              <a:srgbClr val="D4B895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985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 · Transparency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985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Net Yield &amp; Taxes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automated tax projection logic (STCG/LTCG calculations)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1985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the transparent Fee &amp; Tax Breakdown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985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client sentiment and RM feedback on the new gross vs net 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1985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the feature as a core Dezerv trust initiative to the press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298448"/>
            <a:ext cx="2633472" cy="4114800"/>
          </a:xfrm>
          <a:prstGeom prst="rect">
            <a:avLst>
              <a:gd name="adj" fmla="val 3472"/>
            </a:avLst>
          </a:prstGeom>
          <a:solidFill>
            <a:srgbClr val="141414"/>
          </a:solidFill>
          <a:ln w="1270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4475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70078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 · Optimisation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54496" y="1993392"/>
            <a:ext cx="23957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Predictor &amp; Nudges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450592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AI projection models based on client risk profiles and history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3127248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contextual "Increase SIP" nudges within the reporting 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3803904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nudge copy and timing for maximum conversion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4480560"/>
            <a:ext cx="23957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organic AUM growth directly attributed to the WealthTrack dashboard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5577840"/>
            <a:ext cx="8229600" cy="932688"/>
          </a:xfrm>
          <a:prstGeom prst="rect">
            <a:avLst>
              <a:gd name="adj" fmla="val 9804"/>
            </a:avLst>
          </a:prstGeom>
          <a:solidFill>
            <a:srgbClr val="141414"/>
          </a:solidFill>
          <a:ln w="12700">
            <a:solidFill>
              <a:srgbClr val="C2A582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5669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A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 at Dezerv: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8368" y="594360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internal reporting schemas  ·  Alignment with Engineering on AMC webhook reliability  ·  1 frontend dev for high-fidelity UI execution  ·  RM team bandwidth for beta testing  ·  Clear runway to own reporting UX and analytics metrics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2026-06-05T17:45:38Z</dcterms:created>
  <dcterms:modified xsi:type="dcterms:W3CDTF">2026-06-05T17:45:38Z</dcterms:modified>
</cp:coreProperties>
</file>