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1A0A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0"/>
            <a:ext cx="2194560" cy="6858000"/>
          </a:xfrm>
          <a:prstGeom prst="line">
            <a:avLst/>
          </a:prstGeom>
          <a:noFill/>
          <a:ln w="6350">
            <a:solidFill>
              <a:srgbClr val="F44336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2194560" cy="6858000"/>
          </a:xfrm>
          <a:prstGeom prst="line">
            <a:avLst/>
          </a:prstGeom>
          <a:noFill/>
          <a:ln w="6350">
            <a:solidFill>
              <a:srgbClr val="F44336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0" y="0"/>
            <a:ext cx="2194560" cy="6858000"/>
          </a:xfrm>
          <a:prstGeom prst="line">
            <a:avLst/>
          </a:prstGeom>
          <a:noFill/>
          <a:ln w="6350">
            <a:solidFill>
              <a:srgbClr val="F44336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0"/>
            <a:ext cx="2194560" cy="6858000"/>
          </a:xfrm>
          <a:prstGeom prst="line">
            <a:avLst/>
          </a:prstGeom>
          <a:noFill/>
          <a:ln w="6350">
            <a:solidFill>
              <a:srgbClr val="F44336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0"/>
            <a:ext cx="2194560" cy="6858000"/>
          </a:xfrm>
          <a:prstGeom prst="line">
            <a:avLst/>
          </a:prstGeom>
          <a:noFill/>
          <a:ln w="6350">
            <a:solidFill>
              <a:srgbClr val="F44336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0"/>
            <a:ext cx="2194560" cy="6858000"/>
          </a:xfrm>
          <a:prstGeom prst="line">
            <a:avLst/>
          </a:prstGeom>
          <a:noFill/>
          <a:ln w="6350">
            <a:solidFill>
              <a:srgbClr val="F44336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HEALTHIFYME · B2C AI PRODUCTS · CASE STUDY 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0040" y="64008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RetentionOS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20040" y="171907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Subscriber Churn Prediction — Intervene 22 Days Before Cancellation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" y="2331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 · Product Manager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5029200"/>
            <a:ext cx="2423160" cy="1463040"/>
          </a:xfrm>
          <a:prstGeom prst="roundRect">
            <a:avLst>
              <a:gd name="adj" fmla="val 6250"/>
            </a:avLst>
          </a:prstGeom>
          <a:solidFill>
            <a:srgbClr val="F44336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5084064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+12.9pp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492240" y="57150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rate lift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cohort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1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HealthifyMe Discovers PRO Subscriber Churn When the Renewal Fails — Not 3 Weeks Before When an Intervention Could Still Work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2743200" cy="2926080"/>
          </a:xfrm>
          <a:prstGeom prst="roundRect">
            <a:avLst>
              <a:gd name="adj" fmla="val 3333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6642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⏳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21671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26700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Churn Is Detected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990088"/>
            <a:ext cx="252374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detected at the renewal event — the cancellation. By then the user's motivation has been gone for 2–3 weeks.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572768"/>
            <a:ext cx="2743200" cy="2926080"/>
          </a:xfrm>
          <a:prstGeom prst="roundRect">
            <a:avLst>
              <a:gd name="adj" fmla="val 3333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16642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46120" y="21671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46120" y="26700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At Risk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2990088"/>
            <a:ext cx="252374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1,204 of 12,847 active PRO subscribers show declining engagement signals — pre-churn patterns that are observable today.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572768"/>
            <a:ext cx="2743200" cy="2926080"/>
          </a:xfrm>
          <a:prstGeom prst="roundRect">
            <a:avLst>
              <a:gd name="adj" fmla="val 3333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16642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💸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17920" y="21671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₹18.2L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217920" y="26700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at Stake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27648" y="2990088"/>
            <a:ext cx="252374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subscriber × avg annual plan value. Previously invisible — no product surfaces this number in real time.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681728"/>
            <a:ext cx="8595360" cy="868680"/>
          </a:xfrm>
          <a:prstGeom prst="roundRect">
            <a:avLst>
              <a:gd name="adj" fmla="val 6316"/>
            </a:avLst>
          </a:prstGeom>
          <a:solidFill>
            <a:srgbClr val="101005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745736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to predict churn 22 days early is already collected: login frequency, meal log rate, streak breaks, goal stalls. RetentionOS is the product layer that turns this data into revenue-saving interventions.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51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Drop Precedes Cancellation by 14 Days. Intervene at Day 8. Not Day 30.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FFF8F8"/>
          </a:solidFill>
          <a:ln w="9525">
            <a:solidFill>
              <a:srgbClr val="FFC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Today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6654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Churn detected at renewal event (day 30)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8775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pre-churn engagement signals tracked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Win-back attempted after cancellation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301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Generic "we miss you" email — 4% recovery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15137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visibility into ₹18.2L revenue at risk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24528" y="2926080"/>
            <a:ext cx="512064" cy="512064"/>
          </a:xfrm>
          <a:prstGeom prst="ellipse">
            <a:avLst/>
          </a:prstGeom>
          <a:solidFill>
            <a:srgbClr val="F44336"/>
          </a:solidFill>
          <a:ln/>
        </p:spPr>
      </p:sp>
      <p:sp>
        <p:nvSpPr>
          <p:cNvPr id="14" name="Text 12"/>
          <p:cNvSpPr/>
          <p:nvPr/>
        </p:nvSpPr>
        <p:spPr>
          <a:xfrm>
            <a:off x="4224528" y="29260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1508760"/>
            <a:ext cx="4297680" cy="3474720"/>
          </a:xfrm>
          <a:prstGeom prst="roundRect">
            <a:avLst>
              <a:gd name="adj" fmla="val 2632"/>
            </a:avLst>
          </a:prstGeom>
          <a:solidFill>
            <a:srgbClr val="F0FFF4"/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645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RetentionOS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2066544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Churn predicted at day 8 — 22 days before renewal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258775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Engagement decline signals scored per subscriber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310896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Intervention at peak recovery window (days 8–22)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363016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Goal-anchored message — 34% recovery rate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4151376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₹18.2L at-risk revenue visible in real time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5166360"/>
            <a:ext cx="8595360" cy="594360"/>
          </a:xfrm>
          <a:prstGeom prst="roundRect">
            <a:avLst>
              <a:gd name="adj" fmla="val 9231"/>
            </a:avLst>
          </a:prstGeom>
          <a:solidFill>
            <a:srgbClr val="F0FFF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5212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Winning back a churning PRO subscriber at day 8 costs ₹0 (milestone challenge). Acquiring a new PRO subscriber costs ₹400–800. RetentionOS makes the cheaper path the default path.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8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Subscriber Daily. Intervene Before They Have Decided to Leave.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1280160"/>
            <a:ext cx="2057400" cy="3931920"/>
          </a:xfrm>
          <a:prstGeom prst="roundRect">
            <a:avLst>
              <a:gd name="adj" fmla="val 4444"/>
            </a:avLst>
          </a:prstGeom>
          <a:solidFill>
            <a:srgbClr val="051A0A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41832" y="1389888"/>
            <a:ext cx="621792" cy="621792"/>
          </a:xfrm>
          <a:prstGeom prst="ellipse">
            <a:avLst/>
          </a:prstGeom>
          <a:solidFill>
            <a:srgbClr val="F44336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3898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212140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Collection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578608"/>
            <a:ext cx="1874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Daily: login frequency, meal log rate, streak status, goal progress velocity, AI coach interaction, feature usage. Compared against subscriber's own 30-day baseline.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21992" y="3017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41448" y="1280160"/>
            <a:ext cx="2057400" cy="3931920"/>
          </a:xfrm>
          <a:prstGeom prst="roundRect">
            <a:avLst>
              <a:gd name="adj" fmla="val 4444"/>
            </a:avLst>
          </a:prstGeom>
          <a:solidFill>
            <a:srgbClr val="051A0A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389888"/>
            <a:ext cx="621792" cy="621792"/>
          </a:xfrm>
          <a:prstGeom prst="ellipse">
            <a:avLst/>
          </a:prstGeom>
          <a:solidFill>
            <a:srgbClr val="F44336"/>
          </a:solidFill>
          <a:ln/>
        </p:spPr>
      </p:sp>
      <p:sp>
        <p:nvSpPr>
          <p:cNvPr id="14" name="Text 12"/>
          <p:cNvSpPr/>
          <p:nvPr/>
        </p:nvSpPr>
        <p:spPr>
          <a:xfrm>
            <a:off x="3154680" y="13898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32888" y="212140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Scoring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32888" y="2578608"/>
            <a:ext cx="1874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outputs churn probability per subscriber per day. Score above threshold AND renewal in 7–21 days → classify as AT-RISK or CRITICAL. Predicted churn reason also computed.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34840" y="3017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54296" y="1280160"/>
            <a:ext cx="2057400" cy="3931920"/>
          </a:xfrm>
          <a:prstGeom prst="roundRect">
            <a:avLst>
              <a:gd name="adj" fmla="val 4444"/>
            </a:avLst>
          </a:prstGeom>
          <a:solidFill>
            <a:srgbClr val="051A0A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67528" y="1389888"/>
            <a:ext cx="621792" cy="621792"/>
          </a:xfrm>
          <a:prstGeom prst="ellipse">
            <a:avLst/>
          </a:prstGeom>
          <a:solidFill>
            <a:srgbClr val="F44336"/>
          </a:solidFill>
          <a:ln/>
        </p:spPr>
      </p:sp>
      <p:sp>
        <p:nvSpPr>
          <p:cNvPr id="20" name="Text 18"/>
          <p:cNvSpPr/>
          <p:nvPr/>
        </p:nvSpPr>
        <p:spPr>
          <a:xfrm>
            <a:off x="5367528" y="13898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45736" y="212140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Match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45736" y="2578608"/>
            <a:ext cx="1874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reason → intervention type: plateau → milestone challenge. Low feature use → feature unlock. Streak break → streak recovery. No one-size-fits-all message.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47688" y="3017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67144" y="1280160"/>
            <a:ext cx="2057400" cy="3931920"/>
          </a:xfrm>
          <a:prstGeom prst="roundRect">
            <a:avLst>
              <a:gd name="adj" fmla="val 4444"/>
            </a:avLst>
          </a:prstGeom>
          <a:solidFill>
            <a:srgbClr val="051A0A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80376" y="1389888"/>
            <a:ext cx="621792" cy="621792"/>
          </a:xfrm>
          <a:prstGeom prst="ellipse">
            <a:avLst/>
          </a:prstGeom>
          <a:solidFill>
            <a:srgbClr val="F44336"/>
          </a:solidFill>
          <a:ln/>
        </p:spPr>
      </p:sp>
      <p:sp>
        <p:nvSpPr>
          <p:cNvPr id="26" name="Text 24"/>
          <p:cNvSpPr/>
          <p:nvPr/>
        </p:nvSpPr>
        <p:spPr>
          <a:xfrm>
            <a:off x="7580376" y="13898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58584" y="212140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Tracking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58584" y="2578608"/>
            <a:ext cx="1874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Post-intervention: track engagement recovery, renewal event, and churn outcome. Feed back into model. A/B test intervention types. MTTR equivalent tracked per pattern.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376672"/>
            <a:ext cx="8686800" cy="594360"/>
          </a:xfrm>
          <a:prstGeom prst="roundRect">
            <a:avLst>
              <a:gd name="adj" fmla="val 9231"/>
            </a:avLst>
          </a:prstGeom>
          <a:solidFill>
            <a:srgbClr val="030E05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542239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proof: Unified ops intelligence layer rebuilt 6 siloed workflows into one console — TAT 2 days → 4 hours, −68% escalation tickets. RetentionOS applies the same architecture: consolidate signals → classify churn type → route intervention.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1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Screens — Cohort Risk View to Intervention Launch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1261872"/>
            <a:ext cx="2084832" cy="4526280"/>
          </a:xfrm>
          <a:prstGeom prst="roundRect">
            <a:avLst>
              <a:gd name="adj" fmla="val 4386"/>
            </a:avLst>
          </a:prstGeom>
          <a:solidFill>
            <a:srgbClr val="FFF8F8"/>
          </a:solidFill>
          <a:ln w="6350">
            <a:solidFill>
              <a:srgbClr val="FFCDD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83464" y="1325880"/>
            <a:ext cx="1975104" cy="274320"/>
          </a:xfrm>
          <a:prstGeom prst="roundRect">
            <a:avLst>
              <a:gd name="adj" fmla="val 16667"/>
            </a:avLst>
          </a:prstGeom>
          <a:solidFill>
            <a:srgbClr val="F44336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" y="1325880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Retention Health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691640"/>
            <a:ext cx="190195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risk tier cohorts (Healthy / Watch / At-Risk / Critical). Revenue at stake: ₹18.2L. Clickable alert: "47 crossed into AT-RISK today."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3200400"/>
            <a:ext cx="1901952" cy="914400"/>
          </a:xfrm>
          <a:prstGeom prst="roundRect">
            <a:avLst>
              <a:gd name="adj" fmla="val 6000"/>
            </a:avLst>
          </a:prstGeom>
          <a:solidFill>
            <a:srgbClr val="051A0A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" y="3246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 10,218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   1,425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At-Risk 1,047 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Crit.     157 !!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59736" y="1261872"/>
            <a:ext cx="2084832" cy="4526280"/>
          </a:xfrm>
          <a:prstGeom prst="roundRect">
            <a:avLst>
              <a:gd name="adj" fmla="val 4386"/>
            </a:avLst>
          </a:prstGeom>
          <a:solidFill>
            <a:srgbClr val="FFF8F8"/>
          </a:solidFill>
          <a:ln w="6350">
            <a:solidFill>
              <a:srgbClr val="FFCDD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325880"/>
            <a:ext cx="1975104" cy="274320"/>
          </a:xfrm>
          <a:prstGeom prst="roundRect">
            <a:avLst>
              <a:gd name="adj" fmla="val 16667"/>
            </a:avLst>
          </a:prstGeom>
          <a:solidFill>
            <a:srgbClr val="F44336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1325880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Subscriber Detail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51176" y="1691640"/>
            <a:ext cx="190195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M.: 74% churn probability. Engagement signals: login 5.8→0.7/wk, meal logs 3.2→0.4/day. Predicted reason: plateau week 8. CTA: Send Intervention.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51176" y="3200400"/>
            <a:ext cx="1901952" cy="914400"/>
          </a:xfrm>
          <a:prstGeom prst="roundRect">
            <a:avLst>
              <a:gd name="adj" fmla="val 6000"/>
            </a:avLst>
          </a:prstGeom>
          <a:solidFill>
            <a:srgbClr val="051A0A"/>
          </a:solidFill>
          <a:ln/>
        </p:spPr>
      </p:sp>
      <p:sp>
        <p:nvSpPr>
          <p:cNvPr id="17" name="Text 15"/>
          <p:cNvSpPr/>
          <p:nvPr/>
        </p:nvSpPr>
        <p:spPr>
          <a:xfrm>
            <a:off x="2587752" y="3246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  5.8→0.7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   3.2→0.4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Coach  3→0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Churn  74%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90872" y="1261872"/>
            <a:ext cx="2084832" cy="4526280"/>
          </a:xfrm>
          <a:prstGeom prst="roundRect">
            <a:avLst>
              <a:gd name="adj" fmla="val 4386"/>
            </a:avLst>
          </a:prstGeom>
          <a:solidFill>
            <a:srgbClr val="FFF8F8"/>
          </a:solidFill>
          <a:ln w="6350">
            <a:solidFill>
              <a:srgbClr val="FFCDD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45736" y="1325880"/>
            <a:ext cx="1975104" cy="274320"/>
          </a:xfrm>
          <a:prstGeom prst="roundRect">
            <a:avLst>
              <a:gd name="adj" fmla="val 16667"/>
            </a:avLst>
          </a:prstGeom>
          <a:solidFill>
            <a:srgbClr val="F44336"/>
          </a:solidFill>
          <a:ln/>
        </p:spPr>
      </p:sp>
      <p:sp>
        <p:nvSpPr>
          <p:cNvPr id="20" name="Text 18"/>
          <p:cNvSpPr/>
          <p:nvPr/>
        </p:nvSpPr>
        <p:spPr>
          <a:xfrm>
            <a:off x="4745736" y="1325880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Intervention Builder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82312" y="1691640"/>
            <a:ext cx="190195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selector (Milestone / Discount / Feature / Coach). Live message preview. Expected recovery rate: 31%. A/B test toggle. Launch to 47 subscribers.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82312" y="3200400"/>
            <a:ext cx="1901952" cy="914400"/>
          </a:xfrm>
          <a:prstGeom prst="roundRect">
            <a:avLst>
              <a:gd name="adj" fmla="val 6000"/>
            </a:avLst>
          </a:prstGeom>
          <a:solidFill>
            <a:srgbClr val="051A0A"/>
          </a:solidFill>
          <a:ln/>
        </p:spPr>
      </p:sp>
      <p:sp>
        <p:nvSpPr>
          <p:cNvPr id="23" name="Text 21"/>
          <p:cNvSpPr/>
          <p:nvPr/>
        </p:nvSpPr>
        <p:spPr>
          <a:xfrm>
            <a:off x="4818888" y="3246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  31%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   28%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   22%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Coach      36%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22008" y="1261872"/>
            <a:ext cx="2084832" cy="4526280"/>
          </a:xfrm>
          <a:prstGeom prst="roundRect">
            <a:avLst>
              <a:gd name="adj" fmla="val 4386"/>
            </a:avLst>
          </a:prstGeom>
          <a:solidFill>
            <a:srgbClr val="FFF8F8"/>
          </a:solidFill>
          <a:ln w="6350">
            <a:solidFill>
              <a:srgbClr val="FFCDD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76872" y="1325880"/>
            <a:ext cx="1975104" cy="274320"/>
          </a:xfrm>
          <a:prstGeom prst="roundRect">
            <a:avLst>
              <a:gd name="adj" fmla="val 16667"/>
            </a:avLst>
          </a:prstGeom>
          <a:solidFill>
            <a:srgbClr val="F44336"/>
          </a:solidFill>
          <a:ln/>
        </p:spPr>
      </p:sp>
      <p:sp>
        <p:nvSpPr>
          <p:cNvPr id="26" name="Text 24"/>
          <p:cNvSpPr/>
          <p:nvPr/>
        </p:nvSpPr>
        <p:spPr>
          <a:xfrm>
            <a:off x="6976872" y="1325880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Impact Analytics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13448" y="1691640"/>
            <a:ext cx="190195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cohort renewal: 84.1% vs control: 71.2%. +12.9pp lift. ₹4.2L recovered. Milestone Challenge = highest ROI (₹0 cost, 34% recovery).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13448" y="3200400"/>
            <a:ext cx="1901952" cy="914400"/>
          </a:xfrm>
          <a:prstGeom prst="roundRect">
            <a:avLst>
              <a:gd name="adj" fmla="val 6000"/>
            </a:avLst>
          </a:prstGeom>
          <a:solidFill>
            <a:srgbClr val="051A0A"/>
          </a:solidFill>
          <a:ln/>
        </p:spPr>
      </p:sp>
      <p:sp>
        <p:nvSpPr>
          <p:cNvPr id="29" name="Text 27"/>
          <p:cNvSpPr/>
          <p:nvPr/>
        </p:nvSpPr>
        <p:spPr>
          <a:xfrm>
            <a:off x="7050024" y="3246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Intervened 84.1%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   71.2%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    +12.9pp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Recovered ₹4.2L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610819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healthifyme-retentionos-prototype.html · Intervention type selector live · A/B toggle interactive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1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₹4.2L Recovered per Month. Milestone Challenge Costs ₹0 and Recovers 34%.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Metrics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62763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+12.9pp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828800" y="16276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rate lift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19019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cohort 84.1% vs control 71.2%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414016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" y="2468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828800" y="24688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recovery 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27432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₹0 marginal cost per subscriber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255264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4048" y="33101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days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828800" y="33101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Pre-churn detection window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358444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before motivation loss becomes permanent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4096512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4048" y="415137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828800" y="415137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vs Human Coach Call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28800" y="44256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recovery rate, zero marginal cost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3440" y="12344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ROI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572768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73168" y="162763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₹4.2L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6217920" y="16276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recovered (30 days)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19019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that would have churned, retained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2414016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73168" y="2468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6217920" y="24688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challenge cost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27432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₹400–800 new subscriber acquisition cost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3255264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73168" y="33101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−68%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6217920" y="33101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tickets (PhonePe)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0" y="358444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intelligence architecture — same pattern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4096512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73168" y="415137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6217920" y="415137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retention (PhonePe)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17920" y="44256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signal → intervention mechanics applied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462272" y="1234440"/>
            <a:ext cx="18288" cy="4892040"/>
          </a:xfrm>
          <a:prstGeom prst="rect">
            <a:avLst/>
          </a:prstGeom>
          <a:solidFill>
            <a:srgbClr val="1A3020"/>
          </a:solidFill>
          <a:ln/>
        </p:spPr>
      </p:sp>
      <p:sp>
        <p:nvSpPr>
          <p:cNvPr id="41" name="Shape 39"/>
          <p:cNvSpPr/>
          <p:nvPr/>
        </p:nvSpPr>
        <p:spPr>
          <a:xfrm>
            <a:off x="274320" y="5943600"/>
            <a:ext cx="8595360" cy="685800"/>
          </a:xfrm>
          <a:prstGeom prst="roundRect">
            <a:avLst>
              <a:gd name="adj" fmla="val 8000"/>
            </a:avLst>
          </a:prstGeom>
          <a:solidFill>
            <a:srgbClr val="0D1A0A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599846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Retaining a churning PRO subscriber at ₹0 cost is always better than acquiring a new one at ₹400–800. RetentionOS makes the cheaper path the default — at scale, across 1,204 at-risk subscribers per month.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5143500"/>
          </a:xfrm>
          <a:prstGeom prst="rect">
            <a:avLst/>
          </a:prstGeom>
          <a:solidFill>
            <a:srgbClr val="051A0A"/>
          </a:solidFill>
          <a:ln/>
        </p:spPr>
      </p:sp>
      <p:sp>
        <p:nvSpPr>
          <p:cNvPr id="3" name="Shape 1"/>
          <p:cNvSpPr/>
          <p:nvPr/>
        </p:nvSpPr>
        <p:spPr>
          <a:xfrm>
            <a:off x="4480560" y="0"/>
            <a:ext cx="466344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0116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PhonePe Ops Intelligence Layer — Applied to PRO Subscriber Retention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" y="1280160"/>
            <a:ext cx="4069080" cy="1005840"/>
          </a:xfrm>
          <a:prstGeom prst="roundRect">
            <a:avLst>
              <a:gd name="adj" fmla="val 6364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335024"/>
            <a:ext cx="3794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unified ops intelligence layer consolidating 6 siloed workflows → automated breach classification and routing → TAT 2 days → 4 hours, −68% escalation tickets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2377440"/>
            <a:ext cx="4069080" cy="1005840"/>
          </a:xfrm>
          <a:prstGeom prst="roundRect">
            <a:avLst>
              <a:gd name="adj" fmla="val 6364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432304"/>
            <a:ext cx="3794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cart incentivization: context-aware trigger (cart × intent × time) → 20% improvement in 30-day retention. Same signal-to-intervention architecture.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3474720"/>
            <a:ext cx="4069080" cy="1005840"/>
          </a:xfrm>
          <a:prstGeom prst="roundRect">
            <a:avLst>
              <a:gd name="adj" fmla="val 6364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3529584"/>
            <a:ext cx="3794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propensity-to-transact: real-time per-user scoring replacing manual cohorts → 32% marketing burn reduction while sustaining GMV across all markets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4572000"/>
            <a:ext cx="4069080" cy="1005840"/>
          </a:xfrm>
          <a:prstGeom prst="roundRect">
            <a:avLst>
              <a:gd name="adj" fmla="val 6364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4626864"/>
            <a:ext cx="3794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waiver A/B test: goal milestone mechanic → 60% improvement in 90-day device activation vs flat discount. Same mechanic as RetentionOS Milestone Challenge.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1280160"/>
            <a:ext cx="42519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335024"/>
            <a:ext cx="3977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RetentionOS signal consolidation — same architecture: 6 signals (login, logs, streak, goal, coach, feature) → single churn risk score replacing manual ops review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17720" y="2377440"/>
            <a:ext cx="42519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432304"/>
            <a:ext cx="3977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RetentionOS intervention timing — same 30-day retention logic: detect engagement drop → intervene at peak recovery window → measure renewal outcome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3474720"/>
            <a:ext cx="42519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3529584"/>
            <a:ext cx="3977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RetentionOS churn propensity scoring — same real-time ML scoring, subscription churn probability instead of purchase propensity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0" y="4572000"/>
            <a:ext cx="42519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4626864"/>
            <a:ext cx="3977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RetentionOS Milestone Challenge — same goal milestone mechanic, journey completion instead of device activation. ₹0 cost, 34% recovery rate.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5715000"/>
            <a:ext cx="8686800" cy="640080"/>
          </a:xfrm>
          <a:prstGeom prst="roundRect">
            <a:avLst>
              <a:gd name="adj" fmla="val 8571"/>
            </a:avLst>
          </a:prstGeom>
          <a:solidFill>
            <a:srgbClr val="F44336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57607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RetentionOS is the ops intelligence architecture I built at PhonePe — adapted from offer ops escalation to PRO subscriber churn. The signal processing, classification, and intervention routing are identical.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1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 — Signal Audit to Full Intervention Automation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261872"/>
            <a:ext cx="2816352" cy="3749040"/>
          </a:xfrm>
          <a:prstGeom prst="roundRect">
            <a:avLst>
              <a:gd name="adj" fmla="val 3247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01752" y="1353312"/>
            <a:ext cx="2670048" cy="329184"/>
          </a:xfrm>
          <a:prstGeom prst="roundRect">
            <a:avLst>
              <a:gd name="adj" fmla="val 13889"/>
            </a:avLst>
          </a:prstGeom>
          <a:solidFill>
            <a:srgbClr val="F44336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1353312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1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" y="1764792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Month 1–2: Signal Validation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2331720"/>
            <a:ext cx="259689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existing engagement signals (login, logs, streak, AI coach) against historical churn events. Validate 14-day pre-churn signal pattern. Build baseline churn probability model. Identify top 3 churn patterns (plateau, streak break, feature abandonment).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7832" y="1261872"/>
            <a:ext cx="2816352" cy="3749040"/>
          </a:xfrm>
          <a:prstGeom prst="roundRect">
            <a:avLst>
              <a:gd name="adj" fmla="val 3247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00984" y="1353312"/>
            <a:ext cx="2670048" cy="329184"/>
          </a:xfrm>
          <a:prstGeom prst="roundRect">
            <a:avLst>
              <a:gd name="adj" fmla="val 13889"/>
            </a:avLst>
          </a:prstGeom>
          <a:solidFill>
            <a:srgbClr val="FFB300"/>
          </a:solidFill>
          <a:ln/>
        </p:spPr>
      </p:sp>
      <p:sp>
        <p:nvSpPr>
          <p:cNvPr id="13" name="Text 11"/>
          <p:cNvSpPr/>
          <p:nvPr/>
        </p:nvSpPr>
        <p:spPr>
          <a:xfrm>
            <a:off x="3300984" y="1353312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1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1764792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Month 3–4: Intervention A/B Tests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2331720"/>
            <a:ext cx="259689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RetentionOS for AT-RISK tier. Run 4 intervention type A/B tests (Milestone, Discount, Feature, Coach). Measure 7-day recovery rate per type. Build ops dashboard for subscriber health visibility. Tune model thresholds.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27064" y="1261872"/>
            <a:ext cx="2816352" cy="3749040"/>
          </a:xfrm>
          <a:prstGeom prst="roundRect">
            <a:avLst>
              <a:gd name="adj" fmla="val 3247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0216" y="1353312"/>
            <a:ext cx="2670048" cy="329184"/>
          </a:xfrm>
          <a:prstGeom prst="roundRect">
            <a:avLst>
              <a:gd name="adj" fmla="val 13889"/>
            </a:avLst>
          </a:prstGeom>
          <a:solidFill>
            <a:srgbClr val="00C853"/>
          </a:solidFill>
          <a:ln/>
        </p:spPr>
      </p:sp>
      <p:sp>
        <p:nvSpPr>
          <p:cNvPr id="18" name="Text 16"/>
          <p:cNvSpPr/>
          <p:nvPr/>
        </p:nvSpPr>
        <p:spPr>
          <a:xfrm>
            <a:off x="6300216" y="1353312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1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36792" y="1764792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Month 5–6: Automated Pipeline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36792" y="2331720"/>
            <a:ext cx="259689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daily churn scoring → intervention dispatch → recovery tracking pipeline. Milestone Challenge becomes default intervention for plateau pattern. Real-time ₹ at-risk dashboard live for product and finance teams. MTTR equivalent tracked monthly.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5193792"/>
            <a:ext cx="8686800" cy="1234440"/>
          </a:xfrm>
          <a:prstGeom prst="roundRect">
            <a:avLst>
              <a:gd name="adj" fmla="val 5926"/>
            </a:avLst>
          </a:prstGeom>
          <a:solidFill>
            <a:srgbClr val="030E05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52669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5541264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Subscriber event logs: login timestamps, meal log events, streak data, AI coach session data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Historical renewal/churn outcomes for model training (12-month lookback)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 scoring infra to run daily churn probability computation across 12,847 active subscribers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0" y="656539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  |  avaghadeajay009@gmail.com  |  +91 9561558439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2026-06-01T16:50:27Z</dcterms:created>
  <dcterms:modified xsi:type="dcterms:W3CDTF">2026-06-01T16:50:27Z</dcterms:modified>
</cp:coreProperties>
</file>