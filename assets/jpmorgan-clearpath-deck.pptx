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6583680" y="-182880"/>
            <a:ext cx="164592" cy="8229600"/>
          </a:xfrm>
          <a:prstGeom prst="rect">
            <a:avLst/>
          </a:prstGeom>
          <a:solidFill>
            <a:srgbClr val="C9A22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995160" y="-182880"/>
            <a:ext cx="164592" cy="8229600"/>
          </a:xfrm>
          <a:prstGeom prst="rect">
            <a:avLst/>
          </a:prstGeom>
          <a:solidFill>
            <a:srgbClr val="C9A22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7406640" y="-182880"/>
            <a:ext cx="164592" cy="8229600"/>
          </a:xfrm>
          <a:prstGeom prst="rect">
            <a:avLst/>
          </a:prstGeom>
          <a:solidFill>
            <a:srgbClr val="C9A227">
              <a:alpha val="3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200000">
            <a:off x="7818120" y="-182880"/>
            <a:ext cx="164592" cy="8229600"/>
          </a:xfrm>
          <a:prstGeom prst="rect">
            <a:avLst/>
          </a:prstGeom>
          <a:solidFill>
            <a:srgbClr val="C9A227">
              <a:alpha val="4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200000">
            <a:off x="8229600" y="-182880"/>
            <a:ext cx="164592" cy="8229600"/>
          </a:xfrm>
          <a:prstGeom prst="rect">
            <a:avLst/>
          </a:prstGeom>
          <a:solidFill>
            <a:srgbClr val="C9A227">
              <a:alpha val="5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200000">
            <a:off x="8641080" y="-182880"/>
            <a:ext cx="164592" cy="8229600"/>
          </a:xfrm>
          <a:prstGeom prst="rect">
            <a:avLst/>
          </a:prstGeom>
          <a:solidFill>
            <a:srgbClr val="C9A227">
              <a:alpha val="6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47472"/>
            <a:ext cx="3200400" cy="256032"/>
          </a:xfrm>
          <a:prstGeom prst="rect">
            <a:avLst>
              <a:gd name="adj" fmla="val 50000"/>
            </a:avLst>
          </a:prstGeom>
          <a:solidFill>
            <a:srgbClr val="C9A227">
              <a:alpha val="15000"/>
            </a:srgbClr>
          </a:solidFill>
          <a:ln w="12700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· CEEMEA CORRESPONDENT BANKING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749808"/>
            <a:ext cx="6400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438912" y="18288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CEEMEA Correspondent KYC Acceleration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8912" y="23042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KYC renewal from a 6-month email chain into a 38-day self-serve digital 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743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· Growth &amp; Monetization PM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4389120"/>
            <a:ext cx="2103120" cy="1737360"/>
          </a:xfrm>
          <a:prstGeom prst="rect">
            <a:avLst>
              <a:gd name="adj" fmla="val 7368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40740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−81%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766560" y="497433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renewal 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months → 38 days)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583680"/>
            <a:ext cx="9144000" cy="18288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De-risking Is Destroying CEEMEA Correspondent</a:t>
            </a:r>
            <a:endParaRPr lang="en-US" sz="2400" dirty="0"/>
          </a:p>
          <a:p>
            <a:pPr indent="0" marL="0">
              <a:buNone/>
            </a:pPr>
            <a:r>
              <a:rPr lang="en-US" sz="24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— Not Because of Risk, But Because of KYC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3108960"/>
          </a:xfrm>
          <a:prstGeom prst="rect">
            <a:avLst>
              <a:gd name="adj" fmla="val 42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3852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3090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CEEMEA correspondent relationships lost to de-risking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citing "KYC burden too high" — not actual compliance risk — as reason for terminating relationships over the past decade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06040" cy="3108960"/>
          </a:xfrm>
          <a:prstGeom prst="rect">
            <a:avLst>
              <a:gd name="adj" fmla="val 42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93852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3957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mo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01568" y="3090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KYC renewal time for one correspondent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01568" y="3566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manual review: document chase by email → UK compliance → UAE → US OFAC → country-level sign-off. Each stage waits for the previous.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3108960"/>
          </a:xfrm>
          <a:prstGeom prst="rect">
            <a:avLst>
              <a:gd name="adj" fmla="val 42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93852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3957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$240M+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36208" y="3090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payment volume at risk per at-risk corridor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3566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terminated correspondent relationship removes a payment corridor entirely. CEEMEA market requires 1,500+ active relationships for full coverage.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8229600" cy="1298448"/>
          </a:xfrm>
          <a:prstGeom prst="rect">
            <a:avLst>
              <a:gd name="adj" fmla="val 8451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2303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550468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KYC process is not automated, not parallel, and not self-serve. Correspondent banks submit documents by email. Each jurisdiction reviews sequentially. J.P. Morgan relationship managers spend 40% of renewal time on document chasing rather than relationship management. ClearPath converts this from a compliance bottleneck into a structured digital workflow.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Renewal is a Revenue Protection Product,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-50" kern="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Compliance Cost Centre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749040" cy="4297680"/>
          </a:xfrm>
          <a:prstGeom prst="rect">
            <a:avLst>
              <a:gd name="adj" fmla="val 292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653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Current Process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Documents requested via email — 3–4 rounds per renewal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Sequential compliance review: UK → UAE → US OFAC → local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shared tracker — both sides fly blind on status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6–9 months average: relationship at risk the entire time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RM spends 40% of time as document chaser, not banker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At-risk window: payment volume paused during limbo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24528" y="3520440"/>
            <a:ext cx="694944" cy="694944"/>
          </a:xfrm>
          <a:prstGeom prst="ellipse">
            <a:avLst/>
          </a:prstGeom>
          <a:solidFill>
            <a:srgbClr val="0A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4224528" y="35204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737360"/>
            <a:ext cx="3749040" cy="4297680"/>
          </a:xfrm>
          <a:prstGeom prst="rect">
            <a:avLst>
              <a:gd name="adj" fmla="val 2927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18653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ClearPath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2860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Self-serve portal: correspondent bank submits documents directly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0640" y="2788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OCR auto-fill from prior submissions + public registry APIs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20640" y="32918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review across all jurisdictions simultaneously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0" y="37947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38 days average — relationship risk window cut by 81%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42976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live tracker: both sides see status in real time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0" y="48006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RM focus shifts from document chasing to relationship growth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6199632"/>
            <a:ext cx="8229600" cy="475488"/>
          </a:xfrm>
          <a:prstGeom prst="rect">
            <a:avLst>
              <a:gd name="adj" fmla="val 19231"/>
            </a:avLst>
          </a:prstGeom>
          <a:solidFill>
            <a:srgbClr val="C9A227">
              <a:alpha val="12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217920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Every prevented correspondent relationship termination protects payment volume. ClearPath converts KYC from pure cost into a revenue-protection product with a direct P&amp;L line.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ClearPath Works: Self-Serve + Parallel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554480" cy="4297680"/>
          </a:xfrm>
          <a:prstGeom prst="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993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Sent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542032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sends ClearPath invite 90 days before KYC expiry. Correspondent bank accesses secure self-serve portal via link + MFA.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47088" y="34747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1417320"/>
            <a:ext cx="1554480" cy="4297680"/>
          </a:xfrm>
          <a:prstGeom prst="rect">
            <a:avLst>
              <a:gd name="adj" fmla="val 705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03120" y="1993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Auto-fill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542032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uploaded. OCR extracts entity data, pre-populates form from prior submission + public registry APIs. 8 fields auto-filled on average.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84448" y="34747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1417320"/>
            <a:ext cx="1554480" cy="4297680"/>
          </a:xfrm>
          <a:prstGeom prst="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840480" y="1993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Parallel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542032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submission triggers parallel compliance review across all jurisdictions: UK FCA, UAE CBUAE, US OFAC, Egypt CBE — simultaneously, not sequentially.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21808" y="34747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1417320"/>
            <a:ext cx="1554480" cy="4297680"/>
          </a:xfrm>
          <a:prstGeom prst="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77840" y="1993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2542032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correspondent bank and J.P. Morgan RM see real-time status across all 4 compliance streams. No email chase. Exceptions surfaced with self-serve guidance.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59168" y="34747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1417320"/>
            <a:ext cx="1554480" cy="4297680"/>
          </a:xfrm>
          <a:prstGeom prst="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15200" y="1993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2542032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jurisdictions cleared → relationship auto-renewed. Payment corridors remain live throughout. Volume protected. RM notified with next renewal date.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5907024"/>
            <a:ext cx="8229600" cy="713232"/>
          </a:xfrm>
          <a:prstGeom prst="rect">
            <a:avLst>
              <a:gd name="adj" fmla="val 12821"/>
            </a:avLst>
          </a:prstGeom>
          <a:solidFill>
            <a:srgbClr val="C9A227">
              <a:alpha val="12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94360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proof:  Built zero-to-one B2B merchant self-serve onboarding platform at PhonePe — collapsed 2-day manual onboarding to 30 minutes via automated KYC/KYB document flows and parallel eligibility checks. The ADCB CardLaunch case study (3 weeks → 24 minutes) is the same architecture in a banking context. ClearPath applies the same parallel workflow to correspondent KYC.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Screens — Built &amp; Live as a Working Prototype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029968" cy="5120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0F2A5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417320"/>
            <a:ext cx="2029968" cy="411480"/>
          </a:xfrm>
          <a:prstGeom prst="rect">
            <a:avLst>
              <a:gd name="adj" fmla="val 26667"/>
            </a:avLst>
          </a:prstGeom>
          <a:solidFill>
            <a:srgbClr val="0F2A54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Correspondent Portal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84708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ClearPath · KYC Portal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Arab African Int Bank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🇪🇬 Cairo · ARAIEGCX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KYC Renewal: 47d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Central Bank License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Audited Financials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AML Policy (review)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UBO Declaration req.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Upload UBO Decl. →  ]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4315968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 bank landing page: KYC renewal countdown, document submission status (uploaded / in review / required), progress bar across 4 phases, one-tap upload CTA.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87168" y="1417320"/>
            <a:ext cx="2029968" cy="5120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417320"/>
            <a:ext cx="2029968" cy="411480"/>
          </a:xfrm>
          <a:prstGeom prst="rect">
            <a:avLst>
              <a:gd name="adj" fmla="val 26667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OCR Auto-fill 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78608" y="1901952"/>
            <a:ext cx="184708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UBO Declaration    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✓ ][ 2 ][ 3 ][ 4 ]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✦ 8 fields pre-filled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Entity: AAIB S.A.E. ✦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Reg: EG-CAI-1964  ✦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Jurisdiction: Egypt ✦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UBO Name: [Required]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UBO %: [Required]  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🇬🇧 UK FCA    ✓ Done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🇦🇪 UAE CBUAE ✓ Done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🇪🇬 Egypt CBE ⏳ Live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🇺🇸 US OFAC   ⌛ Queue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578608" y="4315968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triggers OCR extraction. 8 fields pre-populated from prior submission + registry data. Missing fields highlighted in red. Parallel compliance status shown below.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0016" y="1417320"/>
            <a:ext cx="2029968" cy="5120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1417320"/>
            <a:ext cx="2029968" cy="411480"/>
          </a:xfrm>
          <a:prstGeom prst="rect">
            <a:avLst>
              <a:gd name="adj" fmla="val 26667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Relationship Activated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91456" y="1901952"/>
            <a:ext cx="184708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Relationship Activated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Arab African Int Bank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🇪🇬 · $840M/yr flow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KYC Status: Cleared ✓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until: May 2028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 7 months → 38d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↓ 81% faster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jurisdictions: 4/4 ✓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[Download Cert][Dashboard]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91456" y="4315968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jurisdictions cleared: confetti celebration, full clearance certificate, before/after time comparison (7 months → 38 days), relationship validity date, volume protection confirmed.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12864" y="1417320"/>
            <a:ext cx="2029968" cy="5120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0A1E3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12864" y="1417320"/>
            <a:ext cx="2029968" cy="411480"/>
          </a:xfrm>
          <a:prstGeom prst="rect">
            <a:avLst>
              <a:gd name="adj" fmla="val 26667"/>
            </a:avLst>
          </a:prstGeom>
          <a:solidFill>
            <a:srgbClr val="0A1E3D"/>
          </a:solidFill>
          <a:ln/>
        </p:spPr>
      </p:sp>
      <p:sp>
        <p:nvSpPr>
          <p:cNvPr id="21" name="Text 19"/>
          <p:cNvSpPr/>
          <p:nvPr/>
        </p:nvSpPr>
        <p:spPr>
          <a:xfrm>
            <a:off x="6986016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J.P. Morgan Ops 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04304" y="1901952"/>
            <a:ext cx="184708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ClearPath · Compliance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38d avg clearance time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−40% relationship churn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at-risk (action req)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Arab African  100% ✓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Natl NG  72% ⏳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Banque Misr    31% ⚠️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Health: Egypt 87 · NG 61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De-risk alert: PAK $240M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04304" y="4315968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 view: pipeline of 1,500+ correspondent renewals. Clearance time KPI, churn reduction, at-risk alerts, health score by corridor, de-risking early warning system.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5836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live at: ajay-avaghade.github.io/Portfolio/jpmorgan-clearpath-prototype.html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Revenue Protection at Scale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 BANK EXPERIENCE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92024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653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days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34086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KYC clearance (vs 6–9 months)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3172968"/>
            <a:ext cx="192024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826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−81%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375818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"at-risk" limbo window during renewal cycle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755648"/>
            <a:ext cx="192024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8653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fields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51760" y="234086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automatically via OCR + registry APIs per submission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3172968"/>
            <a:ext cx="192024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2826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51760" y="375818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reviews completed in parallel (not sequential)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8288" cy="4572000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REVENUE PROTECTION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755648"/>
            <a:ext cx="182880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8653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37760" y="234086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 relationship churn in CEEMEA corridors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3172968"/>
            <a:ext cx="182880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8269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+$30M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37760" y="375818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payment volume protected per 100 relationships saved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1755648"/>
            <a:ext cx="182880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8653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9440" y="234086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capacity freed from document chasing for relationship growth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0" y="3172968"/>
            <a:ext cx="182880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328269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49440" y="375818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Pakistan corridor volume flagged 30 days early for action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8229600" cy="914400"/>
          </a:xfrm>
          <a:prstGeom prst="rect">
            <a:avLst>
              <a:gd name="adj" fmla="val 12000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800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ClearPath investment thesis:  De-risking is destroying CEEMEA payment volume not because of risk — because the KYC process is too painful. ClearPath converts the compliance renewal cycle from a liability into a retention tool: every relationship saved is incremental payment volume at near-zero marginal cost.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Architecture at PhonePe and ADCB.</a:t>
            </a:r>
            <a:endParaRPr lang="en-US" sz="2400" dirty="0"/>
          </a:p>
          <a:p>
            <a:pPr indent="0" marL="0">
              <a:buNone/>
            </a:pPr>
            <a:r>
              <a:rPr lang="en-US" sz="2400" b="1" spc="-50" kern="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Evidence.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31920" cy="4663440"/>
          </a:xfrm>
          <a:prstGeom prst="rect">
            <a:avLst>
              <a:gd name="adj" fmla="val 3256"/>
            </a:avLst>
          </a:prstGeom>
          <a:solidFill>
            <a:srgbClr val="0A1E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 + ADCB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39696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Zero-to-one B2B merchant self-serve PG onboarding: 2-day manual TAT → 30 minutes via automated KYC/KYB document flows + parallel eligibility checks across credit, compliance, and technical teams — 5,000+ merchants acquired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ADCB CardLaunch (case study): corporate card programme onboarding digitisation from 3-week RM-led process to 24 minutes via OCR auto-fill, AI credit scoring, and parallel document review — same architecture as ClearPath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407822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B2B marketplace compliance engine: built eligibility and onboarding controls across Tech, Legal, Compliance, and Finance — 500+ brand partners onboarded with full audit trail across all jurisdictions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504748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Ops dashboard for compliance teams: real-time queue management, exception tracking, partner health scoring — maps directly to ClearPath Slide 5 Screen 4 ops view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4023360" cy="4663440"/>
          </a:xfrm>
          <a:prstGeom prst="rect">
            <a:avLst>
              <a:gd name="adj" fmla="val 3182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73736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this JD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139696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"Design and implement solutions for improvement of internal processes" → PhonePe B2B onboarding digitisation (2d → 30min) + ADCB CardLaunch (3wk → 24min): same architectural pattern applied here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31089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"Anticipate internal/external factors impacting Legal Entities" → ClearPath health score flags de-risking risk 30–90 days before corridor termination — exactly the early warning the JD requires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407822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"Understand risks inherent in the product and drive programs to reduce" → ClearPath is inherently a risk product: it quantifies relationship risk, tracks compliance coverage, and surfaces exceptions before they become terminations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504748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"Collaborate with Sales, Service, Operations and Technology" → Built PhonePe rewards marketplace with full cross-functional alignment; ADCB CardLaunch required Legal + Compliance + Finance + Tech sign-off across 3 markets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6400800"/>
            <a:ext cx="8229600" cy="256032"/>
          </a:xfrm>
          <a:prstGeom prst="rect">
            <a:avLst>
              <a:gd name="adj" fmla="val 28571"/>
            </a:avLst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4008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"ClearPath is the ADCB CardLaunch architecture applied to correspondent banking KYC. I have shipped both the onboarding digitisation and the parallel compliance workflow. The domain is different; the product mechanics are the same."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— UAE + Egypt Pilot to CEEMEA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3931920"/>
          </a:xfrm>
          <a:prstGeom prst="rect">
            <a:avLst>
              <a:gd name="adj" fmla="val 47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97480" cy="384048"/>
          </a:xfrm>
          <a:prstGeom prst="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Months 1–2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90195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+ Egypt Pilot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ClearPath for 50 correspondent renewals across UAE and Egypt corridors — highest renewal volume, known KYC document requirements. Measure time-to-clearance vs email baseline. Validate OCR accuracy on Arabic and English documents.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1417320"/>
            <a:ext cx="2697480" cy="3931920"/>
          </a:xfrm>
          <a:prstGeom prst="rect">
            <a:avLst>
              <a:gd name="adj" fmla="val 47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4992" y="1417320"/>
            <a:ext cx="2697480" cy="384048"/>
          </a:xfrm>
          <a:prstGeom prst="rect">
            <a:avLst>
              <a:gd name="adj" fmla="val 33333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4173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Months 3–5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56432" y="190195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CEEMEA Parallel Review Engine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237744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parallel compliance review to all 4 primary jurisdictions (UK, UAE, US, local). Add West Africa (Nigeria, Ghana), East Africa (Kenya, Tanzania) corridors. Build RM dashboard with health score and at-risk alerting.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72784" y="1417320"/>
            <a:ext cx="2697480" cy="3931920"/>
          </a:xfrm>
          <a:prstGeom prst="rect">
            <a:avLst>
              <a:gd name="adj" fmla="val 47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1417320"/>
            <a:ext cx="2697480" cy="384048"/>
          </a:xfrm>
          <a:prstGeom prst="rect">
            <a:avLst>
              <a:gd name="adj" fmla="val 33333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4173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Months 6–12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64224" y="190195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CEEMEA + De-risking Firewall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224" y="237744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1,500+ CEEMEA correspondent renewals managed via ClearPath. Health score model detects de-risking risk 90 days early. Integrate with J.P. Morgan KYC utility (KYC.com). Expand to new relationship onboarding (not just renewals).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504688"/>
            <a:ext cx="8229600" cy="804672"/>
          </a:xfrm>
          <a:prstGeom prst="rect">
            <a:avLst>
              <a:gd name="adj" fmla="val 13636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55955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this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815584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KYC renewal pipeline data  ·  Alignment with Compliance and Legal teams  ·  1 engineer for portal + OCR  ·  50 pilot correspondent bank nominations  ·  J.P. Morgan KYC utility (KYC.com) API access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|  avaghadeajay009@gmail.com  |  +91 9561558439  |  ajay-avaghade.github.io/Portfolio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2026-05-23T11:56:14Z</dcterms:created>
  <dcterms:modified xsi:type="dcterms:W3CDTF">2026-05-23T11:56:14Z</dcterms:modified>
</cp:coreProperties>
</file>