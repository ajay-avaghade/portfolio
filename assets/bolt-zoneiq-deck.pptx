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4D18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8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 · ML COMPLIANCE PLATFORM · Case Study 04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 rot="2100000">
            <a:off x="-457200" y="0"/>
            <a:ext cx="3657600" cy="0"/>
          </a:xfrm>
          <a:prstGeom prst="line">
            <a:avLst/>
          </a:prstGeom>
          <a:noFill/>
          <a:ln w="228600">
            <a:solidFill>
              <a:srgbClr val="16281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100000">
            <a:off x="182880" y="0"/>
            <a:ext cx="3657600" cy="0"/>
          </a:xfrm>
          <a:prstGeom prst="line">
            <a:avLst/>
          </a:prstGeom>
          <a:noFill/>
          <a:ln w="228600">
            <a:solidFill>
              <a:srgbClr val="16281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100000">
            <a:off x="822960" y="0"/>
            <a:ext cx="3657600" cy="0"/>
          </a:xfrm>
          <a:prstGeom prst="line">
            <a:avLst/>
          </a:prstGeom>
          <a:noFill/>
          <a:ln w="228600">
            <a:solidFill>
              <a:srgbClr val="16281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100000">
            <a:off x="1463040" y="0"/>
            <a:ext cx="3657600" cy="0"/>
          </a:xfrm>
          <a:prstGeom prst="line">
            <a:avLst/>
          </a:prstGeom>
          <a:noFill/>
          <a:ln w="228600">
            <a:solidFill>
              <a:srgbClr val="16281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100000">
            <a:off x="2103120" y="0"/>
            <a:ext cx="3657600" cy="0"/>
          </a:xfrm>
          <a:prstGeom prst="line">
            <a:avLst/>
          </a:prstGeom>
          <a:noFill/>
          <a:ln w="228600">
            <a:solidFill>
              <a:srgbClr val="16281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100000">
            <a:off x="2743200" y="0"/>
            <a:ext cx="3657600" cy="0"/>
          </a:xfrm>
          <a:prstGeom prst="line">
            <a:avLst/>
          </a:prstGeom>
          <a:noFill/>
          <a:ln w="228600">
            <a:solidFill>
              <a:srgbClr val="16281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100000">
            <a:off x="3383280" y="0"/>
            <a:ext cx="3657600" cy="0"/>
          </a:xfrm>
          <a:prstGeom prst="line">
            <a:avLst/>
          </a:prstGeom>
          <a:noFill/>
          <a:ln w="228600">
            <a:solidFill>
              <a:srgbClr val="16281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100000">
            <a:off x="4023360" y="0"/>
            <a:ext cx="3657600" cy="0"/>
          </a:xfrm>
          <a:prstGeom prst="line">
            <a:avLst/>
          </a:prstGeom>
          <a:noFill/>
          <a:ln w="228600">
            <a:solidFill>
              <a:srgbClr val="16281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100000">
            <a:off x="4663440" y="0"/>
            <a:ext cx="3657600" cy="0"/>
          </a:xfrm>
          <a:prstGeom prst="line">
            <a:avLst/>
          </a:prstGeom>
          <a:noFill/>
          <a:ln w="228600">
            <a:solidFill>
              <a:srgbClr val="16281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100000">
            <a:off x="5303520" y="0"/>
            <a:ext cx="3657600" cy="0"/>
          </a:xfrm>
          <a:prstGeom prst="line">
            <a:avLst/>
          </a:prstGeom>
          <a:noFill/>
          <a:ln w="228600">
            <a:solidFill>
              <a:srgbClr val="16281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100000">
            <a:off x="5943600" y="0"/>
            <a:ext cx="3657600" cy="0"/>
          </a:xfrm>
          <a:prstGeom prst="line">
            <a:avLst/>
          </a:prstGeom>
          <a:noFill/>
          <a:ln w="228600">
            <a:solidFill>
              <a:srgbClr val="16281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100000">
            <a:off x="6583680" y="0"/>
            <a:ext cx="3657600" cy="0"/>
          </a:xfrm>
          <a:prstGeom prst="line">
            <a:avLst/>
          </a:prstGeom>
          <a:noFill/>
          <a:ln w="228600">
            <a:solidFill>
              <a:srgbClr val="16281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100000">
            <a:off x="7223760" y="0"/>
            <a:ext cx="3657600" cy="0"/>
          </a:xfrm>
          <a:prstGeom prst="line">
            <a:avLst/>
          </a:prstGeom>
          <a:noFill/>
          <a:ln w="228600">
            <a:solidFill>
              <a:srgbClr val="16281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100000">
            <a:off x="7863840" y="0"/>
            <a:ext cx="3657600" cy="0"/>
          </a:xfrm>
          <a:prstGeom prst="line">
            <a:avLst/>
          </a:prstGeom>
          <a:noFill/>
          <a:ln w="228600">
            <a:solidFill>
              <a:srgbClr val="16281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100000">
            <a:off x="8503920" y="0"/>
            <a:ext cx="3657600" cy="0"/>
          </a:xfrm>
          <a:prstGeom prst="line">
            <a:avLst/>
          </a:prstGeom>
          <a:noFill/>
          <a:ln w="228600">
            <a:solidFill>
              <a:srgbClr val="16281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100000">
            <a:off x="9144000" y="0"/>
            <a:ext cx="3657600" cy="0"/>
          </a:xfrm>
          <a:prstGeom prst="line">
            <a:avLst/>
          </a:prstGeom>
          <a:noFill/>
          <a:ln w="228600">
            <a:solidFill>
              <a:srgbClr val="16281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100000">
            <a:off x="9784080" y="0"/>
            <a:ext cx="3657600" cy="0"/>
          </a:xfrm>
          <a:prstGeom prst="line">
            <a:avLst/>
          </a:prstGeom>
          <a:noFill/>
          <a:ln w="228600">
            <a:solidFill>
              <a:srgbClr val="16281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100000">
            <a:off x="10424160" y="0"/>
            <a:ext cx="3657600" cy="0"/>
          </a:xfrm>
          <a:prstGeom prst="line">
            <a:avLst/>
          </a:prstGeom>
          <a:noFill/>
          <a:ln w="228600">
            <a:solidFill>
              <a:srgbClr val="16281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100584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ZoneIQ</a:t>
            </a:r>
            <a:endParaRPr lang="en-US" sz="7200" dirty="0"/>
          </a:p>
        </p:txBody>
      </p:sp>
      <p:sp>
        <p:nvSpPr>
          <p:cNvPr id="23" name="Shape 21"/>
          <p:cNvSpPr/>
          <p:nvPr/>
        </p:nvSpPr>
        <p:spPr>
          <a:xfrm>
            <a:off x="320040" y="2103120"/>
            <a:ext cx="21945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2286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ML-Powered Smart Geofence — Predict, Warn, Decelerate Gently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20040" y="28529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Avaghade · Product Manager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5303520"/>
            <a:ext cx="2743200" cy="1325880"/>
          </a:xfrm>
          <a:prstGeom prst="rect">
            <a:avLst/>
          </a:prstGeom>
          <a:solidFill>
            <a:srgbClr val="162815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17920" y="5349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-45%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6217920" y="58338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brake events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606247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8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hard geofence baseline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4D18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D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Geofences Fail Twice: Bad UX for Compliant Riders, Bypassable by Non-Compliant Ones.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554480"/>
            <a:ext cx="850392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geofences have two distinct failure modes. For compliant riders: sudden throttle cuts at zone boundaries create jarring, NPS-destroying moments -- the worst experience in a Bolt ride. For non-compliant riders: knowing exactly where the boundary is makes it trivially easy to end rides just outside the geofence to avoid restrictions.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Stats: 45% of speed zone entries involve sudden brake events (hard geofence). 22% of riders who experience a sudden cut do not rebook within 7 days. 18% of invalid parking events occur &lt;20m outside the boundary -- a clear bypass pattern.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problems are solved by the same insight: treat zone entry as a trajectory prediction problem, not a boundary detection problem.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4D18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D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Geofence is a Prediction Problem, Not a Boundary Problem.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554480"/>
            <a:ext cx="850392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ZoneIQ reframes the geofence question. Instead of "is the rider inside or outside the boundary?" it asks "where will this rider be in 30 seconds, with what confidence?"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changes everything: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Compliant riders get a 30-second proactive warning and a smooth 12-second deceleration curve. No sudden cut.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Non-compliant riders are decelerated before they know the boundary -- the bypass strategy fails.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Ops teams can tune prediction sensitivity and deceleration behavior per city via a UI, not code.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parallel: Propensity-to-Transact ML model replaced manual cohort rules with real-time per-user scoring. ZoneIQ applies the same predictive scoring architecture to physical movement instead of purchase intent. Trajectory confidence is the compliance propensity score.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8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Prediction x Soft Decel x Nearest-Spot x Configurable Platform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554480"/>
            <a:ext cx="850392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Trajectory Prediction Engine: GPS + speed + heading sampled every 500ms. LSTM model (or simpler: speed vector + heading + zone GeoJSON distance) outputs P(zone entry in 30s) per rider. At confidence &gt;= 75%, fire soft alert.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Soft Alert (30-second countdown): audio + haptic at confidence threshold. Countdown ring in UI. Speed change shown (22 km/h -&gt; 25 km/h limit). Decel curve visual. No sudden surprise.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Graduated Deceleration Curve: jerk-limited deceleration (1.2 m/s3 default). 12-second ramp to zone-compliant speed. Rider arrives at boundary already compliant. No throttle cut needed.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Nearest-Valid-Spot Engine: if rider tries to end ride in invalid zone, GPS cross-reference with LaunchKit zone GeoJSON. Return 3 nearest valid spots ranked by walking distance. Navigate CTA.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Zone Editor (Ops Config): confidence threshold, alert distance, ramp duration, jerk limit all tunable per city via UI. No code. Impact preview shows est. effect before saving.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4D18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D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Screen States — Trajectory to Zone Editor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554480"/>
            <a:ext cx="850392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1 - Trajectory Map: Active ride with ZoneIQ purple trajectory arc showing predicted path. 88% confidence badge. Zone approach warning card (tap for details). Speed / zone limit / ETA indicators.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2 - Smart Alert: 30-second countdown ring. Speed change display. Decel curve chart (smooth purple line vs flat gold limit line). Hard cut vs soft ramp comparison. Continue riding CTA.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3 - Nearest Valid Spot: Map with user dot in red no-park zone. 2 nearest valid spots ranked. Best spot badge on P-7A (38m). Navigate CTA.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4 - Ops Zone Editor: Sliders for alert distance, confidence threshold, ramp duration, jerk limit. Impact preview showing -45% brake events, -28% invalid parking.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Prototype: bolt-zoneiq-prototype.html -- all 4 screens interactive, countdown live.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4D18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D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 Architecture — Applied to Physical Compliance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554480"/>
            <a:ext cx="850392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Experience: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-45% sudden brake events at speed zone entries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-28% invalid parking rate (nearest-spot engine)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+22% est. NPS improvement at compliance moments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- 73% less jerk force vs hard geofence (physics: 1.2 m/s3 vs ~4-6 m/s3)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 / City ROI: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-32% bypass attempts (soft decel starts before riders see the boundary)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- 88% trajectory prediction accuracy (Warsaw pilot projection)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- 0 code changes per city threshold tuning (Zone Editor UI)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Full integration with CityScore: every ZoneIQ event logged for compliance reporting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4D18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D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the ML Prediction Architecture at PhonePe.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554480"/>
            <a:ext cx="850392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Propensity-to-Transact ML Model: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manual cohort targeting with real-time per-user ML scoring (propensity to transact) across 350M+ MAU. 32% marketing burn reduction, sustained GMV growth.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ZoneIQ parallel: Trajectory confidence score is the compliance version of propensity score. Same LSTM/regression model architecture, physical movement instead of purchase behavior. Same result: predictive intervention beats reactive enforcement.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Dynamic Cart Incentivization: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triggers: cart value x user intent x time-of-day. 35% AOV uplift, 60% cart abandonment reduction.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ZoneIQ parallel: Zone alert trigger: trajectory x speed x heading x zone proximity. Same multi-signal context engine, physical compliance trigger instead of purchase trigger. The architecture is identical -- the domain is different.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 — Warsaw ML Pilot to Global Compliance Platform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554480"/>
            <a:ext cx="850392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(Month 1-2): Warsaw ML Pilot. Deploy ZoneIQ trajectory prediction on 1,000 rides/day sample. A/B test vs hard geofence (50/50). Measure: sudden brake events, invalid parking rate, compliance score delta, 7-day rebooking rate post-zone-event.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(Month 3-4): Tune + Expand. Use Warsaw A/B data to tune confidence threshold and jerk limit via Zone Editor. Deploy to 5 cities. Integrate with LaunchKit -- new city launches automatically configure ZoneIQ parameters from peer city template.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(Month 5-6): Global Standard. ZoneIQ becomes the default compliance engine for all cities. CityScore integration: every trajectory event logged for city authority compliance reports. Hard geofence deprecated.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need: Warsaw GPS + speed telemetry (last 90 days) x 1 ML engineer (trajectory prediction model) x alignment with compliance team on confidence thresholds.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Avaghade | avaghadeajay009@gmail.com | +91 9561558439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2026-05-29T14:24:46Z</dcterms:created>
  <dcterms:modified xsi:type="dcterms:W3CDTF">2026-05-29T14:24:46Z</dcterms:modified>
</cp:coreProperties>
</file>