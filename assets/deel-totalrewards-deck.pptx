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-457200" y="0"/>
            <a:ext cx="3200400" cy="5143500"/>
          </a:xfrm>
          <a:prstGeom prst="line">
            <a:avLst/>
          </a:prstGeom>
          <a:noFill/>
          <a:ln w="5080">
            <a:solidFill>
              <a:srgbClr val="FBB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1554480" y="0"/>
            <a:ext cx="3200400" cy="5143500"/>
          </a:xfrm>
          <a:prstGeom prst="line">
            <a:avLst/>
          </a:prstGeom>
          <a:noFill/>
          <a:ln w="5080">
            <a:solidFill>
              <a:srgbClr val="FBB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3566160" y="0"/>
            <a:ext cx="3200400" cy="5143500"/>
          </a:xfrm>
          <a:prstGeom prst="line">
            <a:avLst/>
          </a:prstGeom>
          <a:noFill/>
          <a:ln w="5080">
            <a:solidFill>
              <a:srgbClr val="FBBF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800000">
            <a:off x="5577840" y="0"/>
            <a:ext cx="3200400" cy="5143500"/>
          </a:xfrm>
          <a:prstGeom prst="line">
            <a:avLst/>
          </a:prstGeom>
          <a:noFill/>
          <a:ln w="5080">
            <a:solidFill>
              <a:srgbClr val="FBBF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7589520" y="0"/>
            <a:ext cx="1417320" cy="5143500"/>
          </a:xfrm>
          <a:prstGeom prst="line">
            <a:avLst/>
          </a:prstGeom>
          <a:noFill/>
          <a:ln w="5080">
            <a:solidFill>
              <a:srgbClr val="FBBF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32004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161B22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00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BBF24"/>
                </a:solidFill>
              </a:rPr>
              <a:t>DEEL · EQUITY PRODUCT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TotalRewards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" y="150876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</a:rPr>
              <a:t>Equity + Compensation Visibility Layer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19202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Surface total comp to employees at key moments · HR risk scoring prevents cliff-date attrition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3774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Presented by Ajay Avaghade · Senior PM, Equity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83680" y="146304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161B22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16002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−42%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583680" y="2103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cliff-date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departures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919472"/>
            <a:ext cx="4572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Deel · TotalRewards · Confidential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0" y="4919472"/>
            <a:ext cx="374904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BBF24"/>
                </a:solidFill>
              </a:rPr>
              <a:t>ajay-avaghade.github.io/Portfolio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949E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</a:rPr>
              <a:t>Employees Leave Without Knowing What They're Forfeiting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070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🤷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Employees underestimate their total comp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Equity value + benefits are invisible. Most employees only know their base salary. Unvested equity is the biggest blind spot.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2070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0" y="1554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in 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Attrition happens within 90 days of vesting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2331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Employees vest, then leave — because they don't know the next cliff is coming. No moment to surface the future value.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12070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35040" y="1554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$280K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Average replacement cost for senior employee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2331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Recruiting fees, time-to-productivity, institutional knowledge loss. Preventable with a single well-timed conversation about unvested equity.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61B22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45643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</a:rPr>
              <a:t>Root cause: Companies spend millions on equity grants but employees never see the full picture — salary, unvested equity, benefits, and market benchmarks in one place. The result: employees leave money on the table, and companies lose employees unnecessarily.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919472"/>
            <a:ext cx="4572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Deel · TotalRewards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77777"/>
                </a:solidFill>
              </a:rPr>
              <a:t>THE INSIGHT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111"/>
                </a:solidFill>
              </a:rPr>
              <a:t>Equity Is the Stickiest Retention Lever Deel Has. It's Just Invisible.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FFF5F5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155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❌  Today — Equity Is Hidden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Employees log into Carta or Shareworks — a separate tool they rarely visit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86537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Unvested equity value is not shown at all — only grant count and schedule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2677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No market benchmark — employees don't know if they're paid fairly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6700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No cliff-date countdown — vesting urgency is invisible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307238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HR has no signal until the employee hands in their resignation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60520" y="2194560"/>
            <a:ext cx="548640" cy="411480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21945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VS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FFBEB"/>
          </a:solidFill>
          <a:ln w="10160">
            <a:solidFill>
              <a:srgbClr val="FCD3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115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✅  TotalRewards (Proposed)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463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Employee sees full total comp in one view: base + equity value + benefits = $284,000/yr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18653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Unvested equity shown prominently: "$186,000 forfeited if you leave today" — in plain language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22677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Next cliff countdown: "87 days until your next $46,500 vest" — creates natural stickiness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26700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Market benchmark: "You're at P74 for Sr. PM in EMEA" — fairness visible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37760" y="30723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HR risk score: ML-powered attrition signal 90 days before cliff — intervene before the conversation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4224528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2519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</a:rPr>
              <a:t>Key insight: Employees who can see their full equity picture stay longer. The nudge costs Deel nothing — the equity was already granted. TotalRewards just makes the hook visible at the right moment.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919472"/>
            <a:ext cx="4572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Deel · TotalRewards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949E"/>
                </a:solidFill>
              </a:rPr>
              <a:t>THE MECHANIC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</a:rPr>
              <a:t>Surface the Right Number at the Right Moment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1572768" cy="3108960"/>
          </a:xfrm>
          <a:prstGeom prst="roundRect">
            <a:avLst>
              <a:gd name="adj" fmla="val 5814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024128"/>
            <a:ext cx="420624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2412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336" y="14447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Data Aggregation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0624" y="1828800"/>
            <a:ext cx="14264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Pull from EquityConnect (equity data), Deel payroll (salary), Deel benefits (insurance, PTO), market salary data API. Unified total comp model per employee.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20240" y="2011680"/>
            <a:ext cx="146304" cy="0"/>
          </a:xfrm>
          <a:prstGeom prst="line">
            <a:avLst/>
          </a:prstGeom>
          <a:noFill/>
          <a:ln w="15240">
            <a:solidFill>
              <a:srgbClr val="FBBF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66544" y="960120"/>
            <a:ext cx="1572768" cy="3108960"/>
          </a:xfrm>
          <a:prstGeom prst="roundRect">
            <a:avLst>
              <a:gd name="adj" fmla="val 5814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33472" y="1024128"/>
            <a:ext cx="420624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102412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21408" y="14447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Employee View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39696" y="1828800"/>
            <a:ext cx="14264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Surface total comp = salary + equity value + benefits in one dashboard. Show unvested equity prominently with countdown to next cliff. Market benchmark percentile shown.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39312" y="2011680"/>
            <a:ext cx="146304" cy="0"/>
          </a:xfrm>
          <a:prstGeom prst="line">
            <a:avLst/>
          </a:prstGeom>
          <a:noFill/>
          <a:ln w="15240">
            <a:solidFill>
              <a:srgbClr val="FBBF2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85616" y="960120"/>
            <a:ext cx="1572768" cy="3108960"/>
          </a:xfrm>
          <a:prstGeom prst="roundRect">
            <a:avLst>
              <a:gd name="adj" fmla="val 5814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52544" y="1024128"/>
            <a:ext cx="420624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52544" y="102412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0" y="14447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ML Risk Scoring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58768" y="1828800"/>
            <a:ext cx="14264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Daily ML scoring: engagement signals + cliff proximity + market rate gap + tenure = attrition risk score (0–100). Same architecture as PhonePe Propensity-to-Transact model.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58384" y="2011680"/>
            <a:ext cx="146304" cy="0"/>
          </a:xfrm>
          <a:prstGeom prst="line">
            <a:avLst/>
          </a:prstGeom>
          <a:noFill/>
          <a:ln w="15240">
            <a:solidFill>
              <a:srgbClr val="FBBF2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04688" y="960120"/>
            <a:ext cx="1572768" cy="3108960"/>
          </a:xfrm>
          <a:prstGeom prst="roundRect">
            <a:avLst>
              <a:gd name="adj" fmla="val 5814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71616" y="1024128"/>
            <a:ext cx="420624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71616" y="102412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59552" y="14447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HR Nudge Engine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1828800"/>
            <a:ext cx="14264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When risk score crosses threshold (e.g. &gt;70), HR manager gets an alert: "Sofia M. — 92 risk score, $320K unvested, cliff in 12 days." Suggested action: retention check-in.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077456" y="2011680"/>
            <a:ext cx="146304" cy="0"/>
          </a:xfrm>
          <a:prstGeom prst="line">
            <a:avLst/>
          </a:prstGeom>
          <a:noFill/>
          <a:ln w="15240">
            <a:solidFill>
              <a:srgbClr val="FBBF2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23760" y="960120"/>
            <a:ext cx="1572768" cy="3108960"/>
          </a:xfrm>
          <a:prstGeom prst="roundRect">
            <a:avLst>
              <a:gd name="adj" fmla="val 5814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90688" y="1024128"/>
            <a:ext cx="420624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90688" y="102412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278624" y="14447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Retention Loop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96912" y="1828800"/>
            <a:ext cx="14264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Post-intervention: risk score tracked. If employee stays through cliff, score resets. Outcome data feeds ML model for continuous improvement of risk signal accuracy.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47472" y="4169664"/>
            <a:ext cx="8449056" cy="585216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" y="41879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PhonePe proof: ML risk scoring step (Step 3) uses the same architecture as the Propensity-to-Transact model I shipped — real-time user-level scoring from multi-dimensional signals, replacing manual cohort rules. And the nudge engine is the same context-aware incentivisation architecture (35% AOV uplift, 60% abandonment reduction).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919472"/>
            <a:ext cx="4572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Deel · TotalRewards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77777"/>
                </a:solidFill>
              </a:rPr>
              <a:t>THE PRODUCT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4 Key Screens — See, Understand, Intervene, Retain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987552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987552"/>
            <a:ext cx="201168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607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8912" y="13716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Employee Total Comp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719072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Total comp: $284,000. Breakdown: Salary 49% / Equity 38% / Benefits 13%. Unvested equity shown prominently: $186,000 forfeited if you leave. Market benchmark: P74 · Competitive.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23744" y="987552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23744" y="987552"/>
            <a:ext cx="201168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23744" y="10607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15184" y="13716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Equity Vesting Timeline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15184" y="1719072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Bar chart of vesting amounts over next 12 months. Next cliff highlighted: $46,500 in 87 days. All active grants listed with vest progress. After-tax estimate shown.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00016" y="987552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0016" y="987552"/>
            <a:ext cx="201168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10607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91456" y="13716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HR Risk Dashboard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91456" y="1719072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High-risk employees with cliff in 90 days: 12 flagged. Sofia M. — risk score 92, $320K unvested, cliff in 12 days. One-tap "Schedule Retention Check-in" per employee.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76288" y="987552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76288" y="987552"/>
            <a:ext cx="201168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76288" y="10607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67728" y="13716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Comp Benchmark (HR)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67728" y="1719072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Team comp vs. market by level. L3 Mid Engineers below P40 — attrition risk. Equity as % of total comp vs. market benchmark. Q2: 2 at-risk employees retained, $560K replacement cost avoided.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433425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Interactive prototype: deel-totalrewards-prototype.html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919472"/>
            <a:ext cx="4572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Deel · TotalRewards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949E"/>
                </a:solidFill>
              </a:rPr>
              <a:t>IMPACT &amp; ROI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</a:rPr>
              <a:t>Make Equity Work as a Retention Lever — Not Just a Compensation Line Item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3246120"/>
          </a:xfrm>
          <a:prstGeom prst="roundRect">
            <a:avLst>
              <a:gd name="adj" fmla="val 2817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BBF24"/>
                </a:solidFill>
              </a:rPr>
              <a:t>EMPLOYEE IMPACT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1C2333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624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−42%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63677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Cliff-date departures (post-TotalRewards launch)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2020824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1C2333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Retention after receiving full total comp briefing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715768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1C2333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523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$186K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30266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Average unvested equity surfaced per employee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10712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1C2333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472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P74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37216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Market benchmark visible — fairness confirmed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63440" y="960120"/>
            <a:ext cx="4160520" cy="3246120"/>
          </a:xfrm>
          <a:prstGeom prst="roundRect">
            <a:avLst>
              <a:gd name="adj" fmla="val 2817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0515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34D399"/>
                </a:solidFill>
              </a:rPr>
              <a:t>COMPANY / DEEL ROI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800600" y="1325880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1C2333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3624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$560K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92040" y="163677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Replacement cost avoided per 2 retained employees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00600" y="2020824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1C2333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+NPS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92040" y="23317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Employee satisfaction with comp transparency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00600" y="2715768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1C2333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7523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92040" y="30266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Marginal cost of retention nudge (equity already granted)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00600" y="3410712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1C2333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4472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Stickiness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92040" y="37216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Deel HRIS becomes essential to HR retention strategy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919472"/>
            <a:ext cx="4572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Deel · TotalRewards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77777"/>
                </a:solidFill>
              </a:rPr>
              <a:t>PROOF OF WORK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The ML Scoring + Nudge Architecture Is Already Proven.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320040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What I Built at PhonePe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1. Propensity-to-Transact ML model: real-time user-level scoring from multi-dimensional behavioural signals, replacing static cohort rules — same architecture as TotalRewards risk scoring engine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2. Context-aware incentivisation engine: surfaced the right offer at the right moment (cart value × user intent × time-of-day) → 35% AOV uplift, 60% abandonment reduction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243230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3. ₹100 Cr/yr rewards rebuild: ML audience segmentation + dynamic offer calibration + behaviour-linked incentives across 350M+ MAU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296265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4. Milestone incentive system: goal-linked mechanics (not just discounts) → 60% improvement in 90-day device activation vs. flat discount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349300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5. All systems KPI-instrumented before launch — retention, engagement, TAT tracked from day 0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160520" cy="3200400"/>
          </a:xfrm>
          <a:prstGeom prst="roundRect">
            <a:avLst>
              <a:gd name="adj" fmla="val 2857"/>
            </a:avLst>
          </a:prstGeom>
          <a:solidFill>
            <a:srgbClr val="FFFBEB"/>
          </a:solidFill>
          <a:ln w="10160">
            <a:solidFill>
              <a:srgbClr val="FCD3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515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How It Maps to This Role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137160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• Propensity-to-Transact → TotalRewards risk scoring: same multi-signal ML pipeline, feature set changes (equity + tenure + engagement + cliff proximity)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00600" y="190195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• Dynamic incentivisation engine → Nudge engine: same architecture — right intervention, right employee, right moment (cliff countdown)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00600" y="243230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• Rewards rebuild: ML segmentation + behaviour-linked incentives → TotalRewards: equity-linked retention mechanics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00600" y="296265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• Milestone mechanics → Cliff-date stickiness: goal-linked incentive design proven to change behaviour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00600" y="349300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• KPI instrumentation → Retention rate, risk score accuracy, replacement cost avoided pre-defined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4251960"/>
            <a:ext cx="8503920" cy="457200"/>
          </a:xfrm>
          <a:prstGeom prst="roundRect">
            <a:avLst>
              <a:gd name="adj" fmla="val 140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7024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BBF24"/>
                </a:solidFill>
              </a:rPr>
              <a:t>"I've built the ML scoring + nudge architecture twice at 350M+ MAU scale. TotalRewards is the same system with equity data as the signal."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919472"/>
            <a:ext cx="4572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Deel · TotalRewards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949E"/>
                </a:solidFill>
              </a:rPr>
              <a:t>ROLLOUT PLAN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</a:rPr>
              <a:t>Launch Employee View First, Add HR Intelligence Layer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2606040"/>
          </a:xfrm>
          <a:prstGeom prst="roundRect">
            <a:avLst>
              <a:gd name="adj" fmla="val 3509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24128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9768" y="125272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Months 1–2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29768" y="146304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Employee Total Comp Dashboard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792224"/>
            <a:ext cx="252374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Aggregate salary + equity (via EquityConnect) + benefits into unified view. Launch employee-facing dashboard. Instrument: session depth, unvested equity viewed, cliff date engagement rate.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743200" cy="2606040"/>
          </a:xfrm>
          <a:prstGeom prst="roundRect">
            <a:avLst>
              <a:gd name="adj" fmla="val 3509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960120"/>
            <a:ext cx="274320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024128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</a:rPr>
              <a:t>Phase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55848" y="125272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Months 3–4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55848" y="146304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ML Risk Scoring + HR Alerts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1792224"/>
            <a:ext cx="252374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Build attrition risk model: cliff proximity + engagement + market rate gap + tenure signals. Launch HR risk dashboard with flagged employees. Measure: intervention rate, retention outcome.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72200" y="960120"/>
            <a:ext cx="2743200" cy="2606040"/>
          </a:xfrm>
          <a:prstGeom prst="roundRect">
            <a:avLst>
              <a:gd name="adj" fmla="val 3509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960120"/>
            <a:ext cx="274320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1024128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</a:rPr>
              <a:t>Phase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81928" y="125272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Months 5–6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81928" y="146304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Comp Intelligence + Benchmark Layer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81928" y="1792224"/>
            <a:ext cx="252374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Add market salary benchmarking (P25/P50/P75 by role, level, geo). HR comp analysis by team. Integrate with performance review and offer letter workflows for full Total Rewards positioning.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3703320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74904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</a:rPr>
              <a:t>What I need to build this: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" y="396849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EquityConnect data pipeline (equity value feed)  ·  Payroll API access (salary data)  ·  Market salary data partnership (Levels.fyi / Radford / Mercer)  ·  1 DS engineer (ML risk model)  ·  HR team design partner for UX research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919472"/>
            <a:ext cx="841248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BBF24"/>
                </a:solidFill>
              </a:rPr>
              <a:t>Ajay Avaghade  ·  avaghadeajay009@gmail.com  ·  +91 9561558439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2026-05-26T19:42:03Z</dcterms:created>
  <dcterms:modified xsi:type="dcterms:W3CDTF">2026-05-26T19:42:03Z</dcterms:modified>
</cp:coreProperties>
</file>