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A10"/>
        </a:solidFill>
      </p:bgPr>
    </p:bg>
    <p:spTree>
      <p:nvGrpSpPr>
        <p:cNvPr id="1" name=""/>
        <p:cNvGrpSpPr/>
        <p:nvPr/>
      </p:nvGrpSpPr>
      <p:grpSpPr>
        <a:xfrm>
          <a:off x="0" y="0"/>
          <a:ext cx="0" cy="0"/>
          <a:chOff x="0" y="0"/>
          <a:chExt cx="0" cy="0"/>
        </a:xfrm>
      </p:grpSpPr>
      <p:sp>
        <p:nvSpPr>
          <p:cNvPr id="2" name="Shape 0"/>
          <p:cNvSpPr/>
          <p:nvPr/>
        </p:nvSpPr>
        <p:spPr>
          <a:xfrm rot="2100000">
            <a:off x="-457200" y="0"/>
            <a:ext cx="3657600" cy="0"/>
          </a:xfrm>
          <a:prstGeom prst="line">
            <a:avLst/>
          </a:prstGeom>
          <a:noFill/>
          <a:ln w="228600">
            <a:solidFill>
              <a:srgbClr val="162815"/>
            </a:solidFill>
            <a:prstDash val="solid"/>
          </a:ln>
        </p:spPr>
      </p:sp>
      <p:sp>
        <p:nvSpPr>
          <p:cNvPr id="3" name="Shape 1"/>
          <p:cNvSpPr/>
          <p:nvPr/>
        </p:nvSpPr>
        <p:spPr>
          <a:xfrm rot="2100000">
            <a:off x="182880" y="0"/>
            <a:ext cx="3657600" cy="0"/>
          </a:xfrm>
          <a:prstGeom prst="line">
            <a:avLst/>
          </a:prstGeom>
          <a:noFill/>
          <a:ln w="228600">
            <a:solidFill>
              <a:srgbClr val="162815"/>
            </a:solidFill>
            <a:prstDash val="solid"/>
          </a:ln>
        </p:spPr>
      </p:sp>
      <p:sp>
        <p:nvSpPr>
          <p:cNvPr id="4" name="Shape 2"/>
          <p:cNvSpPr/>
          <p:nvPr/>
        </p:nvSpPr>
        <p:spPr>
          <a:xfrm rot="2100000">
            <a:off x="822960" y="0"/>
            <a:ext cx="3657600" cy="0"/>
          </a:xfrm>
          <a:prstGeom prst="line">
            <a:avLst/>
          </a:prstGeom>
          <a:noFill/>
          <a:ln w="228600">
            <a:solidFill>
              <a:srgbClr val="162815"/>
            </a:solidFill>
            <a:prstDash val="solid"/>
          </a:ln>
        </p:spPr>
      </p:sp>
      <p:sp>
        <p:nvSpPr>
          <p:cNvPr id="5" name="Shape 3"/>
          <p:cNvSpPr/>
          <p:nvPr/>
        </p:nvSpPr>
        <p:spPr>
          <a:xfrm rot="2100000">
            <a:off x="1463040" y="0"/>
            <a:ext cx="3657600" cy="0"/>
          </a:xfrm>
          <a:prstGeom prst="line">
            <a:avLst/>
          </a:prstGeom>
          <a:noFill/>
          <a:ln w="228600">
            <a:solidFill>
              <a:srgbClr val="162815"/>
            </a:solidFill>
            <a:prstDash val="solid"/>
          </a:ln>
        </p:spPr>
      </p:sp>
      <p:sp>
        <p:nvSpPr>
          <p:cNvPr id="6" name="Shape 4"/>
          <p:cNvSpPr/>
          <p:nvPr/>
        </p:nvSpPr>
        <p:spPr>
          <a:xfrm rot="2100000">
            <a:off x="2103120" y="0"/>
            <a:ext cx="3657600" cy="0"/>
          </a:xfrm>
          <a:prstGeom prst="line">
            <a:avLst/>
          </a:prstGeom>
          <a:noFill/>
          <a:ln w="228600">
            <a:solidFill>
              <a:srgbClr val="162815"/>
            </a:solidFill>
            <a:prstDash val="solid"/>
          </a:ln>
        </p:spPr>
      </p:sp>
      <p:sp>
        <p:nvSpPr>
          <p:cNvPr id="7" name="Shape 5"/>
          <p:cNvSpPr/>
          <p:nvPr/>
        </p:nvSpPr>
        <p:spPr>
          <a:xfrm rot="2100000">
            <a:off x="2743200" y="0"/>
            <a:ext cx="3657600" cy="0"/>
          </a:xfrm>
          <a:prstGeom prst="line">
            <a:avLst/>
          </a:prstGeom>
          <a:noFill/>
          <a:ln w="228600">
            <a:solidFill>
              <a:srgbClr val="162815"/>
            </a:solidFill>
            <a:prstDash val="solid"/>
          </a:ln>
        </p:spPr>
      </p:sp>
      <p:sp>
        <p:nvSpPr>
          <p:cNvPr id="8" name="Shape 6"/>
          <p:cNvSpPr/>
          <p:nvPr/>
        </p:nvSpPr>
        <p:spPr>
          <a:xfrm rot="2100000">
            <a:off x="3383280" y="0"/>
            <a:ext cx="3657600" cy="0"/>
          </a:xfrm>
          <a:prstGeom prst="line">
            <a:avLst/>
          </a:prstGeom>
          <a:noFill/>
          <a:ln w="228600">
            <a:solidFill>
              <a:srgbClr val="162815"/>
            </a:solidFill>
            <a:prstDash val="solid"/>
          </a:ln>
        </p:spPr>
      </p:sp>
      <p:sp>
        <p:nvSpPr>
          <p:cNvPr id="9" name="Shape 7"/>
          <p:cNvSpPr/>
          <p:nvPr/>
        </p:nvSpPr>
        <p:spPr>
          <a:xfrm rot="2100000">
            <a:off x="4023360" y="0"/>
            <a:ext cx="3657600" cy="0"/>
          </a:xfrm>
          <a:prstGeom prst="line">
            <a:avLst/>
          </a:prstGeom>
          <a:noFill/>
          <a:ln w="228600">
            <a:solidFill>
              <a:srgbClr val="162815"/>
            </a:solidFill>
            <a:prstDash val="solid"/>
          </a:ln>
        </p:spPr>
      </p:sp>
      <p:sp>
        <p:nvSpPr>
          <p:cNvPr id="10" name="Shape 8"/>
          <p:cNvSpPr/>
          <p:nvPr/>
        </p:nvSpPr>
        <p:spPr>
          <a:xfrm rot="2100000">
            <a:off x="4663440" y="0"/>
            <a:ext cx="3657600" cy="0"/>
          </a:xfrm>
          <a:prstGeom prst="line">
            <a:avLst/>
          </a:prstGeom>
          <a:noFill/>
          <a:ln w="228600">
            <a:solidFill>
              <a:srgbClr val="162815"/>
            </a:solidFill>
            <a:prstDash val="solid"/>
          </a:ln>
        </p:spPr>
      </p:sp>
      <p:sp>
        <p:nvSpPr>
          <p:cNvPr id="11" name="Shape 9"/>
          <p:cNvSpPr/>
          <p:nvPr/>
        </p:nvSpPr>
        <p:spPr>
          <a:xfrm rot="2100000">
            <a:off x="5303520" y="0"/>
            <a:ext cx="3657600" cy="0"/>
          </a:xfrm>
          <a:prstGeom prst="line">
            <a:avLst/>
          </a:prstGeom>
          <a:noFill/>
          <a:ln w="228600">
            <a:solidFill>
              <a:srgbClr val="162815"/>
            </a:solidFill>
            <a:prstDash val="solid"/>
          </a:ln>
        </p:spPr>
      </p:sp>
      <p:sp>
        <p:nvSpPr>
          <p:cNvPr id="12" name="Shape 10"/>
          <p:cNvSpPr/>
          <p:nvPr/>
        </p:nvSpPr>
        <p:spPr>
          <a:xfrm rot="2100000">
            <a:off x="5943600" y="0"/>
            <a:ext cx="3657600" cy="0"/>
          </a:xfrm>
          <a:prstGeom prst="line">
            <a:avLst/>
          </a:prstGeom>
          <a:noFill/>
          <a:ln w="228600">
            <a:solidFill>
              <a:srgbClr val="162815"/>
            </a:solidFill>
            <a:prstDash val="solid"/>
          </a:ln>
        </p:spPr>
      </p:sp>
      <p:sp>
        <p:nvSpPr>
          <p:cNvPr id="13" name="Shape 11"/>
          <p:cNvSpPr/>
          <p:nvPr/>
        </p:nvSpPr>
        <p:spPr>
          <a:xfrm rot="2100000">
            <a:off x="6583680" y="0"/>
            <a:ext cx="3657600" cy="0"/>
          </a:xfrm>
          <a:prstGeom prst="line">
            <a:avLst/>
          </a:prstGeom>
          <a:noFill/>
          <a:ln w="228600">
            <a:solidFill>
              <a:srgbClr val="162815"/>
            </a:solidFill>
            <a:prstDash val="solid"/>
          </a:ln>
        </p:spPr>
      </p:sp>
      <p:sp>
        <p:nvSpPr>
          <p:cNvPr id="14" name="Shape 12"/>
          <p:cNvSpPr/>
          <p:nvPr/>
        </p:nvSpPr>
        <p:spPr>
          <a:xfrm rot="2100000">
            <a:off x="7223760" y="0"/>
            <a:ext cx="3657600" cy="0"/>
          </a:xfrm>
          <a:prstGeom prst="line">
            <a:avLst/>
          </a:prstGeom>
          <a:noFill/>
          <a:ln w="228600">
            <a:solidFill>
              <a:srgbClr val="162815"/>
            </a:solidFill>
            <a:prstDash val="solid"/>
          </a:ln>
        </p:spPr>
      </p:sp>
      <p:sp>
        <p:nvSpPr>
          <p:cNvPr id="15" name="Shape 13"/>
          <p:cNvSpPr/>
          <p:nvPr/>
        </p:nvSpPr>
        <p:spPr>
          <a:xfrm rot="2100000">
            <a:off x="7863840" y="0"/>
            <a:ext cx="3657600" cy="0"/>
          </a:xfrm>
          <a:prstGeom prst="line">
            <a:avLst/>
          </a:prstGeom>
          <a:noFill/>
          <a:ln w="228600">
            <a:solidFill>
              <a:srgbClr val="162815"/>
            </a:solidFill>
            <a:prstDash val="solid"/>
          </a:ln>
        </p:spPr>
      </p:sp>
      <p:sp>
        <p:nvSpPr>
          <p:cNvPr id="16" name="Shape 14"/>
          <p:cNvSpPr/>
          <p:nvPr/>
        </p:nvSpPr>
        <p:spPr>
          <a:xfrm rot="2100000">
            <a:off x="8503920" y="0"/>
            <a:ext cx="3657600" cy="0"/>
          </a:xfrm>
          <a:prstGeom prst="line">
            <a:avLst/>
          </a:prstGeom>
          <a:noFill/>
          <a:ln w="228600">
            <a:solidFill>
              <a:srgbClr val="162815"/>
            </a:solidFill>
            <a:prstDash val="solid"/>
          </a:ln>
        </p:spPr>
      </p:sp>
      <p:sp>
        <p:nvSpPr>
          <p:cNvPr id="17" name="Shape 15"/>
          <p:cNvSpPr/>
          <p:nvPr/>
        </p:nvSpPr>
        <p:spPr>
          <a:xfrm rot="2100000">
            <a:off x="9144000" y="0"/>
            <a:ext cx="3657600" cy="0"/>
          </a:xfrm>
          <a:prstGeom prst="line">
            <a:avLst/>
          </a:prstGeom>
          <a:noFill/>
          <a:ln w="228600">
            <a:solidFill>
              <a:srgbClr val="162815"/>
            </a:solidFill>
            <a:prstDash val="solid"/>
          </a:ln>
        </p:spPr>
      </p:sp>
      <p:sp>
        <p:nvSpPr>
          <p:cNvPr id="18" name="Shape 16"/>
          <p:cNvSpPr/>
          <p:nvPr/>
        </p:nvSpPr>
        <p:spPr>
          <a:xfrm rot="2100000">
            <a:off x="9784080" y="0"/>
            <a:ext cx="3657600" cy="0"/>
          </a:xfrm>
          <a:prstGeom prst="line">
            <a:avLst/>
          </a:prstGeom>
          <a:noFill/>
          <a:ln w="228600">
            <a:solidFill>
              <a:srgbClr val="162815"/>
            </a:solidFill>
            <a:prstDash val="solid"/>
          </a:ln>
        </p:spPr>
      </p:sp>
      <p:sp>
        <p:nvSpPr>
          <p:cNvPr id="19" name="Shape 17"/>
          <p:cNvSpPr/>
          <p:nvPr/>
        </p:nvSpPr>
        <p:spPr>
          <a:xfrm rot="2100000">
            <a:off x="10424160" y="0"/>
            <a:ext cx="3657600" cy="0"/>
          </a:xfrm>
          <a:prstGeom prst="line">
            <a:avLst/>
          </a:prstGeom>
          <a:noFill/>
          <a:ln w="228600">
            <a:solidFill>
              <a:srgbClr val="162815"/>
            </a:solidFill>
            <a:prstDash val="solid"/>
          </a:ln>
        </p:spPr>
      </p:sp>
      <p:sp>
        <p:nvSpPr>
          <p:cNvPr id="20" name="Shape 18"/>
          <p:cNvSpPr/>
          <p:nvPr/>
        </p:nvSpPr>
        <p:spPr>
          <a:xfrm>
            <a:off x="0" y="0"/>
            <a:ext cx="54864" cy="6858000"/>
          </a:xfrm>
          <a:prstGeom prst="rect">
            <a:avLst/>
          </a:prstGeom>
          <a:solidFill>
            <a:srgbClr val="34D186"/>
          </a:solidFill>
          <a:ln/>
        </p:spPr>
      </p:sp>
      <p:sp>
        <p:nvSpPr>
          <p:cNvPr id="21" name="Text 19"/>
          <p:cNvSpPr/>
          <p:nvPr/>
        </p:nvSpPr>
        <p:spPr>
          <a:xfrm>
            <a:off x="320040" y="256032"/>
            <a:ext cx="6400800" cy="201168"/>
          </a:xfrm>
          <a:prstGeom prst="rect">
            <a:avLst/>
          </a:prstGeom>
          <a:noFill/>
          <a:ln/>
        </p:spPr>
        <p:txBody>
          <a:bodyPr wrap="square" rtlCol="0" anchor="ctr"/>
          <a:lstStyle/>
          <a:p>
            <a:pPr indent="0" marL="0">
              <a:buNone/>
            </a:pPr>
            <a:r>
              <a:rPr lang="en-US" sz="800" b="1" spc="150" kern="0" dirty="0">
                <a:solidFill>
                  <a:srgbClr val="687A70"/>
                </a:solidFill>
                <a:latin typeface="Calibri" pitchFamily="34" charset="0"/>
                <a:ea typeface="Calibri" pitchFamily="34" charset="-122"/>
                <a:cs typeface="Calibri" pitchFamily="34" charset="-120"/>
              </a:rPr>
              <a:t>BOLT · MICROMOBILITY COMPLIANCE · Case Study 01</a:t>
            </a:r>
            <a:endParaRPr lang="en-US" sz="800" dirty="0"/>
          </a:p>
        </p:txBody>
      </p:sp>
      <p:sp>
        <p:nvSpPr>
          <p:cNvPr id="22" name="Text 20"/>
          <p:cNvSpPr/>
          <p:nvPr/>
        </p:nvSpPr>
        <p:spPr>
          <a:xfrm>
            <a:off x="320040" y="1005840"/>
            <a:ext cx="6400800" cy="118872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RideGuide</a:t>
            </a:r>
            <a:endParaRPr lang="en-US" sz="7200" dirty="0"/>
          </a:p>
        </p:txBody>
      </p:sp>
      <p:sp>
        <p:nvSpPr>
          <p:cNvPr id="23" name="Shape 21"/>
          <p:cNvSpPr/>
          <p:nvPr/>
        </p:nvSpPr>
        <p:spPr>
          <a:xfrm>
            <a:off x="320040" y="2103120"/>
            <a:ext cx="2560320" cy="54864"/>
          </a:xfrm>
          <a:prstGeom prst="rect">
            <a:avLst/>
          </a:prstGeom>
          <a:solidFill>
            <a:srgbClr val="34D186"/>
          </a:solidFill>
          <a:ln/>
        </p:spPr>
      </p:sp>
      <p:sp>
        <p:nvSpPr>
          <p:cNvPr id="24" name="Text 22"/>
          <p:cNvSpPr/>
          <p:nvPr/>
        </p:nvSpPr>
        <p:spPr>
          <a:xfrm>
            <a:off x="320040" y="2286000"/>
            <a:ext cx="7772400" cy="411480"/>
          </a:xfrm>
          <a:prstGeom prst="rect">
            <a:avLst/>
          </a:prstGeom>
          <a:noFill/>
          <a:ln/>
        </p:spPr>
        <p:txBody>
          <a:bodyPr wrap="square" rtlCol="0" anchor="ctr"/>
          <a:lstStyle/>
          <a:p>
            <a:pPr indent="0" marL="0">
              <a:buNone/>
            </a:pPr>
            <a:r>
              <a:rPr lang="en-US" sz="1800" dirty="0">
                <a:solidFill>
                  <a:srgbClr val="F59E0B"/>
                </a:solidFill>
                <a:latin typeface="Calibri" pitchFamily="34" charset="0"/>
                <a:ea typeface="Calibri" pitchFamily="34" charset="-122"/>
                <a:cs typeface="Calibri" pitchFamily="34" charset="-120"/>
              </a:rPr>
              <a:t>Compliance UX That Riders Accept, Not Resist</a:t>
            </a:r>
            <a:endParaRPr lang="en-US" sz="1800" dirty="0"/>
          </a:p>
        </p:txBody>
      </p:sp>
      <p:sp>
        <p:nvSpPr>
          <p:cNvPr id="25" name="Text 23"/>
          <p:cNvSpPr/>
          <p:nvPr/>
        </p:nvSpPr>
        <p:spPr>
          <a:xfrm>
            <a:off x="320040" y="2852928"/>
            <a:ext cx="4572000" cy="274320"/>
          </a:xfrm>
          <a:prstGeom prst="rect">
            <a:avLst/>
          </a:prstGeom>
          <a:noFill/>
          <a:ln/>
        </p:spPr>
        <p:txBody>
          <a:bodyPr wrap="square" rtlCol="0" anchor="ctr"/>
          <a:lstStyle/>
          <a:p>
            <a:pPr indent="0" marL="0">
              <a:buNone/>
            </a:pPr>
            <a:r>
              <a:rPr lang="en-US" sz="1100" dirty="0">
                <a:solidFill>
                  <a:srgbClr val="687A70"/>
                </a:solidFill>
                <a:latin typeface="Calibri" pitchFamily="34" charset="0"/>
                <a:ea typeface="Calibri" pitchFamily="34" charset="-122"/>
                <a:cs typeface="Calibri" pitchFamily="34" charset="-120"/>
              </a:rPr>
              <a:t>Ajay Avaghade · Product Manager</a:t>
            </a:r>
            <a:endParaRPr lang="en-US" sz="1100" dirty="0"/>
          </a:p>
        </p:txBody>
      </p:sp>
      <p:sp>
        <p:nvSpPr>
          <p:cNvPr id="26" name="Shape 24"/>
          <p:cNvSpPr/>
          <p:nvPr/>
        </p:nvSpPr>
        <p:spPr>
          <a:xfrm>
            <a:off x="6217920" y="5303520"/>
            <a:ext cx="2743200" cy="1325880"/>
          </a:xfrm>
          <a:prstGeom prst="rect">
            <a:avLst/>
          </a:prstGeom>
          <a:solidFill>
            <a:srgbClr val="162815"/>
          </a:solidFill>
          <a:ln w="19050">
            <a:solidFill>
              <a:srgbClr val="34D186"/>
            </a:solidFill>
            <a:prstDash val="solid"/>
          </a:ln>
          <a:effectLst>
            <a:outerShdw sx="100000" sy="100000" kx="0" ky="0" algn="bl" rotWithShape="0" blurRad="50800" dist="25400" dir="2700000">
              <a:srgbClr val="000000">
                <a:alpha val="14000"/>
              </a:srgbClr>
            </a:outerShdw>
          </a:effectLst>
        </p:spPr>
      </p:sp>
      <p:sp>
        <p:nvSpPr>
          <p:cNvPr id="27" name="Text 25"/>
          <p:cNvSpPr/>
          <p:nvPr/>
        </p:nvSpPr>
        <p:spPr>
          <a:xfrm>
            <a:off x="6217920" y="5349240"/>
            <a:ext cx="2743200" cy="502920"/>
          </a:xfrm>
          <a:prstGeom prst="rect">
            <a:avLst/>
          </a:prstGeom>
          <a:noFill/>
          <a:ln/>
        </p:spPr>
        <p:txBody>
          <a:bodyPr wrap="square"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−40%</a:t>
            </a:r>
            <a:endParaRPr lang="en-US" sz="3800" dirty="0"/>
          </a:p>
        </p:txBody>
      </p:sp>
      <p:sp>
        <p:nvSpPr>
          <p:cNvPr id="28" name="Text 26"/>
          <p:cNvSpPr/>
          <p:nvPr/>
        </p:nvSpPr>
        <p:spPr>
          <a:xfrm>
            <a:off x="6217920" y="5833872"/>
            <a:ext cx="2743200" cy="2286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end-ride drop-off rate</a:t>
            </a:r>
            <a:endParaRPr lang="en-US" sz="1100" dirty="0"/>
          </a:p>
        </p:txBody>
      </p:sp>
      <p:sp>
        <p:nvSpPr>
          <p:cNvPr id="29" name="Text 27"/>
          <p:cNvSpPr/>
          <p:nvPr/>
        </p:nvSpPr>
        <p:spPr>
          <a:xfrm>
            <a:off x="6217920" y="6062472"/>
            <a:ext cx="2743200" cy="182880"/>
          </a:xfrm>
          <a:prstGeom prst="rect">
            <a:avLst/>
          </a:prstGeom>
          <a:noFill/>
          <a:ln/>
        </p:spPr>
        <p:txBody>
          <a:bodyPr wrap="square" rtlCol="0" anchor="ctr"/>
          <a:lstStyle/>
          <a:p>
            <a:pPr algn="ctr" indent="0" marL="0">
              <a:buNone/>
            </a:pPr>
            <a:r>
              <a:rPr lang="en-US" sz="800" dirty="0">
                <a:solidFill>
                  <a:srgbClr val="687A70"/>
                </a:solidFill>
                <a:latin typeface="Calibri" pitchFamily="34" charset="0"/>
                <a:ea typeface="Calibri" pitchFamily="34" charset="-122"/>
                <a:cs typeface="Calibri" pitchFamily="34" charset="-120"/>
              </a:rPr>
              <a:t>vs hard enforcement baseline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A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THE PROBLEM</a:t>
            </a:r>
            <a:endParaRPr lang="en-US" sz="900" dirty="0"/>
          </a:p>
        </p:txBody>
      </p:sp>
      <p:sp>
        <p:nvSpPr>
          <p:cNvPr id="4" name="Text 2"/>
          <p:cNvSpPr/>
          <p:nvPr/>
        </p:nvSpPr>
        <p:spPr>
          <a:xfrm>
            <a:off x="320040" y="566928"/>
            <a:ext cx="8503920" cy="10058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Hard Compliance Rules Create the Worst Rider Moments.</a:t>
            </a:r>
            <a:endParaRPr lang="en-US" sz="2400" dirty="0"/>
          </a:p>
          <a:p>
            <a:pPr indent="0" marL="0">
              <a:buNone/>
            </a:pPr>
            <a:r>
              <a:rPr lang="en-US" sz="2400" b="1" dirty="0">
                <a:solidFill>
                  <a:srgbClr val="FFFFFF"/>
                </a:solidFill>
                <a:latin typeface="Calibri" pitchFamily="34" charset="0"/>
                <a:ea typeface="Calibri" pitchFamily="34" charset="-122"/>
                <a:cs typeface="Calibri" pitchFamily="34" charset="-120"/>
              </a:rPr>
              <a:t>Jarring Cuts. Confusing Rejections. 40% Drop-Off at End-Ride.</a:t>
            </a:r>
            <a:endParaRPr lang="en-US" sz="2400" dirty="0"/>
          </a:p>
        </p:txBody>
      </p:sp>
      <p:sp>
        <p:nvSpPr>
          <p:cNvPr id="5" name="Shape 3"/>
          <p:cNvSpPr/>
          <p:nvPr/>
        </p:nvSpPr>
        <p:spPr>
          <a:xfrm>
            <a:off x="320040" y="1828800"/>
            <a:ext cx="2743200" cy="2514600"/>
          </a:xfrm>
          <a:prstGeom prst="rect">
            <a:avLst/>
          </a:prstGeom>
          <a:solidFill>
            <a:srgbClr val="162815"/>
          </a:solidFill>
          <a:ln w="12700">
            <a:solidFill>
              <a:srgbClr val="34D186"/>
            </a:solidFill>
            <a:prstDash val="solid"/>
          </a:ln>
          <a:effectLst>
            <a:outerShdw sx="100000" sy="100000" kx="0" ky="0" algn="bl" rotWithShape="0" blurRad="50800" dist="25400" dir="2700000">
              <a:srgbClr val="000000">
                <a:alpha val="14000"/>
              </a:srgbClr>
            </a:outerShdw>
          </a:effectLst>
        </p:spPr>
      </p:sp>
      <p:sp>
        <p:nvSpPr>
          <p:cNvPr id="6" name="Text 4"/>
          <p:cNvSpPr/>
          <p:nvPr/>
        </p:nvSpPr>
        <p:spPr>
          <a:xfrm>
            <a:off x="45720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7" name="Text 5"/>
          <p:cNvSpPr/>
          <p:nvPr/>
        </p:nvSpPr>
        <p:spPr>
          <a:xfrm>
            <a:off x="457200" y="2359152"/>
            <a:ext cx="2468880" cy="640080"/>
          </a:xfrm>
          <a:prstGeom prst="rect">
            <a:avLst/>
          </a:prstGeom>
          <a:noFill/>
          <a:ln/>
        </p:spPr>
        <p:txBody>
          <a:bodyPr wrap="square" rtlCol="0" anchor="ctr"/>
          <a:lstStyle/>
          <a:p>
            <a:pPr indent="0" marL="0">
              <a:buNone/>
            </a:pPr>
            <a:r>
              <a:rPr lang="en-US" sz="4400" b="1" dirty="0">
                <a:solidFill>
                  <a:srgbClr val="F59E0B"/>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457200" y="2999232"/>
            <a:ext cx="246888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Complaint rate at zone boundaries</a:t>
            </a:r>
            <a:endParaRPr lang="en-US" sz="1100" dirty="0"/>
          </a:p>
        </p:txBody>
      </p:sp>
      <p:sp>
        <p:nvSpPr>
          <p:cNvPr id="9" name="Text 7"/>
          <p:cNvSpPr/>
          <p:nvPr/>
        </p:nvSpPr>
        <p:spPr>
          <a:xfrm>
            <a:off x="457200" y="3364992"/>
            <a:ext cx="2468880" cy="777240"/>
          </a:xfrm>
          <a:prstGeom prst="rect">
            <a:avLst/>
          </a:prstGeom>
          <a:noFill/>
          <a:ln/>
        </p:spPr>
        <p:txBody>
          <a:bodyPr wrap="square" rtlCol="0" anchor="ctr"/>
          <a:lstStyle/>
          <a:p>
            <a:pPr indent="0" marL="0">
              <a:buNone/>
            </a:pPr>
            <a:r>
              <a:rPr lang="en-US" sz="1000" dirty="0">
                <a:solidFill>
                  <a:srgbClr val="687A70"/>
                </a:solidFill>
                <a:latin typeface="Calibri" pitchFamily="34" charset="0"/>
                <a:ea typeface="Calibri" pitchFamily="34" charset="-122"/>
                <a:cs typeface="Calibri" pitchFamily="34" charset="-120"/>
              </a:rPr>
              <a:t>Instant throttle cuts = jarring experience = NPS damage that shows up in churn</a:t>
            </a:r>
            <a:endParaRPr lang="en-US" sz="1000" dirty="0"/>
          </a:p>
        </p:txBody>
      </p:sp>
      <p:sp>
        <p:nvSpPr>
          <p:cNvPr id="10" name="Shape 8"/>
          <p:cNvSpPr/>
          <p:nvPr/>
        </p:nvSpPr>
        <p:spPr>
          <a:xfrm>
            <a:off x="3246120" y="1828800"/>
            <a:ext cx="2743200" cy="2514600"/>
          </a:xfrm>
          <a:prstGeom prst="rect">
            <a:avLst/>
          </a:prstGeom>
          <a:solidFill>
            <a:srgbClr val="162815"/>
          </a:solidFill>
          <a:ln w="12700">
            <a:solidFill>
              <a:srgbClr val="34D186"/>
            </a:solidFill>
            <a:prstDash val="solid"/>
          </a:ln>
          <a:effectLst>
            <a:outerShdw sx="100000" sy="100000" kx="0" ky="0" algn="bl" rotWithShape="0" blurRad="50800" dist="25400" dir="2700000">
              <a:srgbClr val="000000">
                <a:alpha val="14000"/>
              </a:srgbClr>
            </a:outerShdw>
          </a:effectLst>
        </p:spPr>
      </p:sp>
      <p:sp>
        <p:nvSpPr>
          <p:cNvPr id="11" name="Text 9"/>
          <p:cNvSpPr/>
          <p:nvPr/>
        </p:nvSpPr>
        <p:spPr>
          <a:xfrm>
            <a:off x="338328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2" name="Text 10"/>
          <p:cNvSpPr/>
          <p:nvPr/>
        </p:nvSpPr>
        <p:spPr>
          <a:xfrm>
            <a:off x="3383280" y="2359152"/>
            <a:ext cx="2468880" cy="640080"/>
          </a:xfrm>
          <a:prstGeom prst="rect">
            <a:avLst/>
          </a:prstGeom>
          <a:noFill/>
          <a:ln/>
        </p:spPr>
        <p:txBody>
          <a:bodyPr wrap="square" rtlCol="0" anchor="ctr"/>
          <a:lstStyle/>
          <a:p>
            <a:pPr indent="0" marL="0">
              <a:buNone/>
            </a:pPr>
            <a:r>
              <a:rPr lang="en-US" sz="4400" b="1" dirty="0">
                <a:solidFill>
                  <a:srgbClr val="F59E0B"/>
                </a:solidFill>
                <a:latin typeface="Calibri" pitchFamily="34" charset="0"/>
                <a:ea typeface="Calibri" pitchFamily="34" charset="-122"/>
                <a:cs typeface="Calibri" pitchFamily="34" charset="-120"/>
              </a:rPr>
              <a:t>40%</a:t>
            </a:r>
            <a:endParaRPr lang="en-US" sz="4400" dirty="0"/>
          </a:p>
        </p:txBody>
      </p:sp>
      <p:sp>
        <p:nvSpPr>
          <p:cNvPr id="13" name="Text 11"/>
          <p:cNvSpPr/>
          <p:nvPr/>
        </p:nvSpPr>
        <p:spPr>
          <a:xfrm>
            <a:off x="3383280" y="2999232"/>
            <a:ext cx="246888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End-ride drop-off rate</a:t>
            </a:r>
            <a:endParaRPr lang="en-US" sz="1100" dirty="0"/>
          </a:p>
        </p:txBody>
      </p:sp>
      <p:sp>
        <p:nvSpPr>
          <p:cNvPr id="14" name="Text 12"/>
          <p:cNvSpPr/>
          <p:nvPr/>
        </p:nvSpPr>
        <p:spPr>
          <a:xfrm>
            <a:off x="3383280" y="3364992"/>
            <a:ext cx="2468880" cy="777240"/>
          </a:xfrm>
          <a:prstGeom prst="rect">
            <a:avLst/>
          </a:prstGeom>
          <a:noFill/>
          <a:ln/>
        </p:spPr>
        <p:txBody>
          <a:bodyPr wrap="square" rtlCol="0" anchor="ctr"/>
          <a:lstStyle/>
          <a:p>
            <a:pPr indent="0" marL="0">
              <a:buNone/>
            </a:pPr>
            <a:r>
              <a:rPr lang="en-US" sz="1000" dirty="0">
                <a:solidFill>
                  <a:srgbClr val="687A70"/>
                </a:solidFill>
                <a:latin typeface="Calibri" pitchFamily="34" charset="0"/>
                <a:ea typeface="Calibri" pitchFamily="34" charset="-122"/>
                <a:cs typeface="Calibri" pitchFamily="34" charset="-120"/>
              </a:rPr>
              <a:t>Riders abandon the parking validator because they cannot find valid zones</a:t>
            </a:r>
            <a:endParaRPr lang="en-US" sz="1000" dirty="0"/>
          </a:p>
        </p:txBody>
      </p:sp>
      <p:sp>
        <p:nvSpPr>
          <p:cNvPr id="15" name="Shape 13"/>
          <p:cNvSpPr/>
          <p:nvPr/>
        </p:nvSpPr>
        <p:spPr>
          <a:xfrm>
            <a:off x="6172200" y="1828800"/>
            <a:ext cx="2743200" cy="2514600"/>
          </a:xfrm>
          <a:prstGeom prst="rect">
            <a:avLst/>
          </a:prstGeom>
          <a:solidFill>
            <a:srgbClr val="162815"/>
          </a:solidFill>
          <a:ln w="12700">
            <a:solidFill>
              <a:srgbClr val="34D186"/>
            </a:solidFill>
            <a:prstDash val="solid"/>
          </a:ln>
          <a:effectLst>
            <a:outerShdw sx="100000" sy="100000" kx="0" ky="0" algn="bl" rotWithShape="0" blurRad="50800" dist="25400" dir="2700000">
              <a:srgbClr val="000000">
                <a:alpha val="14000"/>
              </a:srgbClr>
            </a:outerShdw>
          </a:effectLst>
        </p:spPr>
      </p:sp>
      <p:sp>
        <p:nvSpPr>
          <p:cNvPr id="16" name="Text 14"/>
          <p:cNvSpPr/>
          <p:nvPr/>
        </p:nvSpPr>
        <p:spPr>
          <a:xfrm>
            <a:off x="630936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7" name="Text 15"/>
          <p:cNvSpPr/>
          <p:nvPr/>
        </p:nvSpPr>
        <p:spPr>
          <a:xfrm>
            <a:off x="6309360" y="2359152"/>
            <a:ext cx="2468880" cy="640080"/>
          </a:xfrm>
          <a:prstGeom prst="rect">
            <a:avLst/>
          </a:prstGeom>
          <a:noFill/>
          <a:ln/>
        </p:spPr>
        <p:txBody>
          <a:bodyPr wrap="square" rtlCol="0" anchor="ctr"/>
          <a:lstStyle/>
          <a:p>
            <a:pPr indent="0" marL="0">
              <a:buNone/>
            </a:pPr>
            <a:r>
              <a:rPr lang="en-US" sz="4400" b="1" dirty="0">
                <a:solidFill>
                  <a:srgbClr val="F59E0B"/>
                </a:solidFill>
                <a:latin typeface="Calibri" pitchFamily="34" charset="0"/>
                <a:ea typeface="Calibri" pitchFamily="34" charset="-122"/>
                <a:cs typeface="Calibri" pitchFamily="34" charset="-120"/>
              </a:rPr>
              <a:t>38%</a:t>
            </a:r>
            <a:endParaRPr lang="en-US" sz="4400" dirty="0"/>
          </a:p>
        </p:txBody>
      </p:sp>
      <p:sp>
        <p:nvSpPr>
          <p:cNvPr id="18" name="Text 16"/>
          <p:cNvSpPr/>
          <p:nvPr/>
        </p:nvSpPr>
        <p:spPr>
          <a:xfrm>
            <a:off x="6309360" y="2999232"/>
            <a:ext cx="246888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Onboarding age verification drop-off</a:t>
            </a:r>
            <a:endParaRPr lang="en-US" sz="1100" dirty="0"/>
          </a:p>
        </p:txBody>
      </p:sp>
      <p:sp>
        <p:nvSpPr>
          <p:cNvPr id="19" name="Text 17"/>
          <p:cNvSpPr/>
          <p:nvPr/>
        </p:nvSpPr>
        <p:spPr>
          <a:xfrm>
            <a:off x="6309360" y="3364992"/>
            <a:ext cx="2468880" cy="777240"/>
          </a:xfrm>
          <a:prstGeom prst="rect">
            <a:avLst/>
          </a:prstGeom>
          <a:noFill/>
          <a:ln/>
        </p:spPr>
        <p:txBody>
          <a:bodyPr wrap="square" rtlCol="0" anchor="ctr"/>
          <a:lstStyle/>
          <a:p>
            <a:pPr indent="0" marL="0">
              <a:buNone/>
            </a:pPr>
            <a:r>
              <a:rPr lang="en-US" sz="1000" dirty="0">
                <a:solidFill>
                  <a:srgbClr val="687A70"/>
                </a:solidFill>
                <a:latin typeface="Calibri" pitchFamily="34" charset="0"/>
                <a:ea typeface="Calibri" pitchFamily="34" charset="-122"/>
                <a:cs typeface="Calibri" pitchFamily="34" charset="-120"/>
              </a:rPr>
              <a:t>Document upload abandonment — riders give up before their first ride</a:t>
            </a:r>
            <a:endParaRPr lang="en-US" sz="1000" dirty="0"/>
          </a:p>
        </p:txBody>
      </p:sp>
      <p:sp>
        <p:nvSpPr>
          <p:cNvPr id="20" name="Shape 18"/>
          <p:cNvSpPr/>
          <p:nvPr/>
        </p:nvSpPr>
        <p:spPr>
          <a:xfrm>
            <a:off x="320040" y="4572000"/>
            <a:ext cx="8503920" cy="1051560"/>
          </a:xfrm>
          <a:prstGeom prst="rect">
            <a:avLst/>
          </a:prstGeom>
          <a:solidFill>
            <a:srgbClr val="1F2E22"/>
          </a:solidFill>
          <a:ln w="12700">
            <a:solidFill>
              <a:srgbClr val="34D186"/>
            </a:solidFill>
            <a:prstDash val="solid"/>
          </a:ln>
        </p:spPr>
      </p:sp>
      <p:sp>
        <p:nvSpPr>
          <p:cNvPr id="21" name="Shape 19"/>
          <p:cNvSpPr/>
          <p:nvPr/>
        </p:nvSpPr>
        <p:spPr>
          <a:xfrm>
            <a:off x="320040" y="4572000"/>
            <a:ext cx="45720" cy="1051560"/>
          </a:xfrm>
          <a:prstGeom prst="rect">
            <a:avLst/>
          </a:prstGeom>
          <a:solidFill>
            <a:srgbClr val="34D186"/>
          </a:solidFill>
          <a:ln/>
        </p:spPr>
      </p:sp>
      <p:sp>
        <p:nvSpPr>
          <p:cNvPr id="22" name="Text 20"/>
          <p:cNvSpPr/>
          <p:nvPr/>
        </p:nvSpPr>
        <p:spPr>
          <a:xfrm>
            <a:off x="502920" y="4636008"/>
            <a:ext cx="8229600" cy="9144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Root cause: Compliance is implemented as hard technical rules, not UX design. The geofence boundary, the parking validator error, and the document upload form are all compliance-correct but UX-terrible. The worst moments in a Bolt ride are all compliance moments — and none of them need to be.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FF4"/>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THE INSIGHT</a:t>
            </a:r>
            <a:endParaRPr lang="en-US" sz="900" dirty="0"/>
          </a:p>
        </p:txBody>
      </p:sp>
      <p:sp>
        <p:nvSpPr>
          <p:cNvPr id="4" name="Text 2"/>
          <p:cNvSpPr/>
          <p:nvPr/>
        </p:nvSpPr>
        <p:spPr>
          <a:xfrm>
            <a:off x="320040" y="566928"/>
            <a:ext cx="8503920" cy="914400"/>
          </a:xfrm>
          <a:prstGeom prst="rect">
            <a:avLst/>
          </a:prstGeom>
          <a:noFill/>
          <a:ln/>
        </p:spPr>
        <p:txBody>
          <a:bodyPr wrap="square" rtlCol="0" anchor="ctr"/>
          <a:lstStyle/>
          <a:p>
            <a:pPr indent="0" marL="0">
              <a:buNone/>
            </a:pPr>
            <a:r>
              <a:rPr lang="en-US" sz="2700" b="1" dirty="0">
                <a:solidFill>
                  <a:srgbClr val="0D1A10"/>
                </a:solidFill>
                <a:latin typeface="Calibri" pitchFamily="34" charset="0"/>
                <a:ea typeface="Calibri" pitchFamily="34" charset="-122"/>
                <a:cs typeface="Calibri" pitchFamily="34" charset="-120"/>
              </a:rPr>
              <a:t>Every Compliance Failure is a UX Failure First.</a:t>
            </a:r>
            <a:endParaRPr lang="en-US" sz="2700" dirty="0"/>
          </a:p>
          <a:p>
            <a:pPr indent="0" marL="0">
              <a:buNone/>
            </a:pPr>
            <a:r>
              <a:rPr lang="en-US" sz="2700" b="1" dirty="0">
                <a:solidFill>
                  <a:srgbClr val="0D1A10"/>
                </a:solidFill>
                <a:latin typeface="Calibri" pitchFamily="34" charset="0"/>
                <a:ea typeface="Calibri" pitchFamily="34" charset="-122"/>
                <a:cs typeface="Calibri" pitchFamily="34" charset="-120"/>
              </a:rPr>
              <a:t>Fix the Experience — the Compliance Follows.</a:t>
            </a:r>
            <a:endParaRPr lang="en-US" sz="2700" dirty="0"/>
          </a:p>
        </p:txBody>
      </p:sp>
      <p:sp>
        <p:nvSpPr>
          <p:cNvPr id="5" name="Shape 3"/>
          <p:cNvSpPr/>
          <p:nvPr/>
        </p:nvSpPr>
        <p:spPr>
          <a:xfrm>
            <a:off x="4297680" y="1828800"/>
            <a:ext cx="548640" cy="548640"/>
          </a:xfrm>
          <a:prstGeom prst="ellipse">
            <a:avLst/>
          </a:prstGeom>
          <a:solidFill>
            <a:srgbClr val="34D186"/>
          </a:solidFill>
          <a:ln/>
        </p:spPr>
      </p:sp>
      <p:sp>
        <p:nvSpPr>
          <p:cNvPr id="6" name="Text 4"/>
          <p:cNvSpPr/>
          <p:nvPr/>
        </p:nvSpPr>
        <p:spPr>
          <a:xfrm>
            <a:off x="4297680" y="1874520"/>
            <a:ext cx="548640" cy="457200"/>
          </a:xfrm>
          <a:prstGeom prst="rect">
            <a:avLst/>
          </a:prstGeom>
          <a:noFill/>
          <a:ln/>
        </p:spPr>
        <p:txBody>
          <a:bodyPr wrap="square"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VS</a:t>
            </a:r>
            <a:endParaRPr lang="en-US" sz="1100" dirty="0"/>
          </a:p>
        </p:txBody>
      </p:sp>
      <p:sp>
        <p:nvSpPr>
          <p:cNvPr id="7" name="Shape 5"/>
          <p:cNvSpPr/>
          <p:nvPr/>
        </p:nvSpPr>
        <p:spPr>
          <a:xfrm>
            <a:off x="320040" y="1664208"/>
            <a:ext cx="3840480" cy="3154680"/>
          </a:xfrm>
          <a:prstGeom prst="rect">
            <a:avLst/>
          </a:prstGeom>
          <a:solidFill>
            <a:srgbClr val="FDE8E8"/>
          </a:solidFill>
          <a:ln w="12700">
            <a:solidFill>
              <a:srgbClr val="F59090"/>
            </a:solidFill>
            <a:prstDash val="solid"/>
          </a:ln>
        </p:spPr>
      </p:sp>
      <p:sp>
        <p:nvSpPr>
          <p:cNvPr id="8" name="Text 6"/>
          <p:cNvSpPr/>
          <p:nvPr/>
        </p:nvSpPr>
        <p:spPr>
          <a:xfrm>
            <a:off x="457200" y="1755648"/>
            <a:ext cx="3566160" cy="320040"/>
          </a:xfrm>
          <a:prstGeom prst="rect">
            <a:avLst/>
          </a:prstGeom>
          <a:noFill/>
          <a:ln/>
        </p:spPr>
        <p:txBody>
          <a:bodyPr wrap="square"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  Today</a:t>
            </a:r>
            <a:endParaRPr lang="en-US" sz="1300" dirty="0"/>
          </a:p>
        </p:txBody>
      </p:sp>
      <p:sp>
        <p:nvSpPr>
          <p:cNvPr id="9" name="Text 7"/>
          <p:cNvSpPr/>
          <p:nvPr/>
        </p:nvSpPr>
        <p:spPr>
          <a:xfrm>
            <a:off x="457200" y="2157984"/>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Throttle cuts instantly at zone boundary — no warning</a:t>
            </a:r>
            <a:endParaRPr lang="en-US" sz="1100" dirty="0"/>
          </a:p>
        </p:txBody>
      </p:sp>
      <p:sp>
        <p:nvSpPr>
          <p:cNvPr id="10" name="Text 8"/>
          <p:cNvSpPr/>
          <p:nvPr/>
        </p:nvSpPr>
        <p:spPr>
          <a:xfrm>
            <a:off x="457200" y="2633472"/>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Parking validator shows error — no nearest spot shown</a:t>
            </a:r>
            <a:endParaRPr lang="en-US" sz="1100" dirty="0"/>
          </a:p>
        </p:txBody>
      </p:sp>
      <p:sp>
        <p:nvSpPr>
          <p:cNvPr id="11" name="Text 9"/>
          <p:cNvSpPr/>
          <p:nvPr/>
        </p:nvSpPr>
        <p:spPr>
          <a:xfrm>
            <a:off x="457200" y="3108960"/>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Age verification requires document upload — 38% quit</a:t>
            </a:r>
            <a:endParaRPr lang="en-US" sz="1100" dirty="0"/>
          </a:p>
        </p:txBody>
      </p:sp>
      <p:sp>
        <p:nvSpPr>
          <p:cNvPr id="12" name="Text 10"/>
          <p:cNvSpPr/>
          <p:nvPr/>
        </p:nvSpPr>
        <p:spPr>
          <a:xfrm>
            <a:off x="457200" y="3584448"/>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Compliance events = worst NPS moments in the ride</a:t>
            </a:r>
            <a:endParaRPr lang="en-US" sz="1100" dirty="0"/>
          </a:p>
        </p:txBody>
      </p:sp>
      <p:sp>
        <p:nvSpPr>
          <p:cNvPr id="13" name="Text 11"/>
          <p:cNvSpPr/>
          <p:nvPr/>
        </p:nvSpPr>
        <p:spPr>
          <a:xfrm>
            <a:off x="457200" y="4059936"/>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City authority sees violation counts — no context</a:t>
            </a:r>
            <a:endParaRPr lang="en-US" sz="1100" dirty="0"/>
          </a:p>
        </p:txBody>
      </p:sp>
      <p:sp>
        <p:nvSpPr>
          <p:cNvPr id="14" name="Shape 12"/>
          <p:cNvSpPr/>
          <p:nvPr/>
        </p:nvSpPr>
        <p:spPr>
          <a:xfrm>
            <a:off x="4983480" y="1664208"/>
            <a:ext cx="3840480" cy="3154680"/>
          </a:xfrm>
          <a:prstGeom prst="rect">
            <a:avLst/>
          </a:prstGeom>
          <a:solidFill>
            <a:srgbClr val="ECFDF5"/>
          </a:solidFill>
          <a:ln w="12700">
            <a:solidFill>
              <a:srgbClr val="6EE7B7"/>
            </a:solidFill>
            <a:prstDash val="solid"/>
          </a:ln>
        </p:spPr>
      </p:sp>
      <p:sp>
        <p:nvSpPr>
          <p:cNvPr id="15" name="Text 13"/>
          <p:cNvSpPr/>
          <p:nvPr/>
        </p:nvSpPr>
        <p:spPr>
          <a:xfrm>
            <a:off x="5120640" y="1755648"/>
            <a:ext cx="356616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  RideGuide</a:t>
            </a:r>
            <a:endParaRPr lang="en-US" sz="1300" dirty="0"/>
          </a:p>
        </p:txBody>
      </p:sp>
      <p:sp>
        <p:nvSpPr>
          <p:cNvPr id="16" name="Text 14"/>
          <p:cNvSpPr/>
          <p:nvPr/>
        </p:nvSpPr>
        <p:spPr>
          <a:xfrm>
            <a:off x="5120640" y="2157984"/>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200m warning + 12-second soft deceleration curve</a:t>
            </a:r>
            <a:endParaRPr lang="en-US" sz="1100" dirty="0"/>
          </a:p>
        </p:txBody>
      </p:sp>
      <p:sp>
        <p:nvSpPr>
          <p:cNvPr id="17" name="Text 15"/>
          <p:cNvSpPr/>
          <p:nvPr/>
        </p:nvSpPr>
        <p:spPr>
          <a:xfrm>
            <a:off x="5120640" y="2633472"/>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Parking validator: valid ✓ or nearest spot in 40m shown</a:t>
            </a:r>
            <a:endParaRPr lang="en-US" sz="1100" dirty="0"/>
          </a:p>
        </p:txBody>
      </p:sp>
      <p:sp>
        <p:nvSpPr>
          <p:cNvPr id="18" name="Text 16"/>
          <p:cNvSpPr/>
          <p:nvPr/>
        </p:nvSpPr>
        <p:spPr>
          <a:xfrm>
            <a:off x="5120640" y="3108960"/>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Selfie liveness check — 8 seconds, instant approval</a:t>
            </a:r>
            <a:endParaRPr lang="en-US" sz="1100" dirty="0"/>
          </a:p>
        </p:txBody>
      </p:sp>
      <p:sp>
        <p:nvSpPr>
          <p:cNvPr id="19" name="Text 17"/>
          <p:cNvSpPr/>
          <p:nvPr/>
        </p:nvSpPr>
        <p:spPr>
          <a:xfrm>
            <a:off x="5120640" y="3584448"/>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Compliance events become neutral or positive moments</a:t>
            </a:r>
            <a:endParaRPr lang="en-US" sz="1100" dirty="0"/>
          </a:p>
        </p:txBody>
      </p:sp>
      <p:sp>
        <p:nvSpPr>
          <p:cNvPr id="20" name="Text 18"/>
          <p:cNvSpPr/>
          <p:nvPr/>
        </p:nvSpPr>
        <p:spPr>
          <a:xfrm>
            <a:off x="5120640" y="4059936"/>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Rider compliance data exported for city tender reports</a:t>
            </a:r>
            <a:endParaRPr lang="en-US" sz="1100" dirty="0"/>
          </a:p>
        </p:txBody>
      </p:sp>
      <p:sp>
        <p:nvSpPr>
          <p:cNvPr id="21" name="Shape 19"/>
          <p:cNvSpPr/>
          <p:nvPr/>
        </p:nvSpPr>
        <p:spPr>
          <a:xfrm>
            <a:off x="320040" y="4956048"/>
            <a:ext cx="8503920" cy="1078992"/>
          </a:xfrm>
          <a:prstGeom prst="rect">
            <a:avLst/>
          </a:prstGeom>
          <a:solidFill>
            <a:srgbClr val="FFF3CD"/>
          </a:solidFill>
          <a:ln w="19050">
            <a:solidFill>
              <a:srgbClr val="F59E0B"/>
            </a:solidFill>
            <a:prstDash val="solid"/>
          </a:ln>
        </p:spPr>
      </p:sp>
      <p:sp>
        <p:nvSpPr>
          <p:cNvPr id="22" name="Shape 20"/>
          <p:cNvSpPr/>
          <p:nvPr/>
        </p:nvSpPr>
        <p:spPr>
          <a:xfrm>
            <a:off x="320040" y="4956048"/>
            <a:ext cx="45720" cy="1078992"/>
          </a:xfrm>
          <a:prstGeom prst="rect">
            <a:avLst/>
          </a:prstGeom>
          <a:solidFill>
            <a:srgbClr val="F59E0B"/>
          </a:solidFill>
          <a:ln/>
        </p:spPr>
      </p:sp>
      <p:sp>
        <p:nvSpPr>
          <p:cNvPr id="23" name="Text 21"/>
          <p:cNvSpPr/>
          <p:nvPr/>
        </p:nvSpPr>
        <p:spPr>
          <a:xfrm>
            <a:off x="502920" y="5020056"/>
            <a:ext cx="8229600" cy="914400"/>
          </a:xfrm>
          <a:prstGeom prst="rect">
            <a:avLst/>
          </a:prstGeom>
          <a:noFill/>
          <a:ln/>
        </p:spPr>
        <p:txBody>
          <a:bodyPr wrap="square" rtlCol="0" anchor="ctr"/>
          <a:lstStyle/>
          <a:p>
            <a:pPr indent="0" marL="0">
              <a:buNone/>
            </a:pPr>
            <a:r>
              <a:rPr lang="en-US" sz="1050" dirty="0">
                <a:solidFill>
                  <a:srgbClr val="1F1109"/>
                </a:solidFill>
                <a:latin typeface="Calibri" pitchFamily="34" charset="0"/>
                <a:ea typeface="Calibri" pitchFamily="34" charset="-122"/>
                <a:cs typeface="Calibri" pitchFamily="34" charset="-120"/>
              </a:rPr>
              <a:t>Key insight: PhonePe cart incentivization used context-aware triggers (cart value x user intent x time) to reduce 60% cart abandonment. RideGuide applies the same contextual trigger architecture to compliance — trajectory + speed + distance = proactive intervention. Same architecture, zero new principles.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815"/>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F59E0B"/>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F59E0B"/>
                </a:solidFill>
                <a:latin typeface="Calibri" pitchFamily="34" charset="0"/>
                <a:ea typeface="Calibri" pitchFamily="34" charset="-122"/>
                <a:cs typeface="Calibri" pitchFamily="34" charset="-120"/>
              </a:rPr>
              <a:t>THE MECHANIC</a:t>
            </a:r>
            <a:endParaRPr lang="en-US" sz="900" dirty="0"/>
          </a:p>
        </p:txBody>
      </p:sp>
      <p:sp>
        <p:nvSpPr>
          <p:cNvPr id="4" name="Text 2"/>
          <p:cNvSpPr/>
          <p:nvPr/>
        </p:nvSpPr>
        <p:spPr>
          <a:xfrm>
            <a:off x="320040" y="566928"/>
            <a:ext cx="8503920" cy="5943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Trajectory Prediction x Soft Deceleration x Smart Parking x Selfie Verification</a:t>
            </a:r>
            <a:endParaRPr lang="en-US" sz="2200" dirty="0"/>
          </a:p>
        </p:txBody>
      </p:sp>
      <p:sp>
        <p:nvSpPr>
          <p:cNvPr id="5" name="Shape 3"/>
          <p:cNvSpPr/>
          <p:nvPr/>
        </p:nvSpPr>
        <p:spPr>
          <a:xfrm>
            <a:off x="320040" y="1371600"/>
            <a:ext cx="411480" cy="411480"/>
          </a:xfrm>
          <a:prstGeom prst="ellipse">
            <a:avLst/>
          </a:prstGeom>
          <a:solidFill>
            <a:srgbClr val="34D186"/>
          </a:solidFill>
          <a:ln/>
        </p:spPr>
      </p:sp>
      <p:sp>
        <p:nvSpPr>
          <p:cNvPr id="6" name="Text 4"/>
          <p:cNvSpPr/>
          <p:nvPr/>
        </p:nvSpPr>
        <p:spPr>
          <a:xfrm>
            <a:off x="320040" y="1389888"/>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525780" y="1783080"/>
            <a:ext cx="0" cy="521208"/>
          </a:xfrm>
          <a:prstGeom prst="line">
            <a:avLst/>
          </a:prstGeom>
          <a:noFill/>
          <a:ln w="12700">
            <a:solidFill>
              <a:srgbClr val="687A70"/>
            </a:solidFill>
            <a:prstDash val="dash"/>
          </a:ln>
        </p:spPr>
      </p:sp>
      <p:sp>
        <p:nvSpPr>
          <p:cNvPr id="8" name="Text 6"/>
          <p:cNvSpPr/>
          <p:nvPr/>
        </p:nvSpPr>
        <p:spPr>
          <a:xfrm>
            <a:off x="868680" y="1353312"/>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Trajectory Prediction</a:t>
            </a:r>
            <a:endParaRPr lang="en-US" sz="1300" dirty="0"/>
          </a:p>
        </p:txBody>
      </p:sp>
      <p:sp>
        <p:nvSpPr>
          <p:cNvPr id="9" name="Text 7"/>
          <p:cNvSpPr/>
          <p:nvPr/>
        </p:nvSpPr>
        <p:spPr>
          <a:xfrm>
            <a:off x="868680" y="1609344"/>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GPS + speed + heading sampled every 500ms. ZoneIQ ML model calculates P(zone entry) in next 30 seconds. At confidence &gt;= 75%, trigger soft alert. Works 30 seconds before the boundary — not at it.</a:t>
            </a:r>
            <a:endParaRPr lang="en-US" sz="1050" dirty="0"/>
          </a:p>
        </p:txBody>
      </p:sp>
      <p:sp>
        <p:nvSpPr>
          <p:cNvPr id="10" name="Shape 8"/>
          <p:cNvSpPr/>
          <p:nvPr/>
        </p:nvSpPr>
        <p:spPr>
          <a:xfrm>
            <a:off x="320040" y="2322576"/>
            <a:ext cx="411480" cy="411480"/>
          </a:xfrm>
          <a:prstGeom prst="ellipse">
            <a:avLst/>
          </a:prstGeom>
          <a:solidFill>
            <a:srgbClr val="34D186"/>
          </a:solidFill>
          <a:ln/>
        </p:spPr>
      </p:sp>
      <p:sp>
        <p:nvSpPr>
          <p:cNvPr id="11" name="Text 9"/>
          <p:cNvSpPr/>
          <p:nvPr/>
        </p:nvSpPr>
        <p:spPr>
          <a:xfrm>
            <a:off x="320040" y="2340864"/>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2</a:t>
            </a:r>
            <a:endParaRPr lang="en-US" sz="1400" dirty="0"/>
          </a:p>
        </p:txBody>
      </p:sp>
      <p:sp>
        <p:nvSpPr>
          <p:cNvPr id="12" name="Shape 10"/>
          <p:cNvSpPr/>
          <p:nvPr/>
        </p:nvSpPr>
        <p:spPr>
          <a:xfrm>
            <a:off x="525780" y="2734056"/>
            <a:ext cx="0" cy="521208"/>
          </a:xfrm>
          <a:prstGeom prst="line">
            <a:avLst/>
          </a:prstGeom>
          <a:noFill/>
          <a:ln w="12700">
            <a:solidFill>
              <a:srgbClr val="687A70"/>
            </a:solidFill>
            <a:prstDash val="dash"/>
          </a:ln>
        </p:spPr>
      </p:sp>
      <p:sp>
        <p:nvSpPr>
          <p:cNvPr id="13" name="Text 11"/>
          <p:cNvSpPr/>
          <p:nvPr/>
        </p:nvSpPr>
        <p:spPr>
          <a:xfrm>
            <a:off x="868680" y="2304288"/>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Soft Alert + Graduated Decel</a:t>
            </a:r>
            <a:endParaRPr lang="en-US" sz="1300" dirty="0"/>
          </a:p>
        </p:txBody>
      </p:sp>
      <p:sp>
        <p:nvSpPr>
          <p:cNvPr id="14" name="Text 12"/>
          <p:cNvSpPr/>
          <p:nvPr/>
        </p:nvSpPr>
        <p:spPr>
          <a:xfrm>
            <a:off x="868680" y="2560320"/>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Audio cue + haptic at 200m. 12-second deceleration curve starts 20 seconds before zone entry. Jerk limited to 1.2 m/s3 — smoother than a car braking gently. Rider arrives at zone boundary at compliant speed.</a:t>
            </a:r>
            <a:endParaRPr lang="en-US" sz="1050" dirty="0"/>
          </a:p>
        </p:txBody>
      </p:sp>
      <p:sp>
        <p:nvSpPr>
          <p:cNvPr id="15" name="Shape 13"/>
          <p:cNvSpPr/>
          <p:nvPr/>
        </p:nvSpPr>
        <p:spPr>
          <a:xfrm>
            <a:off x="320040" y="3273552"/>
            <a:ext cx="411480" cy="411480"/>
          </a:xfrm>
          <a:prstGeom prst="ellipse">
            <a:avLst/>
          </a:prstGeom>
          <a:solidFill>
            <a:srgbClr val="34D186"/>
          </a:solidFill>
          <a:ln/>
        </p:spPr>
      </p:sp>
      <p:sp>
        <p:nvSpPr>
          <p:cNvPr id="16" name="Text 14"/>
          <p:cNvSpPr/>
          <p:nvPr/>
        </p:nvSpPr>
        <p:spPr>
          <a:xfrm>
            <a:off x="320040" y="3291840"/>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3</a:t>
            </a:r>
            <a:endParaRPr lang="en-US" sz="1400" dirty="0"/>
          </a:p>
        </p:txBody>
      </p:sp>
      <p:sp>
        <p:nvSpPr>
          <p:cNvPr id="17" name="Shape 15"/>
          <p:cNvSpPr/>
          <p:nvPr/>
        </p:nvSpPr>
        <p:spPr>
          <a:xfrm>
            <a:off x="525780" y="3685032"/>
            <a:ext cx="0" cy="521208"/>
          </a:xfrm>
          <a:prstGeom prst="line">
            <a:avLst/>
          </a:prstGeom>
          <a:noFill/>
          <a:ln w="12700">
            <a:solidFill>
              <a:srgbClr val="687A70"/>
            </a:solidFill>
            <a:prstDash val="dash"/>
          </a:ln>
        </p:spPr>
      </p:sp>
      <p:sp>
        <p:nvSpPr>
          <p:cNvPr id="18" name="Text 16"/>
          <p:cNvSpPr/>
          <p:nvPr/>
        </p:nvSpPr>
        <p:spPr>
          <a:xfrm>
            <a:off x="868680" y="3255264"/>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Parking Validator</a:t>
            </a:r>
            <a:endParaRPr lang="en-US" sz="1300" dirty="0"/>
          </a:p>
        </p:txBody>
      </p:sp>
      <p:sp>
        <p:nvSpPr>
          <p:cNvPr id="19" name="Text 17"/>
          <p:cNvSpPr/>
          <p:nvPr/>
        </p:nvSpPr>
        <p:spPr>
          <a:xfrm>
            <a:off x="868680" y="3511296"/>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GPS cross-referenced with city GeoJSON (updated nightly from LaunchKit). If valid zone: green confirmation, ride ends. If invalid: nearest 3 valid spots ranked by distance. "Navigate" button turns on turn-by-turn audio cues.</a:t>
            </a:r>
            <a:endParaRPr lang="en-US" sz="1050" dirty="0"/>
          </a:p>
        </p:txBody>
      </p:sp>
      <p:sp>
        <p:nvSpPr>
          <p:cNvPr id="20" name="Shape 18"/>
          <p:cNvSpPr/>
          <p:nvPr/>
        </p:nvSpPr>
        <p:spPr>
          <a:xfrm>
            <a:off x="320040" y="4224528"/>
            <a:ext cx="411480" cy="411480"/>
          </a:xfrm>
          <a:prstGeom prst="ellipse">
            <a:avLst/>
          </a:prstGeom>
          <a:solidFill>
            <a:srgbClr val="34D186"/>
          </a:solidFill>
          <a:ln/>
        </p:spPr>
      </p:sp>
      <p:sp>
        <p:nvSpPr>
          <p:cNvPr id="21" name="Text 19"/>
          <p:cNvSpPr/>
          <p:nvPr/>
        </p:nvSpPr>
        <p:spPr>
          <a:xfrm>
            <a:off x="320040" y="4242816"/>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4</a:t>
            </a:r>
            <a:endParaRPr lang="en-US" sz="1400" dirty="0"/>
          </a:p>
        </p:txBody>
      </p:sp>
      <p:sp>
        <p:nvSpPr>
          <p:cNvPr id="22" name="Shape 20"/>
          <p:cNvSpPr/>
          <p:nvPr/>
        </p:nvSpPr>
        <p:spPr>
          <a:xfrm>
            <a:off x="525780" y="4636008"/>
            <a:ext cx="0" cy="521208"/>
          </a:xfrm>
          <a:prstGeom prst="line">
            <a:avLst/>
          </a:prstGeom>
          <a:noFill/>
          <a:ln w="12700">
            <a:solidFill>
              <a:srgbClr val="687A70"/>
            </a:solidFill>
            <a:prstDash val="dash"/>
          </a:ln>
        </p:spPr>
      </p:sp>
      <p:sp>
        <p:nvSpPr>
          <p:cNvPr id="23" name="Text 21"/>
          <p:cNvSpPr/>
          <p:nvPr/>
        </p:nvSpPr>
        <p:spPr>
          <a:xfrm>
            <a:off x="868680" y="4206240"/>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Selfie Liveness Verification</a:t>
            </a:r>
            <a:endParaRPr lang="en-US" sz="1300" dirty="0"/>
          </a:p>
        </p:txBody>
      </p:sp>
      <p:sp>
        <p:nvSpPr>
          <p:cNvPr id="24" name="Text 22"/>
          <p:cNvSpPr/>
          <p:nvPr/>
        </p:nvSpPr>
        <p:spPr>
          <a:xfrm>
            <a:off x="868680" y="4462272"/>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Onfido or Veriff API: 8-second selfie check. ML model detects age band with 94.2% accuracy. No data stored beyond 48h (GDPR). Same legal compliance as document upload — zero friction for the rider.</a:t>
            </a:r>
            <a:endParaRPr lang="en-US" sz="1050" dirty="0"/>
          </a:p>
        </p:txBody>
      </p:sp>
      <p:sp>
        <p:nvSpPr>
          <p:cNvPr id="25" name="Shape 23"/>
          <p:cNvSpPr/>
          <p:nvPr/>
        </p:nvSpPr>
        <p:spPr>
          <a:xfrm>
            <a:off x="320040" y="5175504"/>
            <a:ext cx="411480" cy="411480"/>
          </a:xfrm>
          <a:prstGeom prst="ellipse">
            <a:avLst/>
          </a:prstGeom>
          <a:solidFill>
            <a:srgbClr val="34D186"/>
          </a:solidFill>
          <a:ln/>
        </p:spPr>
      </p:sp>
      <p:sp>
        <p:nvSpPr>
          <p:cNvPr id="26" name="Text 24"/>
          <p:cNvSpPr/>
          <p:nvPr/>
        </p:nvSpPr>
        <p:spPr>
          <a:xfrm>
            <a:off x="320040" y="5193792"/>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868680" y="5157216"/>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Compliance Logging</a:t>
            </a:r>
            <a:endParaRPr lang="en-US" sz="1300" dirty="0"/>
          </a:p>
        </p:txBody>
      </p:sp>
      <p:sp>
        <p:nvSpPr>
          <p:cNvPr id="28" name="Text 26"/>
          <p:cNvSpPr/>
          <p:nvPr/>
        </p:nvSpPr>
        <p:spPr>
          <a:xfrm>
            <a:off x="868680" y="5413248"/>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Every zone event (entry speed, decel curve used, parking outcome) logged per session. Aggregated in CityScore (Case Study 3). Exportable for city authority tender submissions. Compliance UX and compliance data are one system.</a:t>
            </a:r>
            <a:endParaRPr lang="en-US" sz="1050" dirty="0"/>
          </a:p>
        </p:txBody>
      </p:sp>
      <p:sp>
        <p:nvSpPr>
          <p:cNvPr id="29" name="Shape 27"/>
          <p:cNvSpPr/>
          <p:nvPr/>
        </p:nvSpPr>
        <p:spPr>
          <a:xfrm>
            <a:off x="320040" y="6263640"/>
            <a:ext cx="8503920" cy="384048"/>
          </a:xfrm>
          <a:prstGeom prst="rect">
            <a:avLst/>
          </a:prstGeom>
          <a:solidFill>
            <a:srgbClr val="0D1A10"/>
          </a:solidFill>
          <a:ln w="10160">
            <a:solidFill>
              <a:srgbClr val="34D186"/>
            </a:solidFill>
            <a:prstDash val="solid"/>
          </a:ln>
        </p:spPr>
      </p:sp>
      <p:sp>
        <p:nvSpPr>
          <p:cNvPr id="30" name="Text 28"/>
          <p:cNvSpPr/>
          <p:nvPr/>
        </p:nvSpPr>
        <p:spPr>
          <a:xfrm>
            <a:off x="457200" y="6291072"/>
            <a:ext cx="8321040" cy="329184"/>
          </a:xfrm>
          <a:prstGeom prst="rect">
            <a:avLst/>
          </a:prstGeom>
          <a:noFill/>
          <a:ln/>
        </p:spPr>
        <p:txBody>
          <a:bodyPr wrap="square" rtlCol="0" anchor="ctr"/>
          <a:lstStyle/>
          <a:p>
            <a:pPr indent="0" marL="0">
              <a:buNone/>
            </a:pPr>
            <a:r>
              <a:rPr lang="en-US" sz="950" dirty="0">
                <a:solidFill>
                  <a:srgbClr val="687A70"/>
                </a:solidFill>
                <a:latin typeface="Calibri" pitchFamily="34" charset="0"/>
                <a:ea typeface="Calibri" pitchFamily="34" charset="-122"/>
                <a:cs typeface="Calibri" pitchFamily="34" charset="-120"/>
              </a:rPr>
              <a:t>PhonePe proof: Dynamic cart incentivization (context-aware triggers: cart value x intent x time) drove 35% AOV uplift, 60% cart abandonment reduction. RideGuide = same trigger architecture applied to physical compliance events.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FF4"/>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THE PRODUCT</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600" b="1" dirty="0">
                <a:solidFill>
                  <a:srgbClr val="0D1A10"/>
                </a:solidFill>
                <a:latin typeface="Calibri" pitchFamily="34" charset="0"/>
                <a:ea typeface="Calibri" pitchFamily="34" charset="-122"/>
                <a:cs typeface="Calibri" pitchFamily="34" charset="-120"/>
              </a:rPr>
              <a:t>4 Screen States — Ride to Verify</a:t>
            </a:r>
            <a:endParaRPr lang="en-US" sz="2600" dirty="0"/>
          </a:p>
        </p:txBody>
      </p:sp>
      <p:sp>
        <p:nvSpPr>
          <p:cNvPr id="5" name="Shape 3"/>
          <p:cNvSpPr/>
          <p:nvPr/>
        </p:nvSpPr>
        <p:spPr>
          <a:xfrm>
            <a:off x="320040" y="1234440"/>
            <a:ext cx="2057400" cy="5166360"/>
          </a:xfrm>
          <a:prstGeom prst="rect">
            <a:avLst/>
          </a:prstGeom>
          <a:solidFill>
            <a:srgbClr val="FFFFFF"/>
          </a:solidFill>
          <a:ln w="12700">
            <a:solidFill>
              <a:srgbClr val="C8E8D8"/>
            </a:solidFill>
            <a:prstDash val="solid"/>
          </a:ln>
          <a:effectLst>
            <a:outerShdw sx="100000" sy="100000" kx="0" ky="0" algn="bl" rotWithShape="0" blurRad="50800" dist="25400" dir="2700000">
              <a:srgbClr val="000000">
                <a:alpha val="14000"/>
              </a:srgbClr>
            </a:outerShdw>
          </a:effectLst>
        </p:spPr>
      </p:sp>
      <p:sp>
        <p:nvSpPr>
          <p:cNvPr id="6" name="Shape 4"/>
          <p:cNvSpPr/>
          <p:nvPr/>
        </p:nvSpPr>
        <p:spPr>
          <a:xfrm>
            <a:off x="320040" y="1234440"/>
            <a:ext cx="2057400" cy="45720"/>
          </a:xfrm>
          <a:prstGeom prst="rect">
            <a:avLst/>
          </a:prstGeom>
          <a:solidFill>
            <a:srgbClr val="34D186"/>
          </a:solidFill>
          <a:ln/>
        </p:spPr>
      </p:sp>
      <p:sp>
        <p:nvSpPr>
          <p:cNvPr id="7" name="Text 5"/>
          <p:cNvSpPr/>
          <p:nvPr/>
        </p:nvSpPr>
        <p:spPr>
          <a:xfrm>
            <a:off x="429768" y="1325880"/>
            <a:ext cx="914400" cy="256032"/>
          </a:xfrm>
          <a:prstGeom prst="rect">
            <a:avLst/>
          </a:prstGeom>
          <a:noFill/>
          <a:ln/>
        </p:spPr>
        <p:txBody>
          <a:bodyPr wrap="square" rtlCol="0" anchor="ctr"/>
          <a:lstStyle/>
          <a:p>
            <a:pPr indent="0" marL="0">
              <a:buNone/>
            </a:pPr>
            <a:r>
              <a:rPr lang="en-US" sz="900" b="1" spc="100" kern="0" dirty="0">
                <a:solidFill>
                  <a:srgbClr val="34D186"/>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429768" y="1572768"/>
            <a:ext cx="1828800" cy="475488"/>
          </a:xfrm>
          <a:prstGeom prst="rect">
            <a:avLst/>
          </a:prstGeom>
          <a:noFill/>
          <a:ln/>
        </p:spPr>
        <p:txBody>
          <a:bodyPr wrap="square" rtlCol="0" anchor="ctr"/>
          <a:lstStyle/>
          <a:p>
            <a:pPr indent="0" marL="0">
              <a:buNone/>
            </a:pPr>
            <a:r>
              <a:rPr lang="en-US" sz="1200" b="1" dirty="0">
                <a:solidFill>
                  <a:srgbClr val="0D1A10"/>
                </a:solidFill>
                <a:latin typeface="Calibri" pitchFamily="34" charset="0"/>
                <a:ea typeface="Calibri" pitchFamily="34" charset="-122"/>
                <a:cs typeface="Calibri" pitchFamily="34" charset="-120"/>
              </a:rPr>
              <a:t>Active Ride</a:t>
            </a:r>
            <a:endParaRPr lang="en-US" sz="1200" dirty="0"/>
          </a:p>
        </p:txBody>
      </p:sp>
      <p:sp>
        <p:nvSpPr>
          <p:cNvPr id="9" name="Shape 7"/>
          <p:cNvSpPr/>
          <p:nvPr/>
        </p:nvSpPr>
        <p:spPr>
          <a:xfrm>
            <a:off x="429768" y="2121408"/>
            <a:ext cx="1828800" cy="2011680"/>
          </a:xfrm>
          <a:prstGeom prst="rect">
            <a:avLst/>
          </a:prstGeom>
          <a:solidFill>
            <a:srgbClr val="0D1A10"/>
          </a:solidFill>
          <a:ln w="12700">
            <a:solidFill>
              <a:srgbClr val="1E3422"/>
            </a:solidFill>
            <a:prstDash val="solid"/>
          </a:ln>
        </p:spPr>
      </p:sp>
      <p:sp>
        <p:nvSpPr>
          <p:cNvPr id="10" name="Text 8"/>
          <p:cNvSpPr/>
          <p:nvPr/>
        </p:nvSpPr>
        <p:spPr>
          <a:xfrm>
            <a:off x="457200" y="2148840"/>
            <a:ext cx="1783080" cy="237744"/>
          </a:xfrm>
          <a:prstGeom prst="rect">
            <a:avLst/>
          </a:prstGeom>
          <a:noFill/>
          <a:ln/>
        </p:spPr>
        <p:txBody>
          <a:bodyPr wrap="square" rtlCol="0" anchor="ctr"/>
          <a:lstStyle/>
          <a:p>
            <a:pPr indent="0" marL="0">
              <a:buNone/>
            </a:pPr>
            <a:r>
              <a:rPr lang="en-US" sz="750" b="1" dirty="0">
                <a:solidFill>
                  <a:srgbClr val="34D186"/>
                </a:solidFill>
                <a:latin typeface="Courier New" pitchFamily="34" charset="0"/>
                <a:ea typeface="Courier New" pitchFamily="34" charset="-122"/>
                <a:cs typeface="Courier New" pitchFamily="34" charset="-120"/>
              </a:rPr>
              <a:t>╔══════════╗</a:t>
            </a:r>
            <a:endParaRPr lang="en-US" sz="750" dirty="0"/>
          </a:p>
        </p:txBody>
      </p:sp>
      <p:sp>
        <p:nvSpPr>
          <p:cNvPr id="11" name="Text 9"/>
          <p:cNvSpPr/>
          <p:nvPr/>
        </p:nvSpPr>
        <p:spPr>
          <a:xfrm>
            <a:off x="457200" y="24003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RideGuide On</a:t>
            </a:r>
            <a:endParaRPr lang="en-US" sz="750" dirty="0"/>
          </a:p>
        </p:txBody>
      </p:sp>
      <p:sp>
        <p:nvSpPr>
          <p:cNvPr id="12" name="Text 10"/>
          <p:cNvSpPr/>
          <p:nvPr/>
        </p:nvSpPr>
        <p:spPr>
          <a:xfrm>
            <a:off x="457200" y="265176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t>
            </a:r>
            <a:endParaRPr lang="en-US" sz="750" dirty="0"/>
          </a:p>
        </p:txBody>
      </p:sp>
      <p:sp>
        <p:nvSpPr>
          <p:cNvPr id="13" name="Text 11"/>
          <p:cNvSpPr/>
          <p:nvPr/>
        </p:nvSpPr>
        <p:spPr>
          <a:xfrm>
            <a:off x="457200" y="290322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19 km/h  4:12  €1.40</a:t>
            </a:r>
            <a:endParaRPr lang="en-US" sz="750" dirty="0"/>
          </a:p>
        </p:txBody>
      </p:sp>
      <p:sp>
        <p:nvSpPr>
          <p:cNvPr id="14" name="Text 12"/>
          <p:cNvSpPr/>
          <p:nvPr/>
        </p:nvSpPr>
        <p:spPr>
          <a:xfrm>
            <a:off x="457200" y="315468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Zone in 200m →</a:t>
            </a:r>
            <a:endParaRPr lang="en-US" sz="750" dirty="0"/>
          </a:p>
        </p:txBody>
      </p:sp>
      <p:sp>
        <p:nvSpPr>
          <p:cNvPr id="15" name="Text 13"/>
          <p:cNvSpPr/>
          <p:nvPr/>
        </p:nvSpPr>
        <p:spPr>
          <a:xfrm>
            <a:off x="457200" y="340614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Age  ✓ Helmet</a:t>
            </a:r>
            <a:endParaRPr lang="en-US" sz="750" dirty="0"/>
          </a:p>
        </p:txBody>
      </p:sp>
      <p:sp>
        <p:nvSpPr>
          <p:cNvPr id="16" name="Text 14"/>
          <p:cNvSpPr/>
          <p:nvPr/>
        </p:nvSpPr>
        <p:spPr>
          <a:xfrm>
            <a:off x="457200" y="36576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[End Ride]</a:t>
            </a:r>
            <a:endParaRPr lang="en-US" sz="750" dirty="0"/>
          </a:p>
        </p:txBody>
      </p:sp>
      <p:sp>
        <p:nvSpPr>
          <p:cNvPr id="17" name="Text 15"/>
          <p:cNvSpPr/>
          <p:nvPr/>
        </p:nvSpPr>
        <p:spPr>
          <a:xfrm>
            <a:off x="429768" y="4224528"/>
            <a:ext cx="1828800" cy="2057400"/>
          </a:xfrm>
          <a:prstGeom prst="rect">
            <a:avLst/>
          </a:prstGeom>
          <a:noFill/>
          <a:ln/>
        </p:spPr>
        <p:txBody>
          <a:bodyPr wrap="square" rtlCol="0" anchor="ctr"/>
          <a:lstStyle/>
          <a:p>
            <a:pPr indent="0" marL="0">
              <a:buNone/>
            </a:pPr>
            <a:r>
              <a:rPr lang="en-US" sz="950" dirty="0">
                <a:solidFill>
                  <a:srgbClr val="4B6B5A"/>
                </a:solidFill>
                <a:latin typeface="Calibri" pitchFamily="34" charset="0"/>
                <a:ea typeface="Calibri" pitchFamily="34" charset="-122"/>
                <a:cs typeface="Calibri" pitchFamily="34" charset="-120"/>
              </a:rPr>
              <a:t>Map with soft geofence trajectory arc. RideGuide Active indicator. Zone approach warning card (tap for details). Compliance status checklist (age, helmet, upcoming zone). End ride CTA.</a:t>
            </a:r>
            <a:endParaRPr lang="en-US" sz="950" dirty="0"/>
          </a:p>
        </p:txBody>
      </p:sp>
      <p:sp>
        <p:nvSpPr>
          <p:cNvPr id="18" name="Shape 16"/>
          <p:cNvSpPr/>
          <p:nvPr/>
        </p:nvSpPr>
        <p:spPr>
          <a:xfrm>
            <a:off x="2514600" y="1234440"/>
            <a:ext cx="2057400" cy="5166360"/>
          </a:xfrm>
          <a:prstGeom prst="rect">
            <a:avLst/>
          </a:prstGeom>
          <a:solidFill>
            <a:srgbClr val="FFFFFF"/>
          </a:solidFill>
          <a:ln w="12700">
            <a:solidFill>
              <a:srgbClr val="C8E8D8"/>
            </a:solidFill>
            <a:prstDash val="solid"/>
          </a:ln>
          <a:effectLst>
            <a:outerShdw sx="100000" sy="100000" kx="0" ky="0" algn="bl" rotWithShape="0" blurRad="50800" dist="25400" dir="2700000">
              <a:srgbClr val="000000">
                <a:alpha val="14000"/>
              </a:srgbClr>
            </a:outerShdw>
          </a:effectLst>
        </p:spPr>
      </p:sp>
      <p:sp>
        <p:nvSpPr>
          <p:cNvPr id="19" name="Shape 17"/>
          <p:cNvSpPr/>
          <p:nvPr/>
        </p:nvSpPr>
        <p:spPr>
          <a:xfrm>
            <a:off x="2514600" y="1234440"/>
            <a:ext cx="2057400" cy="45720"/>
          </a:xfrm>
          <a:prstGeom prst="rect">
            <a:avLst/>
          </a:prstGeom>
          <a:solidFill>
            <a:srgbClr val="34D186"/>
          </a:solidFill>
          <a:ln/>
        </p:spPr>
      </p:sp>
      <p:sp>
        <p:nvSpPr>
          <p:cNvPr id="20" name="Text 18"/>
          <p:cNvSpPr/>
          <p:nvPr/>
        </p:nvSpPr>
        <p:spPr>
          <a:xfrm>
            <a:off x="2624328" y="1325880"/>
            <a:ext cx="914400" cy="256032"/>
          </a:xfrm>
          <a:prstGeom prst="rect">
            <a:avLst/>
          </a:prstGeom>
          <a:noFill/>
          <a:ln/>
        </p:spPr>
        <p:txBody>
          <a:bodyPr wrap="square" rtlCol="0" anchor="ctr"/>
          <a:lstStyle/>
          <a:p>
            <a:pPr indent="0" marL="0">
              <a:buNone/>
            </a:pPr>
            <a:r>
              <a:rPr lang="en-US" sz="900" b="1" spc="100" kern="0" dirty="0">
                <a:solidFill>
                  <a:srgbClr val="34D186"/>
                </a:solidFill>
                <a:latin typeface="Calibri" pitchFamily="34" charset="0"/>
                <a:ea typeface="Calibri" pitchFamily="34" charset="-122"/>
                <a:cs typeface="Calibri" pitchFamily="34" charset="-120"/>
              </a:rPr>
              <a:t>02</a:t>
            </a:r>
            <a:endParaRPr lang="en-US" sz="900" dirty="0"/>
          </a:p>
        </p:txBody>
      </p:sp>
      <p:sp>
        <p:nvSpPr>
          <p:cNvPr id="21" name="Text 19"/>
          <p:cNvSpPr/>
          <p:nvPr/>
        </p:nvSpPr>
        <p:spPr>
          <a:xfrm>
            <a:off x="2624328" y="1572768"/>
            <a:ext cx="1828800" cy="475488"/>
          </a:xfrm>
          <a:prstGeom prst="rect">
            <a:avLst/>
          </a:prstGeom>
          <a:noFill/>
          <a:ln/>
        </p:spPr>
        <p:txBody>
          <a:bodyPr wrap="square" rtlCol="0" anchor="ctr"/>
          <a:lstStyle/>
          <a:p>
            <a:pPr indent="0" marL="0">
              <a:buNone/>
            </a:pPr>
            <a:r>
              <a:rPr lang="en-US" sz="1200" b="1" dirty="0">
                <a:solidFill>
                  <a:srgbClr val="0D1A10"/>
                </a:solidFill>
                <a:latin typeface="Calibri" pitchFamily="34" charset="0"/>
                <a:ea typeface="Calibri" pitchFamily="34" charset="-122"/>
                <a:cs typeface="Calibri" pitchFamily="34" charset="-120"/>
              </a:rPr>
              <a:t>Zone Approach Alert</a:t>
            </a:r>
            <a:endParaRPr lang="en-US" sz="1200" dirty="0"/>
          </a:p>
        </p:txBody>
      </p:sp>
      <p:sp>
        <p:nvSpPr>
          <p:cNvPr id="22" name="Shape 20"/>
          <p:cNvSpPr/>
          <p:nvPr/>
        </p:nvSpPr>
        <p:spPr>
          <a:xfrm>
            <a:off x="2624328" y="2121408"/>
            <a:ext cx="1828800" cy="2011680"/>
          </a:xfrm>
          <a:prstGeom prst="rect">
            <a:avLst/>
          </a:prstGeom>
          <a:solidFill>
            <a:srgbClr val="0D1A10"/>
          </a:solidFill>
          <a:ln w="12700">
            <a:solidFill>
              <a:srgbClr val="1E3422"/>
            </a:solidFill>
            <a:prstDash val="solid"/>
          </a:ln>
        </p:spPr>
      </p:sp>
      <p:sp>
        <p:nvSpPr>
          <p:cNvPr id="23" name="Text 21"/>
          <p:cNvSpPr/>
          <p:nvPr/>
        </p:nvSpPr>
        <p:spPr>
          <a:xfrm>
            <a:off x="2651760" y="2148840"/>
            <a:ext cx="1783080" cy="237744"/>
          </a:xfrm>
          <a:prstGeom prst="rect">
            <a:avLst/>
          </a:prstGeom>
          <a:noFill/>
          <a:ln/>
        </p:spPr>
        <p:txBody>
          <a:bodyPr wrap="square" rtlCol="0" anchor="ctr"/>
          <a:lstStyle/>
          <a:p>
            <a:pPr indent="0" marL="0">
              <a:buNone/>
            </a:pPr>
            <a:r>
              <a:rPr lang="en-US" sz="750" b="1" dirty="0">
                <a:solidFill>
                  <a:srgbClr val="34D186"/>
                </a:solidFill>
                <a:latin typeface="Courier New" pitchFamily="34" charset="0"/>
                <a:ea typeface="Courier New" pitchFamily="34" charset="-122"/>
                <a:cs typeface="Courier New" pitchFamily="34" charset="-120"/>
              </a:rPr>
              <a:t>╔══════════╗</a:t>
            </a:r>
            <a:endParaRPr lang="en-US" sz="750" dirty="0"/>
          </a:p>
        </p:txBody>
      </p:sp>
      <p:sp>
        <p:nvSpPr>
          <p:cNvPr id="24" name="Text 22"/>
          <p:cNvSpPr/>
          <p:nvPr/>
        </p:nvSpPr>
        <p:spPr>
          <a:xfrm>
            <a:off x="2651760" y="24003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Zone in 30s</a:t>
            </a:r>
            <a:endParaRPr lang="en-US" sz="750" dirty="0"/>
          </a:p>
        </p:txBody>
      </p:sp>
      <p:sp>
        <p:nvSpPr>
          <p:cNvPr id="25" name="Text 23"/>
          <p:cNvSpPr/>
          <p:nvPr/>
        </p:nvSpPr>
        <p:spPr>
          <a:xfrm>
            <a:off x="2651760" y="265176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t>
            </a:r>
            <a:endParaRPr lang="en-US" sz="750" dirty="0"/>
          </a:p>
        </p:txBody>
      </p:sp>
      <p:sp>
        <p:nvSpPr>
          <p:cNvPr id="26" name="Text 24"/>
          <p:cNvSpPr/>
          <p:nvPr/>
        </p:nvSpPr>
        <p:spPr>
          <a:xfrm>
            <a:off x="2651760" y="290322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22 → ≤25 km/h</a:t>
            </a:r>
            <a:endParaRPr lang="en-US" sz="750" dirty="0"/>
          </a:p>
        </p:txBody>
      </p:sp>
      <p:sp>
        <p:nvSpPr>
          <p:cNvPr id="27" name="Text 25"/>
          <p:cNvSpPr/>
          <p:nvPr/>
        </p:nvSpPr>
        <p:spPr>
          <a:xfrm>
            <a:off x="2651760" y="315468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12s ramp</a:t>
            </a:r>
            <a:endParaRPr lang="en-US" sz="750" dirty="0"/>
          </a:p>
        </p:txBody>
      </p:sp>
      <p:sp>
        <p:nvSpPr>
          <p:cNvPr id="28" name="Text 26"/>
          <p:cNvSpPr/>
          <p:nvPr/>
        </p:nvSpPr>
        <p:spPr>
          <a:xfrm>
            <a:off x="2651760" y="340614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Hard❌ vs Soft✓</a:t>
            </a:r>
            <a:endParaRPr lang="en-US" sz="750" dirty="0"/>
          </a:p>
        </p:txBody>
      </p:sp>
      <p:sp>
        <p:nvSpPr>
          <p:cNvPr id="29" name="Text 27"/>
          <p:cNvSpPr/>
          <p:nvPr/>
        </p:nvSpPr>
        <p:spPr>
          <a:xfrm>
            <a:off x="2651760" y="36576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[Continue Riding]</a:t>
            </a:r>
            <a:endParaRPr lang="en-US" sz="750" dirty="0"/>
          </a:p>
        </p:txBody>
      </p:sp>
      <p:sp>
        <p:nvSpPr>
          <p:cNvPr id="30" name="Text 28"/>
          <p:cNvSpPr/>
          <p:nvPr/>
        </p:nvSpPr>
        <p:spPr>
          <a:xfrm>
            <a:off x="2624328" y="4224528"/>
            <a:ext cx="1828800" cy="2057400"/>
          </a:xfrm>
          <a:prstGeom prst="rect">
            <a:avLst/>
          </a:prstGeom>
          <a:noFill/>
          <a:ln/>
        </p:spPr>
        <p:txBody>
          <a:bodyPr wrap="square" rtlCol="0" anchor="ctr"/>
          <a:lstStyle/>
          <a:p>
            <a:pPr indent="0" marL="0">
              <a:buNone/>
            </a:pPr>
            <a:r>
              <a:rPr lang="en-US" sz="950" dirty="0">
                <a:solidFill>
                  <a:srgbClr val="4B6B5A"/>
                </a:solidFill>
                <a:latin typeface="Calibri" pitchFamily="34" charset="0"/>
                <a:ea typeface="Calibri" pitchFamily="34" charset="-122"/>
                <a:cs typeface="Calibri" pitchFamily="34" charset="-120"/>
              </a:rPr>
              <a:t>Countdown ring (30 seconds to entry). Speed change display (22 km/h → 25 km/h limit). Decel curve visual. Hard cut vs soft ramp comparison. Continue riding CTA.</a:t>
            </a:r>
            <a:endParaRPr lang="en-US" sz="950" dirty="0"/>
          </a:p>
        </p:txBody>
      </p:sp>
      <p:sp>
        <p:nvSpPr>
          <p:cNvPr id="31" name="Shape 29"/>
          <p:cNvSpPr/>
          <p:nvPr/>
        </p:nvSpPr>
        <p:spPr>
          <a:xfrm>
            <a:off x="4709160" y="1234440"/>
            <a:ext cx="2057400" cy="5166360"/>
          </a:xfrm>
          <a:prstGeom prst="rect">
            <a:avLst/>
          </a:prstGeom>
          <a:solidFill>
            <a:srgbClr val="FFFFFF"/>
          </a:solidFill>
          <a:ln w="12700">
            <a:solidFill>
              <a:srgbClr val="C8E8D8"/>
            </a:solidFill>
            <a:prstDash val="solid"/>
          </a:ln>
          <a:effectLst>
            <a:outerShdw sx="100000" sy="100000" kx="0" ky="0" algn="bl" rotWithShape="0" blurRad="50800" dist="25400" dir="2700000">
              <a:srgbClr val="000000">
                <a:alpha val="14000"/>
              </a:srgbClr>
            </a:outerShdw>
          </a:effectLst>
        </p:spPr>
      </p:sp>
      <p:sp>
        <p:nvSpPr>
          <p:cNvPr id="32" name="Shape 30"/>
          <p:cNvSpPr/>
          <p:nvPr/>
        </p:nvSpPr>
        <p:spPr>
          <a:xfrm>
            <a:off x="4709160" y="1234440"/>
            <a:ext cx="2057400" cy="45720"/>
          </a:xfrm>
          <a:prstGeom prst="rect">
            <a:avLst/>
          </a:prstGeom>
          <a:solidFill>
            <a:srgbClr val="34D186"/>
          </a:solidFill>
          <a:ln/>
        </p:spPr>
      </p:sp>
      <p:sp>
        <p:nvSpPr>
          <p:cNvPr id="33" name="Text 31"/>
          <p:cNvSpPr/>
          <p:nvPr/>
        </p:nvSpPr>
        <p:spPr>
          <a:xfrm>
            <a:off x="4818888" y="1325880"/>
            <a:ext cx="914400" cy="256032"/>
          </a:xfrm>
          <a:prstGeom prst="rect">
            <a:avLst/>
          </a:prstGeom>
          <a:noFill/>
          <a:ln/>
        </p:spPr>
        <p:txBody>
          <a:bodyPr wrap="square" rtlCol="0" anchor="ctr"/>
          <a:lstStyle/>
          <a:p>
            <a:pPr indent="0" marL="0">
              <a:buNone/>
            </a:pPr>
            <a:r>
              <a:rPr lang="en-US" sz="900" b="1" spc="100" kern="0" dirty="0">
                <a:solidFill>
                  <a:srgbClr val="34D186"/>
                </a:solidFill>
                <a:latin typeface="Calibri" pitchFamily="34" charset="0"/>
                <a:ea typeface="Calibri" pitchFamily="34" charset="-122"/>
                <a:cs typeface="Calibri" pitchFamily="34" charset="-120"/>
              </a:rPr>
              <a:t>03</a:t>
            </a:r>
            <a:endParaRPr lang="en-US" sz="900" dirty="0"/>
          </a:p>
        </p:txBody>
      </p:sp>
      <p:sp>
        <p:nvSpPr>
          <p:cNvPr id="34" name="Text 32"/>
          <p:cNvSpPr/>
          <p:nvPr/>
        </p:nvSpPr>
        <p:spPr>
          <a:xfrm>
            <a:off x="4818888" y="1572768"/>
            <a:ext cx="1828800" cy="475488"/>
          </a:xfrm>
          <a:prstGeom prst="rect">
            <a:avLst/>
          </a:prstGeom>
          <a:noFill/>
          <a:ln/>
        </p:spPr>
        <p:txBody>
          <a:bodyPr wrap="square" rtlCol="0" anchor="ctr"/>
          <a:lstStyle/>
          <a:p>
            <a:pPr indent="0" marL="0">
              <a:buNone/>
            </a:pPr>
            <a:r>
              <a:rPr lang="en-US" sz="1200" b="1" dirty="0">
                <a:solidFill>
                  <a:srgbClr val="0D1A10"/>
                </a:solidFill>
                <a:latin typeface="Calibri" pitchFamily="34" charset="0"/>
                <a:ea typeface="Calibri" pitchFamily="34" charset="-122"/>
                <a:cs typeface="Calibri" pitchFamily="34" charset="-120"/>
              </a:rPr>
              <a:t>Parking Validator</a:t>
            </a:r>
            <a:endParaRPr lang="en-US" sz="1200" dirty="0"/>
          </a:p>
        </p:txBody>
      </p:sp>
      <p:sp>
        <p:nvSpPr>
          <p:cNvPr id="35" name="Shape 33"/>
          <p:cNvSpPr/>
          <p:nvPr/>
        </p:nvSpPr>
        <p:spPr>
          <a:xfrm>
            <a:off x="4818888" y="2121408"/>
            <a:ext cx="1828800" cy="2011680"/>
          </a:xfrm>
          <a:prstGeom prst="rect">
            <a:avLst/>
          </a:prstGeom>
          <a:solidFill>
            <a:srgbClr val="0D1A10"/>
          </a:solidFill>
          <a:ln w="12700">
            <a:solidFill>
              <a:srgbClr val="1E3422"/>
            </a:solidFill>
            <a:prstDash val="solid"/>
          </a:ln>
        </p:spPr>
      </p:sp>
      <p:sp>
        <p:nvSpPr>
          <p:cNvPr id="36" name="Text 34"/>
          <p:cNvSpPr/>
          <p:nvPr/>
        </p:nvSpPr>
        <p:spPr>
          <a:xfrm>
            <a:off x="4846320" y="2148840"/>
            <a:ext cx="1783080" cy="237744"/>
          </a:xfrm>
          <a:prstGeom prst="rect">
            <a:avLst/>
          </a:prstGeom>
          <a:noFill/>
          <a:ln/>
        </p:spPr>
        <p:txBody>
          <a:bodyPr wrap="square" rtlCol="0" anchor="ctr"/>
          <a:lstStyle/>
          <a:p>
            <a:pPr indent="0" marL="0">
              <a:buNone/>
            </a:pPr>
            <a:r>
              <a:rPr lang="en-US" sz="750" b="1" dirty="0">
                <a:solidFill>
                  <a:srgbClr val="34D186"/>
                </a:solidFill>
                <a:latin typeface="Courier New" pitchFamily="34" charset="0"/>
                <a:ea typeface="Courier New" pitchFamily="34" charset="-122"/>
                <a:cs typeface="Courier New" pitchFamily="34" charset="-120"/>
              </a:rPr>
              <a:t>╔══════════╗</a:t>
            </a:r>
            <a:endParaRPr lang="en-US" sz="750" dirty="0"/>
          </a:p>
        </p:txBody>
      </p:sp>
      <p:sp>
        <p:nvSpPr>
          <p:cNvPr id="37" name="Text 35"/>
          <p:cNvSpPr/>
          <p:nvPr/>
        </p:nvSpPr>
        <p:spPr>
          <a:xfrm>
            <a:off x="4846320" y="24003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Valid Parking!</a:t>
            </a:r>
            <a:endParaRPr lang="en-US" sz="750" dirty="0"/>
          </a:p>
        </p:txBody>
      </p:sp>
      <p:sp>
        <p:nvSpPr>
          <p:cNvPr id="38" name="Text 36"/>
          <p:cNvSpPr/>
          <p:nvPr/>
        </p:nvSpPr>
        <p:spPr>
          <a:xfrm>
            <a:off x="4846320" y="265176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t>
            </a:r>
            <a:endParaRPr lang="en-US" sz="750" dirty="0"/>
          </a:p>
        </p:txBody>
      </p:sp>
      <p:sp>
        <p:nvSpPr>
          <p:cNvPr id="39" name="Text 37"/>
          <p:cNvSpPr/>
          <p:nvPr/>
        </p:nvSpPr>
        <p:spPr>
          <a:xfrm>
            <a:off x="4846320" y="290322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Zone 4B · 0m away</a:t>
            </a:r>
            <a:endParaRPr lang="en-US" sz="750" dirty="0"/>
          </a:p>
        </p:txBody>
      </p:sp>
      <p:sp>
        <p:nvSpPr>
          <p:cNvPr id="40" name="Text 38"/>
          <p:cNvSpPr/>
          <p:nvPr/>
        </p:nvSpPr>
        <p:spPr>
          <a:xfrm>
            <a:off x="4846320" y="315468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1.4km · 7m32s</a:t>
            </a:r>
            <a:endParaRPr lang="en-US" sz="750" dirty="0"/>
          </a:p>
        </p:txBody>
      </p:sp>
      <p:sp>
        <p:nvSpPr>
          <p:cNvPr id="41" name="Text 39"/>
          <p:cNvSpPr/>
          <p:nvPr/>
        </p:nvSpPr>
        <p:spPr>
          <a:xfrm>
            <a:off x="4846320" y="340614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100% compliant</a:t>
            </a:r>
            <a:endParaRPr lang="en-US" sz="750" dirty="0"/>
          </a:p>
        </p:txBody>
      </p:sp>
      <p:sp>
        <p:nvSpPr>
          <p:cNvPr id="42" name="Text 40"/>
          <p:cNvSpPr/>
          <p:nvPr/>
        </p:nvSpPr>
        <p:spPr>
          <a:xfrm>
            <a:off x="4846320" y="36576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€2.45 [End Ride]</a:t>
            </a:r>
            <a:endParaRPr lang="en-US" sz="750" dirty="0"/>
          </a:p>
        </p:txBody>
      </p:sp>
      <p:sp>
        <p:nvSpPr>
          <p:cNvPr id="43" name="Text 41"/>
          <p:cNvSpPr/>
          <p:nvPr/>
        </p:nvSpPr>
        <p:spPr>
          <a:xfrm>
            <a:off x="4818888" y="4224528"/>
            <a:ext cx="1828800" cy="2057400"/>
          </a:xfrm>
          <a:prstGeom prst="rect">
            <a:avLst/>
          </a:prstGeom>
          <a:noFill/>
          <a:ln/>
        </p:spPr>
        <p:txBody>
          <a:bodyPr wrap="square" rtlCol="0" anchor="ctr"/>
          <a:lstStyle/>
          <a:p>
            <a:pPr indent="0" marL="0">
              <a:buNone/>
            </a:pPr>
            <a:r>
              <a:rPr lang="en-US" sz="950" dirty="0">
                <a:solidFill>
                  <a:srgbClr val="4B6B5A"/>
                </a:solidFill>
                <a:latin typeface="Calibri" pitchFamily="34" charset="0"/>
                <a:ea typeface="Calibri" pitchFamily="34" charset="-122"/>
                <a:cs typeface="Calibri" pitchFamily="34" charset="-120"/>
              </a:rPr>
              <a:t>Map with valid zone ✓ confirmation + nearest spots. Trip summary: distance, duration, cost, compliance 100%. "Lock Scooter &amp; End Ride" CTA.</a:t>
            </a:r>
            <a:endParaRPr lang="en-US" sz="950" dirty="0"/>
          </a:p>
        </p:txBody>
      </p:sp>
      <p:sp>
        <p:nvSpPr>
          <p:cNvPr id="44" name="Shape 42"/>
          <p:cNvSpPr/>
          <p:nvPr/>
        </p:nvSpPr>
        <p:spPr>
          <a:xfrm>
            <a:off x="6903720" y="1234440"/>
            <a:ext cx="2057400" cy="5166360"/>
          </a:xfrm>
          <a:prstGeom prst="rect">
            <a:avLst/>
          </a:prstGeom>
          <a:solidFill>
            <a:srgbClr val="FFFFFF"/>
          </a:solidFill>
          <a:ln w="12700">
            <a:solidFill>
              <a:srgbClr val="C8E8D8"/>
            </a:solidFill>
            <a:prstDash val="solid"/>
          </a:ln>
          <a:effectLst>
            <a:outerShdw sx="100000" sy="100000" kx="0" ky="0" algn="bl" rotWithShape="0" blurRad="50800" dist="25400" dir="2700000">
              <a:srgbClr val="000000">
                <a:alpha val="14000"/>
              </a:srgbClr>
            </a:outerShdw>
          </a:effectLst>
        </p:spPr>
      </p:sp>
      <p:sp>
        <p:nvSpPr>
          <p:cNvPr id="45" name="Shape 43"/>
          <p:cNvSpPr/>
          <p:nvPr/>
        </p:nvSpPr>
        <p:spPr>
          <a:xfrm>
            <a:off x="6903720" y="1234440"/>
            <a:ext cx="2057400" cy="45720"/>
          </a:xfrm>
          <a:prstGeom prst="rect">
            <a:avLst/>
          </a:prstGeom>
          <a:solidFill>
            <a:srgbClr val="34D186"/>
          </a:solidFill>
          <a:ln/>
        </p:spPr>
      </p:sp>
      <p:sp>
        <p:nvSpPr>
          <p:cNvPr id="46" name="Text 44"/>
          <p:cNvSpPr/>
          <p:nvPr/>
        </p:nvSpPr>
        <p:spPr>
          <a:xfrm>
            <a:off x="7013448" y="1325880"/>
            <a:ext cx="914400" cy="256032"/>
          </a:xfrm>
          <a:prstGeom prst="rect">
            <a:avLst/>
          </a:prstGeom>
          <a:noFill/>
          <a:ln/>
        </p:spPr>
        <p:txBody>
          <a:bodyPr wrap="square" rtlCol="0" anchor="ctr"/>
          <a:lstStyle/>
          <a:p>
            <a:pPr indent="0" marL="0">
              <a:buNone/>
            </a:pPr>
            <a:r>
              <a:rPr lang="en-US" sz="900" b="1" spc="100" kern="0" dirty="0">
                <a:solidFill>
                  <a:srgbClr val="34D186"/>
                </a:solidFill>
                <a:latin typeface="Calibri" pitchFamily="34" charset="0"/>
                <a:ea typeface="Calibri" pitchFamily="34" charset="-122"/>
                <a:cs typeface="Calibri" pitchFamily="34" charset="-120"/>
              </a:rPr>
              <a:t>04</a:t>
            </a:r>
            <a:endParaRPr lang="en-US" sz="900" dirty="0"/>
          </a:p>
        </p:txBody>
      </p:sp>
      <p:sp>
        <p:nvSpPr>
          <p:cNvPr id="47" name="Text 45"/>
          <p:cNvSpPr/>
          <p:nvPr/>
        </p:nvSpPr>
        <p:spPr>
          <a:xfrm>
            <a:off x="7013448" y="1572768"/>
            <a:ext cx="1828800" cy="475488"/>
          </a:xfrm>
          <a:prstGeom prst="rect">
            <a:avLst/>
          </a:prstGeom>
          <a:noFill/>
          <a:ln/>
        </p:spPr>
        <p:txBody>
          <a:bodyPr wrap="square" rtlCol="0" anchor="ctr"/>
          <a:lstStyle/>
          <a:p>
            <a:pPr indent="0" marL="0">
              <a:buNone/>
            </a:pPr>
            <a:r>
              <a:rPr lang="en-US" sz="1200" b="1" dirty="0">
                <a:solidFill>
                  <a:srgbClr val="0D1A10"/>
                </a:solidFill>
                <a:latin typeface="Calibri" pitchFamily="34" charset="0"/>
                <a:ea typeface="Calibri" pitchFamily="34" charset="-122"/>
                <a:cs typeface="Calibri" pitchFamily="34" charset="-120"/>
              </a:rPr>
              <a:t>Age Verification</a:t>
            </a:r>
            <a:endParaRPr lang="en-US" sz="1200" dirty="0"/>
          </a:p>
        </p:txBody>
      </p:sp>
      <p:sp>
        <p:nvSpPr>
          <p:cNvPr id="48" name="Shape 46"/>
          <p:cNvSpPr/>
          <p:nvPr/>
        </p:nvSpPr>
        <p:spPr>
          <a:xfrm>
            <a:off x="7013448" y="2121408"/>
            <a:ext cx="1828800" cy="2011680"/>
          </a:xfrm>
          <a:prstGeom prst="rect">
            <a:avLst/>
          </a:prstGeom>
          <a:solidFill>
            <a:srgbClr val="0D1A10"/>
          </a:solidFill>
          <a:ln w="12700">
            <a:solidFill>
              <a:srgbClr val="1E3422"/>
            </a:solidFill>
            <a:prstDash val="solid"/>
          </a:ln>
        </p:spPr>
      </p:sp>
      <p:sp>
        <p:nvSpPr>
          <p:cNvPr id="49" name="Text 47"/>
          <p:cNvSpPr/>
          <p:nvPr/>
        </p:nvSpPr>
        <p:spPr>
          <a:xfrm>
            <a:off x="7040880" y="2148840"/>
            <a:ext cx="1783080" cy="237744"/>
          </a:xfrm>
          <a:prstGeom prst="rect">
            <a:avLst/>
          </a:prstGeom>
          <a:noFill/>
          <a:ln/>
        </p:spPr>
        <p:txBody>
          <a:bodyPr wrap="square" rtlCol="0" anchor="ctr"/>
          <a:lstStyle/>
          <a:p>
            <a:pPr indent="0" marL="0">
              <a:buNone/>
            </a:pPr>
            <a:r>
              <a:rPr lang="en-US" sz="750" b="1" dirty="0">
                <a:solidFill>
                  <a:srgbClr val="34D186"/>
                </a:solidFill>
                <a:latin typeface="Courier New" pitchFamily="34" charset="0"/>
                <a:ea typeface="Courier New" pitchFamily="34" charset="-122"/>
                <a:cs typeface="Courier New" pitchFamily="34" charset="-120"/>
              </a:rPr>
              <a:t>╔══════════╗</a:t>
            </a:r>
            <a:endParaRPr lang="en-US" sz="750" dirty="0"/>
          </a:p>
        </p:txBody>
      </p:sp>
      <p:sp>
        <p:nvSpPr>
          <p:cNvPr id="50" name="Text 48"/>
          <p:cNvSpPr/>
          <p:nvPr/>
        </p:nvSpPr>
        <p:spPr>
          <a:xfrm>
            <a:off x="7040880" y="24003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Age Verification</a:t>
            </a:r>
            <a:endParaRPr lang="en-US" sz="750" dirty="0"/>
          </a:p>
        </p:txBody>
      </p:sp>
      <p:sp>
        <p:nvSpPr>
          <p:cNvPr id="51" name="Text 49"/>
          <p:cNvSpPr/>
          <p:nvPr/>
        </p:nvSpPr>
        <p:spPr>
          <a:xfrm>
            <a:off x="7040880" y="265176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t>
            </a:r>
            <a:endParaRPr lang="en-US" sz="750" dirty="0"/>
          </a:p>
        </p:txBody>
      </p:sp>
      <p:sp>
        <p:nvSpPr>
          <p:cNvPr id="52" name="Text 50"/>
          <p:cNvSpPr/>
          <p:nvPr/>
        </p:nvSpPr>
        <p:spPr>
          <a:xfrm>
            <a:off x="7040880" y="290322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Step 3/4</a:t>
            </a:r>
            <a:endParaRPr lang="en-US" sz="750" dirty="0"/>
          </a:p>
        </p:txBody>
      </p:sp>
      <p:sp>
        <p:nvSpPr>
          <p:cNvPr id="53" name="Text 51"/>
          <p:cNvSpPr/>
          <p:nvPr/>
        </p:nvSpPr>
        <p:spPr>
          <a:xfrm>
            <a:off x="7040880" y="315468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Selfie frame]</a:t>
            </a:r>
            <a:endParaRPr lang="en-US" sz="750" dirty="0"/>
          </a:p>
        </p:txBody>
      </p:sp>
      <p:sp>
        <p:nvSpPr>
          <p:cNvPr id="54" name="Text 52"/>
          <p:cNvSpPr/>
          <p:nvPr/>
        </p:nvSpPr>
        <p:spPr>
          <a:xfrm>
            <a:off x="7040880" y="340614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8 sec · GDPR safe</a:t>
            </a:r>
            <a:endParaRPr lang="en-US" sz="750" dirty="0"/>
          </a:p>
        </p:txBody>
      </p:sp>
      <p:sp>
        <p:nvSpPr>
          <p:cNvPr id="55" name="Text 53"/>
          <p:cNvSpPr/>
          <p:nvPr/>
        </p:nvSpPr>
        <p:spPr>
          <a:xfrm>
            <a:off x="7040880" y="36576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[Verify Age]</a:t>
            </a:r>
            <a:endParaRPr lang="en-US" sz="750" dirty="0"/>
          </a:p>
        </p:txBody>
      </p:sp>
      <p:sp>
        <p:nvSpPr>
          <p:cNvPr id="56" name="Text 54"/>
          <p:cNvSpPr/>
          <p:nvPr/>
        </p:nvSpPr>
        <p:spPr>
          <a:xfrm>
            <a:off x="7013448" y="4224528"/>
            <a:ext cx="1828800" cy="2057400"/>
          </a:xfrm>
          <a:prstGeom prst="rect">
            <a:avLst/>
          </a:prstGeom>
          <a:noFill/>
          <a:ln/>
        </p:spPr>
        <p:txBody>
          <a:bodyPr wrap="square" rtlCol="0" anchor="ctr"/>
          <a:lstStyle/>
          <a:p>
            <a:pPr indent="0" marL="0">
              <a:buNone/>
            </a:pPr>
            <a:r>
              <a:rPr lang="en-US" sz="950" dirty="0">
                <a:solidFill>
                  <a:srgbClr val="4B6B5A"/>
                </a:solidFill>
                <a:latin typeface="Calibri" pitchFamily="34" charset="0"/>
                <a:ea typeface="Calibri" pitchFamily="34" charset="-122"/>
                <a:cs typeface="Calibri" pitchFamily="34" charset="-120"/>
              </a:rPr>
              <a:t>4-step progress (phone, payment, age, start). Selfie liveness frame with scan animation. "Why selfie not doc?" comparison. Document upload fallback available.</a:t>
            </a:r>
            <a:endParaRPr lang="en-US" sz="950" dirty="0"/>
          </a:p>
        </p:txBody>
      </p:sp>
      <p:sp>
        <p:nvSpPr>
          <p:cNvPr id="57" name="Text 55"/>
          <p:cNvSpPr/>
          <p:nvPr/>
        </p:nvSpPr>
        <p:spPr>
          <a:xfrm>
            <a:off x="320040" y="6510528"/>
            <a:ext cx="8503920" cy="201168"/>
          </a:xfrm>
          <a:prstGeom prst="rect">
            <a:avLst/>
          </a:prstGeom>
          <a:noFill/>
          <a:ln/>
        </p:spPr>
        <p:txBody>
          <a:bodyPr wrap="square" rtlCol="0" anchor="ctr"/>
          <a:lstStyle/>
          <a:p>
            <a:pPr indent="0" marL="0">
              <a:buNone/>
            </a:pPr>
            <a:r>
              <a:rPr lang="en-US" sz="850" i="1" dirty="0">
                <a:solidFill>
                  <a:srgbClr val="687A70"/>
                </a:solidFill>
                <a:latin typeface="Calibri" pitchFamily="34" charset="0"/>
                <a:ea typeface="Calibri" pitchFamily="34" charset="-122"/>
                <a:cs typeface="Calibri" pitchFamily="34" charset="-120"/>
              </a:rPr>
              <a:t>Prototype: bolt-rideguide-prototype.html · All 4 states interactive · Click-based navigation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A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IMPACT &amp; ROI</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PhonePe Context-Aware Trigger Architecture — Applied to Compliance</a:t>
            </a:r>
            <a:endParaRPr lang="en-US" sz="2200" dirty="0"/>
          </a:p>
        </p:txBody>
      </p:sp>
      <p:sp>
        <p:nvSpPr>
          <p:cNvPr id="5" name="Shape 3"/>
          <p:cNvSpPr/>
          <p:nvPr/>
        </p:nvSpPr>
        <p:spPr>
          <a:xfrm>
            <a:off x="320040" y="1234440"/>
            <a:ext cx="4114800" cy="347472"/>
          </a:xfrm>
          <a:prstGeom prst="rect">
            <a:avLst/>
          </a:prstGeom>
          <a:solidFill>
            <a:srgbClr val="34D186"/>
          </a:solidFill>
          <a:ln/>
        </p:spPr>
      </p:sp>
      <p:sp>
        <p:nvSpPr>
          <p:cNvPr id="6" name="Text 4"/>
          <p:cNvSpPr/>
          <p:nvPr/>
        </p:nvSpPr>
        <p:spPr>
          <a:xfrm>
            <a:off x="320040" y="1252728"/>
            <a:ext cx="4114800" cy="310896"/>
          </a:xfrm>
          <a:prstGeom prst="rect">
            <a:avLst/>
          </a:prstGeom>
          <a:noFill/>
          <a:ln/>
        </p:spPr>
        <p:txBody>
          <a:bodyPr wrap="square" rtlCol="0" anchor="ctr"/>
          <a:lstStyle/>
          <a:p>
            <a:pPr algn="ctr" indent="0" marL="0">
              <a:buNone/>
            </a:pPr>
            <a:r>
              <a:rPr lang="en-US" sz="1000" b="1" spc="150" kern="0" dirty="0">
                <a:solidFill>
                  <a:srgbClr val="000000"/>
                </a:solidFill>
                <a:latin typeface="Calibri" pitchFamily="34" charset="0"/>
                <a:ea typeface="Calibri" pitchFamily="34" charset="-122"/>
                <a:cs typeface="Calibri" pitchFamily="34" charset="-120"/>
              </a:rPr>
              <a:t>RIDER EXPERIENCE IMPACT</a:t>
            </a:r>
            <a:endParaRPr lang="en-US" sz="1000" dirty="0"/>
          </a:p>
        </p:txBody>
      </p:sp>
      <p:sp>
        <p:nvSpPr>
          <p:cNvPr id="7" name="Shape 5"/>
          <p:cNvSpPr/>
          <p:nvPr/>
        </p:nvSpPr>
        <p:spPr>
          <a:xfrm>
            <a:off x="4709160" y="1234440"/>
            <a:ext cx="4114800" cy="347472"/>
          </a:xfrm>
          <a:prstGeom prst="rect">
            <a:avLst/>
          </a:prstGeom>
          <a:solidFill>
            <a:srgbClr val="2C1A00"/>
          </a:solidFill>
          <a:ln w="12700">
            <a:solidFill>
              <a:srgbClr val="F59E0B"/>
            </a:solidFill>
            <a:prstDash val="solid"/>
          </a:ln>
        </p:spPr>
      </p:sp>
      <p:sp>
        <p:nvSpPr>
          <p:cNvPr id="8" name="Text 6"/>
          <p:cNvSpPr/>
          <p:nvPr/>
        </p:nvSpPr>
        <p:spPr>
          <a:xfrm>
            <a:off x="4709160" y="1252728"/>
            <a:ext cx="4114800" cy="310896"/>
          </a:xfrm>
          <a:prstGeom prst="rect">
            <a:avLst/>
          </a:prstGeom>
          <a:noFill/>
          <a:ln/>
        </p:spPr>
        <p:txBody>
          <a:bodyPr wrap="square" rtlCol="0" anchor="ctr"/>
          <a:lstStyle/>
          <a:p>
            <a:pPr algn="ctr" indent="0" marL="0">
              <a:buNone/>
            </a:pPr>
            <a:r>
              <a:rPr lang="en-US" sz="1000" b="1" spc="150" kern="0" dirty="0">
                <a:solidFill>
                  <a:srgbClr val="F59E0B"/>
                </a:solidFill>
                <a:latin typeface="Calibri" pitchFamily="34" charset="0"/>
                <a:ea typeface="Calibri" pitchFamily="34" charset="-122"/>
                <a:cs typeface="Calibri" pitchFamily="34" charset="-120"/>
              </a:rPr>
              <a:t>BOLT / CITY AUTHORITY ROI</a:t>
            </a:r>
            <a:endParaRPr lang="en-US" sz="1000" dirty="0"/>
          </a:p>
        </p:txBody>
      </p:sp>
      <p:sp>
        <p:nvSpPr>
          <p:cNvPr id="9" name="Shape 7"/>
          <p:cNvSpPr/>
          <p:nvPr/>
        </p:nvSpPr>
        <p:spPr>
          <a:xfrm>
            <a:off x="320040" y="1737360"/>
            <a:ext cx="4114800" cy="1051560"/>
          </a:xfrm>
          <a:prstGeom prst="rect">
            <a:avLst/>
          </a:prstGeom>
          <a:solidFill>
            <a:srgbClr val="162815"/>
          </a:solidFill>
          <a:ln w="12700">
            <a:solidFill>
              <a:srgbClr val="1E3422"/>
            </a:solidFill>
            <a:prstDash val="solid"/>
          </a:ln>
        </p:spPr>
      </p:sp>
      <p:sp>
        <p:nvSpPr>
          <p:cNvPr id="10" name="Text 8"/>
          <p:cNvSpPr/>
          <p:nvPr/>
        </p:nvSpPr>
        <p:spPr>
          <a:xfrm>
            <a:off x="457200" y="1810512"/>
            <a:ext cx="1463040" cy="502920"/>
          </a:xfrm>
          <a:prstGeom prst="rect">
            <a:avLst/>
          </a:prstGeom>
          <a:noFill/>
          <a:ln/>
        </p:spPr>
        <p:txBody>
          <a:bodyPr wrap="square"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−40%</a:t>
            </a:r>
            <a:endParaRPr lang="en-US" sz="3400" dirty="0"/>
          </a:p>
        </p:txBody>
      </p:sp>
      <p:sp>
        <p:nvSpPr>
          <p:cNvPr id="11" name="Text 9"/>
          <p:cNvSpPr/>
          <p:nvPr/>
        </p:nvSpPr>
        <p:spPr>
          <a:xfrm>
            <a:off x="457200" y="2286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End-ride drop-off rate</a:t>
            </a:r>
            <a:endParaRPr lang="en-US" sz="1200" dirty="0"/>
          </a:p>
        </p:txBody>
      </p:sp>
      <p:sp>
        <p:nvSpPr>
          <p:cNvPr id="12" name="Text 10"/>
          <p:cNvSpPr/>
          <p:nvPr/>
        </p:nvSpPr>
        <p:spPr>
          <a:xfrm>
            <a:off x="457200" y="2496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Parking validator + nearest spot map replaces error state with actionable UX</a:t>
            </a:r>
            <a:endParaRPr lang="en-US" sz="900" dirty="0"/>
          </a:p>
        </p:txBody>
      </p:sp>
      <p:sp>
        <p:nvSpPr>
          <p:cNvPr id="13" name="Shape 11"/>
          <p:cNvSpPr/>
          <p:nvPr/>
        </p:nvSpPr>
        <p:spPr>
          <a:xfrm>
            <a:off x="320040" y="2880360"/>
            <a:ext cx="4114800" cy="1051560"/>
          </a:xfrm>
          <a:prstGeom prst="rect">
            <a:avLst/>
          </a:prstGeom>
          <a:solidFill>
            <a:srgbClr val="162815"/>
          </a:solidFill>
          <a:ln w="12700">
            <a:solidFill>
              <a:srgbClr val="1E3422"/>
            </a:solidFill>
            <a:prstDash val="solid"/>
          </a:ln>
        </p:spPr>
      </p:sp>
      <p:sp>
        <p:nvSpPr>
          <p:cNvPr id="14" name="Text 12"/>
          <p:cNvSpPr/>
          <p:nvPr/>
        </p:nvSpPr>
        <p:spPr>
          <a:xfrm>
            <a:off x="457200" y="2953512"/>
            <a:ext cx="1463040" cy="502920"/>
          </a:xfrm>
          <a:prstGeom prst="rect">
            <a:avLst/>
          </a:prstGeom>
          <a:noFill/>
          <a:ln/>
        </p:spPr>
        <p:txBody>
          <a:bodyPr wrap="square"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+35%</a:t>
            </a:r>
            <a:endParaRPr lang="en-US" sz="3400" dirty="0"/>
          </a:p>
        </p:txBody>
      </p:sp>
      <p:sp>
        <p:nvSpPr>
          <p:cNvPr id="15" name="Text 13"/>
          <p:cNvSpPr/>
          <p:nvPr/>
        </p:nvSpPr>
        <p:spPr>
          <a:xfrm>
            <a:off x="457200" y="3429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Onboarding completion rate</a:t>
            </a:r>
            <a:endParaRPr lang="en-US" sz="1200" dirty="0"/>
          </a:p>
        </p:txBody>
      </p:sp>
      <p:sp>
        <p:nvSpPr>
          <p:cNvPr id="16" name="Text 14"/>
          <p:cNvSpPr/>
          <p:nvPr/>
        </p:nvSpPr>
        <p:spPr>
          <a:xfrm>
            <a:off x="457200" y="3639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Selfie liveness (8s) vs document upload (38% abandon) — same legal compliance</a:t>
            </a:r>
            <a:endParaRPr lang="en-US" sz="900" dirty="0"/>
          </a:p>
        </p:txBody>
      </p:sp>
      <p:sp>
        <p:nvSpPr>
          <p:cNvPr id="17" name="Shape 15"/>
          <p:cNvSpPr/>
          <p:nvPr/>
        </p:nvSpPr>
        <p:spPr>
          <a:xfrm>
            <a:off x="320040" y="4023360"/>
            <a:ext cx="4114800" cy="1051560"/>
          </a:xfrm>
          <a:prstGeom prst="rect">
            <a:avLst/>
          </a:prstGeom>
          <a:solidFill>
            <a:srgbClr val="162815"/>
          </a:solidFill>
          <a:ln w="12700">
            <a:solidFill>
              <a:srgbClr val="1E3422"/>
            </a:solidFill>
            <a:prstDash val="solid"/>
          </a:ln>
        </p:spPr>
      </p:sp>
      <p:sp>
        <p:nvSpPr>
          <p:cNvPr id="18" name="Text 16"/>
          <p:cNvSpPr/>
          <p:nvPr/>
        </p:nvSpPr>
        <p:spPr>
          <a:xfrm>
            <a:off x="457200" y="4096512"/>
            <a:ext cx="1463040" cy="502920"/>
          </a:xfrm>
          <a:prstGeom prst="rect">
            <a:avLst/>
          </a:prstGeom>
          <a:noFill/>
          <a:ln/>
        </p:spPr>
        <p:txBody>
          <a:bodyPr wrap="square"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73%</a:t>
            </a:r>
            <a:endParaRPr lang="en-US" sz="3400" dirty="0"/>
          </a:p>
        </p:txBody>
      </p:sp>
      <p:sp>
        <p:nvSpPr>
          <p:cNvPr id="19" name="Text 17"/>
          <p:cNvSpPr/>
          <p:nvPr/>
        </p:nvSpPr>
        <p:spPr>
          <a:xfrm>
            <a:off x="457200" y="4572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Fewer sudden brake events</a:t>
            </a:r>
            <a:endParaRPr lang="en-US" sz="1200" dirty="0"/>
          </a:p>
        </p:txBody>
      </p:sp>
      <p:sp>
        <p:nvSpPr>
          <p:cNvPr id="20" name="Text 18"/>
          <p:cNvSpPr/>
          <p:nvPr/>
        </p:nvSpPr>
        <p:spPr>
          <a:xfrm>
            <a:off x="457200" y="4782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12-second soft ramp vs instant throttle cut — measured against hard geofence baseline</a:t>
            </a:r>
            <a:endParaRPr lang="en-US" sz="900" dirty="0"/>
          </a:p>
        </p:txBody>
      </p:sp>
      <p:sp>
        <p:nvSpPr>
          <p:cNvPr id="21" name="Shape 19"/>
          <p:cNvSpPr/>
          <p:nvPr/>
        </p:nvSpPr>
        <p:spPr>
          <a:xfrm>
            <a:off x="320040" y="5166360"/>
            <a:ext cx="4114800" cy="1051560"/>
          </a:xfrm>
          <a:prstGeom prst="rect">
            <a:avLst/>
          </a:prstGeom>
          <a:solidFill>
            <a:srgbClr val="162815"/>
          </a:solidFill>
          <a:ln w="12700">
            <a:solidFill>
              <a:srgbClr val="1E3422"/>
            </a:solidFill>
            <a:prstDash val="solid"/>
          </a:ln>
        </p:spPr>
      </p:sp>
      <p:sp>
        <p:nvSpPr>
          <p:cNvPr id="22" name="Text 20"/>
          <p:cNvSpPr/>
          <p:nvPr/>
        </p:nvSpPr>
        <p:spPr>
          <a:xfrm>
            <a:off x="457200" y="5239512"/>
            <a:ext cx="1463040" cy="502920"/>
          </a:xfrm>
          <a:prstGeom prst="rect">
            <a:avLst/>
          </a:prstGeom>
          <a:noFill/>
          <a:ln/>
        </p:spPr>
        <p:txBody>
          <a:bodyPr wrap="square"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+28%</a:t>
            </a:r>
            <a:endParaRPr lang="en-US" sz="3400" dirty="0"/>
          </a:p>
        </p:txBody>
      </p:sp>
      <p:sp>
        <p:nvSpPr>
          <p:cNvPr id="23" name="Text 21"/>
          <p:cNvSpPr/>
          <p:nvPr/>
        </p:nvSpPr>
        <p:spPr>
          <a:xfrm>
            <a:off x="457200" y="5715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Invalid-zone-to-valid-spot rate</a:t>
            </a:r>
            <a:endParaRPr lang="en-US" sz="1200" dirty="0"/>
          </a:p>
        </p:txBody>
      </p:sp>
      <p:sp>
        <p:nvSpPr>
          <p:cNvPr id="24" name="Text 22"/>
          <p:cNvSpPr/>
          <p:nvPr/>
        </p:nvSpPr>
        <p:spPr>
          <a:xfrm>
            <a:off x="457200" y="5925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Riders who complete the walk to nearest valid spot when shown navigation</a:t>
            </a:r>
            <a:endParaRPr lang="en-US" sz="900" dirty="0"/>
          </a:p>
        </p:txBody>
      </p:sp>
      <p:sp>
        <p:nvSpPr>
          <p:cNvPr id="25" name="Shape 23"/>
          <p:cNvSpPr/>
          <p:nvPr/>
        </p:nvSpPr>
        <p:spPr>
          <a:xfrm>
            <a:off x="4709160" y="1737360"/>
            <a:ext cx="4114800" cy="1051560"/>
          </a:xfrm>
          <a:prstGeom prst="rect">
            <a:avLst/>
          </a:prstGeom>
          <a:solidFill>
            <a:srgbClr val="1F1200"/>
          </a:solidFill>
          <a:ln w="12700">
            <a:solidFill>
              <a:srgbClr val="4A3300"/>
            </a:solidFill>
            <a:prstDash val="solid"/>
          </a:ln>
        </p:spPr>
      </p:sp>
      <p:sp>
        <p:nvSpPr>
          <p:cNvPr id="26" name="Text 24"/>
          <p:cNvSpPr/>
          <p:nvPr/>
        </p:nvSpPr>
        <p:spPr>
          <a:xfrm>
            <a:off x="4846320" y="1810512"/>
            <a:ext cx="1463040" cy="502920"/>
          </a:xfrm>
          <a:prstGeom prst="rect">
            <a:avLst/>
          </a:prstGeom>
          <a:noFill/>
          <a:ln/>
        </p:spPr>
        <p:txBody>
          <a:bodyPr wrap="square"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+22%</a:t>
            </a:r>
            <a:endParaRPr lang="en-US" sz="3400" dirty="0"/>
          </a:p>
        </p:txBody>
      </p:sp>
      <p:sp>
        <p:nvSpPr>
          <p:cNvPr id="27" name="Text 25"/>
          <p:cNvSpPr/>
          <p:nvPr/>
        </p:nvSpPr>
        <p:spPr>
          <a:xfrm>
            <a:off x="4846320" y="2286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NPS score (compliance moments)</a:t>
            </a:r>
            <a:endParaRPr lang="en-US" sz="1200" dirty="0"/>
          </a:p>
        </p:txBody>
      </p:sp>
      <p:sp>
        <p:nvSpPr>
          <p:cNvPr id="28" name="Text 26"/>
          <p:cNvSpPr/>
          <p:nvPr/>
        </p:nvSpPr>
        <p:spPr>
          <a:xfrm>
            <a:off x="4846320" y="2496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Compliance interactions become neutral or positive — no longer the worst moment in the ride</a:t>
            </a:r>
            <a:endParaRPr lang="en-US" sz="900" dirty="0"/>
          </a:p>
        </p:txBody>
      </p:sp>
      <p:sp>
        <p:nvSpPr>
          <p:cNvPr id="29" name="Shape 27"/>
          <p:cNvSpPr/>
          <p:nvPr/>
        </p:nvSpPr>
        <p:spPr>
          <a:xfrm>
            <a:off x="4709160" y="2880360"/>
            <a:ext cx="4114800" cy="1051560"/>
          </a:xfrm>
          <a:prstGeom prst="rect">
            <a:avLst/>
          </a:prstGeom>
          <a:solidFill>
            <a:srgbClr val="1F1200"/>
          </a:solidFill>
          <a:ln w="12700">
            <a:solidFill>
              <a:srgbClr val="4A3300"/>
            </a:solidFill>
            <a:prstDash val="solid"/>
          </a:ln>
        </p:spPr>
      </p:sp>
      <p:sp>
        <p:nvSpPr>
          <p:cNvPr id="30" name="Text 28"/>
          <p:cNvSpPr/>
          <p:nvPr/>
        </p:nvSpPr>
        <p:spPr>
          <a:xfrm>
            <a:off x="4846320" y="2953512"/>
            <a:ext cx="1463040" cy="502920"/>
          </a:xfrm>
          <a:prstGeom prst="rect">
            <a:avLst/>
          </a:prstGeom>
          <a:noFill/>
          <a:ln/>
        </p:spPr>
        <p:txBody>
          <a:bodyPr wrap="square"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91%</a:t>
            </a:r>
            <a:endParaRPr lang="en-US" sz="3400" dirty="0"/>
          </a:p>
        </p:txBody>
      </p:sp>
      <p:sp>
        <p:nvSpPr>
          <p:cNvPr id="31" name="Text 29"/>
          <p:cNvSpPr/>
          <p:nvPr/>
        </p:nvSpPr>
        <p:spPr>
          <a:xfrm>
            <a:off x="4846320" y="3429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Compliance score (Warsaw pilot)</a:t>
            </a:r>
            <a:endParaRPr lang="en-US" sz="1200" dirty="0"/>
          </a:p>
        </p:txBody>
      </p:sp>
      <p:sp>
        <p:nvSpPr>
          <p:cNvPr id="32" name="Text 30"/>
          <p:cNvSpPr/>
          <p:nvPr/>
        </p:nvSpPr>
        <p:spPr>
          <a:xfrm>
            <a:off x="4846320" y="3639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RideGuide-enabled cities achieve higher city authority compliance scores → stronger tenders</a:t>
            </a:r>
            <a:endParaRPr lang="en-US" sz="900" dirty="0"/>
          </a:p>
        </p:txBody>
      </p:sp>
      <p:sp>
        <p:nvSpPr>
          <p:cNvPr id="33" name="Shape 31"/>
          <p:cNvSpPr/>
          <p:nvPr/>
        </p:nvSpPr>
        <p:spPr>
          <a:xfrm>
            <a:off x="4709160" y="4023360"/>
            <a:ext cx="4114800" cy="1051560"/>
          </a:xfrm>
          <a:prstGeom prst="rect">
            <a:avLst/>
          </a:prstGeom>
          <a:solidFill>
            <a:srgbClr val="1F1200"/>
          </a:solidFill>
          <a:ln w="12700">
            <a:solidFill>
              <a:srgbClr val="4A3300"/>
            </a:solidFill>
            <a:prstDash val="solid"/>
          </a:ln>
        </p:spPr>
      </p:sp>
      <p:sp>
        <p:nvSpPr>
          <p:cNvPr id="34" name="Text 32"/>
          <p:cNvSpPr/>
          <p:nvPr/>
        </p:nvSpPr>
        <p:spPr>
          <a:xfrm>
            <a:off x="4846320" y="4096512"/>
            <a:ext cx="1463040" cy="502920"/>
          </a:xfrm>
          <a:prstGeom prst="rect">
            <a:avLst/>
          </a:prstGeom>
          <a:noFill/>
          <a:ln/>
        </p:spPr>
        <p:txBody>
          <a:bodyPr wrap="square"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€0</a:t>
            </a:r>
            <a:endParaRPr lang="en-US" sz="3400" dirty="0"/>
          </a:p>
        </p:txBody>
      </p:sp>
      <p:sp>
        <p:nvSpPr>
          <p:cNvPr id="35" name="Text 33"/>
          <p:cNvSpPr/>
          <p:nvPr/>
        </p:nvSpPr>
        <p:spPr>
          <a:xfrm>
            <a:off x="4846320" y="4572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Fine exposure per compliant ride</a:t>
            </a:r>
            <a:endParaRPr lang="en-US" sz="1200" dirty="0"/>
          </a:p>
        </p:txBody>
      </p:sp>
      <p:sp>
        <p:nvSpPr>
          <p:cNvPr id="36" name="Text 34"/>
          <p:cNvSpPr/>
          <p:nvPr/>
        </p:nvSpPr>
        <p:spPr>
          <a:xfrm>
            <a:off x="4846320" y="4782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Proactive compliance vs reactive enforcement eliminates fine liability at source</a:t>
            </a:r>
            <a:endParaRPr lang="en-US" sz="900" dirty="0"/>
          </a:p>
        </p:txBody>
      </p:sp>
      <p:sp>
        <p:nvSpPr>
          <p:cNvPr id="37" name="Shape 35"/>
          <p:cNvSpPr/>
          <p:nvPr/>
        </p:nvSpPr>
        <p:spPr>
          <a:xfrm>
            <a:off x="4709160" y="5166360"/>
            <a:ext cx="4114800" cy="1051560"/>
          </a:xfrm>
          <a:prstGeom prst="rect">
            <a:avLst/>
          </a:prstGeom>
          <a:solidFill>
            <a:srgbClr val="1F1200"/>
          </a:solidFill>
          <a:ln w="12700">
            <a:solidFill>
              <a:srgbClr val="4A3300"/>
            </a:solidFill>
            <a:prstDash val="solid"/>
          </a:ln>
        </p:spPr>
      </p:sp>
      <p:sp>
        <p:nvSpPr>
          <p:cNvPr id="38" name="Text 36"/>
          <p:cNvSpPr/>
          <p:nvPr/>
        </p:nvSpPr>
        <p:spPr>
          <a:xfrm>
            <a:off x="4846320" y="5239512"/>
            <a:ext cx="1463040" cy="502920"/>
          </a:xfrm>
          <a:prstGeom prst="rect">
            <a:avLst/>
          </a:prstGeom>
          <a:noFill/>
          <a:ln/>
        </p:spPr>
        <p:txBody>
          <a:bodyPr wrap="square"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+35%</a:t>
            </a:r>
            <a:endParaRPr lang="en-US" sz="3400" dirty="0"/>
          </a:p>
        </p:txBody>
      </p:sp>
      <p:sp>
        <p:nvSpPr>
          <p:cNvPr id="39" name="Text 37"/>
          <p:cNvSpPr/>
          <p:nvPr/>
        </p:nvSpPr>
        <p:spPr>
          <a:xfrm>
            <a:off x="4846320" y="5715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Tender win rate (est.)</a:t>
            </a:r>
            <a:endParaRPr lang="en-US" sz="1200" dirty="0"/>
          </a:p>
        </p:txBody>
      </p:sp>
      <p:sp>
        <p:nvSpPr>
          <p:cNvPr id="40" name="Text 38"/>
          <p:cNvSpPr/>
          <p:nvPr/>
        </p:nvSpPr>
        <p:spPr>
          <a:xfrm>
            <a:off x="4846320" y="5925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Cities see live compliance data via CityScore — Bolt demonstrates compliance, not claims it</a:t>
            </a:r>
            <a:endParaRPr lang="en-US" sz="900" dirty="0"/>
          </a:p>
        </p:txBody>
      </p:sp>
      <p:sp>
        <p:nvSpPr>
          <p:cNvPr id="41" name="Shape 39"/>
          <p:cNvSpPr/>
          <p:nvPr/>
        </p:nvSpPr>
        <p:spPr>
          <a:xfrm>
            <a:off x="320040" y="6309360"/>
            <a:ext cx="8503920" cy="347472"/>
          </a:xfrm>
          <a:prstGeom prst="rect">
            <a:avLst/>
          </a:prstGeom>
          <a:solidFill>
            <a:srgbClr val="100F08"/>
          </a:solidFill>
          <a:ln w="12700">
            <a:solidFill>
              <a:srgbClr val="34D186"/>
            </a:solidFill>
            <a:prstDash val="solid"/>
          </a:ln>
        </p:spPr>
      </p:sp>
      <p:sp>
        <p:nvSpPr>
          <p:cNvPr id="42" name="Text 40"/>
          <p:cNvSpPr/>
          <p:nvPr/>
        </p:nvSpPr>
        <p:spPr>
          <a:xfrm>
            <a:off x="457200" y="6336792"/>
            <a:ext cx="8229600" cy="29260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RideGuide makes compliance invisible to compliant riders and unavoidable for non-compliant ones. The same geofence, radically different experience.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FF4"/>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PROOF OF WORK</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600" b="1" dirty="0">
                <a:solidFill>
                  <a:srgbClr val="0D1A10"/>
                </a:solidFill>
                <a:latin typeface="Calibri" pitchFamily="34" charset="0"/>
                <a:ea typeface="Calibri" pitchFamily="34" charset="-122"/>
                <a:cs typeface="Calibri" pitchFamily="34" charset="-120"/>
              </a:rPr>
              <a:t>I Built the Underlying Architecture at PhonePe.</a:t>
            </a:r>
            <a:endParaRPr lang="en-US" sz="2600" dirty="0"/>
          </a:p>
        </p:txBody>
      </p:sp>
      <p:sp>
        <p:nvSpPr>
          <p:cNvPr id="5" name="Shape 3"/>
          <p:cNvSpPr/>
          <p:nvPr/>
        </p:nvSpPr>
        <p:spPr>
          <a:xfrm>
            <a:off x="320040" y="1234440"/>
            <a:ext cx="4114800" cy="4206240"/>
          </a:xfrm>
          <a:prstGeom prst="rect">
            <a:avLst/>
          </a:prstGeom>
          <a:solidFill>
            <a:srgbClr val="0D1A10"/>
          </a:solidFill>
          <a:ln/>
        </p:spPr>
      </p:sp>
      <p:sp>
        <p:nvSpPr>
          <p:cNvPr id="6" name="Shape 4"/>
          <p:cNvSpPr/>
          <p:nvPr/>
        </p:nvSpPr>
        <p:spPr>
          <a:xfrm>
            <a:off x="320040" y="1234440"/>
            <a:ext cx="4114800" cy="292608"/>
          </a:xfrm>
          <a:prstGeom prst="rect">
            <a:avLst/>
          </a:prstGeom>
          <a:solidFill>
            <a:srgbClr val="34D186"/>
          </a:solidFill>
          <a:ln/>
        </p:spPr>
      </p:sp>
      <p:sp>
        <p:nvSpPr>
          <p:cNvPr id="7" name="Text 5"/>
          <p:cNvSpPr/>
          <p:nvPr/>
        </p:nvSpPr>
        <p:spPr>
          <a:xfrm>
            <a:off x="457200" y="1252728"/>
            <a:ext cx="3840480" cy="256032"/>
          </a:xfrm>
          <a:prstGeom prst="rect">
            <a:avLst/>
          </a:prstGeom>
          <a:noFill/>
          <a:ln/>
        </p:spPr>
        <p:txBody>
          <a:bodyPr wrap="square"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What I shipped at PhonePe</a:t>
            </a:r>
            <a:endParaRPr lang="en-US" sz="1000" dirty="0"/>
          </a:p>
        </p:txBody>
      </p:sp>
      <p:sp>
        <p:nvSpPr>
          <p:cNvPr id="8" name="Shape 6"/>
          <p:cNvSpPr/>
          <p:nvPr/>
        </p:nvSpPr>
        <p:spPr>
          <a:xfrm>
            <a:off x="438912" y="1709928"/>
            <a:ext cx="201168" cy="201168"/>
          </a:xfrm>
          <a:prstGeom prst="ellipse">
            <a:avLst/>
          </a:prstGeom>
          <a:solidFill>
            <a:srgbClr val="34D186"/>
          </a:solidFill>
          <a:ln/>
        </p:spPr>
      </p:sp>
      <p:sp>
        <p:nvSpPr>
          <p:cNvPr id="9" name="Text 7"/>
          <p:cNvSpPr/>
          <p:nvPr/>
        </p:nvSpPr>
        <p:spPr>
          <a:xfrm>
            <a:off x="749808" y="1664208"/>
            <a:ext cx="35204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Dynamic Cart Incentivization (Pincode)</a:t>
            </a:r>
            <a:endParaRPr lang="en-US" sz="1100" dirty="0"/>
          </a:p>
        </p:txBody>
      </p:sp>
      <p:sp>
        <p:nvSpPr>
          <p:cNvPr id="10" name="Text 8"/>
          <p:cNvSpPr/>
          <p:nvPr/>
        </p:nvSpPr>
        <p:spPr>
          <a:xfrm>
            <a:off x="749808" y="1920240"/>
            <a:ext cx="352044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Context-aware triggers: cart value x user intent x time-of-day. 35% AOV uplift, 60% cart abandonment reduction, 20% 30-day retention improvement. The trigger architecture is identical to RideGuide.</a:t>
            </a:r>
            <a:endParaRPr lang="en-US" sz="950" dirty="0"/>
          </a:p>
        </p:txBody>
      </p:sp>
      <p:sp>
        <p:nvSpPr>
          <p:cNvPr id="11" name="Shape 9"/>
          <p:cNvSpPr/>
          <p:nvPr/>
        </p:nvSpPr>
        <p:spPr>
          <a:xfrm>
            <a:off x="438912" y="2642616"/>
            <a:ext cx="201168" cy="201168"/>
          </a:xfrm>
          <a:prstGeom prst="ellipse">
            <a:avLst/>
          </a:prstGeom>
          <a:solidFill>
            <a:srgbClr val="34D186"/>
          </a:solidFill>
          <a:ln/>
        </p:spPr>
      </p:sp>
      <p:sp>
        <p:nvSpPr>
          <p:cNvPr id="12" name="Text 10"/>
          <p:cNvSpPr/>
          <p:nvPr/>
        </p:nvSpPr>
        <p:spPr>
          <a:xfrm>
            <a:off x="749808" y="2596896"/>
            <a:ext cx="35204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Propensity-to-Transact ML (350M MAU)</a:t>
            </a:r>
            <a:endParaRPr lang="en-US" sz="1100" dirty="0"/>
          </a:p>
        </p:txBody>
      </p:sp>
      <p:sp>
        <p:nvSpPr>
          <p:cNvPr id="13" name="Text 11"/>
          <p:cNvSpPr/>
          <p:nvPr/>
        </p:nvSpPr>
        <p:spPr>
          <a:xfrm>
            <a:off x="749808" y="2852928"/>
            <a:ext cx="352044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Real-time per-user scoring replacing manual cohort targeting. 32% marketing burn reduction. ML scoring applied to physical trajectory is the same model pattern applied to user purchase probability.</a:t>
            </a:r>
            <a:endParaRPr lang="en-US" sz="950" dirty="0"/>
          </a:p>
        </p:txBody>
      </p:sp>
      <p:sp>
        <p:nvSpPr>
          <p:cNvPr id="14" name="Shape 12"/>
          <p:cNvSpPr/>
          <p:nvPr/>
        </p:nvSpPr>
        <p:spPr>
          <a:xfrm>
            <a:off x="438912" y="3575304"/>
            <a:ext cx="201168" cy="201168"/>
          </a:xfrm>
          <a:prstGeom prst="ellipse">
            <a:avLst/>
          </a:prstGeom>
          <a:solidFill>
            <a:srgbClr val="34D186"/>
          </a:solidFill>
          <a:ln/>
        </p:spPr>
      </p:sp>
      <p:sp>
        <p:nvSpPr>
          <p:cNvPr id="15" name="Text 13"/>
          <p:cNvSpPr/>
          <p:nvPr/>
        </p:nvSpPr>
        <p:spPr>
          <a:xfrm>
            <a:off x="749808" y="3529584"/>
            <a:ext cx="35204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Offers Placement + Eligibility Redesign</a:t>
            </a:r>
            <a:endParaRPr lang="en-US" sz="1100" dirty="0"/>
          </a:p>
        </p:txBody>
      </p:sp>
      <p:sp>
        <p:nvSpPr>
          <p:cNvPr id="16" name="Text 14"/>
          <p:cNvSpPr/>
          <p:nvPr/>
        </p:nvSpPr>
        <p:spPr>
          <a:xfrm>
            <a:off x="749808" y="3785616"/>
            <a:ext cx="352044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Redesigned compliance-like rules (offer eligibility, terms) into frictionless UX. 22% checkout conversion lift. Same design principle: make required checks invisible.</a:t>
            </a:r>
            <a:endParaRPr lang="en-US" sz="950" dirty="0"/>
          </a:p>
        </p:txBody>
      </p:sp>
      <p:sp>
        <p:nvSpPr>
          <p:cNvPr id="17" name="Shape 15"/>
          <p:cNvSpPr/>
          <p:nvPr/>
        </p:nvSpPr>
        <p:spPr>
          <a:xfrm>
            <a:off x="438912" y="4507992"/>
            <a:ext cx="201168" cy="201168"/>
          </a:xfrm>
          <a:prstGeom prst="ellipse">
            <a:avLst/>
          </a:prstGeom>
          <a:solidFill>
            <a:srgbClr val="34D186"/>
          </a:solidFill>
          <a:ln/>
        </p:spPr>
      </p:sp>
      <p:sp>
        <p:nvSpPr>
          <p:cNvPr id="18" name="Text 16"/>
          <p:cNvSpPr/>
          <p:nvPr/>
        </p:nvSpPr>
        <p:spPr>
          <a:xfrm>
            <a:off x="749808" y="4462272"/>
            <a:ext cx="35204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Unified Ops Intelligence Layer</a:t>
            </a:r>
            <a:endParaRPr lang="en-US" sz="1100" dirty="0"/>
          </a:p>
        </p:txBody>
      </p:sp>
      <p:sp>
        <p:nvSpPr>
          <p:cNvPr id="19" name="Text 17"/>
          <p:cNvSpPr/>
          <p:nvPr/>
        </p:nvSpPr>
        <p:spPr>
          <a:xfrm>
            <a:off x="749808" y="4718304"/>
            <a:ext cx="352044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Replaced 6 siloed workflows with single console. TAT 2d to 4h, -68% escalation tickets. CityScore (Case Study 3) is the compliance version of this ops intelligence platform.</a:t>
            </a:r>
            <a:endParaRPr lang="en-US" sz="950" dirty="0"/>
          </a:p>
        </p:txBody>
      </p:sp>
      <p:sp>
        <p:nvSpPr>
          <p:cNvPr id="20" name="Shape 18"/>
          <p:cNvSpPr/>
          <p:nvPr/>
        </p:nvSpPr>
        <p:spPr>
          <a:xfrm>
            <a:off x="4709160" y="1234440"/>
            <a:ext cx="4114800" cy="4206240"/>
          </a:xfrm>
          <a:prstGeom prst="rect">
            <a:avLst/>
          </a:prstGeom>
          <a:solidFill>
            <a:srgbClr val="F0FAF4"/>
          </a:solidFill>
          <a:ln/>
        </p:spPr>
      </p:sp>
      <p:sp>
        <p:nvSpPr>
          <p:cNvPr id="21" name="Shape 19"/>
          <p:cNvSpPr/>
          <p:nvPr/>
        </p:nvSpPr>
        <p:spPr>
          <a:xfrm>
            <a:off x="4709160" y="1234440"/>
            <a:ext cx="4114800" cy="292608"/>
          </a:xfrm>
          <a:prstGeom prst="rect">
            <a:avLst/>
          </a:prstGeom>
          <a:solidFill>
            <a:srgbClr val="A7F3D0"/>
          </a:solidFill>
          <a:ln/>
        </p:spPr>
      </p:sp>
      <p:sp>
        <p:nvSpPr>
          <p:cNvPr id="22" name="Text 20"/>
          <p:cNvSpPr/>
          <p:nvPr/>
        </p:nvSpPr>
        <p:spPr>
          <a:xfrm>
            <a:off x="4846320" y="1252728"/>
            <a:ext cx="3840480" cy="256032"/>
          </a:xfrm>
          <a:prstGeom prst="rect">
            <a:avLst/>
          </a:prstGeom>
          <a:noFill/>
          <a:ln/>
        </p:spPr>
        <p:txBody>
          <a:bodyPr wrap="square" rtlCol="0" anchor="ctr"/>
          <a:lstStyle/>
          <a:p>
            <a:pPr indent="0" marL="0">
              <a:buNone/>
            </a:pPr>
            <a:r>
              <a:rPr lang="en-US" sz="1000" b="1" dirty="0">
                <a:solidFill>
                  <a:srgbClr val="0D1A10"/>
                </a:solidFill>
                <a:latin typeface="Calibri" pitchFamily="34" charset="0"/>
                <a:ea typeface="Calibri" pitchFamily="34" charset="-122"/>
                <a:cs typeface="Calibri" pitchFamily="34" charset="-120"/>
              </a:rPr>
              <a:t>How it maps to RideGuide</a:t>
            </a:r>
            <a:endParaRPr lang="en-US" sz="1000" dirty="0"/>
          </a:p>
        </p:txBody>
      </p:sp>
      <p:sp>
        <p:nvSpPr>
          <p:cNvPr id="23" name="Shape 21"/>
          <p:cNvSpPr/>
          <p:nvPr/>
        </p:nvSpPr>
        <p:spPr>
          <a:xfrm>
            <a:off x="4773168" y="1700784"/>
            <a:ext cx="45720" cy="804672"/>
          </a:xfrm>
          <a:prstGeom prst="rect">
            <a:avLst/>
          </a:prstGeom>
          <a:solidFill>
            <a:srgbClr val="34D186"/>
          </a:solidFill>
          <a:ln/>
        </p:spPr>
      </p:sp>
      <p:sp>
        <p:nvSpPr>
          <p:cNvPr id="24" name="Text 22"/>
          <p:cNvSpPr/>
          <p:nvPr/>
        </p:nvSpPr>
        <p:spPr>
          <a:xfrm>
            <a:off x="4937760" y="1700784"/>
            <a:ext cx="3749040" cy="804672"/>
          </a:xfrm>
          <a:prstGeom prst="rect">
            <a:avLst/>
          </a:prstGeom>
          <a:noFill/>
          <a:ln/>
        </p:spPr>
        <p:txBody>
          <a:bodyPr wrap="square" rtlCol="0" anchor="ctr"/>
          <a:lstStyle/>
          <a:p>
            <a:pPr indent="0" marL="0">
              <a:buNone/>
            </a:pPr>
            <a:r>
              <a:rPr lang="en-US" sz="1050" dirty="0">
                <a:solidFill>
                  <a:srgbClr val="1F3328"/>
                </a:solidFill>
                <a:latin typeface="Calibri" pitchFamily="34" charset="0"/>
                <a:ea typeface="Calibri" pitchFamily="34" charset="-122"/>
                <a:cs typeface="Calibri" pitchFamily="34" charset="-120"/>
              </a:rPr>
              <a:t>-&gt; RideGuide zone alert trigger: trajectory x speed x distance x time. Same context-aware architecture, physical compliance instead of cart conversion.</a:t>
            </a:r>
            <a:endParaRPr lang="en-US" sz="1050" dirty="0"/>
          </a:p>
        </p:txBody>
      </p:sp>
      <p:sp>
        <p:nvSpPr>
          <p:cNvPr id="25" name="Shape 23"/>
          <p:cNvSpPr/>
          <p:nvPr/>
        </p:nvSpPr>
        <p:spPr>
          <a:xfrm>
            <a:off x="4773168" y="2633472"/>
            <a:ext cx="45720" cy="804672"/>
          </a:xfrm>
          <a:prstGeom prst="rect">
            <a:avLst/>
          </a:prstGeom>
          <a:solidFill>
            <a:srgbClr val="34D186"/>
          </a:solidFill>
          <a:ln/>
        </p:spPr>
      </p:sp>
      <p:sp>
        <p:nvSpPr>
          <p:cNvPr id="26" name="Text 24"/>
          <p:cNvSpPr/>
          <p:nvPr/>
        </p:nvSpPr>
        <p:spPr>
          <a:xfrm>
            <a:off x="4937760" y="2633472"/>
            <a:ext cx="3749040" cy="804672"/>
          </a:xfrm>
          <a:prstGeom prst="rect">
            <a:avLst/>
          </a:prstGeom>
          <a:noFill/>
          <a:ln/>
        </p:spPr>
        <p:txBody>
          <a:bodyPr wrap="square" rtlCol="0" anchor="ctr"/>
          <a:lstStyle/>
          <a:p>
            <a:pPr indent="0" marL="0">
              <a:buNone/>
            </a:pPr>
            <a:r>
              <a:rPr lang="en-US" sz="1050" dirty="0">
                <a:solidFill>
                  <a:srgbClr val="1F3328"/>
                </a:solidFill>
                <a:latin typeface="Calibri" pitchFamily="34" charset="0"/>
                <a:ea typeface="Calibri" pitchFamily="34" charset="-122"/>
                <a:cs typeface="Calibri" pitchFamily="34" charset="-120"/>
              </a:rPr>
              <a:t>-&gt; ZoneIQ trajectory ML: same per-user real-time scoring, applied to movement prediction instead of purchase propensity.</a:t>
            </a:r>
            <a:endParaRPr lang="en-US" sz="1050" dirty="0"/>
          </a:p>
        </p:txBody>
      </p:sp>
      <p:sp>
        <p:nvSpPr>
          <p:cNvPr id="27" name="Shape 25"/>
          <p:cNvSpPr/>
          <p:nvPr/>
        </p:nvSpPr>
        <p:spPr>
          <a:xfrm>
            <a:off x="4773168" y="3566160"/>
            <a:ext cx="45720" cy="804672"/>
          </a:xfrm>
          <a:prstGeom prst="rect">
            <a:avLst/>
          </a:prstGeom>
          <a:solidFill>
            <a:srgbClr val="34D186"/>
          </a:solidFill>
          <a:ln/>
        </p:spPr>
      </p:sp>
      <p:sp>
        <p:nvSpPr>
          <p:cNvPr id="28" name="Text 26"/>
          <p:cNvSpPr/>
          <p:nvPr/>
        </p:nvSpPr>
        <p:spPr>
          <a:xfrm>
            <a:off x="4937760" y="3566160"/>
            <a:ext cx="3749040" cy="804672"/>
          </a:xfrm>
          <a:prstGeom prst="rect">
            <a:avLst/>
          </a:prstGeom>
          <a:noFill/>
          <a:ln/>
        </p:spPr>
        <p:txBody>
          <a:bodyPr wrap="square" rtlCol="0" anchor="ctr"/>
          <a:lstStyle/>
          <a:p>
            <a:pPr indent="0" marL="0">
              <a:buNone/>
            </a:pPr>
            <a:r>
              <a:rPr lang="en-US" sz="1050" dirty="0">
                <a:solidFill>
                  <a:srgbClr val="1F3328"/>
                </a:solidFill>
                <a:latin typeface="Calibri" pitchFamily="34" charset="0"/>
                <a:ea typeface="Calibri" pitchFamily="34" charset="-122"/>
                <a:cs typeface="Calibri" pitchFamily="34" charset="-120"/>
              </a:rPr>
              <a:t>-&gt; RideGuide parking validator and selfie verification: complex rules made frictionless. Compliance UX as product craft.</a:t>
            </a:r>
            <a:endParaRPr lang="en-US" sz="1050" dirty="0"/>
          </a:p>
        </p:txBody>
      </p:sp>
      <p:sp>
        <p:nvSpPr>
          <p:cNvPr id="29" name="Shape 27"/>
          <p:cNvSpPr/>
          <p:nvPr/>
        </p:nvSpPr>
        <p:spPr>
          <a:xfrm>
            <a:off x="4773168" y="4498848"/>
            <a:ext cx="45720" cy="804672"/>
          </a:xfrm>
          <a:prstGeom prst="rect">
            <a:avLst/>
          </a:prstGeom>
          <a:solidFill>
            <a:srgbClr val="34D186"/>
          </a:solidFill>
          <a:ln/>
        </p:spPr>
      </p:sp>
      <p:sp>
        <p:nvSpPr>
          <p:cNvPr id="30" name="Text 28"/>
          <p:cNvSpPr/>
          <p:nvPr/>
        </p:nvSpPr>
        <p:spPr>
          <a:xfrm>
            <a:off x="4937760" y="4498848"/>
            <a:ext cx="3749040" cy="804672"/>
          </a:xfrm>
          <a:prstGeom prst="rect">
            <a:avLst/>
          </a:prstGeom>
          <a:noFill/>
          <a:ln/>
        </p:spPr>
        <p:txBody>
          <a:bodyPr wrap="square" rtlCol="0" anchor="ctr"/>
          <a:lstStyle/>
          <a:p>
            <a:pPr indent="0" marL="0">
              <a:buNone/>
            </a:pPr>
            <a:r>
              <a:rPr lang="en-US" sz="1050" dirty="0">
                <a:solidFill>
                  <a:srgbClr val="1F3328"/>
                </a:solidFill>
                <a:latin typeface="Calibri" pitchFamily="34" charset="0"/>
                <a:ea typeface="Calibri" pitchFamily="34" charset="-122"/>
                <a:cs typeface="Calibri" pitchFamily="34" charset="-120"/>
              </a:rPr>
              <a:t>-&gt; CityScore ops console (Case Study 3): same unified intelligence architecture, compliance data instead of ops workflows.</a:t>
            </a:r>
            <a:endParaRPr lang="en-US" sz="1050" dirty="0"/>
          </a:p>
        </p:txBody>
      </p:sp>
      <p:sp>
        <p:nvSpPr>
          <p:cNvPr id="31" name="Shape 29"/>
          <p:cNvSpPr/>
          <p:nvPr/>
        </p:nvSpPr>
        <p:spPr>
          <a:xfrm>
            <a:off x="320040" y="5577840"/>
            <a:ext cx="8503920" cy="1005840"/>
          </a:xfrm>
          <a:prstGeom prst="rect">
            <a:avLst/>
          </a:prstGeom>
          <a:solidFill>
            <a:srgbClr val="0D1A10"/>
          </a:solidFill>
          <a:ln w="19050">
            <a:solidFill>
              <a:srgbClr val="34D186"/>
            </a:solidFill>
            <a:prstDash val="solid"/>
          </a:ln>
        </p:spPr>
      </p:sp>
      <p:sp>
        <p:nvSpPr>
          <p:cNvPr id="32" name="Text 30"/>
          <p:cNvSpPr/>
          <p:nvPr/>
        </p:nvSpPr>
        <p:spPr>
          <a:xfrm>
            <a:off x="502920" y="5650992"/>
            <a:ext cx="8229600" cy="685800"/>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"Compliance is not a feature I bolt onto a product. It is a UX problem I design through. RideGuide is what that looks like when you take it seriously."</a:t>
            </a:r>
            <a:endParaRPr lang="en-US" sz="1200" dirty="0"/>
          </a:p>
        </p:txBody>
      </p:sp>
      <p:sp>
        <p:nvSpPr>
          <p:cNvPr id="33" name="Text 31"/>
          <p:cNvSpPr/>
          <p:nvPr/>
        </p:nvSpPr>
        <p:spPr>
          <a:xfrm>
            <a:off x="502920" y="6291072"/>
            <a:ext cx="8229600" cy="228600"/>
          </a:xfrm>
          <a:prstGeom prst="rect">
            <a:avLst/>
          </a:prstGeom>
          <a:noFill/>
          <a:ln/>
        </p:spPr>
        <p:txBody>
          <a:bodyPr wrap="square" rtlCol="0" anchor="ctr"/>
          <a:lstStyle/>
          <a:p>
            <a:pPr algn="ctr" indent="0" marL="0">
              <a:buNone/>
            </a:pPr>
            <a:r>
              <a:rPr lang="en-US" sz="1000" dirty="0">
                <a:solidFill>
                  <a:srgbClr val="687A70"/>
                </a:solidFill>
                <a:latin typeface="Calibri" pitchFamily="34" charset="0"/>
                <a:ea typeface="Calibri" pitchFamily="34" charset="-122"/>
                <a:cs typeface="Calibri" pitchFamily="34" charset="-120"/>
              </a:rPr>
              <a:t>- Ajay Avaghade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A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F59E0B"/>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F59E0B"/>
                </a:solidFill>
                <a:latin typeface="Calibri" pitchFamily="34" charset="0"/>
                <a:ea typeface="Calibri" pitchFamily="34" charset="-122"/>
                <a:cs typeface="Calibri" pitchFamily="34" charset="-120"/>
              </a:rPr>
              <a:t>ROLLOUT PLAN</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Three Phases — Warsaw Pilot to Global Compliance Platform</a:t>
            </a:r>
            <a:endParaRPr lang="en-US" sz="2300" dirty="0"/>
          </a:p>
        </p:txBody>
      </p:sp>
      <p:sp>
        <p:nvSpPr>
          <p:cNvPr id="5" name="Shape 3"/>
          <p:cNvSpPr/>
          <p:nvPr/>
        </p:nvSpPr>
        <p:spPr>
          <a:xfrm>
            <a:off x="320040" y="1280160"/>
            <a:ext cx="2743200" cy="4251960"/>
          </a:xfrm>
          <a:prstGeom prst="rect">
            <a:avLst/>
          </a:prstGeom>
          <a:solidFill>
            <a:srgbClr val="162815"/>
          </a:solidFill>
          <a:ln w="25400">
            <a:solidFill>
              <a:srgbClr val="34D186"/>
            </a:solidFill>
            <a:prstDash val="solid"/>
          </a:ln>
          <a:effectLst>
            <a:outerShdw sx="100000" sy="100000" kx="0" ky="0" algn="bl" rotWithShape="0" blurRad="50800" dist="25400" dir="2700000">
              <a:srgbClr val="000000">
                <a:alpha val="14000"/>
              </a:srgbClr>
            </a:outerShdw>
          </a:effectLst>
        </p:spPr>
      </p:sp>
      <p:sp>
        <p:nvSpPr>
          <p:cNvPr id="6" name="Shape 4"/>
          <p:cNvSpPr/>
          <p:nvPr/>
        </p:nvSpPr>
        <p:spPr>
          <a:xfrm>
            <a:off x="320040" y="1280160"/>
            <a:ext cx="2743200" cy="54864"/>
          </a:xfrm>
          <a:prstGeom prst="rect">
            <a:avLst/>
          </a:prstGeom>
          <a:solidFill>
            <a:srgbClr val="34D186"/>
          </a:solidFill>
          <a:ln/>
        </p:spPr>
      </p:sp>
      <p:sp>
        <p:nvSpPr>
          <p:cNvPr id="7" name="Text 5"/>
          <p:cNvSpPr/>
          <p:nvPr/>
        </p:nvSpPr>
        <p:spPr>
          <a:xfrm>
            <a:off x="45720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1</a:t>
            </a:r>
            <a:endParaRPr lang="en-US" sz="1800" dirty="0"/>
          </a:p>
        </p:txBody>
      </p:sp>
      <p:sp>
        <p:nvSpPr>
          <p:cNvPr id="8" name="Text 6"/>
          <p:cNvSpPr/>
          <p:nvPr/>
        </p:nvSpPr>
        <p:spPr>
          <a:xfrm>
            <a:off x="457200" y="1719072"/>
            <a:ext cx="2468880" cy="256032"/>
          </a:xfrm>
          <a:prstGeom prst="rect">
            <a:avLst/>
          </a:prstGeom>
          <a:noFill/>
          <a:ln/>
        </p:spPr>
        <p:txBody>
          <a:bodyPr wrap="square" rtlCol="0" anchor="ctr"/>
          <a:lstStyle/>
          <a:p>
            <a:pPr indent="0" marL="0">
              <a:buNone/>
            </a:pPr>
            <a:r>
              <a:rPr lang="en-US" sz="1100" b="1" dirty="0">
                <a:solidFill>
                  <a:srgbClr val="34D186"/>
                </a:solidFill>
                <a:latin typeface="Calibri" pitchFamily="34" charset="0"/>
                <a:ea typeface="Calibri" pitchFamily="34" charset="-122"/>
                <a:cs typeface="Calibri" pitchFamily="34" charset="-120"/>
              </a:rPr>
              <a:t>Month 1–2</a:t>
            </a:r>
            <a:endParaRPr lang="en-US" sz="1100" dirty="0"/>
          </a:p>
        </p:txBody>
      </p:sp>
      <p:sp>
        <p:nvSpPr>
          <p:cNvPr id="9" name="Text 7"/>
          <p:cNvSpPr/>
          <p:nvPr/>
        </p:nvSpPr>
        <p:spPr>
          <a:xfrm>
            <a:off x="457200" y="1956816"/>
            <a:ext cx="2468880" cy="256032"/>
          </a:xfrm>
          <a:prstGeom prst="rect">
            <a:avLst/>
          </a:prstGeom>
          <a:noFill/>
          <a:ln/>
        </p:spPr>
        <p:txBody>
          <a:bodyPr wrap="square" rtlCol="0" anchor="ctr"/>
          <a:lstStyle/>
          <a:p>
            <a:pPr indent="0" marL="0">
              <a:buNone/>
            </a:pPr>
            <a:r>
              <a:rPr lang="en-US" sz="1100" dirty="0">
                <a:solidFill>
                  <a:srgbClr val="687A70"/>
                </a:solidFill>
                <a:latin typeface="Calibri" pitchFamily="34" charset="0"/>
                <a:ea typeface="Calibri" pitchFamily="34" charset="-122"/>
                <a:cs typeface="Calibri" pitchFamily="34" charset="-120"/>
              </a:rPr>
              <a:t>Warsaw Pilot · 5K rides/day</a:t>
            </a:r>
            <a:endParaRPr lang="en-US" sz="1100" dirty="0"/>
          </a:p>
        </p:txBody>
      </p:sp>
      <p:sp>
        <p:nvSpPr>
          <p:cNvPr id="10" name="Shape 8"/>
          <p:cNvSpPr/>
          <p:nvPr/>
        </p:nvSpPr>
        <p:spPr>
          <a:xfrm>
            <a:off x="457200" y="2258568"/>
            <a:ext cx="2377440" cy="0"/>
          </a:xfrm>
          <a:prstGeom prst="line">
            <a:avLst/>
          </a:prstGeom>
          <a:noFill/>
          <a:ln w="10160">
            <a:solidFill>
              <a:srgbClr val="1E3422"/>
            </a:solidFill>
            <a:prstDash val="solid"/>
          </a:ln>
        </p:spPr>
      </p:sp>
      <p:sp>
        <p:nvSpPr>
          <p:cNvPr id="11" name="Text 9"/>
          <p:cNvSpPr/>
          <p:nvPr/>
        </p:nvSpPr>
        <p:spPr>
          <a:xfrm>
            <a:off x="45720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Deploy RideGuide soft deceleration + parking validator. A/B test vs hard geofence control (50/50 split). Measure: complaint rate, end-ride drop-off, compliance score delta. Selfie verification for all new onboarding.</a:t>
            </a:r>
            <a:endParaRPr lang="en-US" sz="1050" dirty="0"/>
          </a:p>
        </p:txBody>
      </p:sp>
      <p:sp>
        <p:nvSpPr>
          <p:cNvPr id="12" name="Shape 10"/>
          <p:cNvSpPr/>
          <p:nvPr/>
        </p:nvSpPr>
        <p:spPr>
          <a:xfrm>
            <a:off x="3246120" y="1280160"/>
            <a:ext cx="2743200" cy="4251960"/>
          </a:xfrm>
          <a:prstGeom prst="rect">
            <a:avLst/>
          </a:prstGeom>
          <a:solidFill>
            <a:srgbClr val="162815"/>
          </a:solidFill>
          <a:ln w="25400">
            <a:solidFill>
              <a:srgbClr val="F59E0B"/>
            </a:solidFill>
            <a:prstDash val="solid"/>
          </a:ln>
          <a:effectLst>
            <a:outerShdw sx="100000" sy="100000" kx="0" ky="0" algn="bl" rotWithShape="0" blurRad="50800" dist="25400" dir="2700000">
              <a:srgbClr val="000000">
                <a:alpha val="14000"/>
              </a:srgbClr>
            </a:outerShdw>
          </a:effectLst>
        </p:spPr>
      </p:sp>
      <p:sp>
        <p:nvSpPr>
          <p:cNvPr id="13" name="Shape 11"/>
          <p:cNvSpPr/>
          <p:nvPr/>
        </p:nvSpPr>
        <p:spPr>
          <a:xfrm>
            <a:off x="3246120" y="1280160"/>
            <a:ext cx="2743200" cy="54864"/>
          </a:xfrm>
          <a:prstGeom prst="rect">
            <a:avLst/>
          </a:prstGeom>
          <a:solidFill>
            <a:srgbClr val="F59E0B"/>
          </a:solidFill>
          <a:ln/>
        </p:spPr>
      </p:sp>
      <p:sp>
        <p:nvSpPr>
          <p:cNvPr id="14" name="Text 12"/>
          <p:cNvSpPr/>
          <p:nvPr/>
        </p:nvSpPr>
        <p:spPr>
          <a:xfrm>
            <a:off x="338328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2</a:t>
            </a:r>
            <a:endParaRPr lang="en-US" sz="1800" dirty="0"/>
          </a:p>
        </p:txBody>
      </p:sp>
      <p:sp>
        <p:nvSpPr>
          <p:cNvPr id="15" name="Text 13"/>
          <p:cNvSpPr/>
          <p:nvPr/>
        </p:nvSpPr>
        <p:spPr>
          <a:xfrm>
            <a:off x="3383280" y="1719072"/>
            <a:ext cx="246888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Month 3–4</a:t>
            </a:r>
            <a:endParaRPr lang="en-US" sz="1100" dirty="0"/>
          </a:p>
        </p:txBody>
      </p:sp>
      <p:sp>
        <p:nvSpPr>
          <p:cNvPr id="16" name="Text 14"/>
          <p:cNvSpPr/>
          <p:nvPr/>
        </p:nvSpPr>
        <p:spPr>
          <a:xfrm>
            <a:off x="3383280" y="1956816"/>
            <a:ext cx="2468880" cy="256032"/>
          </a:xfrm>
          <a:prstGeom prst="rect">
            <a:avLst/>
          </a:prstGeom>
          <a:noFill/>
          <a:ln/>
        </p:spPr>
        <p:txBody>
          <a:bodyPr wrap="square" rtlCol="0" anchor="ctr"/>
          <a:lstStyle/>
          <a:p>
            <a:pPr indent="0" marL="0">
              <a:buNone/>
            </a:pPr>
            <a:r>
              <a:rPr lang="en-US" sz="1100" dirty="0">
                <a:solidFill>
                  <a:srgbClr val="687A70"/>
                </a:solidFill>
                <a:latin typeface="Calibri" pitchFamily="34" charset="0"/>
                <a:ea typeface="Calibri" pitchFamily="34" charset="-122"/>
                <a:cs typeface="Calibri" pitchFamily="34" charset="-120"/>
              </a:rPr>
              <a:t>5 Cities · Europe</a:t>
            </a:r>
            <a:endParaRPr lang="en-US" sz="1100" dirty="0"/>
          </a:p>
        </p:txBody>
      </p:sp>
      <p:sp>
        <p:nvSpPr>
          <p:cNvPr id="17" name="Shape 15"/>
          <p:cNvSpPr/>
          <p:nvPr/>
        </p:nvSpPr>
        <p:spPr>
          <a:xfrm>
            <a:off x="3383280" y="2258568"/>
            <a:ext cx="2377440" cy="0"/>
          </a:xfrm>
          <a:prstGeom prst="line">
            <a:avLst/>
          </a:prstGeom>
          <a:noFill/>
          <a:ln w="10160">
            <a:solidFill>
              <a:srgbClr val="1E3422"/>
            </a:solidFill>
            <a:prstDash val="solid"/>
          </a:ln>
        </p:spPr>
      </p:sp>
      <p:sp>
        <p:nvSpPr>
          <p:cNvPr id="18" name="Text 16"/>
          <p:cNvSpPr/>
          <p:nvPr/>
        </p:nvSpPr>
        <p:spPr>
          <a:xfrm>
            <a:off x="338328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Roll out RideGuide to top 5 European cities. Tune jerk limit and confidence threshold per city via Zone Editor. Launch CityScore integration for compliance logging. Feed Warsaw A/B results into city configs.</a:t>
            </a:r>
            <a:endParaRPr lang="en-US" sz="1050" dirty="0"/>
          </a:p>
        </p:txBody>
      </p:sp>
      <p:sp>
        <p:nvSpPr>
          <p:cNvPr id="19" name="Shape 17"/>
          <p:cNvSpPr/>
          <p:nvPr/>
        </p:nvSpPr>
        <p:spPr>
          <a:xfrm>
            <a:off x="6172200" y="1280160"/>
            <a:ext cx="2743200" cy="4251960"/>
          </a:xfrm>
          <a:prstGeom prst="rect">
            <a:avLst/>
          </a:prstGeom>
          <a:solidFill>
            <a:srgbClr val="162815"/>
          </a:solidFill>
          <a:ln w="25400">
            <a:solidFill>
              <a:srgbClr val="34D186"/>
            </a:solidFill>
            <a:prstDash val="solid"/>
          </a:ln>
          <a:effectLst>
            <a:outerShdw sx="100000" sy="100000" kx="0" ky="0" algn="bl" rotWithShape="0" blurRad="50800" dist="25400" dir="2700000">
              <a:srgbClr val="000000">
                <a:alpha val="14000"/>
              </a:srgbClr>
            </a:outerShdw>
          </a:effectLst>
        </p:spPr>
      </p:sp>
      <p:sp>
        <p:nvSpPr>
          <p:cNvPr id="20" name="Shape 18"/>
          <p:cNvSpPr/>
          <p:nvPr/>
        </p:nvSpPr>
        <p:spPr>
          <a:xfrm>
            <a:off x="6172200" y="1280160"/>
            <a:ext cx="2743200" cy="54864"/>
          </a:xfrm>
          <a:prstGeom prst="rect">
            <a:avLst/>
          </a:prstGeom>
          <a:solidFill>
            <a:srgbClr val="34D186"/>
          </a:solidFill>
          <a:ln/>
        </p:spPr>
      </p:sp>
      <p:sp>
        <p:nvSpPr>
          <p:cNvPr id="21" name="Text 19"/>
          <p:cNvSpPr/>
          <p:nvPr/>
        </p:nvSpPr>
        <p:spPr>
          <a:xfrm>
            <a:off x="630936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3</a:t>
            </a:r>
            <a:endParaRPr lang="en-US" sz="1800" dirty="0"/>
          </a:p>
        </p:txBody>
      </p:sp>
      <p:sp>
        <p:nvSpPr>
          <p:cNvPr id="22" name="Text 20"/>
          <p:cNvSpPr/>
          <p:nvPr/>
        </p:nvSpPr>
        <p:spPr>
          <a:xfrm>
            <a:off x="6309360" y="1719072"/>
            <a:ext cx="2468880" cy="256032"/>
          </a:xfrm>
          <a:prstGeom prst="rect">
            <a:avLst/>
          </a:prstGeom>
          <a:noFill/>
          <a:ln/>
        </p:spPr>
        <p:txBody>
          <a:bodyPr wrap="square" rtlCol="0" anchor="ctr"/>
          <a:lstStyle/>
          <a:p>
            <a:pPr indent="0" marL="0">
              <a:buNone/>
            </a:pPr>
            <a:r>
              <a:rPr lang="en-US" sz="1100" b="1" dirty="0">
                <a:solidFill>
                  <a:srgbClr val="34D186"/>
                </a:solidFill>
                <a:latin typeface="Calibri" pitchFamily="34" charset="0"/>
                <a:ea typeface="Calibri" pitchFamily="34" charset="-122"/>
                <a:cs typeface="Calibri" pitchFamily="34" charset="-120"/>
              </a:rPr>
              <a:t>Month 5–6</a:t>
            </a:r>
            <a:endParaRPr lang="en-US" sz="1100" dirty="0"/>
          </a:p>
        </p:txBody>
      </p:sp>
      <p:sp>
        <p:nvSpPr>
          <p:cNvPr id="23" name="Text 21"/>
          <p:cNvSpPr/>
          <p:nvPr/>
        </p:nvSpPr>
        <p:spPr>
          <a:xfrm>
            <a:off x="6309360" y="1956816"/>
            <a:ext cx="2468880" cy="256032"/>
          </a:xfrm>
          <a:prstGeom prst="rect">
            <a:avLst/>
          </a:prstGeom>
          <a:noFill/>
          <a:ln/>
        </p:spPr>
        <p:txBody>
          <a:bodyPr wrap="square" rtlCol="0" anchor="ctr"/>
          <a:lstStyle/>
          <a:p>
            <a:pPr indent="0" marL="0">
              <a:buNone/>
            </a:pPr>
            <a:r>
              <a:rPr lang="en-US" sz="1100" dirty="0">
                <a:solidFill>
                  <a:srgbClr val="687A70"/>
                </a:solidFill>
                <a:latin typeface="Calibri" pitchFamily="34" charset="0"/>
                <a:ea typeface="Calibri" pitchFamily="34" charset="-122"/>
                <a:cs typeface="Calibri" pitchFamily="34" charset="-120"/>
              </a:rPr>
              <a:t>All Active Cities</a:t>
            </a:r>
            <a:endParaRPr lang="en-US" sz="1100" dirty="0"/>
          </a:p>
        </p:txBody>
      </p:sp>
      <p:sp>
        <p:nvSpPr>
          <p:cNvPr id="24" name="Shape 22"/>
          <p:cNvSpPr/>
          <p:nvPr/>
        </p:nvSpPr>
        <p:spPr>
          <a:xfrm>
            <a:off x="6309360" y="2258568"/>
            <a:ext cx="2377440" cy="0"/>
          </a:xfrm>
          <a:prstGeom prst="line">
            <a:avLst/>
          </a:prstGeom>
          <a:noFill/>
          <a:ln w="10160">
            <a:solidFill>
              <a:srgbClr val="1E3422"/>
            </a:solidFill>
            <a:prstDash val="solid"/>
          </a:ln>
        </p:spPr>
      </p:sp>
      <p:sp>
        <p:nvSpPr>
          <p:cNvPr id="25" name="Text 23"/>
          <p:cNvSpPr/>
          <p:nvPr/>
        </p:nvSpPr>
        <p:spPr>
          <a:xfrm>
            <a:off x="630936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RideGuide becomes the default compliance layer for all cities. LaunchKit auto-configures RideGuide parameters at city launch. CityScore tender exports enabled for all cities. Compliance UX = platform standard.</a:t>
            </a:r>
            <a:endParaRPr lang="en-US" sz="1050" dirty="0"/>
          </a:p>
        </p:txBody>
      </p:sp>
      <p:sp>
        <p:nvSpPr>
          <p:cNvPr id="26" name="Shape 24"/>
          <p:cNvSpPr/>
          <p:nvPr/>
        </p:nvSpPr>
        <p:spPr>
          <a:xfrm>
            <a:off x="320040" y="5669280"/>
            <a:ext cx="8503920" cy="822960"/>
          </a:xfrm>
          <a:prstGeom prst="rect">
            <a:avLst/>
          </a:prstGeom>
          <a:solidFill>
            <a:srgbClr val="1F1200"/>
          </a:solidFill>
          <a:ln w="19050">
            <a:solidFill>
              <a:srgbClr val="F59E0B"/>
            </a:solidFill>
            <a:prstDash val="solid"/>
          </a:ln>
        </p:spPr>
      </p:sp>
      <p:sp>
        <p:nvSpPr>
          <p:cNvPr id="27" name="Text 25"/>
          <p:cNvSpPr/>
          <p:nvPr/>
        </p:nvSpPr>
        <p:spPr>
          <a:xfrm>
            <a:off x="502920" y="5733288"/>
            <a:ext cx="274320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What I need to ship Phase 1:</a:t>
            </a:r>
            <a:endParaRPr lang="en-US" sz="1100" dirty="0"/>
          </a:p>
        </p:txBody>
      </p:sp>
      <p:sp>
        <p:nvSpPr>
          <p:cNvPr id="28" name="Text 26"/>
          <p:cNvSpPr/>
          <p:nvPr/>
        </p:nvSpPr>
        <p:spPr>
          <a:xfrm>
            <a:off x="502920" y="5989320"/>
            <a:ext cx="822960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Warsaw ride telemetry access (GPS + speed log)  x  1 mobile engineer (decel curve + validator UI)  x  Alignment with compliance team on thresholds</a:t>
            </a:r>
            <a:endParaRPr lang="en-US" sz="1000" dirty="0"/>
          </a:p>
        </p:txBody>
      </p:sp>
      <p:sp>
        <p:nvSpPr>
          <p:cNvPr id="29" name="Text 27"/>
          <p:cNvSpPr/>
          <p:nvPr/>
        </p:nvSpPr>
        <p:spPr>
          <a:xfrm>
            <a:off x="320040" y="6583680"/>
            <a:ext cx="8503920" cy="201168"/>
          </a:xfrm>
          <a:prstGeom prst="rect">
            <a:avLst/>
          </a:prstGeom>
          <a:noFill/>
          <a:ln/>
        </p:spPr>
        <p:txBody>
          <a:bodyPr wrap="square" rtlCol="0" anchor="ctr"/>
          <a:lstStyle/>
          <a:p>
            <a:pPr algn="ctr" indent="0" marL="0">
              <a:buNone/>
            </a:pPr>
            <a:r>
              <a:rPr lang="en-US" sz="850" dirty="0">
                <a:solidFill>
                  <a:srgbClr val="687A70"/>
                </a:solidFill>
                <a:latin typeface="Calibri" pitchFamily="34" charset="0"/>
                <a:ea typeface="Calibri" pitchFamily="34" charset="-122"/>
                <a:cs typeface="Calibri" pitchFamily="34" charset="-120"/>
              </a:rPr>
              <a:t>Ajay Avaghade  |  avaghadeajay009@gmail.com  |  +91 9561558439  |  linkedin.com/in/ajay-avaghade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2026-05-29T14:24:46Z</dcterms:created>
  <dcterms:modified xsi:type="dcterms:W3CDTF">2026-05-29T14:24:46Z</dcterms:modified>
</cp:coreProperties>
</file>