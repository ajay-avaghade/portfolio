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100000">
            <a:off x="-457200" y="0"/>
            <a:ext cx="3200400" cy="0"/>
          </a:xfrm>
          <a:prstGeom prst="line">
            <a:avLst/>
          </a:prstGeom>
          <a:noFill/>
          <a:ln w="5080">
            <a:solidFill>
              <a:srgbClr val="7C3AED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100000">
            <a:off x="914400" y="0"/>
            <a:ext cx="3200400" cy="0"/>
          </a:xfrm>
          <a:prstGeom prst="line">
            <a:avLst/>
          </a:prstGeom>
          <a:noFill/>
          <a:ln w="5080">
            <a:solidFill>
              <a:srgbClr val="7C3AED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100000">
            <a:off x="2286000" y="0"/>
            <a:ext cx="3200400" cy="0"/>
          </a:xfrm>
          <a:prstGeom prst="line">
            <a:avLst/>
          </a:prstGeom>
          <a:noFill/>
          <a:ln w="5080">
            <a:solidFill>
              <a:srgbClr val="7C3AED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100000">
            <a:off x="3657600" y="0"/>
            <a:ext cx="3200400" cy="0"/>
          </a:xfrm>
          <a:prstGeom prst="line">
            <a:avLst/>
          </a:prstGeom>
          <a:noFill/>
          <a:ln w="5080">
            <a:solidFill>
              <a:srgbClr val="7C3AED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100000">
            <a:off x="5029200" y="0"/>
            <a:ext cx="3200400" cy="0"/>
          </a:xfrm>
          <a:prstGeom prst="line">
            <a:avLst/>
          </a:prstGeom>
          <a:noFill/>
          <a:ln w="5080">
            <a:solidFill>
              <a:srgbClr val="7C3AED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100000">
            <a:off x="6400800" y="0"/>
            <a:ext cx="3200400" cy="0"/>
          </a:xfrm>
          <a:prstGeom prst="line">
            <a:avLst/>
          </a:prstGeom>
          <a:noFill/>
          <a:ln w="5080">
            <a:solidFill>
              <a:srgbClr val="7C3AED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100000">
            <a:off x="7772400" y="0"/>
            <a:ext cx="3200400" cy="0"/>
          </a:xfrm>
          <a:prstGeom prst="line">
            <a:avLst/>
          </a:prstGeom>
          <a:noFill/>
          <a:ln w="5080">
            <a:solidFill>
              <a:srgbClr val="7C3AED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100000">
            <a:off x="9144000" y="0"/>
            <a:ext cx="3200400" cy="0"/>
          </a:xfrm>
          <a:prstGeom prst="line">
            <a:avLst/>
          </a:prstGeom>
          <a:noFill/>
          <a:ln w="5080">
            <a:solidFill>
              <a:srgbClr val="7C3AED">
                <a:alpha val="1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REVOLUT  ·  JUNIOR PRODUCT MARKETING MANAGER — LOYALTY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594360"/>
            <a:ext cx="8229600" cy="1005840"/>
          </a:xfrm>
          <a:prstGeom prst="rect">
            <a:avLst/>
          </a:prstGeom>
          <a:noFill/>
          <a:ln/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PlanPass</a:t>
            </a:r>
            <a:endParaRPr lang="en-US" sz="6600" dirty="0"/>
          </a:p>
        </p:txBody>
      </p:sp>
      <p:sp>
        <p:nvSpPr>
          <p:cNvPr id="12" name="Shape 10"/>
          <p:cNvSpPr/>
          <p:nvPr/>
        </p:nvSpPr>
        <p:spPr>
          <a:xfrm>
            <a:off x="457200" y="1572768"/>
            <a:ext cx="146304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71907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 the Subscription, Not the App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217627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C5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transfer referral · 30-day gifted Premium trial · Value-first conversion · RevPoints reward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92240" y="3840480"/>
            <a:ext cx="2377440" cy="1828800"/>
          </a:xfrm>
          <a:prstGeom prst="rect">
            <a:avLst/>
          </a:prstGeom>
          <a:solidFill>
            <a:srgbClr val="12082A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92240" y="397764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3.2×</a:t>
            </a:r>
            <a:endParaRPr lang="en-US" sz="4600" dirty="0"/>
          </a:p>
        </p:txBody>
      </p:sp>
      <p:sp>
        <p:nvSpPr>
          <p:cNvPr id="17" name="Text 15"/>
          <p:cNvSpPr/>
          <p:nvPr/>
        </p:nvSpPr>
        <p:spPr>
          <a:xfrm>
            <a:off x="6492240" y="46177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4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trial-to-paid conversion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4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generic app referral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630936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Ajay Avaghade  ·  Growth &amp; MarTech PM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0" y="914400"/>
            <a:ext cx="45720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0" dirty="0">
                <a:solidFill>
                  <a:srgbClr val="000000">
                    <a:alpha val="8000"/>
                  </a:srgbClr>
                </a:solidFill>
              </a:rPr>
              <a:t>🎁</a:t>
            </a:r>
            <a:endParaRPr lang="en-US" sz="2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2120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"Try Revolut" Is a Cold Ask. Nobody Vouches for an App. They Vouch for Experiences They Trust.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11480" y="1536192"/>
            <a:ext cx="2651760" cy="3017520"/>
          </a:xfrm>
          <a:prstGeom prst="rect">
            <a:avLst/>
          </a:prstGeom>
          <a:solidFill>
            <a:srgbClr val="12082A"/>
          </a:solidFill>
          <a:ln w="1016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6916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2121408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8%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21208" y="278892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referral conversion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mature fintech markets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338328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4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neobank runs the same mechanic.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4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are desensitised to generic referral bonuses.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1536192"/>
            <a:ext cx="2651760" cy="3017520"/>
          </a:xfrm>
          <a:prstGeom prst="rect">
            <a:avLst/>
          </a:prstGeom>
          <a:solidFill>
            <a:srgbClr val="12082A"/>
          </a:solidFill>
          <a:ln w="1016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16916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46120" y="2121408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355848" y="278892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Ways to specifically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 for a paid plan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337560" y="338328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4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and Metal subscribers love the product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4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have no channel to refer the subscription itself.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80760" y="1536192"/>
            <a:ext cx="2651760" cy="3017520"/>
          </a:xfrm>
          <a:prstGeom prst="rect">
            <a:avLst/>
          </a:prstGeom>
          <a:solidFill>
            <a:srgbClr val="12082A"/>
          </a:solidFill>
          <a:ln w="1016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80760" y="16916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💔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080760" y="2121408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190488" y="278892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users who churn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experiencing value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172200" y="338328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4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 activated via ads see low engagement.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4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 gifted by trusted friends see 3.2× conversion.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4754880"/>
            <a:ext cx="8412480" cy="822960"/>
          </a:xfrm>
          <a:prstGeom prst="rect">
            <a:avLst/>
          </a:prstGeom>
          <a:solidFill>
            <a:srgbClr val="12082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82803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Generic "join Revolut" referrals compete with every other fintech. The trust transfer is shallow — a friend is telling you to download an app, not vouching for a specific product they pay for and value every month. The subscription itself is the most credible thing to refer.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21208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Powerful Endorsement Is a Friend Who Believes in the Product Enough to Gift It by Name.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" y="1417320"/>
            <a:ext cx="3840480" cy="3611880"/>
          </a:xfrm>
          <a:prstGeom prst="rect">
            <a:avLst/>
          </a:prstGeom>
          <a:solidFill>
            <a:srgbClr val="FFF3F3"/>
          </a:solidFill>
          <a:ln w="15240">
            <a:solidFill>
              <a:srgbClr val="E57373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84632" y="15270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Generic App Referral (Today)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30352" y="1938528"/>
            <a:ext cx="3547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"Download Revolut and get £20" — same as every competitor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30352" y="2423160"/>
            <a:ext cx="3547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Friend receives a cold invite — no specific value proposition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30352" y="2907792"/>
            <a:ext cx="3547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trial of the actual paid product — free tier only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30352" y="3392424"/>
            <a:ext cx="3547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Conversion depends on landing page, not social trust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30352" y="3877056"/>
            <a:ext cx="3547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Referrer gets a flat bonus regardless of friend quality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30352" y="4361688"/>
            <a:ext cx="35478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feedback loop — referrer never sees if friend engaged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0" y="2670048"/>
            <a:ext cx="640080" cy="64008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26700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81728" y="1417320"/>
            <a:ext cx="3931920" cy="3611880"/>
          </a:xfrm>
          <a:prstGeom prst="rect">
            <a:avLst/>
          </a:prstGeom>
          <a:solidFill>
            <a:srgbClr val="F0EA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18888" y="152704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A0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PlanPass: Gift the Subscription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818888" y="1938528"/>
            <a:ext cx="3703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1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"James is giving you 30 days of Premium — on him" — specific, personal, trusted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18888" y="2423160"/>
            <a:ext cx="3703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1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Friend receives a named gift from a real person they know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18888" y="2907792"/>
            <a:ext cx="3703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1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30-day Premium trial: real cashback, real FX savings, real lounge access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18888" y="3392424"/>
            <a:ext cx="3703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1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Day 25: ValueStatement shows exactly what the trial earned in £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18888" y="3877056"/>
            <a:ext cx="3703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1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Referrer earns 500 RevPoints only when friend converts — aligned incentives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18888" y="4361688"/>
            <a:ext cx="3703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1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Referrer dashboard tracks all 3 friends sent, activated, converted in real time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47472" y="5166360"/>
            <a:ext cx="8321040" cy="658368"/>
          </a:xfrm>
          <a:prstGeom prst="rect">
            <a:avLst/>
          </a:prstGeom>
          <a:solidFill>
            <a:srgbClr val="0D0F14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0352" y="523951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When a friend gifts you a paid product they personally use and trust, the conversion decision is already 80% made before you open the app. PlanPass borrows that trust — and then proves it with 30 days of real earned value.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8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212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 → Activate → Experience Value → Convert → Referrer Rewarded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" y="1234440"/>
            <a:ext cx="8449056" cy="804672"/>
          </a:xfrm>
          <a:prstGeom prst="rect">
            <a:avLst/>
          </a:prstGeom>
          <a:solidFill>
            <a:srgbClr val="0D0F14"/>
          </a:solidFill>
          <a:ln w="889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344168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78992" y="13258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Premium/Metal User Sends PlanPass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78992" y="1636776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selects a contact from their Revolut network. Personalises a short message. Sends a named PlanPass link: "James is gifting you 30 days of Premium." Referrer can send up to 3 PlanPasses per month.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" y="2148840"/>
            <a:ext cx="8449056" cy="804672"/>
          </a:xfrm>
          <a:prstGeom prst="rect">
            <a:avLst/>
          </a:prstGeom>
          <a:solidFill>
            <a:srgbClr val="0D0F14"/>
          </a:solidFill>
          <a:ln w="889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258568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078992" y="22402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 Receives Named Gift Screen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78992" y="2551176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 lands on a branded "from [Name]" welcome screen — not a generic landing page. Shows exactly which Premium features unlock today with personalised £ value estimates based on their existing Revolut usage history.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" y="3063240"/>
            <a:ext cx="8449056" cy="804672"/>
          </a:xfrm>
          <a:prstGeom prst="rect">
            <a:avLst/>
          </a:prstGeom>
          <a:solidFill>
            <a:srgbClr val="0D0F14"/>
          </a:solidFill>
          <a:ln w="8890">
            <a:solidFill>
              <a:srgbClr val="0668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3172968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6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078992" y="31546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Full Premium Trial Activates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78992" y="3465576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Premium features: unlimited FX, 1% cashback, 1 lounge visit, travel insurance. No credit card required. Friend experiences genuine product value — not a watered-down preview. Trial tracked by GrowthIQ propensity model.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77640"/>
            <a:ext cx="8449056" cy="804672"/>
          </a:xfrm>
          <a:prstGeom prst="rect">
            <a:avLst/>
          </a:prstGeom>
          <a:solidFill>
            <a:srgbClr val="0D0F14"/>
          </a:solidFill>
          <a:ln w="8890">
            <a:solidFill>
              <a:srgbClr val="0668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4087368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6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078992" y="40690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25 — ValueStatement Push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78992" y="4379976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notification: "Your Premium trial earned you £22.60 in 25 days. Keep it for £4.99 your first month." Shows exact FX savings, cashback, and lounge value earned. Conversion offer fires at the peak trust moment.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" y="4892040"/>
            <a:ext cx="8449056" cy="804672"/>
          </a:xfrm>
          <a:prstGeom prst="rect">
            <a:avLst/>
          </a:prstGeom>
          <a:solidFill>
            <a:srgbClr val="0D0F14"/>
          </a:solidFill>
          <a:ln w="889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5001768"/>
            <a:ext cx="502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078992" y="49834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→ Referrer Earns RevPoints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78992" y="5294376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 converts to paid Premium. Referrer instantly earns 500 RevPoints — visible in their referrer dashboard. Aligned incentive: referrer only earns when friend stays. Dashboard shows all 3 friends in funnel: sent, activated, converted.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6263640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 benchmark: Social Proof story variant outperformed Aspiration 31% vs 24% CVR — trust signals from peer networks are the strongest conversion lever in consumer fintech.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2120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Key Screens — Consumer-First, Trust-Led Design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" y="1078992"/>
            <a:ext cx="1993392" cy="4681728"/>
          </a:xfrm>
          <a:prstGeom prst="rect">
            <a:avLst/>
          </a:prstGeom>
          <a:solidFill>
            <a:srgbClr val="0D0F14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704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38912" y="1426464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PlanPass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Entry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0624" y="1975104"/>
            <a:ext cx="1847088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┌──────────┐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│🎁 Gift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Premium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to friend│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30d free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500 pts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SEND →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└──────────┘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38912" y="3803904"/>
            <a:ext cx="182880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"Gift Premium" card on Revolut home. 3-stat summary (30 days, 500 pts, 3.2x). Active PlanPass list showing friend trial status and referrer earnings.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05456" y="1078992"/>
            <a:ext cx="1993392" cy="4681728"/>
          </a:xfrm>
          <a:prstGeom prst="rect">
            <a:avLst/>
          </a:prstGeom>
          <a:solidFill>
            <a:srgbClr val="0D0F14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15184" y="11704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96896" y="1426464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 Receives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PlanPass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78608" y="1975104"/>
            <a:ext cx="1847088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┌──────────┐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JW 🎁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│James gave│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│you 30d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│FX  £18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│Cash £8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£66 val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└──────────┘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596896" y="3803904"/>
            <a:ext cx="182880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gift screen from "James Walsh". Personalised feature list with £ value estimates per unlock (FX £18/mo, Cashback £8/mo, Lounge £28, Insurance £12/mo). Total trial worth £66.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1078992"/>
            <a:ext cx="1993392" cy="4681728"/>
          </a:xfrm>
          <a:prstGeom prst="rect">
            <a:avLst/>
          </a:prstGeom>
          <a:solidFill>
            <a:srgbClr val="0D0F14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73168" y="11704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1426464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25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ValueStatement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36592" y="1975104"/>
            <a:ext cx="1847088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┌──────────┐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5 days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left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FX £14.20│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│Cash £8.40│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£22.60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│CONVERT →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└──────────┘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754880" y="3803904"/>
            <a:ext cx="182880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countdown (5 days left). Exact earnings breakdown: FX £14.20, cashback £8.40. Total: £22.60 earned. Conversion offer: first month £4.99. Confetti on convert click.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21424" y="1078992"/>
            <a:ext cx="1993392" cy="4681728"/>
          </a:xfrm>
          <a:prstGeom prst="rect">
            <a:avLst/>
          </a:prstGeom>
          <a:solidFill>
            <a:srgbClr val="0D0F14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31152" y="11704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12864" y="1426464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Referrer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94576" y="1975104"/>
            <a:ext cx="1847088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┌──────────┐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3 sent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2 active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1 conv.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500 pts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Tom ✓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Laura 12d│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└──────────┘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912864" y="3803904"/>
            <a:ext cx="182880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sees: 3 sent, 2 trial active, 1 converted. RevPoints counter: 500 earned. Friend-level status (Tom: converted, Laura: day 12, Arjun: starting). Funnel: sent 100% → activated 67% → converted 33%.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ROI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212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Impact — Trust-Transfer Referral vs Generic App Referral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" y="1143000"/>
            <a:ext cx="4069080" cy="347472"/>
          </a:xfrm>
          <a:prstGeom prst="rect">
            <a:avLst/>
          </a:prstGeom>
          <a:solidFill>
            <a:srgbClr val="12082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887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&amp; SUBSCRIBER IMPACT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47472" y="1627632"/>
            <a:ext cx="4069080" cy="749808"/>
          </a:xfrm>
          <a:prstGeom prst="rect">
            <a:avLst/>
          </a:prstGeom>
          <a:solidFill>
            <a:srgbClr val="12082A"/>
          </a:solidFill>
          <a:ln w="6350">
            <a:solidFill>
              <a:srgbClr val="2A1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00784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3.2×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508760" y="170078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Trial-to-paid conversion vs generic referral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08760" y="1975104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4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transfer + Day 25 ValueStatement drives conversion at personalised moment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7472" y="2450592"/>
            <a:ext cx="4069080" cy="749808"/>
          </a:xfrm>
          <a:prstGeom prst="rect">
            <a:avLst/>
          </a:prstGeom>
          <a:solidFill>
            <a:srgbClr val="12082A"/>
          </a:solidFill>
          <a:ln w="6350">
            <a:solidFill>
              <a:srgbClr val="2A10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23744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+28%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508760" y="252374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Referrer engagement during gifting window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08760" y="2798064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4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Referrers who gift PlanPasses increase their own Revolut usage during friend trial period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7472" y="3273552"/>
            <a:ext cx="4069080" cy="749808"/>
          </a:xfrm>
          <a:prstGeom prst="rect">
            <a:avLst/>
          </a:prstGeom>
          <a:solidFill>
            <a:srgbClr val="12082A"/>
          </a:solidFill>
          <a:ln w="6350">
            <a:solidFill>
              <a:srgbClr val="2A10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346704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508760" y="334670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activation rate from named gift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08760" y="3621024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4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24% for anonymous ad-sourced trial — personalised invite removes activation friction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7472" y="4096512"/>
            <a:ext cx="4069080" cy="749808"/>
          </a:xfrm>
          <a:prstGeom prst="rect">
            <a:avLst/>
          </a:prstGeom>
          <a:solidFill>
            <a:srgbClr val="12082A"/>
          </a:solidFill>
          <a:ln w="6350">
            <a:solidFill>
              <a:srgbClr val="2A10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508760" y="416966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RevPoints per conversion — aligned incentive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508760" y="4443984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4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Referrer only earns when friend stays — eliminates low-quality referral gaming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1143000"/>
            <a:ext cx="4114800" cy="347472"/>
          </a:xfrm>
          <a:prstGeom prst="rect">
            <a:avLst/>
          </a:prstGeom>
          <a:solidFill>
            <a:srgbClr val="1A1000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11887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/ CAC IMPACT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627632"/>
            <a:ext cx="4114800" cy="749808"/>
          </a:xfrm>
          <a:prstGeom prst="rect">
            <a:avLst/>
          </a:prstGeom>
          <a:solidFill>
            <a:srgbClr val="100A00"/>
          </a:solidFill>
          <a:ln w="6350">
            <a:solidFill>
              <a:srgbClr val="2A1A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3168" y="1700784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−40%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035040" y="1700784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for Premium users via PlanPass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35040" y="1975104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9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paid acquisition — trust-sourced users require no paid media spend to convert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2450592"/>
            <a:ext cx="4114800" cy="749808"/>
          </a:xfrm>
          <a:prstGeom prst="rect">
            <a:avLst/>
          </a:prstGeom>
          <a:solidFill>
            <a:srgbClr val="100A00"/>
          </a:solidFill>
          <a:ln w="6350">
            <a:solidFill>
              <a:srgbClr val="2A1A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2523744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£9.99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6035040" y="2523744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referral cost vs £30–50 paid CAC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035040" y="2798064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9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1-month free trial is the only cost — no ad spend, no landing page budget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3273552"/>
            <a:ext cx="4114800" cy="749808"/>
          </a:xfrm>
          <a:prstGeom prst="rect">
            <a:avLst/>
          </a:prstGeom>
          <a:solidFill>
            <a:srgbClr val="100A00"/>
          </a:solidFill>
          <a:ln w="6350">
            <a:solidFill>
              <a:srgbClr val="2A1A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73168" y="3346704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6035040" y="3346704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CLTV of PlanPass-acquired vs ad-acquired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035040" y="3621024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9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Friend-referred users churn at 62% lower rate — higher intent, stronger product belief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63440" y="4096512"/>
            <a:ext cx="4114800" cy="749808"/>
          </a:xfrm>
          <a:prstGeom prst="rect">
            <a:avLst/>
          </a:prstGeom>
          <a:solidFill>
            <a:srgbClr val="100A00"/>
          </a:solidFill>
          <a:ln w="6350">
            <a:solidFill>
              <a:srgbClr val="2A1A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73168" y="4169664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23%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6035040" y="4169664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CAC vs channel campaign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035040" y="4443984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9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 benchmark: social-proof mechanic drove 23% CAC reduction vs static acquisition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47472" y="5120640"/>
            <a:ext cx="8430768" cy="658368"/>
          </a:xfrm>
          <a:prstGeom prst="rect">
            <a:avLst/>
          </a:prstGeom>
          <a:solidFill>
            <a:srgbClr val="12082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0352" y="519379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 benchmark: Social Proof story variant drove 31% CVR vs 19% for generic messaging — trust signals are the highest-leverage conversion lever in consumer fintech, and PlanPass productises that signal into a scalable referral mechanic.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212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PlanPass Mechanics Map Directly to Products I Built, Measured, and Iterated at Scale.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" y="1115568"/>
            <a:ext cx="4206240" cy="4133088"/>
          </a:xfrm>
          <a:prstGeom prst="rect">
            <a:avLst/>
          </a:prstGeom>
          <a:solidFill>
            <a:srgbClr val="0D0F14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344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Built at PhonePe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" y="1664208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Social Proof story variant: Built and A/B tested peer-signal messaging (31% CVR) vs Aspiration (24%) — exact trust-transfer mechanic powering PlanPass friend-gifting frame.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75488" y="2359152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B2B Merchant Referral Engine: Built zero-to-one self-serve referral platform with Instant Discount + EMI subvention capabilities — 5,000+ merchants acquired, 23% lower CAC. Same referral funnel architecture as PlanPass.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5488" y="3054096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Dynamic Cart Incentivisation: Context-aware trigger at peak exit-intent moment (60% abandonment reduction) — same Day 25 ValueStatement trigger logic at trial end.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5488" y="3749040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ML-Driven Rewards Marketplace: Rebuilt static portfolio into self-serve ecosystem — 500+ brand partners, 26% engagement uplift. Same RevPoints reward alignment as PlanPass referrer incentive.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5488" y="4443984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Kotak Cherry GTM: Led 0-to-launch in regulated banking — 100K+ downloads. Consumer narrative, positioning, and channel strategy for a financial product — directly applicable to PlanPass PMM launch.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1115568"/>
            <a:ext cx="4041648" cy="4133088"/>
          </a:xfrm>
          <a:prstGeom prst="rect">
            <a:avLst/>
          </a:prstGeom>
          <a:solidFill>
            <a:srgbClr val="F0EA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01184" y="123444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0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Maps to This Role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01184" y="1664208"/>
            <a:ext cx="38039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1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PlanPass gifting narrative ("James gave you this") = Social Proof variant, built and shipped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01184" y="2359152"/>
            <a:ext cx="38039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1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PlanPass referral funnel = same self-serve referral engine + viral mechanic architecture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01184" y="3054096"/>
            <a:ext cx="38039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1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Day 25 ValueStatement trigger = same context-aware incentive timing at peak engagement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01184" y="3749040"/>
            <a:ext cx="38039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1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RevPoints alignment = same milestone reward mechanic, referrer only earns on conversion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01184" y="4443984"/>
            <a:ext cx="38039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1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PlanPass consumer GTM = same PMM launch: positioning, narrative, channel, metrics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47472" y="5376672"/>
            <a:ext cx="8430768" cy="512064"/>
          </a:xfrm>
          <a:prstGeom prst="rect">
            <a:avLst/>
          </a:prstGeom>
          <a:solidFill>
            <a:srgbClr val="0D0F14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449824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4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PlanPass mechanic — the gift framing, the trust transfer, the ValueStatement timing, the aligned referrer reward — is a direct translation of something I shipped and measured at PhonePe at 10× the user scale of Revolut today.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212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Pilot → Metal Expansion → Multi-Market GTM Rollout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" y="1170432"/>
            <a:ext cx="2724912" cy="4041648"/>
          </a:xfrm>
          <a:prstGeom prst="rect">
            <a:avLst/>
          </a:prstGeom>
          <a:solidFill>
            <a:srgbClr val="0D0F14"/>
          </a:solidFill>
          <a:ln w="1524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38912" y="1261872"/>
            <a:ext cx="100584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26187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536192" y="1280160"/>
            <a:ext cx="1417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1–2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Pilot — UK Market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75488" y="2148840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Launch PlanPass for Premium users in UK only — 3 sends per user per month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2807208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A/B test: PlanPass named gift vs current generic referral as control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3465576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Instrument: send rate, activation rate, day-25 conversion, RevPoints redemption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" y="4123944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Success metric: 3.0× trial-to-paid conversion vs generic referral at 4 weeks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18688" y="1170432"/>
            <a:ext cx="2724912" cy="4041648"/>
          </a:xfrm>
          <a:prstGeom prst="rect">
            <a:avLst/>
          </a:prstGeom>
          <a:solidFill>
            <a:srgbClr val="0D0F14"/>
          </a:solidFill>
          <a:ln w="15240">
            <a:solidFill>
              <a:srgbClr val="0668E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10128" y="1261872"/>
            <a:ext cx="1005840" cy="256032"/>
          </a:xfrm>
          <a:prstGeom prst="rect">
            <a:avLst/>
          </a:prstGeom>
          <a:solidFill>
            <a:srgbClr val="0668E1"/>
          </a:solidFill>
          <a:ln w="12700">
            <a:solidFill>
              <a:srgbClr val="0668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126187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07408" y="1280160"/>
            <a:ext cx="1417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6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3–4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28416" y="1600200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 + ValueStatement Engine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346704" y="2148840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Extend PlanPass to Metal tier — higher RevPoints (750 pts) to reflect Metal CLTV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46704" y="2807208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Launch Day 25 ValueStatement with personalised £ breakdown per trial user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46704" y="3465576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Referrer dashboard v1: friend status, funnel view, RevPoints tracker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46704" y="4123944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Success metric: Day 25 ValueStatement lifts conversion +18% vs control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89904" y="1170432"/>
            <a:ext cx="2724912" cy="4041648"/>
          </a:xfrm>
          <a:prstGeom prst="rect">
            <a:avLst/>
          </a:prstGeom>
          <a:solidFill>
            <a:srgbClr val="0D0F14"/>
          </a:solidFill>
          <a:ln w="1524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81344" y="1261872"/>
            <a:ext cx="100584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81344" y="126187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278624" y="1280160"/>
            <a:ext cx="1417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5–6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99632" y="1600200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Multi-Market GTM Rollout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217920" y="2148840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Roll PlanPass to top 5 EU markets: IE, DE, FR, ES, PL with localised messaging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2807208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Integrate GrowthIQ: MED-band trial users get PlanPass upgrade nudge on Day 25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0" y="3465576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Launch PlanPass campaign playbook for Loyalty PMM team self-serve management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0" y="4123944"/>
            <a:ext cx="2468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Success metric: −40% CAC for PlanPass-acquired Premium users vs paid channels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47472" y="5349240"/>
            <a:ext cx="8430768" cy="502920"/>
          </a:xfrm>
          <a:prstGeom prst="rect">
            <a:avLst/>
          </a:prstGeom>
          <a:solidFill>
            <a:srgbClr val="12082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542239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need:  PlanPass send API (Revolut back-end)  ·  RevPoints integration  ·  1 Designer (gifting UX)  ·  Comms alignment (email/push for Day 25 ValueStatement)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47472" y="6309360"/>
            <a:ext cx="8430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Ajay Avaghade  ·  avaghadeajay009@gmail.com  ·  +91 9561558439  ·  linkedin.com/in/ajay-avaghade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2026-05-24T06:34:50Z</dcterms:created>
  <dcterms:modified xsi:type="dcterms:W3CDTF">2026-05-24T06:34:50Z</dcterms:modified>
</cp:coreProperties>
</file>