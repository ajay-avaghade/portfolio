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A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21424"/>
            <a:ext cx="914400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6350">
            <a:solidFill>
              <a:srgbClr val="059669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55080" y="0"/>
            <a:ext cx="0" cy="6858000"/>
          </a:xfrm>
          <a:prstGeom prst="line">
            <a:avLst/>
          </a:prstGeom>
          <a:noFill/>
          <a:ln w="6350">
            <a:solidFill>
              <a:srgbClr val="059669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0" y="0"/>
            <a:ext cx="0" cy="6858000"/>
          </a:xfrm>
          <a:prstGeom prst="line">
            <a:avLst/>
          </a:prstGeom>
          <a:noFill/>
          <a:ln w="6350">
            <a:solidFill>
              <a:srgbClr val="059669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78040" y="0"/>
            <a:ext cx="0" cy="6858000"/>
          </a:xfrm>
          <a:prstGeom prst="line">
            <a:avLst/>
          </a:prstGeom>
          <a:noFill/>
          <a:ln w="6350">
            <a:solidFill>
              <a:srgbClr val="059669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0" y="0"/>
            <a:ext cx="0" cy="6858000"/>
          </a:xfrm>
          <a:prstGeom prst="line">
            <a:avLst/>
          </a:prstGeom>
          <a:noFill/>
          <a:ln w="6350">
            <a:solidFill>
              <a:srgbClr val="059669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6350">
            <a:solidFill>
              <a:srgbClr val="059669">
                <a:alpha val="1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</a:rPr>
              <a:t>DREAMPASS · TREVOLUTION · CASE STUDY B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DreamLoop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457200" y="2103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&amp; Viral Acquisition Engine — Turning Every Booking Into a Growth Moment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Ajay Avaghade · Product Manager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645920"/>
            <a:ext cx="2560320" cy="1280160"/>
          </a:xfrm>
          <a:prstGeom prst="rect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17373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−40%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217920" y="2286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</a:rPr>
              <a:t>CAC vs paid acquisition for referred members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A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59669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Dreampass Has No Referral Programme — Every Acquired Member Is a Missed Viral Loop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743200" cy="2377440"/>
          </a:xfrm>
          <a:prstGeom prst="rect">
            <a:avLst/>
          </a:prstGeom>
          <a:solidFill>
            <a:srgbClr val="0A2E17"/>
          </a:solidFill>
          <a:ln w="12700">
            <a:solidFill>
              <a:srgbClr val="059669">
                <a:alpha val="4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600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📢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2011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9669"/>
                </a:solidFill>
              </a:rPr>
              <a:t>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" y="2514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Referral programme today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346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No mechanism to turn satisfied members into growth agents — every acquisition is paid or organic search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508760"/>
            <a:ext cx="2743200" cy="2377440"/>
          </a:xfrm>
          <a:prstGeom prst="rect">
            <a:avLst/>
          </a:prstGeom>
          <a:solidFill>
            <a:srgbClr val="0A2E17"/>
          </a:solidFill>
          <a:ln w="12700">
            <a:solidFill>
              <a:srgbClr val="059669">
                <a:alpha val="4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1600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✈️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00400" y="2011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9669"/>
                </a:solidFill>
              </a:rPr>
              <a:t>2.4×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00400" y="2514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Post-booking referral CVR lift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28346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Friends invited immediately after a booking convert at 2.4× the rate of cold invites — the moment is untapped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26480" y="1508760"/>
            <a:ext cx="2743200" cy="2377440"/>
          </a:xfrm>
          <a:prstGeom prst="rect">
            <a:avLst/>
          </a:prstGeom>
          <a:solidFill>
            <a:srgbClr val="0A2E17"/>
          </a:solidFill>
          <a:ln w="12700">
            <a:solidFill>
              <a:srgbClr val="059669">
                <a:alpha val="4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26480" y="1600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26480" y="2011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9669"/>
                </a:solidFill>
              </a:rPr>
              <a:t>AED 200+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126480" y="2514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Avg CAC from paid channels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28346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Referred members cost 40–60% less to acquire and have 1.8× higher LTV due to social proof at join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4023360"/>
            <a:ext cx="8595360" cy="822960"/>
          </a:xfrm>
          <a:prstGeom prst="rect">
            <a:avLst/>
          </a:prstGeom>
          <a:solidFill>
            <a:srgbClr val="059669">
              <a:alpha val="1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Root cause: Dreampass acquires members in isolation. The post-booking emotional peak — the moment when a member is most excited and most likely to share — goes completely unexploited.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A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59669"/>
                </a:solidFill>
              </a:rPr>
              <a:t>THE INSIGHT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71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Time to Ask for a Referral Is Right After the Booking Confirmation.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023360" cy="30175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508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</a:rPr>
              <a:t>❌  Without DreamLoop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</a:rPr>
              <a:t>• No referral mechanism — members can't share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3042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</a:rPr>
              <a:t>• Post-booking moment is dead air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68833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</a:rPr>
              <a:t>• Each acquired member stays siloed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07238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</a:rPr>
              <a:t>• Paid CAC dominates acquisition mix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4564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</a:rPr>
              <a:t>• No peer social proof at the join moment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371600"/>
            <a:ext cx="4206240" cy="3017520"/>
          </a:xfrm>
          <a:prstGeom prst="rect">
            <a:avLst/>
          </a:prstGeom>
          <a:solidFill>
            <a:srgbClr val="F0FAF4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1508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✅  With DreamLoop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19202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</a:rPr>
              <a:t>• Booking confirmation triggers "Share with a friend" card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00600" y="230428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</a:rPr>
              <a:t>• Referral card pre-built: trip destination + dual reward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0" y="268833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</a:rPr>
              <a:t>• Friend lands with full context — who invited, what they get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00600" y="307238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</a:rPr>
              <a:t>• 500 coins for referrer + 300 welcome coins for friend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00600" y="34564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</a:rPr>
              <a:t>• Ongoing: 50 coins per trip the friend books — forever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572000"/>
            <a:ext cx="8412480" cy="640080"/>
          </a:xfrm>
          <a:prstGeom prst="rect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64515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71A10"/>
                </a:solidFill>
              </a:rPr>
              <a:t>Key insight: The dual-sided referral (both parties earn) increases completion rates by 34% vs single-sided programmes. The "ongoing earn" mechanic (50 coins/trip) creates a compounding loop — the referrer has skin in the friend's continued travel.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E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DE80"/>
                </a:solidFill>
              </a:rPr>
              <a:t>THE MECHANIC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Steps — Booking Moment to Viral Loop Closed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1188720"/>
            <a:ext cx="1627632" cy="3200400"/>
          </a:xfrm>
          <a:prstGeom prst="rect">
            <a:avLst/>
          </a:prstGeom>
          <a:solidFill>
            <a:srgbClr val="071A10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88720"/>
            <a:ext cx="1627632" cy="411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1234440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" y="1691640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Booking Trigger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103120"/>
            <a:ext cx="1463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Member books trip. Post-confirmation screen surfaces DreamLoop share card: destination + dual reward offer. Pre-built, shareable in 1 tap.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93392" y="1188720"/>
            <a:ext cx="1627632" cy="3200400"/>
          </a:xfrm>
          <a:prstGeom prst="rect">
            <a:avLst/>
          </a:prstGeom>
          <a:solidFill>
            <a:srgbClr val="071A10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93392" y="1188720"/>
            <a:ext cx="1627632" cy="411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1993392" y="1234440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993392" y="1691640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Share Card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84832" y="2103120"/>
            <a:ext cx="1463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Personalised referral card: "Marcus just booked Dubai — join Dreampass to travel smarter." Deep link with referrer code. WhatsApp, Telegram, email, or copy link.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58184" y="1188720"/>
            <a:ext cx="1627632" cy="3200400"/>
          </a:xfrm>
          <a:prstGeom prst="rect">
            <a:avLst/>
          </a:prstGeom>
          <a:solidFill>
            <a:srgbClr val="071A10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58184" y="1188720"/>
            <a:ext cx="1627632" cy="411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3758184" y="1234440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758184" y="1691640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Friend Landing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9624" y="2103120"/>
            <a:ext cx="1463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Friend opens link. Full context: who invited, what they get (300 welcome coins), what the referrer earns (500 coins). Join in 2 taps.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522976" y="1188720"/>
            <a:ext cx="1627632" cy="3200400"/>
          </a:xfrm>
          <a:prstGeom prst="rect">
            <a:avLst/>
          </a:prstGeom>
          <a:solidFill>
            <a:srgbClr val="071A10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22976" y="1188720"/>
            <a:ext cx="1627632" cy="411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5522976" y="1234440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22976" y="1691640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First Booking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14416" y="2103120"/>
            <a:ext cx="1463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Friend books first trip. Referral bonus triggered. Both parties notified. Ongoing: referrer earns 50 coins on every future trip friend books — no expiry.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287768" y="1188720"/>
            <a:ext cx="1627632" cy="3200400"/>
          </a:xfrm>
          <a:prstGeom prst="rect">
            <a:avLst/>
          </a:prstGeom>
          <a:solidFill>
            <a:srgbClr val="071A10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287768" y="1188720"/>
            <a:ext cx="1627632" cy="411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" name="Text 26"/>
          <p:cNvSpPr/>
          <p:nvPr/>
        </p:nvSpPr>
        <p:spPr>
          <a:xfrm>
            <a:off x="7287768" y="1234440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287768" y="1691640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Loop Closes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79208" y="2103120"/>
            <a:ext cx="1463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Referrer notified "Sarah booked!" with coin credit. Travel Circle updated. Badge at 3 referrals. Referrer's LTV now tied to friend's continued travel.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8600" y="4572000"/>
            <a:ext cx="8686800" cy="640080"/>
          </a:xfrm>
          <a:prstGeom prst="rect">
            <a:avLst/>
          </a:prstGeom>
          <a:solidFill>
            <a:srgbClr val="071A10"/>
          </a:solidFill>
          <a:ln w="1270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663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DE80"/>
                </a:solidFill>
              </a:rPr>
              <a:t>Benchmark: PhonePe merchant referral network drove 23% lower CAC across 5,000+ B2B merchants via peer-to-peer acquisition mechanics. DreamLoop applies the same flywheel to B2C travel membership.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A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59669"/>
                </a:solidFill>
              </a:rPr>
              <a:t>THE PRODUCT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71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Screen States — Referrer to Friend Journey End to End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1188720"/>
            <a:ext cx="162763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88720"/>
            <a:ext cx="1627632" cy="365760"/>
          </a:xfrm>
          <a:prstGeom prst="rect">
            <a:avLst/>
          </a:prstGeom>
          <a:solidFill>
            <a:srgbClr val="059669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1234440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" y="164592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1A10"/>
                </a:solidFill>
              </a:rPr>
              <a:t>Referral Home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" y="2084832"/>
            <a:ext cx="148132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0 referrals. 500 coin earn per friend. Ongoing 50-coin/trip earn explained. Empty "Travel Circle" motivating first invite. Stats: 0/0/500.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993392" y="1188720"/>
            <a:ext cx="162763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93392" y="1188720"/>
            <a:ext cx="1627632" cy="365760"/>
          </a:xfrm>
          <a:prstGeom prst="rect">
            <a:avLst/>
          </a:prstGeom>
          <a:solidFill>
            <a:srgbClr val="059669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993392" y="1234440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66544" y="164592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1A10"/>
                </a:solidFill>
              </a:rPr>
              <a:t>Share Trip Moment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66544" y="2084832"/>
            <a:ext cx="148132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Post-booking card: trip destination pre-filled. Referral card preview. 4 share channels. Copy link. "2.4× conversion" insight tip.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758184" y="1188720"/>
            <a:ext cx="162763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58184" y="1188720"/>
            <a:ext cx="1627632" cy="365760"/>
          </a:xfrm>
          <a:prstGeom prst="rect">
            <a:avLst/>
          </a:prstGeom>
          <a:solidFill>
            <a:srgbClr val="059669">
              <a:alpha val="1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758184" y="1234440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31336" y="164592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1A10"/>
                </a:solidFill>
              </a:rPr>
              <a:t>Friend Landing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31336" y="2084832"/>
            <a:ext cx="148132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Who invited (Marcus). Welcome offer (300 coins). Dual-sided reward breakdown. Join CTA. Social proof from real travel context.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522976" y="1188720"/>
            <a:ext cx="162763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22976" y="1188720"/>
            <a:ext cx="1627632" cy="365760"/>
          </a:xfrm>
          <a:prstGeom prst="rect">
            <a:avLst/>
          </a:prstGeom>
          <a:solidFill>
            <a:srgbClr val="059669">
              <a:alpha val="1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522976" y="1234440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96128" y="164592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1A10"/>
                </a:solidFill>
              </a:rPr>
              <a:t>Friend First Booking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96128" y="2084832"/>
            <a:ext cx="148132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Flight search. Coin earn banner: +642 booking coins + 300 welcome bonus = 942 coins. Referrer notification preview: Marcus earns 500.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287768" y="1188720"/>
            <a:ext cx="162763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287768" y="1188720"/>
            <a:ext cx="1627632" cy="365760"/>
          </a:xfrm>
          <a:prstGeom prst="rect">
            <a:avLst/>
          </a:prstGeom>
          <a:solidFill>
            <a:srgbClr val="059669">
              <a:alpha val="1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287768" y="1234440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60920" y="164592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1A10"/>
                </a:solidFill>
              </a:rPr>
              <a:t>Referrer Success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60920" y="2084832"/>
            <a:ext cx="148132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Confetti. 500 coins credited. Travel Circle: 1 member (Sarah). Ongoing earn: 50/trip. Badge progress: 2 more referrals to Gold.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65760" y="50292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Prototype: dreampass-loop-prototype.html · All 5 states interactive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A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59669"/>
                </a:solidFill>
              </a:rPr>
              <a:t>IMPACT &amp; ROI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as a Compounding Acquisition Machine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114800" cy="3566160"/>
          </a:xfrm>
          <a:prstGeom prst="rect">
            <a:avLst/>
          </a:prstGeom>
          <a:solidFill>
            <a:srgbClr val="0A2E17"/>
          </a:solidFill>
          <a:ln w="12700">
            <a:solidFill>
              <a:srgbClr val="059669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80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59669"/>
                </a:solidFill>
              </a:rPr>
              <a:t>Viral Growth Impact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9669"/>
                </a:solidFill>
              </a:rPr>
              <a:t>−40%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21671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CAC vs paid channels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4048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Referred members cost 40–60% less to acquire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6974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9669"/>
                </a:solidFill>
              </a:rPr>
              <a:t>2.1×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02920" y="31729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12-month LTV vs cold acquired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4107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Ongoing earn creates compounding referrer engagement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37033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9669"/>
                </a:solidFill>
              </a:rPr>
              <a:t>34%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02920" y="41788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Dual-sided programme completion lift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44165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Both-earn vs single-earn referral mechanics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1188720"/>
            <a:ext cx="4114800" cy="3566160"/>
          </a:xfrm>
          <a:prstGeom prst="rect">
            <a:avLst/>
          </a:prstGeom>
          <a:solidFill>
            <a:srgbClr val="0A2E17"/>
          </a:solidFill>
          <a:ln w="12700">
            <a:solidFill>
              <a:srgbClr val="059669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280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59669"/>
                </a:solidFill>
              </a:rPr>
              <a:t>Unit Economics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00600" y="16916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DE80"/>
                </a:solidFill>
              </a:rPr>
              <a:t>AED 800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800600" y="21671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Gross margin per referred member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24048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At AED 499 subscription — cost of AED 500+300 coin set is ~AED 80 net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00600" y="26974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DE80"/>
                </a:solidFill>
              </a:rPr>
              <a:t>2.4×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800600" y="31729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Post-booking referral CVR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34107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vs cold invite from ads or email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00600" y="37033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DE80"/>
                </a:solidFill>
              </a:rPr>
              <a:t>50 coins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4800600" y="41788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Ongoing earn per friend trip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0600" y="44165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Self-reinforcing: referrer's coins grow with every trip friend books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49834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(Source: Extole Referral Marketing Benchmark 2024; Friendbuy State of Referral Marketing 2023; Nielsen Consumer Trust Report 2023)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A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297680" cy="5143500"/>
          </a:xfrm>
          <a:prstGeom prst="rect">
            <a:avLst/>
          </a:prstGeom>
          <a:solidFill>
            <a:srgbClr val="071A1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59669"/>
                </a:solidFill>
              </a:rPr>
              <a:t>PROOF OF WORK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5486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Built the Acquisition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Flywheels. Here's the Map.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3749040" cy="868680"/>
          </a:xfrm>
          <a:prstGeom prst="rect">
            <a:avLst/>
          </a:prstGeom>
          <a:solidFill>
            <a:srgbClr val="0A2E17"/>
          </a:solidFill>
          <a:ln w="12700">
            <a:solidFill>
              <a:srgbClr val="059669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72768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PhonePe self-serve PG platform — 5,000+ B2B merchants acquired via peer-to-peer referral and network effects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2514600"/>
            <a:ext cx="3749040" cy="868680"/>
          </a:xfrm>
          <a:prstGeom prst="rect">
            <a:avLst/>
          </a:prstGeom>
          <a:solidFill>
            <a:srgbClr val="0A2E17"/>
          </a:solidFill>
          <a:ln w="12700">
            <a:solidFill>
              <a:srgbClr val="059669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578608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ML-driven marketplace — 500+ brand partners onboarded; designed partner acquisition loop with self-serve tooling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3520440"/>
            <a:ext cx="3749040" cy="868680"/>
          </a:xfrm>
          <a:prstGeom prst="rect">
            <a:avLst/>
          </a:prstGeom>
          <a:solidFill>
            <a:srgbClr val="0A2E17"/>
          </a:solidFill>
          <a:ln w="12700">
            <a:solidFill>
              <a:srgbClr val="059669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584448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Pincode Q-commerce — 5M+ new users/month; 23% lower CAC via optimised acquisition mix and referral hooks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4526280"/>
            <a:ext cx="3749040" cy="868680"/>
          </a:xfrm>
          <a:prstGeom prst="rect">
            <a:avLst/>
          </a:prstGeom>
          <a:solidFill>
            <a:srgbClr val="0A2E17"/>
          </a:solidFill>
          <a:ln w="12700">
            <a:solidFill>
              <a:srgbClr val="059669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4590288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Kotak Cherry — 100K+ downloads in launch window via word-of-mouth GTM with seeded referral programme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0" y="150876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57276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→ DreamLoop dual-sided referral coin mechanics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251460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57860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→ DreamLoop travel circle + partner self-serve share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352044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358444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→ DreamLoop post-booking share card trigger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452628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459028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→ DreamLoop friend landing with full referral context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4983480"/>
            <a:ext cx="8595360" cy="502920"/>
          </a:xfrm>
          <a:prstGeom prst="rect">
            <a:avLst/>
          </a:prstGeom>
          <a:solidFill>
            <a:srgbClr val="059669">
              <a:alpha val="1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50474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071A10"/>
                </a:solidFill>
              </a:rPr>
              <a:t>Every acquisition loop I have built has been peer-to-peer at its core. DreamLoop is the direct application of that architecture to travel membership.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A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DE80"/>
                </a:solidFill>
              </a:rPr>
              <a:t>ROLLOUT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Phases — Seed, Prove Viral Coefficient, Scale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743200" cy="3657600"/>
          </a:xfrm>
          <a:prstGeom prst="rect">
            <a:avLst/>
          </a:prstGeom>
          <a:solidFill>
            <a:srgbClr val="0A2E17"/>
          </a:solidFill>
          <a:ln w="12700">
            <a:solidFill>
              <a:srgbClr val="4ADE80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2743200" cy="347472"/>
          </a:xfrm>
          <a:prstGeom prst="rect">
            <a:avLst/>
          </a:prstGeom>
          <a:solidFill>
            <a:srgbClr val="4ADE80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2344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</a:rPr>
              <a:t>Phase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60934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Month 1–2: Seed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993392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Launch DreamLoop share card on post-booking confirmation for 1,000 most-active members. Instrument: share rate, friend click-through, join rate, first booking rate. Measure referral coefficient K.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4206240"/>
            <a:ext cx="2560320" cy="502920"/>
          </a:xfrm>
          <a:prstGeom prst="rect">
            <a:avLst/>
          </a:prstGeom>
          <a:solidFill>
            <a:srgbClr val="071A10"/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42519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59669"/>
                </a:solidFill>
              </a:rPr>
              <a:t>Need: Data: booking events, member share actions, friend join events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0" y="1188720"/>
            <a:ext cx="2743200" cy="3657600"/>
          </a:xfrm>
          <a:prstGeom prst="rect">
            <a:avLst/>
          </a:prstGeom>
          <a:solidFill>
            <a:srgbClr val="0A2E17"/>
          </a:solidFill>
          <a:ln w="12700">
            <a:solidFill>
              <a:srgbClr val="4ADE80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188720"/>
            <a:ext cx="2743200" cy="347472"/>
          </a:xfrm>
          <a:prstGeom prst="rect">
            <a:avLst/>
          </a:prstGeom>
          <a:solidFill>
            <a:srgbClr val="4ADE80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12344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</a:rPr>
              <a:t>Phase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160934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Month 3–4: Prove 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91840" y="1993392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A/B test: 500 coins (current) vs 300 coins + tier-badge unlock. Test timing: immediate post-booking vs D1 CRM follow-up. Optimise for K &gt; 0.3 (each member brings 0.3+ new members). Tune dual-sided reward.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91840" y="4206240"/>
            <a:ext cx="2560320" cy="502920"/>
          </a:xfrm>
          <a:prstGeom prst="rect">
            <a:avLst/>
          </a:prstGeom>
          <a:solidFill>
            <a:srgbClr val="071A10"/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42519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59669"/>
                </a:solidFill>
              </a:rPr>
              <a:t>Need: 1 engineer: referral link system + coin credit pipeline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126480" y="1188720"/>
            <a:ext cx="2743200" cy="3657600"/>
          </a:xfrm>
          <a:prstGeom prst="rect">
            <a:avLst/>
          </a:prstGeom>
          <a:solidFill>
            <a:srgbClr val="0A2E17"/>
          </a:solidFill>
          <a:ln w="12700">
            <a:solidFill>
              <a:srgbClr val="4ADE80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1188720"/>
            <a:ext cx="2743200" cy="347472"/>
          </a:xfrm>
          <a:prstGeom prst="rect">
            <a:avLst/>
          </a:prstGeom>
          <a:solidFill>
            <a:srgbClr val="4ADE80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12344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</a:rPr>
              <a:t>Phase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160934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Month 5–6: Scale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0" y="1993392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Roll DreamLoop to all members globally. Integrate Travel Circle badge into member profile. Trigger DreamActivate for referred friends at D0 (warm join path). Gold Circle badge at 3 referrals — unlocks bonus lounge visit.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17920" y="4206240"/>
            <a:ext cx="2560320" cy="502920"/>
          </a:xfrm>
          <a:prstGeom prst="rect">
            <a:avLst/>
          </a:prstGeom>
          <a:solidFill>
            <a:srgbClr val="071A10"/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42519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59669"/>
                </a:solidFill>
              </a:rPr>
              <a:t>Need: Alignment: CRM, member ops, coin economy team for budget approval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65760" y="5047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Ajay Avaghade  |  avaghadeajay009@gmail.com  |  +91 9561558439  |  ajay-avaghade.github.io/Portfolio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2026-07-10T16:11:25Z</dcterms:created>
  <dcterms:modified xsi:type="dcterms:W3CDTF">2026-07-10T16:11:25Z</dcterms:modified>
</cp:coreProperties>
</file>