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YBIT_MASTER">
    <p:bg>
      <p:bgPr>
        <a:solidFill>
          <a:srgbClr val="0B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A6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5488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8E9C"/>
                </a:solidFill>
              </a:rPr>
              <a:t>BYBIT EMI PRODUCT STRATEGY // CONFIDENTIAL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25400" dir="16200000">
              <a:srgbClr val="000000">
                <a:alpha val="8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7A600"/>
                </a:solidFill>
              </a:rPr>
              <a:t>ClearKYB: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ECEF"/>
                </a:solidFill>
              </a:rPr>
              <a:t>Progressive Institutional Onboarding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8346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48E9C"/>
                </a:solidFill>
              </a:rPr>
              <a:t>Solving KYC drop-offs for European entities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ECEF"/>
                </a:solidFill>
              </a:rPr>
              <a:t>Ajay Avaghade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A600"/>
                </a:solidFill>
              </a:rPr>
              <a:t>The Friction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181A2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32918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Current State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2918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100% upfront verification required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Heavy document uploads at step 1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40% drop-off in institutional funnels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Delayed time-to-first-trade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2286000"/>
          </a:xfrm>
          <a:prstGeom prst="rect">
            <a:avLst/>
          </a:prstGeom>
          <a:solidFill>
            <a:srgbClr val="181A20"/>
          </a:solidFill>
          <a:ln w="12700">
            <a:solidFill>
              <a:srgbClr val="F7A6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The Business Impact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12080" y="1920240"/>
            <a:ext cx="32918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Lost AUM from high-net-worth clients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Overwhelmed compliance ops teams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848E9C"/>
                </a:solidFill>
              </a:rPr>
              <a:t>• Poor UX vs local EEA competitors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A600"/>
                </a:solidFill>
              </a:rPr>
              <a:t>ClearKYB 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48E9C"/>
                </a:solidFill>
              </a:rPr>
              <a:t>❌ Legacy Verification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48E9C"/>
                </a:solidFill>
              </a:rPr>
              <a:t>• Monolithic forms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48E9C"/>
                </a:solidFill>
              </a:rPr>
              <a:t>• Synchronous checks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48E9C"/>
                </a:solidFill>
              </a:rPr>
              <a:t>• High cognitive load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48E9C"/>
                </a:solidFill>
              </a:rPr>
              <a:t>• Binary access (all/none)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0" y="13716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A600"/>
                </a:solidFill>
              </a:rPr>
              <a:t>✅ ClearKYB Flow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0" y="18288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EAECEF"/>
                </a:solidFill>
              </a:rPr>
              <a:t>• Progressive profiling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EAECEF"/>
                </a:solidFill>
              </a:rPr>
              <a:t>• Tiered API access limits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EAECEF"/>
                </a:solidFill>
              </a:rPr>
              <a:t>• Async document review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EAECEF"/>
                </a:solidFill>
              </a:rPr>
              <a:t>• Immediate Crypto-only access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06240" y="1920240"/>
            <a:ext cx="731520" cy="731520"/>
          </a:xfrm>
          <a:prstGeom prst="ellipse">
            <a:avLst/>
          </a:prstGeom>
          <a:solidFill>
            <a:srgbClr val="F7A600"/>
          </a:solidFill>
          <a:ln/>
          <a:effectLst>
            <a:outerShdw sx="100000" sy="100000" kx="0" ky="0" algn="bl" rotWithShape="0" blurRad="38100" dist="25400" dir="16200000">
              <a:srgbClr val="000000">
                <a:alpha val="8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0624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VS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A600"/>
                </a:solidFill>
              </a:rPr>
              <a:t>How it works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7315200" cy="45720"/>
          </a:xfrm>
          <a:prstGeom prst="rect">
            <a:avLst/>
          </a:prstGeom>
          <a:solidFill>
            <a:srgbClr val="848E9C"/>
          </a:solidFill>
          <a:ln/>
        </p:spPr>
      </p:sp>
      <p:sp>
        <p:nvSpPr>
          <p:cNvPr id="4" name="Shape 2"/>
          <p:cNvSpPr/>
          <p:nvPr/>
        </p:nvSpPr>
        <p:spPr>
          <a:xfrm>
            <a:off x="1188720" y="2103120"/>
            <a:ext cx="365760" cy="365760"/>
          </a:xfrm>
          <a:prstGeom prst="ellipse">
            <a:avLst/>
          </a:prstGeom>
          <a:solidFill>
            <a:srgbClr val="F7A600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Basic Reg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17520" y="2103120"/>
            <a:ext cx="365760" cy="365760"/>
          </a:xfrm>
          <a:prstGeom prst="ellipse">
            <a:avLst/>
          </a:prstGeom>
          <a:solidFill>
            <a:srgbClr val="F7A600"/>
          </a:solidFill>
          <a:ln/>
        </p:spPr>
      </p:sp>
      <p:sp>
        <p:nvSpPr>
          <p:cNvPr id="8" name="Text 6"/>
          <p:cNvSpPr/>
          <p:nvPr/>
        </p:nvSpPr>
        <p:spPr>
          <a:xfrm>
            <a:off x="30175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860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Tier 1 Access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46320" y="2103120"/>
            <a:ext cx="365760" cy="365760"/>
          </a:xfrm>
          <a:prstGeom prst="ellipse">
            <a:avLst/>
          </a:prstGeom>
          <a:solidFill>
            <a:srgbClr val="F7A600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Doc Upload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2103120"/>
            <a:ext cx="365760" cy="365760"/>
          </a:xfrm>
          <a:prstGeom prst="ellipse">
            <a:avLst/>
          </a:prstGeom>
          <a:solidFill>
            <a:srgbClr val="F7A60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CEF"/>
                </a:solidFill>
              </a:rPr>
              <a:t>Full SEPA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A600"/>
                </a:solidFill>
              </a:rPr>
              <a:t>Impact &amp; KPIs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828800"/>
          </a:xfrm>
          <a:prstGeom prst="rect">
            <a:avLst/>
          </a:prstGeom>
          <a:solidFill>
            <a:srgbClr val="181A20"/>
          </a:solidFill>
          <a:ln w="12700">
            <a:solidFill>
              <a:srgbClr val="F7A6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CB81"/>
                </a:solidFill>
              </a:rPr>
              <a:t>+35%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ECEF"/>
                </a:solidFill>
              </a:rPr>
              <a:t>Onboarding Conv.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83280" y="1645920"/>
            <a:ext cx="2560320" cy="1828800"/>
          </a:xfrm>
          <a:prstGeom prst="rect">
            <a:avLst/>
          </a:prstGeom>
          <a:solidFill>
            <a:srgbClr val="181A20"/>
          </a:solidFill>
          <a:ln w="12700">
            <a:solidFill>
              <a:srgbClr val="F7A6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CB81"/>
                </a:solidFill>
              </a:rPr>
              <a:t>-40%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38328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ECEF"/>
                </a:solidFill>
              </a:rPr>
              <a:t>Manual Review Time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2560320" cy="1828800"/>
          </a:xfrm>
          <a:prstGeom prst="rect">
            <a:avLst/>
          </a:prstGeom>
          <a:solidFill>
            <a:srgbClr val="181A20"/>
          </a:solidFill>
          <a:ln w="12700">
            <a:solidFill>
              <a:srgbClr val="F7A6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CB81"/>
                </a:solidFill>
              </a:rPr>
              <a:t>T+0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30936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AECEF"/>
                </a:solidFill>
              </a:rPr>
              <a:t>Crypto Access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2026-06-05T19:06:14Z</dcterms:created>
  <dcterms:modified xsi:type="dcterms:W3CDTF">2026-06-05T19:06:14Z</dcterms:modified>
</cp:coreProperties>
</file>