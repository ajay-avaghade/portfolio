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D9A3"/>
                </a:solidFill>
              </a:rPr>
              <a:t>MASTERCARD · SME ECOSYSTEM PLAY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PartnerHub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9A3"/>
                </a:solidFill>
              </a:rPr>
              <a:t>SME Fintech Partnership Marketplace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92A5"/>
                </a:solidFill>
              </a:rPr>
              <a:t>Ajay Avaghade · Product Manager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0" y="5303520"/>
            <a:ext cx="2743200" cy="1097280"/>
          </a:xfrm>
          <a:prstGeom prst="rect">
            <a:avLst/>
          </a:prstGeom>
          <a:solidFill>
            <a:srgbClr val="152A3D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5349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9A3"/>
                </a:solidFill>
              </a:rPr>
              <a:t>Partner CAC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00D9A3"/>
                </a:solidFill>
              </a:rPr>
              <a:t>↓ 50%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0" y="5806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2A5"/>
                </a:solidFill>
              </a:rPr>
              <a:t>Fintech distribution unlock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0D9A3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70% SMEs Use No Tools; Fintech Partners Can't Reach Them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560320" cy="182880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945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A3"/>
                </a:solidFill>
              </a:rPr>
              <a:t>📊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D9A3"/>
                </a:solidFill>
              </a:rPr>
              <a:t>70%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SMEs lack accounting,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POS, lending tools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2011680"/>
            <a:ext cx="2560320" cy="182880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21945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A3"/>
                </a:solidFill>
              </a:rPr>
              <a:t>💼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D9A3"/>
                </a:solidFill>
              </a:rPr>
              <a:t>40-60%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83280" y="3291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Fintech partner CAC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from direct acquisition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2011680"/>
            <a:ext cx="2560320" cy="182880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21945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A3"/>
                </a:solidFill>
              </a:rPr>
              <a:t>💰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D9A3"/>
                </a:solidFill>
              </a:rPr>
              <a:t>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126480" y="3291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Mastercard revenue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from partnerships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8229600" cy="164592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29768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The Gap: SMEs don't know tools exist. Fintech partners can't efficiently reach SMEs. Mastercard sits in the middle with 2M+ SME cardholders but has no ecosystem leverage.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F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0D9A3"/>
                </a:solidFill>
              </a:rPr>
              <a:t>THE INSIGHT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2E"/>
                </a:solidFill>
              </a:rPr>
              <a:t>Mastercard as SME Fintech Distribution Layer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840480" cy="4389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2E"/>
                </a:solidFill>
              </a:rPr>
              <a:t>❌ Today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2E"/>
                </a:solidFill>
              </a:rPr>
              <a:t>SMEs don't know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F2E"/>
                </a:solidFill>
              </a:rPr>
              <a:t>which tools exist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2E"/>
                </a:solidFill>
              </a:rPr>
              <a:t>Fintech partners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F2E"/>
                </a:solidFill>
              </a:rPr>
              <a:t>have no SME channel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2E"/>
                </a:solidFill>
              </a:rPr>
              <a:t>High CAC prevents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F2E"/>
                </a:solidFill>
              </a:rPr>
              <a:t>fintechs from reaching SMEs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4805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F2E"/>
                </a:solidFill>
              </a:rPr>
              <a:t>Mastercard misses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F2E"/>
                </a:solidFill>
              </a:rPr>
              <a:t>partnership revenue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920240"/>
            <a:ext cx="3840480" cy="438912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PartnerHub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25603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SME discovers partners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by use case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200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Mastercard becomes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fintech distribution channel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3840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Partner CAC drops 50%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via Mastercard pipeline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44805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Mastercard earns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partnership fees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</a:rPr>
              <a:t>THE MECHANIC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Browse → Request Integration → Mastercard Handoff → Usage Tracked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554480" cy="384048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A3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SME Discovers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2A5"/>
                </a:solidFill>
              </a:rPr>
              <a:t>Browse partners by category (Accounting, POS, Lending, etc.)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03120" y="2011680"/>
            <a:ext cx="1554480" cy="384048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A3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94560" y="2560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Partner Comparison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320040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2A5"/>
                </a:solidFill>
              </a:rPr>
              <a:t>Rate, reviews, pricing, integrations side-by-side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2011680"/>
            <a:ext cx="1554480" cy="384048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A3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40480" y="2560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Integration Request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320040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2A5"/>
                </a:solidFill>
              </a:rPr>
              <a:t>SME clicks to request integration; 1-click handoff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94960" y="2011680"/>
            <a:ext cx="1554480" cy="384048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A3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86400" y="2560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Mastercard Enables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0" y="320040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2A5"/>
                </a:solidFill>
              </a:rPr>
              <a:t>SSO/API integration managed by Mastercard, not partner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40880" y="2011680"/>
            <a:ext cx="1554480" cy="384048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A3"/>
                </a:solidFill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32320" y="2560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Track &amp; Monetize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0" y="320040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2A5"/>
                </a:solidFill>
              </a:rPr>
              <a:t>Mastercard tracks usage, earns partnership fee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F37"/>
                </a:solidFill>
              </a:rPr>
              <a:t>PhonePe proof: 500+ brand partner marketplace (11% YoY growth) using same adoption curve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F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0D9A3"/>
                </a:solidFill>
              </a:rPr>
              <a:t>THE PRODUCT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2E"/>
                </a:solidFill>
              </a:rPr>
              <a:t>4 Screen States · SME to Partner Lifecycle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920240" cy="4389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A3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F2E"/>
                </a:solidFill>
              </a:rPr>
              <a:t>SME Home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200400"/>
            <a:ext cx="1645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1F2E"/>
                </a:solidFill>
              </a:rPr>
              <a:t>Personalized recommendations based on business profile &amp; spend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920240"/>
            <a:ext cx="1920240" cy="4389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A3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0604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F2E"/>
                </a:solidFill>
              </a:rPr>
              <a:t>Partner Browse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3200400"/>
            <a:ext cx="1645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1F2E"/>
                </a:solidFill>
              </a:rPr>
              <a:t>Filter by category, sort by rating/price, compare integrations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80560" y="1920240"/>
            <a:ext cx="1920240" cy="4389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A3"/>
                </a:solidFill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F2E"/>
                </a:solidFill>
              </a:rPr>
              <a:t>Partner Detail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7720" y="3200400"/>
            <a:ext cx="1645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1F2E"/>
                </a:solidFill>
              </a:rPr>
              <a:t>Full description, pricing, integration list, 1-click request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92240" y="1920240"/>
            <a:ext cx="1920240" cy="4389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A3"/>
                </a:solidFill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940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F2E"/>
                </a:solidFill>
              </a:rPr>
              <a:t>Partner Ops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29400" y="3200400"/>
            <a:ext cx="1645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1F2E"/>
                </a:solidFill>
              </a:rPr>
              <a:t>Partner dashboard: onboarded SMEs, integration success, revenue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2A5"/>
                </a:solidFill>
              </a:rPr>
              <a:t>Live prototype: mastercard-partnerhub-prototype.html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</a:rPr>
              <a:t>IMPACT &amp; ROI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SME Adoption + Partner Economics + Mastercard Revenue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931920" cy="420624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A3"/>
                </a:solidFill>
              </a:rPr>
              <a:t>SME Adoption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↑ 12% → 45%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Partner adoption rate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↑ 150+ partners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 marketplace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8006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↑ 5,000+ integrations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per month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3931920" cy="420624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965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Partner Economics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24231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↓ 50% fintech CAC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via Mastercard channel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36118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↑ 3–5x user acquisition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speed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48006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↑ 80K+ SME customers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first year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6446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Mastercard Licensing Revenue: AED 2.4M annually (150 partners × 500 SMEs × AED 32 annual fee)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F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0D9A3"/>
                </a:solidFill>
              </a:rPr>
              <a:t>PROOF OF 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2E"/>
                </a:solidFill>
              </a:rPr>
              <a:t>PhonePe Brand Partner Marketplace — Direct Parallel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114800" cy="4389120"/>
          </a:xfrm>
          <a:prstGeom prst="rect">
            <a:avLst/>
          </a:prstGeom>
          <a:solidFill>
            <a:srgbClr val="0A1F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A3"/>
                </a:solidFill>
              </a:rPr>
              <a:t>PhonePe Rewards Marketplace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500+ brand partners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11% YoY revenue growth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251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26% user engagement lift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51663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Self-serve partner tooling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0" y="1828800"/>
            <a:ext cx="3931920" cy="4389120"/>
          </a:xfrm>
          <a:prstGeom prst="rect">
            <a:avLst/>
          </a:prstGeom>
          <a:solidFill>
            <a:srgbClr val="00D9A3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965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2E"/>
                </a:solidFill>
              </a:rPr>
              <a:t>→ PartnerHub Application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24231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2E"/>
                </a:solidFill>
              </a:rPr>
              <a:t>150+ fintech partners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12080" y="33375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2E"/>
                </a:solidFill>
              </a:rPr>
              <a:t>AED 2.4M annual revenue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0" y="42519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2E"/>
                </a:solidFill>
              </a:rPr>
              <a:t>45% SME adoption rate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51663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2E"/>
                </a:solidFill>
              </a:rPr>
              <a:t>Mastercard-enabled integrations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</a:rPr>
              <a:t>ROLLOUT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Three Phases — Vetting to Scale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560320" cy="365760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A3"/>
                </a:solidFill>
              </a:rPr>
              <a:t>Month 1–2: Partner Vetting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697480"/>
            <a:ext cx="2286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Identify, vet, onboard 50 fintech/ISV partners. Soft-launch marketplace to 5K SMEs.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08960" y="1920240"/>
            <a:ext cx="2560320" cy="365760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A3"/>
                </a:solidFill>
              </a:rPr>
              <a:t>Month 3–4: Optimization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46120" y="2697480"/>
            <a:ext cx="2286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Expand to 150 partners. Measure SME adoption, partner CAC, integration success rates.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60720" y="1920240"/>
            <a:ext cx="2560320" cy="365760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12" name="Text 10"/>
          <p:cNvSpPr/>
          <p:nvPr/>
        </p:nvSpPr>
        <p:spPr>
          <a:xfrm>
            <a:off x="589788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A3"/>
                </a:solidFill>
              </a:rPr>
              <a:t>Month 5–6: EEMEA Scale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97880" y="2697480"/>
            <a:ext cx="2286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Launch PartnerHub to all 2M+ Mastercard SME cardholders across EEMEA.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5760720"/>
            <a:ext cx="8229600" cy="822960"/>
          </a:xfrm>
          <a:prstGeom prst="rect">
            <a:avLst/>
          </a:prstGeom>
          <a:solidFill>
            <a:srgbClr val="152A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58521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A3"/>
                </a:solidFill>
              </a:rPr>
              <a:t>What I Need: Partner relationship management team (2–3 people) · Technical integration capability · Alignment with Business Development &amp; Partnerships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6751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2A5"/>
                </a:solidFill>
              </a:rPr>
              <a:t>Ajay Avaghade | avaghadeajay009@gmail.com | +91 9561558439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2026-06-03T16:55:59Z</dcterms:created>
  <dcterms:modified xsi:type="dcterms:W3CDTF">2026-06-03T16:55:59Z</dcterms:modified>
</cp:coreProperties>
</file>