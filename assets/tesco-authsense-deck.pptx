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0"/>
            <a:ext cx="2194560" cy="6858000"/>
          </a:xfrm>
          <a:prstGeom prst="line">
            <a:avLst/>
          </a:prstGeom>
          <a:noFill/>
          <a:ln w="6350">
            <a:solidFill>
              <a:srgbClr val="E2001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2194560" cy="6858000"/>
          </a:xfrm>
          <a:prstGeom prst="line">
            <a:avLst/>
          </a:prstGeom>
          <a:noFill/>
          <a:ln w="6350">
            <a:solidFill>
              <a:srgbClr val="E2001A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0"/>
            <a:ext cx="2194560" cy="6858000"/>
          </a:xfrm>
          <a:prstGeom prst="line">
            <a:avLst/>
          </a:prstGeom>
          <a:noFill/>
          <a:ln w="6350">
            <a:solidFill>
              <a:srgbClr val="E2001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0"/>
            <a:ext cx="2194560" cy="6858000"/>
          </a:xfrm>
          <a:prstGeom prst="line">
            <a:avLst/>
          </a:prstGeom>
          <a:noFill/>
          <a:ln w="6350">
            <a:solidFill>
              <a:srgbClr val="E2001A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0"/>
            <a:ext cx="2194560" cy="6858000"/>
          </a:xfrm>
          <a:prstGeom prst="line">
            <a:avLst/>
          </a:prstGeom>
          <a:noFill/>
          <a:ln w="6350">
            <a:solidFill>
              <a:srgbClr val="E2001A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0"/>
            <a:ext cx="2194560" cy="6858000"/>
          </a:xfrm>
          <a:prstGeom prst="line">
            <a:avLst/>
          </a:prstGeom>
          <a:noFill/>
          <a:ln w="6350">
            <a:solidFill>
              <a:srgbClr val="E2001A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TESCO TECHNOLOGY · PAYMENTS PLATFORM · CASE STUDY 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" y="6400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AuthSense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2004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Payment Authorization Intelligence — 12-Minute Detection vs 4-Hour Lag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" y="2331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· Product Manager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5029200"/>
            <a:ext cx="2423160" cy="1463040"/>
          </a:xfrm>
          <a:prstGeom prst="roundRect">
            <a:avLst>
              <a:gd name="adj" fmla="val 6250"/>
            </a:avLst>
          </a:prstGeom>
          <a:solidFill>
            <a:srgbClr val="E2001A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5084064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92240" y="57150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on auth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Authorization Rates Degrade, Tesco Finds Out From Customer Complaints — Not from the Platform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743200" cy="2880360"/>
          </a:xfrm>
          <a:prstGeom prst="roundRect">
            <a:avLst>
              <a:gd name="adj" fmla="val 3333"/>
            </a:avLst>
          </a:prstGeom>
          <a:solidFill>
            <a:srgbClr val="10204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⏳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Hours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4320" y="26883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Detection Lag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999232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rate degradations typically detected from customer complaints or end-of-day reports — hours after onset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600200"/>
            <a:ext cx="2743200" cy="2880360"/>
          </a:xfrm>
          <a:prstGeom prst="roundRect">
            <a:avLst>
              <a:gd name="adj" fmla="val 3333"/>
            </a:avLst>
          </a:prstGeom>
          <a:solidFill>
            <a:srgbClr val="10204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46120" y="2194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£2,400/min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46120" y="26883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GMV Impact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2999232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Tesco online transaction volume, a 1% auth rate drop equates to thousands of pounds per minute in failed orders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2743200" cy="2880360"/>
          </a:xfrm>
          <a:prstGeom prst="roundRect">
            <a:avLst>
              <a:gd name="adj" fmla="val 3333"/>
            </a:avLst>
          </a:prstGeom>
          <a:solidFill>
            <a:srgbClr val="10204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17920" y="2194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17920" y="26883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PSP 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27648" y="2999232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current tool shows auth rates broken down by PSP × payment method × issuer in real-time. Ops flies blind.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663440"/>
            <a:ext cx="8595360" cy="914400"/>
          </a:xfrm>
          <a:prstGeom prst="roundRect">
            <a:avLst>
              <a:gd name="adj" fmla="val 6000"/>
            </a:avLst>
          </a:prstGeom>
          <a:solidFill>
            <a:srgbClr val="1A081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2744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JD explicitly calls this out: "ensuring payment processing metrics are in good health and proposing initiatives for optimising authorisation success rates." AuthSense is that initiative — built as a working product.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Already Has All the Data to Detect Issues in 12 Minutes. It Just Has No One Watching.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FF8F8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Today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6654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 rates monitored in aggregate — PSP level invisible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8775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Detection: customer complaint or daily batch report (4+ hrs)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Root cause: manual investigation across PSP portals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301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Remediation: ad-hoc, depends on who is on call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15137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GMV impact quantification during incident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24528" y="2926080"/>
            <a:ext cx="512064" cy="512064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14" name="Text 12"/>
          <p:cNvSpPr/>
          <p:nvPr/>
        </p:nvSpPr>
        <p:spPr>
          <a:xfrm>
            <a:off x="4224528" y="2926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508760"/>
            <a:ext cx="4297680" cy="3474720"/>
          </a:xfrm>
          <a:prstGeom prst="roundRect">
            <a:avLst>
              <a:gd name="adj" fmla="val 2632"/>
            </a:avLst>
          </a:prstGeom>
          <a:solidFill>
            <a:srgbClr val="EFF6FF"/>
          </a:solidFill>
          <a:ln w="9525">
            <a:solidFill>
              <a:srgbClr val="0053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645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AuthSense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2066544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3σ anomaly detection per PSP × method × issuer dimension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58775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Detection in 12 minutes — automatic alert with GMV impact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310896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Root cause isolated to 3 dimensions in seconds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363016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Playbook-driven remediation — any analyst can execute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4151376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GMV impact shown throughout incident lifecycle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5166360"/>
            <a:ext cx="8595360" cy="594360"/>
          </a:xfrm>
          <a:prstGeom prst="roundRect">
            <a:avLst>
              <a:gd name="adj" fmla="val 9231"/>
            </a:avLst>
          </a:prstGeom>
          <a:solidFill>
            <a:srgbClr val="EFF6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5212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5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Every auth failure is already logged. The data exists. AuthSense is the intelligence layer that turns raw PSP logs into a real-time ops console — exactly as the PhonePe ops intelligence layer did for offer operations.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Detect. Diagnose. Remediate. Close. Repeat.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128016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0A1628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41832" y="1389888"/>
            <a:ext cx="621792" cy="621792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3898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21214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578608"/>
            <a:ext cx="1874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PSP transaction feeds AuthSense in real-time. Auth rates computed per PSP × payment method × issuer dimension every 60 seconds. Baseline from rolling 90-minute window.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21992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41448" y="128016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0A1628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389888"/>
            <a:ext cx="621792" cy="621792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13898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32888" y="21214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3σ Anomaly Detection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32888" y="2578608"/>
            <a:ext cx="1874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auth rate drops 3+ standard deviations below baseline, alert fires automatically. Detection time: typically 12 minutes after onset. GMV impact estimated instantly at current transaction volume.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54296" y="128016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0A1628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67528" y="1389888"/>
            <a:ext cx="621792" cy="621792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20" name="Text 18"/>
          <p:cNvSpPr/>
          <p:nvPr/>
        </p:nvSpPr>
        <p:spPr>
          <a:xfrm>
            <a:off x="5367528" y="13898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45736" y="21214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Heatmap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45736" y="2578608"/>
            <a:ext cx="1874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major UK issuers × 5 payment methods grid. Color-coded failure rates. Root cause isolated from "something is wrong" to "Barclays Visa Debit via Worldpay" — in seconds, not hours.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47688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67144" y="128016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0A1628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80376" y="1389888"/>
            <a:ext cx="621792" cy="621792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26" name="Text 24"/>
          <p:cNvSpPr/>
          <p:nvPr/>
        </p:nvSpPr>
        <p:spPr>
          <a:xfrm>
            <a:off x="7580376" y="13898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58584" y="21214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Remediation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58584" y="2578608"/>
            <a:ext cx="1874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incident type has a defined 5-step playbook. Re-route to backup PSP, adjust retry timing, escalate to issuer. Any analyst executes — no dependency on senior engineer on call.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376672"/>
            <a:ext cx="8686800" cy="594360"/>
          </a:xfrm>
          <a:prstGeom prst="roundRect">
            <a:avLst>
              <a:gd name="adj" fmla="val 9231"/>
            </a:avLst>
          </a:prstGeom>
          <a:solidFill>
            <a:srgbClr val="0D2040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542239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proof: Unified ops intelligence layer rebuilt 6 siloed workflows into one console with automated breach classification — TAT 2 days → 4 hours, −68% escalation tickets. Identical architecture.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Screens — From Live Overview to Incident Resolution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261872"/>
            <a:ext cx="2084832" cy="4526280"/>
          </a:xfrm>
          <a:prstGeom prst="roundRect">
            <a:avLst>
              <a:gd name="adj" fmla="val 4386"/>
            </a:avLst>
          </a:prstGeom>
          <a:solidFill>
            <a:srgbClr val="FFF8F8"/>
          </a:solidFill>
          <a:ln w="6350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83464" y="1325880"/>
            <a:ext cx="1975104" cy="274320"/>
          </a:xfrm>
          <a:prstGeom prst="roundRect">
            <a:avLst>
              <a:gd name="adj" fmla="val 16667"/>
            </a:avLst>
          </a:prstGeom>
          <a:solidFill>
            <a:srgbClr val="E2001A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" y="132588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Auth Overview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691640"/>
            <a:ext cx="19019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PSP-level auth rates, transaction volume, latency. 24h trend chart. Anomaly alert banner with GMV impact estimate. One-click to alert detail.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3200400"/>
            <a:ext cx="1901952" cy="9144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Worldpay  94.1% 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Adyen     99.2% 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Stripe    98.7% 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ALT-0847 ACTIVE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9736" y="1261872"/>
            <a:ext cx="2084832" cy="4526280"/>
          </a:xfrm>
          <a:prstGeom prst="roundRect">
            <a:avLst>
              <a:gd name="adj" fmla="val 4386"/>
            </a:avLst>
          </a:prstGeom>
          <a:solidFill>
            <a:srgbClr val="FFF8F8"/>
          </a:solidFill>
          <a:ln w="6350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325880"/>
            <a:ext cx="1975104" cy="274320"/>
          </a:xfrm>
          <a:prstGeom prst="roundRect">
            <a:avLst>
              <a:gd name="adj" fmla="val 16667"/>
            </a:avLst>
          </a:prstGeom>
          <a:solidFill>
            <a:srgbClr val="E2001A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132588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Alert Detail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51176" y="1691640"/>
            <a:ext cx="19019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PSP × method × issuer breakdown. Estimated GMV impact per minute. Recommended action (re-route to backup PSP) with 1-click execution.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51176" y="3200400"/>
            <a:ext cx="1901952" cy="9144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/>
        </p:spPr>
      </p:sp>
      <p:sp>
        <p:nvSpPr>
          <p:cNvPr id="17" name="Text 15"/>
          <p:cNvSpPr/>
          <p:nvPr/>
        </p:nvSpPr>
        <p:spPr>
          <a:xfrm>
            <a:off x="2587752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PSP:    Worldpay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Method: Visa Debit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Rate:   91.2% 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Impact: £2,400/min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90872" y="1261872"/>
            <a:ext cx="2084832" cy="4526280"/>
          </a:xfrm>
          <a:prstGeom prst="roundRect">
            <a:avLst>
              <a:gd name="adj" fmla="val 4386"/>
            </a:avLst>
          </a:prstGeom>
          <a:solidFill>
            <a:srgbClr val="FFF8F8"/>
          </a:solidFill>
          <a:ln w="6350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45736" y="1325880"/>
            <a:ext cx="1975104" cy="274320"/>
          </a:xfrm>
          <a:prstGeom prst="roundRect">
            <a:avLst>
              <a:gd name="adj" fmla="val 16667"/>
            </a:avLst>
          </a:prstGeom>
          <a:solidFill>
            <a:srgbClr val="E2001A"/>
          </a:solidFill>
          <a:ln/>
        </p:spPr>
      </p:sp>
      <p:sp>
        <p:nvSpPr>
          <p:cNvPr id="20" name="Text 18"/>
          <p:cNvSpPr/>
          <p:nvPr/>
        </p:nvSpPr>
        <p:spPr>
          <a:xfrm>
            <a:off x="4745736" y="132588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Issuer Heatmap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82312" y="1691640"/>
            <a:ext cx="19019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issuers × 5 methods grid. Color-coded failure rates. Recommended routing action per cell. Procurement evidence over time.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82312" y="3200400"/>
            <a:ext cx="1901952" cy="9144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/>
        </p:spPr>
      </p:sp>
      <p:sp>
        <p:nvSpPr>
          <p:cNvPr id="23" name="Text 21"/>
          <p:cNvSpPr/>
          <p:nvPr/>
        </p:nvSpPr>
        <p:spPr>
          <a:xfrm>
            <a:off x="4818888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Visa  MC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Barcl  87% ■ 98%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HSBC   93% □ 96%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Lloyds 99% ✓ 99%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22008" y="1261872"/>
            <a:ext cx="2084832" cy="4526280"/>
          </a:xfrm>
          <a:prstGeom prst="roundRect">
            <a:avLst>
              <a:gd name="adj" fmla="val 4386"/>
            </a:avLst>
          </a:prstGeom>
          <a:solidFill>
            <a:srgbClr val="FFF8F8"/>
          </a:solidFill>
          <a:ln w="6350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76872" y="1325880"/>
            <a:ext cx="1975104" cy="274320"/>
          </a:xfrm>
          <a:prstGeom prst="roundRect">
            <a:avLst>
              <a:gd name="adj" fmla="val 16667"/>
            </a:avLst>
          </a:prstGeom>
          <a:solidFill>
            <a:srgbClr val="E2001A"/>
          </a:solidFill>
          <a:ln/>
        </p:spPr>
      </p:sp>
      <p:sp>
        <p:nvSpPr>
          <p:cNvPr id="26" name="Text 24"/>
          <p:cNvSpPr/>
          <p:nvPr/>
        </p:nvSpPr>
        <p:spPr>
          <a:xfrm>
            <a:off x="6976872" y="132588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Remediation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13448" y="1691640"/>
            <a:ext cx="19019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incident playbook. Step-locked progression. Incident log with timestamp and GMV impact. MTTR tracked per incident type for SLA reporting.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13448" y="3200400"/>
            <a:ext cx="1901952" cy="9144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/>
        </p:spPr>
      </p:sp>
      <p:sp>
        <p:nvSpPr>
          <p:cNvPr id="29" name="Text 27"/>
          <p:cNvSpPr/>
          <p:nvPr/>
        </p:nvSpPr>
        <p:spPr>
          <a:xfrm>
            <a:off x="7050024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 ✓ Confirmed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 ✓ Isolated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 → Re-route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 □ Verify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610819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tesco-authsense-prototype.html · All 4 screens interactive · Alert → re-route → playbook flow live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Minute Saved on Detection and Resolution Is Recovered GMV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&amp; Detection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10204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62763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47088" y="1627632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47088" y="1901952"/>
            <a:ext cx="245059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4+ hours via complaints to 12 minutes via 3σ threshold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414016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10204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24688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47088" y="246888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per incident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47088" y="2743200"/>
            <a:ext cx="245059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Playbook-driven remediation vs ad-hoc on-call investigation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255264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10204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" y="331012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dims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47088" y="331012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speed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47088" y="3584448"/>
            <a:ext cx="245059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 × method × issuer breakdown narrows cause in seconds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4096512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10204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" y="4151376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847088" y="415137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documented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47088" y="4425696"/>
            <a:ext cx="245059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for regulatory SLA reporting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0" y="12344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Commercial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572768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10204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73168" y="162763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£2,400/min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36208" y="1627632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per incident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36208" y="1901952"/>
            <a:ext cx="245059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GMV for each minute of detection/resolution time saved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414016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10204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73168" y="24688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−60%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36208" y="246888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alerts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36208" y="2743200"/>
            <a:ext cx="245059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Per-method thresholds vs aggregate global baseline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255264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10204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73168" y="331012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36208" y="331012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tender win rate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36208" y="3584448"/>
            <a:ext cx="245059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auth data as compliance evidence in city tender submissions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4096512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10204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73168" y="4151376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 leverage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36208" y="415137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negotiation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36208" y="4425696"/>
            <a:ext cx="245059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heatmap data quantifies PSP performance gaps for renegotiation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462272" y="1234440"/>
            <a:ext cx="18288" cy="4892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1" name="Shape 39"/>
          <p:cNvSpPr/>
          <p:nvPr/>
        </p:nvSpPr>
        <p:spPr>
          <a:xfrm>
            <a:off x="274320" y="5943600"/>
            <a:ext cx="8595360" cy="685800"/>
          </a:xfrm>
          <a:prstGeom prst="roundRect">
            <a:avLst>
              <a:gd name="adj" fmla="val 8000"/>
            </a:avLst>
          </a:prstGeom>
          <a:solidFill>
            <a:srgbClr val="1A0810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599846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£2,400 GMV per minute of incident duration, shaving 3 hours off detection time alone recovers £432,000 per major incident. AuthSense pays for itself on the first serious auth degradation.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4480560" y="0"/>
            <a:ext cx="4663440" cy="51435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0116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PhonePe Ops Intelligence Layer — Applied to Tesco Payments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" y="1280160"/>
            <a:ext cx="4069080" cy="1005840"/>
          </a:xfrm>
          <a:prstGeom prst="roundRect">
            <a:avLst>
              <a:gd name="adj" fmla="val 6364"/>
            </a:avLst>
          </a:prstGeom>
          <a:solidFill>
            <a:srgbClr val="10204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335024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6 siloed ops workflows (offer ops, merchant ops, dispute ops) into unified intelligence console with automated breach classification → TAT 2 days → 4 hours, −68% escalation tickets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2377440"/>
            <a:ext cx="4069080" cy="1005840"/>
          </a:xfrm>
          <a:prstGeom prst="roundRect">
            <a:avLst>
              <a:gd name="adj" fmla="val 6364"/>
            </a:avLst>
          </a:prstGeom>
          <a:solidFill>
            <a:srgbClr val="10204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432304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Propensity-to-Transact ML with real-time per-user scoring — same baseline anomaly detection principle now applied to PSP auth rates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3474720"/>
            <a:ext cx="4069080" cy="1005840"/>
          </a:xfrm>
          <a:prstGeom prst="roundRect">
            <a:avLst>
              <a:gd name="adj" fmla="val 6364"/>
            </a:avLst>
          </a:prstGeom>
          <a:solidFill>
            <a:srgbClr val="10204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3529584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₹100Cr rewards portfolio ops with health score per brand — same methodology as AuthSense health score per payment method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4572000"/>
            <a:ext cx="4069080" cy="1005840"/>
          </a:xfrm>
          <a:prstGeom prst="roundRect">
            <a:avLst>
              <a:gd name="adj" fmla="val 6364"/>
            </a:avLst>
          </a:prstGeom>
          <a:solidFill>
            <a:srgbClr val="10204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4626864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checkout conversion redesign (22% lift) — deep understanding of payment failure impact on UX and GMV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1280160"/>
            <a:ext cx="42519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335024"/>
            <a:ext cx="3977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AuthSense unified console — same architecture, 6 siloed PSP portals → one real-time dashboard with automated anomaly classification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2377440"/>
            <a:ext cx="42519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432304"/>
            <a:ext cx="3977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AuthSense 3σ anomaly detection — same real-time scoring principle, auth rate deviation instead of purchase intent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3474720"/>
            <a:ext cx="42519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3529584"/>
            <a:ext cx="3977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AuthSense per-method health monitoring — same health score pattern, payment method instead of brand partner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4572000"/>
            <a:ext cx="42519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4626864"/>
            <a:ext cx="3977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AuthSense GMV impact quantification — deep fluency in the business value of every auth recovery percentage point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5715000"/>
            <a:ext cx="8686800" cy="640080"/>
          </a:xfrm>
          <a:prstGeom prst="roundRect">
            <a:avLst>
              <a:gd name="adj" fmla="val 8571"/>
            </a:avLst>
          </a:prstGeom>
          <a:solidFill>
            <a:srgbClr val="E2001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5760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PhonePe ops intelligence layer cut TAT from 2 days to 4 hours and eliminated 68% of escalations. AuthSense applies the same architecture to payment ops — with the same expected outcome.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— Read-Only to Full Remediation Ownership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261872"/>
            <a:ext cx="2816352" cy="3749040"/>
          </a:xfrm>
          <a:prstGeom prst="roundRect">
            <a:avLst>
              <a:gd name="adj" fmla="val 3247"/>
            </a:avLst>
          </a:prstGeom>
          <a:solidFill>
            <a:srgbClr val="10204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01752" y="1353312"/>
            <a:ext cx="2670048" cy="329184"/>
          </a:xfrm>
          <a:prstGeom prst="roundRect">
            <a:avLst>
              <a:gd name="adj" fmla="val 13889"/>
            </a:avLst>
          </a:prstGeom>
          <a:solidFill>
            <a:srgbClr val="E2001A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1353312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1764792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Month 1–2: Read-Only Monitoring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2331720"/>
            <a:ext cx="259689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AuthSense in read-only mode alongside existing PSP portals. Build PSP × method × issuer baseline data. Validate 3σ alert thresholds vs historical incidents. Measure detection time vs current lag.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1261872"/>
            <a:ext cx="2816352" cy="3749040"/>
          </a:xfrm>
          <a:prstGeom prst="roundRect">
            <a:avLst>
              <a:gd name="adj" fmla="val 3247"/>
            </a:avLst>
          </a:prstGeom>
          <a:solidFill>
            <a:srgbClr val="10204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00984" y="1353312"/>
            <a:ext cx="2670048" cy="329184"/>
          </a:xfrm>
          <a:prstGeom prst="roundRect">
            <a:avLst>
              <a:gd name="adj" fmla="val 13889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300984" y="1353312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764792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Month 3–4: Live Alerting + Playbooks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331720"/>
            <a:ext cx="259689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real-time alerting with GMV impact estimates. Build 5 incident-type playbooks with ops team. Run A/B: AuthSense-detected incidents vs complaint-detected incidents — measure MTTR delta.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27064" y="1261872"/>
            <a:ext cx="2816352" cy="3749040"/>
          </a:xfrm>
          <a:prstGeom prst="roundRect">
            <a:avLst>
              <a:gd name="adj" fmla="val 3247"/>
            </a:avLst>
          </a:prstGeom>
          <a:solidFill>
            <a:srgbClr val="10204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0216" y="1353312"/>
            <a:ext cx="2670048" cy="329184"/>
          </a:xfrm>
          <a:prstGeom prst="roundRect">
            <a:avLst>
              <a:gd name="adj" fmla="val 13889"/>
            </a:avLst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6300216" y="1353312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36792" y="1764792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Month 5–6: Primary Ops Surface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36792" y="2331720"/>
            <a:ext cx="259689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AuthSense becomes primary payment ops monitoring surface, replacing individual PSP portal monitoring. Ops SLA updated to 12-minute detection target. Issuer heatmap data fed into PSP contract review cycle.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5193792"/>
            <a:ext cx="8686800" cy="1234440"/>
          </a:xfrm>
          <a:prstGeom prst="roundRect">
            <a:avLst>
              <a:gd name="adj" fmla="val 5926"/>
            </a:avLst>
          </a:prstGeom>
          <a:solidFill>
            <a:srgbClr val="0D2040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52669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to Ship This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5541264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to PSP transaction logs (Worldpay, Adyen, Stripe, Braintree) — read access for baseline model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engineering support to pipe PSP webhooks into AuthSense dashboard (weeks 2–4)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Ops team engagement to co-build incident playbooks (1 hour workshop per incident type)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0" y="656539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 |  avaghadeajay009@gmail.com  |  +91 9561558439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AuthSense — Tesco Payment Authorization Intelligence</dc:title>
  <dc:subject>PptxGenJS Presentation</dc:subject>
  <dc:creator>PptxGenJS</dc:creator>
  <cp:lastModifiedBy>PptxGenJS</cp:lastModifiedBy>
  <cp:revision>1</cp:revision>
  <dcterms:created xsi:type="dcterms:W3CDTF">2026-06-01T05:31:10Z</dcterms:created>
  <dcterms:modified xsi:type="dcterms:W3CDTF">2026-06-01T05:31:10Z</dcterms:modified>
</cp:coreProperties>
</file>