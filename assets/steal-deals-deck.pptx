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5486400" cy="5486400"/>
          </a:xfrm>
          <a:prstGeom prst="ellipse">
            <a:avLst/>
          </a:prstGeom>
          <a:solidFill>
            <a:srgbClr val="FF5A1F">
              <a:alpha val="12000"/>
            </a:srgbClr>
          </a:solidFill>
          <a:ln w="12700">
            <a:solidFill>
              <a:srgbClr val="FF5A1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FF5A1F">
              <a:alpha val="8000"/>
            </a:srgbClr>
          </a:solidFill>
          <a:ln w="12700">
            <a:solidFill>
              <a:srgbClr val="FF5A1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463040"/>
            <a:ext cx="54864" cy="2011680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17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VENTURE PROPOSAL — GROCERY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Steal Deals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Flash-priced grocery items triggered by cart context.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Vendor-funded. Non-intrusive. Habit-forming.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961120" y="20116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[Fire emoji]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0" y="1645920"/>
            <a:ext cx="2286000" cy="2286000"/>
          </a:xfrm>
          <a:prstGeom prst="ellipse">
            <a:avLst/>
          </a:prstGeom>
          <a:solidFill>
            <a:srgbClr val="FF5A1F">
              <a:alpha val="30000"/>
            </a:srgbClr>
          </a:solidFill>
          <a:ln w="12700">
            <a:solidFill>
              <a:srgbClr val="FF5A1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309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04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talabat leadership  ·  New Ventures  ·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D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2D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Grocery shoppers feel no delight.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2D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just check out.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474720" cy="3200400"/>
          </a:xfrm>
          <a:prstGeom prst="rect">
            <a:avLst/>
          </a:prstGeom>
          <a:solidFill>
            <a:srgbClr val="FDFAF8"/>
          </a:solidFill>
          <a:ln w="6350">
            <a:solidFill>
              <a:srgbClr val="EDE0D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grocery sessions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zero discovery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4930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search for the same items every week. No surprise, no delight — just task completion.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011680"/>
            <a:ext cx="3474720" cy="3200400"/>
          </a:xfrm>
          <a:prstGeom prst="rect">
            <a:avLst/>
          </a:prstGeom>
          <a:solidFill>
            <a:srgbClr val="FDFAF8"/>
          </a:solidFill>
          <a:ln w="6350">
            <a:solidFill>
              <a:srgbClr val="EDE0D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12–18%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480560" y="2834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grocery SKUs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8056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Near-expiry waste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34930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discard or discount off-platform. Talabat earns nothing on this margin.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2011680"/>
            <a:ext cx="3474720" cy="3200400"/>
          </a:xfrm>
          <a:prstGeom prst="rect">
            <a:avLst/>
          </a:prstGeom>
          <a:solidFill>
            <a:srgbClr val="FDFAF8"/>
          </a:solidFill>
          <a:ln w="6350">
            <a:solidFill>
              <a:srgbClr val="EDE0D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29600" y="21945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6.2B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229600" y="28346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grocery market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0" y="3154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Untapped deal appetite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349300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Noon, Carrefour run flash deals. Talabat grocery has no price-shock moment.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0B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Talabat internal data, MENA grocery trend report 2025, YouGov UAE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Steal Deals: flash-priced items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triggered by cart context.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063240" y="3246120"/>
            <a:ext cx="320040" cy="0"/>
          </a:xfrm>
          <a:prstGeom prst="line">
            <a:avLst/>
          </a:prstGeom>
          <a:noFill/>
          <a:ln w="19050">
            <a:solidFill>
              <a:srgbClr val="503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3090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03020"/>
                </a:solidFill>
              </a:rPr>
              <a:t>-&gt;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560320" cy="292608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194560"/>
            <a:ext cx="402336" cy="237744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9456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reads context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99923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value, category mix, and shopper tier determine which deals to surface — automatically.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97880" y="3246120"/>
            <a:ext cx="320040" cy="0"/>
          </a:xfrm>
          <a:prstGeom prst="line">
            <a:avLst/>
          </a:prstGeom>
          <a:noFill/>
          <a:ln w="19050">
            <a:solidFill>
              <a:srgbClr val="503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3090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03020"/>
                </a:solidFill>
              </a:rPr>
              <a:t>-&gt;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383280" y="2011680"/>
            <a:ext cx="2560320" cy="292608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566160" y="2194560"/>
            <a:ext cx="402336" cy="237744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66160" y="219456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66160" y="2606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surface inline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66160" y="299923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as a horizontal scroll section inside the checkout page itself — no separate page required.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732520" y="3246120"/>
            <a:ext cx="320040" cy="0"/>
          </a:xfrm>
          <a:prstGeom prst="line">
            <a:avLst/>
          </a:prstGeom>
          <a:noFill/>
          <a:ln w="19050">
            <a:solidFill>
              <a:srgbClr val="503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3090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03020"/>
                </a:solidFill>
              </a:rPr>
              <a:t>-&gt;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217920" y="2011680"/>
            <a:ext cx="2560320" cy="292608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2194560"/>
            <a:ext cx="402336" cy="237744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19456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0" y="2606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1-tap add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0" y="299923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added instantly without navigation. Deal price appears in the cart summary immediately.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052560" y="2011680"/>
            <a:ext cx="2560320" cy="292608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35440" y="2194560"/>
            <a:ext cx="402336" cy="237744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35440" y="2194560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235440" y="26060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Vendor-funded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235440" y="299923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pay listing and margin fees to clear near-expiry or trial new SKUs. Zero cost to Talabat.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solidFill>
            <a:srgbClr val="FF5A1F">
              <a:alpha val="15000"/>
            </a:srgbClr>
          </a:solidFill>
          <a:ln w="6350">
            <a:solidFill>
              <a:srgbClr val="FF5A1F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285232"/>
            <a:ext cx="10789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Shoppers are most willing to add low-cost items when they're already in an active checkout mindset — friction is at its lowest.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D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2D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Deals add value without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2D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interrupting the core flow.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7132320" cy="1234440"/>
          </a:xfrm>
          <a:prstGeom prst="rect">
            <a:avLst/>
          </a:prstGeom>
          <a:solidFill>
            <a:srgbClr val="FDFAF8"/>
          </a:solidFill>
          <a:ln w="6350">
            <a:solidFill>
              <a:srgbClr val="EDE0D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965960"/>
            <a:ext cx="54864" cy="1234440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75688"/>
            <a:ext cx="384048" cy="219456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0756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70432" y="2057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Home: one banner, no noise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70432" y="2368296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page shows a single lean banner — 'Steal Deals · 23 live'. Tapping opens the deals page. No timer strips, no deal cards, no category hijack. Home hierarchy is preserved.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7132320" cy="1234440"/>
          </a:xfrm>
          <a:prstGeom prst="rect">
            <a:avLst/>
          </a:prstGeom>
          <a:solidFill>
            <a:srgbClr val="FDFAF8"/>
          </a:solidFill>
          <a:ln w="6350">
            <a:solidFill>
              <a:srgbClr val="EDE0D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337560"/>
            <a:ext cx="54864" cy="1234440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447288"/>
            <a:ext cx="384048" cy="219456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4472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70432" y="3429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Cart: inline, never a redirect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70432" y="3739896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appear as a horizontal-scroll section inside the cart page. Max 140px vertical height. The shopper never leaves checkout. One tap adds the item and the savings line appears instantly in the order summary.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709160"/>
            <a:ext cx="7132320" cy="1234440"/>
          </a:xfrm>
          <a:prstGeom prst="rect">
            <a:avLst/>
          </a:prstGeom>
          <a:solidFill>
            <a:srgbClr val="FDFAF8"/>
          </a:solidFill>
          <a:ln w="6350">
            <a:solidFill>
              <a:srgbClr val="EDE0D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4709160"/>
            <a:ext cx="54864" cy="1234440"/>
          </a:xfrm>
          <a:prstGeom prst="rect">
            <a:avLst/>
          </a:prstGeom>
          <a:solidFill>
            <a:srgbClr val="1A6DCC"/>
          </a:solidFill>
          <a:ln w="12700">
            <a:solidFill>
              <a:srgbClr val="1A6D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4818888"/>
            <a:ext cx="384048" cy="219456"/>
          </a:xfrm>
          <a:prstGeom prst="rect">
            <a:avLst/>
          </a:prstGeom>
          <a:solidFill>
            <a:srgbClr val="1A6DCC"/>
          </a:solidFill>
          <a:ln w="12700">
            <a:solidFill>
              <a:srgbClr val="1A6D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81888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70432" y="4800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Confirmation: order first, savings second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70432" y="5111496"/>
            <a:ext cx="6400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confirmation leads with the order itemized list and ETA. The Steal Deal savings widget sits below — visible, but not competing. Lifetime savings total grows with each order, building habit.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29600" y="1965960"/>
            <a:ext cx="3383280" cy="411480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2103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guardrails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366760" y="2560320"/>
            <a:ext cx="3108960" cy="713232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2596896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140px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9464040" y="26517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height of deals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in cart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366760" y="3383280"/>
            <a:ext cx="3108960" cy="713232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0" y="3419856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tap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464040" y="34747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to add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deal item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366760" y="4206240"/>
            <a:ext cx="3108960" cy="713232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0" y="4242816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464040" y="4297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navigated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away during checkout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366760" y="5029200"/>
            <a:ext cx="3108960" cy="713232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12480" y="5065776"/>
            <a:ext cx="1005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9464040" y="51206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on confirmation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(order + savings)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D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2D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Proven model. No MENA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2D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quick-commerce equivalent.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5303520" cy="3474720"/>
          </a:xfrm>
          <a:prstGeom prst="rect">
            <a:avLst/>
          </a:prstGeom>
          <a:solidFill>
            <a:srgbClr val="FDFAF8"/>
          </a:solidFill>
          <a:ln w="6350">
            <a:solidFill>
              <a:srgbClr val="EDE0D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194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by Swiggy Instamart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578608"/>
            <a:ext cx="5212080" cy="402336"/>
          </a:xfrm>
          <a:prstGeom prst="rect">
            <a:avLst/>
          </a:prstGeom>
          <a:solidFill>
            <a:srgbClr val="F9F4F0"/>
          </a:solidFill>
          <a:ln w="12700">
            <a:solidFill>
              <a:srgbClr val="F9F4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2651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Pocket Hero — flash grocery deals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090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30906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— 18 months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456432"/>
            <a:ext cx="5212080" cy="402336"/>
          </a:xfrm>
          <a:prstGeom prst="rect">
            <a:avLst/>
          </a:prstGeom>
          <a:solidFill>
            <a:srgbClr val="F9F4F0"/>
          </a:solidFill>
          <a:ln w="12700">
            <a:solidFill>
              <a:srgbClr val="F9F4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529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AOV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529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+8–12% on deal sessions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968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96849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users reorder 2.3x faster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4360" y="4334256"/>
            <a:ext cx="5212080" cy="402336"/>
          </a:xfrm>
          <a:prstGeom prst="rect">
            <a:avLst/>
          </a:prstGeom>
          <a:solidFill>
            <a:srgbClr val="F9F4F0"/>
          </a:solidFill>
          <a:ln w="12700">
            <a:solidFill>
              <a:srgbClr val="F9F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407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adoption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4407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opt-in within 90 days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gap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94560" y="4846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Talabat equivalent — first-mover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2011680"/>
            <a:ext cx="5212080" cy="347472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29400" y="21945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addressable opportunity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2770632"/>
            <a:ext cx="4754880" cy="201168"/>
          </a:xfrm>
          <a:prstGeom prst="rect">
            <a:avLst/>
          </a:prstGeom>
          <a:solidFill>
            <a:srgbClr val="FF5A1F">
              <a:alpha val="30000"/>
            </a:srgbClr>
          </a:solidFill>
          <a:ln w="12700">
            <a:solidFill>
              <a:srgbClr val="FF5A1F">
                <a:alpha val="3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2697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grocery q-commerce TAM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875520" y="269748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6.2B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83680" y="3282696"/>
            <a:ext cx="3566160" cy="201168"/>
          </a:xfrm>
          <a:prstGeom prst="rect">
            <a:avLst/>
          </a:prstGeom>
          <a:solidFill>
            <a:srgbClr val="FF8552">
              <a:alpha val="30000"/>
            </a:srgbClr>
          </a:solidFill>
          <a:ln w="12700">
            <a:solidFill>
              <a:srgbClr val="FF8552">
                <a:alpha val="3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320954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Talabat grocery GMV (est. 2025)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875520" y="32095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85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820M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583680" y="3794760"/>
            <a:ext cx="2560320" cy="201168"/>
          </a:xfrm>
          <a:prstGeom prst="rect">
            <a:avLst/>
          </a:prstGeom>
          <a:solidFill>
            <a:srgbClr val="FF9966">
              <a:alpha val="30000"/>
            </a:srgbClr>
          </a:solidFill>
          <a:ln w="12700">
            <a:solidFill>
              <a:srgbClr val="FF9966">
                <a:alpha val="3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83680" y="3721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Deal-eligible sessions / month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875520" y="372160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996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4.2M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0" y="4306824"/>
            <a:ext cx="1371600" cy="201168"/>
          </a:xfrm>
          <a:prstGeom prst="rect">
            <a:avLst/>
          </a:prstGeom>
          <a:solidFill>
            <a:srgbClr val="FFAA88">
              <a:alpha val="30000"/>
            </a:srgbClr>
          </a:solidFill>
          <a:ln w="12700">
            <a:solidFill>
              <a:srgbClr val="FFAA88">
                <a:alpha val="3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83680" y="42336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attach rate (Yr 1)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875520" y="4233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AA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583680" y="4818888"/>
            <a:ext cx="1920240" cy="201168"/>
          </a:xfrm>
          <a:prstGeom prst="rect">
            <a:avLst/>
          </a:prstGeom>
          <a:solidFill>
            <a:srgbClr val="00A86B">
              <a:alpha val="30000"/>
            </a:srgbClr>
          </a:solidFill>
          <a:ln w="12700">
            <a:solidFill>
              <a:srgbClr val="00A86B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47457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GMV / month (Yr 1)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875520" y="47457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3.1M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D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2D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Vendor-funded: Talabat earns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2D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every deal session.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743200" cy="1645920"/>
          </a:xfrm>
          <a:prstGeom prst="rect">
            <a:avLst/>
          </a:prstGeom>
          <a:solidFill>
            <a:srgbClr val="FDFAF8"/>
          </a:solidFill>
          <a:ln w="6350">
            <a:solidFill>
              <a:srgbClr val="EDE0D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011680"/>
            <a:ext cx="2743200" cy="54864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48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0–1.99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price range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sets floor price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2011680"/>
            <a:ext cx="2743200" cy="1645920"/>
          </a:xfrm>
          <a:prstGeom prst="rect">
            <a:avLst/>
          </a:prstGeom>
          <a:solidFill>
            <a:srgbClr val="FDFAF8"/>
          </a:solidFill>
          <a:ln w="6350">
            <a:solidFill>
              <a:srgbClr val="EDE0D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0" y="2011680"/>
            <a:ext cx="2743200" cy="5486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0" y="2148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15–25%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57600" y="2743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rate on deals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pays listing + margin fee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2011680"/>
            <a:ext cx="2743200" cy="1645920"/>
          </a:xfrm>
          <a:prstGeom prst="rect">
            <a:avLst/>
          </a:prstGeom>
          <a:solidFill>
            <a:srgbClr val="FDFAF8"/>
          </a:solidFill>
          <a:ln w="6350">
            <a:solidFill>
              <a:srgbClr val="EDE0D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2011680"/>
            <a:ext cx="2743200" cy="54864"/>
          </a:xfrm>
          <a:prstGeom prst="rect">
            <a:avLst/>
          </a:prstGeom>
          <a:solidFill>
            <a:srgbClr val="1A6DCC"/>
          </a:solidFill>
          <a:ln w="12700">
            <a:solidFill>
              <a:srgbClr val="1A6D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148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6D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+AED 4.80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583680" y="2743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cart AOV lift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 with a deal added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326880" y="2011680"/>
            <a:ext cx="2743200" cy="1645920"/>
          </a:xfrm>
          <a:prstGeom prst="rect">
            <a:avLst/>
          </a:prstGeom>
          <a:solidFill>
            <a:srgbClr val="FDFAF8"/>
          </a:solidFill>
          <a:ln w="6350">
            <a:solidFill>
              <a:srgbClr val="EDE0D8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326880" y="2011680"/>
            <a:ext cx="2743200" cy="54864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09760" y="21488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4A2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~0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9509760" y="27432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delivery cost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509760" y="3017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existing order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3886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P&amp;L — Month 12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197096"/>
            <a:ext cx="7863840" cy="320040"/>
          </a:xfrm>
          <a:prstGeom prst="rect">
            <a:avLst/>
          </a:prstGeom>
          <a:solidFill>
            <a:srgbClr val="F9F4F0"/>
          </a:solidFill>
          <a:ln w="12700">
            <a:solidFill>
              <a:srgbClr val="F9F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1520" y="42519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sessions (8% attach x 4.2M)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0" y="42519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336,000 / month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" y="4572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deal GMV per session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0" y="4572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1.25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837176"/>
            <a:ext cx="7863840" cy="320040"/>
          </a:xfrm>
          <a:prstGeom prst="rect">
            <a:avLst/>
          </a:prstGeom>
          <a:solidFill>
            <a:srgbClr val="F9F4F0"/>
          </a:solidFill>
          <a:ln w="12700">
            <a:solidFill>
              <a:srgbClr val="F9F4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892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deal GMV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17920" y="48920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420,000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1520" y="52120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Talabat take rate (20%)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217920" y="52120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84,000 / month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5477256"/>
            <a:ext cx="7863840" cy="320040"/>
          </a:xfrm>
          <a:prstGeom prst="rect">
            <a:avLst/>
          </a:prstGeom>
          <a:solidFill>
            <a:srgbClr val="F9F4F0"/>
          </a:solidFill>
          <a:ln w="12700">
            <a:solidFill>
              <a:srgbClr val="F9F4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1520" y="55321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+ ops (shared infra)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17920" y="55321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AED 22,000 / month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" y="5852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contribution (Yr 1 exit rate)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17920" y="58521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62,000 / month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961120" y="2011680"/>
            <a:ext cx="2834640" cy="429768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0" y="2194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 Revenue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Multiplier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144000" y="2880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members get early access to Steal Deals — the strongest new Pro conversion hook.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9144000" y="3840480"/>
            <a:ext cx="2377440" cy="109728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44000" y="39319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+23%</a:t>
            </a:r>
            <a:endParaRPr lang="en-US" sz="3000" dirty="0"/>
          </a:p>
        </p:txBody>
      </p:sp>
      <p:sp>
        <p:nvSpPr>
          <p:cNvPr id="47" name="Text 45"/>
          <p:cNvSpPr/>
          <p:nvPr/>
        </p:nvSpPr>
        <p:spPr>
          <a:xfrm>
            <a:off x="9189720" y="44805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conversion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deal-exposed users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144000" y="5212080"/>
            <a:ext cx="2377440" cy="109728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144000" y="5303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3.1x</a:t>
            </a:r>
            <a:endParaRPr lang="en-US" sz="3000" dirty="0"/>
          </a:p>
        </p:txBody>
      </p:sp>
      <p:sp>
        <p:nvSpPr>
          <p:cNvPr id="50" name="Text 48"/>
          <p:cNvSpPr/>
          <p:nvPr/>
        </p:nvSpPr>
        <p:spPr>
          <a:xfrm>
            <a:off x="9189720" y="58521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LTV vs</a:t>
            </a:r>
            <a:endParaRPr lang="en-US" sz="9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non-Pro deal users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 JOURNEY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screens. One seamless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 experience.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417320" y="5321808"/>
            <a:ext cx="1901952" cy="0"/>
          </a:xfrm>
          <a:prstGeom prst="line">
            <a:avLst/>
          </a:prstGeom>
          <a:noFill/>
          <a:ln w="12700">
            <a:solidFill>
              <a:srgbClr val="503020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611880" y="5321808"/>
            <a:ext cx="1901952" cy="0"/>
          </a:xfrm>
          <a:prstGeom prst="line">
            <a:avLst/>
          </a:prstGeom>
          <a:noFill/>
          <a:ln w="12700">
            <a:solidFill>
              <a:srgbClr val="503020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5806440" y="5321808"/>
            <a:ext cx="1901952" cy="0"/>
          </a:xfrm>
          <a:prstGeom prst="line">
            <a:avLst/>
          </a:prstGeom>
          <a:noFill/>
          <a:ln w="12700">
            <a:solidFill>
              <a:srgbClr val="50302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8001000" y="5321808"/>
            <a:ext cx="1901952" cy="0"/>
          </a:xfrm>
          <a:prstGeom prst="line">
            <a:avLst/>
          </a:prstGeom>
          <a:noFill/>
          <a:ln w="12700">
            <a:solidFill>
              <a:srgbClr val="503020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48640" y="1965960"/>
            <a:ext cx="2103120" cy="324612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084832"/>
            <a:ext cx="384048" cy="219456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0848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1965960"/>
            <a:ext cx="2103120" cy="54864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8760" y="5257800"/>
            <a:ext cx="137160" cy="13716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23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743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lean banner.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home-page takeover.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816352" y="1965960"/>
            <a:ext cx="2103120" cy="324612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07792" y="2084832"/>
            <a:ext cx="384048" cy="219456"/>
          </a:xfrm>
          <a:prstGeom prst="rect">
            <a:avLst/>
          </a:prstGeom>
          <a:solidFill>
            <a:srgbClr val="FF9966"/>
          </a:solidFill>
          <a:ln w="12700">
            <a:solidFill>
              <a:srgbClr val="FF99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07792" y="20848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816352" y="1965960"/>
            <a:ext cx="2103120" cy="54864"/>
          </a:xfrm>
          <a:prstGeom prst="rect">
            <a:avLst/>
          </a:prstGeom>
          <a:solidFill>
            <a:srgbClr val="FF9966"/>
          </a:solidFill>
          <a:ln w="12700">
            <a:solidFill>
              <a:srgbClr val="FF99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76472" y="5257800"/>
            <a:ext cx="137160" cy="137160"/>
          </a:xfrm>
          <a:prstGeom prst="ellipse">
            <a:avLst/>
          </a:prstGeom>
          <a:solidFill>
            <a:srgbClr val="FF9966"/>
          </a:solidFill>
          <a:ln w="12700">
            <a:solidFill>
              <a:srgbClr val="FF99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07792" y="2423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Deals page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07792" y="2743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grid for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intent-driven shoppers.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084064" y="1965960"/>
            <a:ext cx="2103120" cy="324612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75504" y="2084832"/>
            <a:ext cx="384048" cy="219456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5504" y="20848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84064" y="1965960"/>
            <a:ext cx="2103120" cy="5486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44184" y="5257800"/>
            <a:ext cx="137160" cy="137160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75504" y="2423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 (key)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175504" y="2743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scroll section.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leaves checkout.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51776" y="1965960"/>
            <a:ext cx="2103120" cy="324612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43216" y="2084832"/>
            <a:ext cx="384048" cy="219456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43216" y="20848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51776" y="1965960"/>
            <a:ext cx="2103120" cy="54864"/>
          </a:xfrm>
          <a:prstGeom prst="rect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11896" y="5257800"/>
            <a:ext cx="137160" cy="137160"/>
          </a:xfrm>
          <a:prstGeom prst="ellipse">
            <a:avLst/>
          </a:prstGeom>
          <a:solidFill>
            <a:srgbClr val="F4A225"/>
          </a:solidFill>
          <a:ln w="12700">
            <a:solidFill>
              <a:srgbClr val="F4A22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43216" y="2423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Processing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443216" y="2743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wait +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celebration burst.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619488" y="1965960"/>
            <a:ext cx="2103120" cy="324612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710928" y="2084832"/>
            <a:ext cx="384048" cy="219456"/>
          </a:xfrm>
          <a:prstGeom prst="rect">
            <a:avLst/>
          </a:prstGeom>
          <a:solidFill>
            <a:srgbClr val="1A6DCC"/>
          </a:solidFill>
          <a:ln w="12700">
            <a:solidFill>
              <a:srgbClr val="1A6D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710928" y="20848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619488" y="1965960"/>
            <a:ext cx="2103120" cy="54864"/>
          </a:xfrm>
          <a:prstGeom prst="rect">
            <a:avLst/>
          </a:prstGeom>
          <a:solidFill>
            <a:srgbClr val="1A6DCC"/>
          </a:solidFill>
          <a:ln w="12700">
            <a:solidFill>
              <a:srgbClr val="1A6D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579608" y="5257800"/>
            <a:ext cx="137160" cy="137160"/>
          </a:xfrm>
          <a:prstGeom prst="ellipse">
            <a:avLst/>
          </a:prstGeom>
          <a:solidFill>
            <a:srgbClr val="1A6DCC"/>
          </a:solidFill>
          <a:ln w="12700">
            <a:solidFill>
              <a:srgbClr val="1A6D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10928" y="242316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Confirmation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710928" y="2743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first.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second.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Land, learn, then scale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across 8 markets.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57600" cy="365760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011680"/>
            <a:ext cx="3657600" cy="54864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48840"/>
            <a:ext cx="1554480" cy="201168"/>
          </a:xfrm>
          <a:prstGeom prst="rect">
            <a:avLst/>
          </a:prstGeom>
          <a:solidFill>
            <a:srgbClr val="FF5A1F">
              <a:alpha val="25000"/>
            </a:srgbClr>
          </a:solidFill>
          <a:ln w="12700">
            <a:solidFill>
              <a:srgbClr val="FF5A1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48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Wk 1-8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Dubai pilot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grocery vendors signed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3273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Near-expiry + trial SKUs only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6210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deal curation team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9684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5% attach rate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5120640"/>
            <a:ext cx="3291840" cy="365760"/>
          </a:xfrm>
          <a:prstGeom prst="rect">
            <a:avLst/>
          </a:prstGeom>
          <a:solidFill>
            <a:srgbClr val="FF5A1F">
              <a:alpha val="15000"/>
            </a:srgbClr>
          </a:solidFill>
          <a:ln w="12700">
            <a:solidFill>
              <a:srgbClr val="FF5A1F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51480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Go/no-go: AED 280K GMV in 8 weeks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34840" y="2011680"/>
            <a:ext cx="3657600" cy="365760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34840" y="2011680"/>
            <a:ext cx="3657600" cy="54864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2148840"/>
            <a:ext cx="1554480" cy="201168"/>
          </a:xfrm>
          <a:prstGeom prst="rect">
            <a:avLst/>
          </a:prstGeom>
          <a:solidFill>
            <a:srgbClr val="00A86B">
              <a:alpha val="25000"/>
            </a:srgbClr>
          </a:solidFill>
          <a:ln w="12700">
            <a:solidFill>
              <a:srgbClr val="00A86B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148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 Month 3-5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61772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UAE scale-up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61772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deal matching (ML)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3273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Cart-threshold unlocking live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36210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early-access feature ship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39684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8% attach rate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5120640"/>
            <a:ext cx="3291840" cy="365760"/>
          </a:xfrm>
          <a:prstGeom prst="rect">
            <a:avLst/>
          </a:prstGeom>
          <a:solidFill>
            <a:srgbClr val="00A86B">
              <a:alpha val="15000"/>
            </a:srgbClr>
          </a:solidFill>
          <a:ln w="12700">
            <a:solidFill>
              <a:srgbClr val="00A86B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51480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Go/no-go: +18% Pro conversion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321040" y="2011680"/>
            <a:ext cx="3657600" cy="365760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21040" y="2011680"/>
            <a:ext cx="3657600" cy="54864"/>
          </a:xfrm>
          <a:prstGeom prst="rect">
            <a:avLst/>
          </a:prstGeom>
          <a:solidFill>
            <a:srgbClr val="1A6DCC"/>
          </a:solidFill>
          <a:ln w="12700">
            <a:solidFill>
              <a:srgbClr val="1A6D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503920" y="2148840"/>
            <a:ext cx="1554480" cy="201168"/>
          </a:xfrm>
          <a:prstGeom prst="rect">
            <a:avLst/>
          </a:prstGeom>
          <a:solidFill>
            <a:srgbClr val="1A6DCC">
              <a:alpha val="25000"/>
            </a:srgbClr>
          </a:solidFill>
          <a:ln w="12700">
            <a:solidFill>
              <a:srgbClr val="1A6DCC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03920" y="214884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A6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3 - Month 6-12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50392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Multi-market + Beauty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8503920" y="29260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KSA, Kuwait, Jordan rollout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503920" y="32735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+ care SKUs added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03920" y="36210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self-serve portal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503920" y="39684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12% attach rate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503920" y="5120640"/>
            <a:ext cx="3291840" cy="365760"/>
          </a:xfrm>
          <a:prstGeom prst="rect">
            <a:avLst/>
          </a:prstGeom>
          <a:solidFill>
            <a:srgbClr val="1A6DCC">
              <a:alpha val="15000"/>
            </a:srgbClr>
          </a:solidFill>
          <a:ln w="12700">
            <a:solidFill>
              <a:srgbClr val="1A6DCC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49640" y="514807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6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Target: AED 62K net / month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D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0292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SUCCESS CRITERIA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8229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2D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know we've won when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2D1A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these numbers move.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1064240" cy="86868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9339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5856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Steal Deal attach rate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0" y="2084832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qualifying grocery sessions that include a Steal Deal add — target 8% by end of Month 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944368"/>
            <a:ext cx="11064240" cy="320040"/>
          </a:xfrm>
          <a:prstGeom prst="rect">
            <a:avLst/>
          </a:prstGeom>
          <a:solidFill>
            <a:srgbClr val="FFF0EA"/>
          </a:solidFill>
          <a:ln w="6350">
            <a:solidFill>
              <a:srgbClr val="EDE0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900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0" y="299008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0" y="29900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21040" y="299008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149840" y="29900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11064240" cy="411480"/>
          </a:xfrm>
          <a:prstGeom prst="rect">
            <a:avLst/>
          </a:prstGeom>
          <a:solidFill>
            <a:srgbClr val="F9F4F0"/>
          </a:solidFill>
          <a:ln w="12700">
            <a:solidFill>
              <a:srgbClr val="F9F4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337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828800" y="33375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click-through 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33375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22-28%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149840" y="3337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75818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28800" y="375818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section -&gt; add to cart CVR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758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321040" y="37581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35%+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149840" y="37581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4133088"/>
            <a:ext cx="11064240" cy="411480"/>
          </a:xfrm>
          <a:prstGeom prst="rect">
            <a:avLst/>
          </a:prstGeom>
          <a:solidFill>
            <a:srgbClr val="F9F4F0"/>
          </a:solidFill>
          <a:ln w="12700">
            <a:solidFill>
              <a:srgbClr val="F9F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178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28800" y="4178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repeat with deal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0" y="4178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 (base)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21040" y="41788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30%+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149840" y="4178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85800" y="45994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828800" y="45994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GMV per deal session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45994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321040" y="45994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AED 4.50+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149840" y="45994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974336"/>
            <a:ext cx="11064240" cy="411480"/>
          </a:xfrm>
          <a:prstGeom prst="rect">
            <a:avLst/>
          </a:prstGeom>
          <a:solidFill>
            <a:srgbClr val="F9F4F0"/>
          </a:solidFill>
          <a:ln w="12700">
            <a:solidFill>
              <a:srgbClr val="F9F4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502005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828800" y="50200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renewal rate (90 days)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0" y="50200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321040" y="50200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70%+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0149840" y="50200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&lt;50% = pause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" y="5440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828800" y="54406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1A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conversion lift from deals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0" y="5440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321040" y="5440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A8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+20% lift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149840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39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&lt;10% = reassess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457200"/>
            <a:ext cx="5943600" cy="5943600"/>
          </a:xfrm>
          <a:prstGeom prst="ellipse">
            <a:avLst/>
          </a:prstGeom>
          <a:solidFill>
            <a:srgbClr val="FF5A1F">
              <a:alpha val="10000"/>
            </a:srgbClr>
          </a:solidFill>
          <a:ln w="12700">
            <a:solidFill>
              <a:srgbClr val="FF5A1F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430000" y="274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03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54864" cy="457200"/>
          </a:xfrm>
          <a:prstGeom prst="rect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02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to ship in 8 weeks.</a:t>
            </a:r>
            <a:endParaRPr lang="en-US" sz="3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Give us the green light.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5029200" cy="150876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267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backend, 1 mobile, 1 data engineer. 8-week sprint to MVP. Shared infra — no new services required.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011680"/>
            <a:ext cx="5029200" cy="150876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22677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72200" y="260604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product designer for 4 weeks. Figma prototype ready — 80% of design work already done.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5029200" cy="150876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0050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Commercial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34340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vendor success manager to sign 10 Dubai launch partners. Targeting Almarai, Nadec, Kitco.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0" y="3749040"/>
            <a:ext cx="5029200" cy="1508760"/>
          </a:xfrm>
          <a:prstGeom prst="rect">
            <a:avLst/>
          </a:prstGeom>
          <a:solidFill>
            <a:srgbClr val="2A1200"/>
          </a:solidFill>
          <a:ln w="6350">
            <a:solidFill>
              <a:srgbClr val="503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400507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 Analytics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72200" y="4343400"/>
            <a:ext cx="45720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8000"/>
              </a:lnSpc>
              <a:buNone/>
            </a:pPr>
            <a:r>
              <a:rPr lang="en-US" sz="11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framework + deal performance dashboard. Standard event tracking — no custom data infra.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5486400"/>
            <a:ext cx="11064240" cy="54864"/>
          </a:xfrm>
          <a:prstGeom prst="rect">
            <a:avLst/>
          </a:prstGeom>
          <a:solidFill>
            <a:srgbClr val="503020"/>
          </a:solidFill>
          <a:ln w="12700">
            <a:solidFill>
              <a:srgbClr val="50302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" y="5413248"/>
            <a:ext cx="182880" cy="18288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-91440" y="5623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1: Kickoff + vendor sign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70632" y="5413248"/>
            <a:ext cx="182880" cy="18288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5623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2-4: Build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65192" y="5413248"/>
            <a:ext cx="182880" cy="18288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5623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5-6: Test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159752" y="5413248"/>
            <a:ext cx="182880" cy="18288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5623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7: Soft launch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354312" y="5413248"/>
            <a:ext cx="182880" cy="182880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0" y="5623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BBA8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8: Go live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Steal Deals — talabat New Venture Pitch v2</dc:title>
  <dc:subject>PptxGenJS Presentation</dc:subject>
  <dc:creator>PptxGenJS</dc:creator>
  <cp:lastModifiedBy>PptxGenJS</cp:lastModifiedBy>
  <cp:revision>1</cp:revision>
  <dcterms:created xsi:type="dcterms:W3CDTF">2026-05-20T14:28:36Z</dcterms:created>
  <dcterms:modified xsi:type="dcterms:W3CDTF">2026-05-20T14:28:36Z</dcterms:modified>
</cp:coreProperties>
</file>