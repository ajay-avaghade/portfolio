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6400800" y="-182880"/>
            <a:ext cx="164592" cy="8229600"/>
          </a:xfrm>
          <a:prstGeom prst="rect">
            <a:avLst/>
          </a:prstGeom>
          <a:solidFill>
            <a:srgbClr val="2563E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6812280" y="-182880"/>
            <a:ext cx="164592" cy="8229600"/>
          </a:xfrm>
          <a:prstGeom prst="rect">
            <a:avLst/>
          </a:prstGeom>
          <a:solidFill>
            <a:srgbClr val="2563EB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200000">
            <a:off x="7223760" y="-182880"/>
            <a:ext cx="164592" cy="8229600"/>
          </a:xfrm>
          <a:prstGeom prst="rect">
            <a:avLst/>
          </a:prstGeom>
          <a:solidFill>
            <a:srgbClr val="2563EB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1200000">
            <a:off x="7635240" y="-182880"/>
            <a:ext cx="164592" cy="8229600"/>
          </a:xfrm>
          <a:prstGeom prst="rect">
            <a:avLst/>
          </a:prstGeom>
          <a:solidFill>
            <a:srgbClr val="2563EB">
              <a:alpha val="4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200000">
            <a:off x="8046720" y="-182880"/>
            <a:ext cx="164592" cy="8229600"/>
          </a:xfrm>
          <a:prstGeom prst="rect">
            <a:avLst/>
          </a:prstGeom>
          <a:solidFill>
            <a:srgbClr val="2563EB">
              <a:alpha val="5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200000">
            <a:off x="8458200" y="-182880"/>
            <a:ext cx="164592" cy="8229600"/>
          </a:xfrm>
          <a:prstGeom prst="rect">
            <a:avLst/>
          </a:prstGeom>
          <a:solidFill>
            <a:srgbClr val="2563EB">
              <a:alpha val="6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47472"/>
            <a:ext cx="2926080" cy="256032"/>
          </a:xfrm>
          <a:prstGeom prst="rect">
            <a:avLst>
              <a:gd name="adj" fmla="val 50000"/>
            </a:avLst>
          </a:prstGeom>
          <a:solidFill>
            <a:srgbClr val="2563EB">
              <a:alpha val="2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4747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· CEEMEA CORE CASH PAYMENTS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38912" y="749808"/>
            <a:ext cx="5943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PayIQ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438912" y="1828800"/>
            <a:ext cx="5669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CEEMEA Payment Intelligence Platform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38912" y="230428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rail routing before · Real-time gpi visibility after · Zero new infrastructure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743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Ajay Avaghade · Growth &amp; Monetization PM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4389120"/>
            <a:ext cx="2103120" cy="1737360"/>
          </a:xfrm>
          <a:prstGeom prst="rect">
            <a:avLst>
              <a:gd name="adj" fmla="val 7368"/>
            </a:avLst>
          </a:prstGeom>
          <a:solidFill>
            <a:srgbClr val="2563EB">
              <a:alpha val="22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407408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18M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766560" y="497433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revenue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projected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6583680"/>
            <a:ext cx="9144000" cy="18288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CEEMEA Corporates Are Losing Millions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They Default to SWIFT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06040" cy="3108960"/>
          </a:xfrm>
          <a:prstGeom prst="rect">
            <a:avLst>
              <a:gd name="adj" fmla="val 4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385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957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66928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Overpayment vs optimal rail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" y="3566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Dubai→Cairo payment via SWIFT costs 4× more than Egypt Instant Pay with 2-day extra delay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606040" cy="3108960"/>
          </a:xfrm>
          <a:prstGeom prst="rect">
            <a:avLst>
              <a:gd name="adj" fmla="val 4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9385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23957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401568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RM time chasing payment status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01568" y="3566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call RMs daily for status updates — J.P. Morgan relationship teams act as manual payment trackers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06040" cy="3108960"/>
          </a:xfrm>
          <a:prstGeom prst="rect">
            <a:avLst>
              <a:gd name="adj" fmla="val 4211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93852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395728"/>
            <a:ext cx="2606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236208" y="309067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CEEMEA payment rails now live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3566160"/>
            <a:ext cx="23774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SARIE, AANI, KEPSS, Egypt Instant Pay, RTGS systems — all with different cut-offs, costs, and STP rates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5120640"/>
            <a:ext cx="8229600" cy="1298448"/>
          </a:xfrm>
          <a:prstGeom prst="rect">
            <a:avLst>
              <a:gd name="adj" fmla="val 8451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5230368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5504688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has real-time rail connectivity to SARIE, AANI, Egypt Instant Pay, and 40+ CEEMEA local rails — but has not productised that infrastructure into a client-facing intelligence layer. Clients default to SWIFT because they have no visibility into alternatives. Every suboptimal route is simultaneously a client experience failure and a J.P. Morgan revenue leak.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Intelligence is a Revenue Product,</a:t>
            </a:r>
            <a:endParaRPr lang="en-US" sz="2600" dirty="0"/>
          </a:p>
          <a:p>
            <a:pPr indent="0" marL="0">
              <a:buNone/>
            </a:pPr>
            <a:r>
              <a:rPr lang="en-US" sz="2600" b="1" spc="-50" kern="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Ops Feature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3749040" cy="4297680"/>
          </a:xfrm>
          <a:prstGeom prst="rect">
            <a:avLst>
              <a:gd name="adj" fmla="val 2927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8653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Current State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Client initiates payment → SWIFT by default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visibility into SARIE, AANI, local RTGS options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transaction cost: USD 5,120 via SWIFT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7947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delivery time: 1–2 business days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 receives 3–5 status calls per transaction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48006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ISO 20022 data sits in bank feeds — never surfaces to client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224528" y="3520440"/>
            <a:ext cx="694944" cy="694944"/>
          </a:xfrm>
          <a:prstGeom prst="ellipse">
            <a:avLst/>
          </a:prstGeom>
          <a:solidFill>
            <a:srgbClr val="0A1E3D"/>
          </a:solidFill>
          <a:ln/>
        </p:spPr>
      </p:sp>
      <p:sp>
        <p:nvSpPr>
          <p:cNvPr id="13" name="Text 11"/>
          <p:cNvSpPr/>
          <p:nvPr/>
        </p:nvSpPr>
        <p:spPr>
          <a:xfrm>
            <a:off x="4224528" y="3520440"/>
            <a:ext cx="69494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0" y="1737360"/>
            <a:ext cx="3749040" cy="4297680"/>
          </a:xfrm>
          <a:prstGeom prst="rect">
            <a:avLst>
              <a:gd name="adj" fmla="val 292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865376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PayIQ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22860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engine evaluates 7 variables → recommends optimal rail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20640" y="278892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Comparison matrix: cost / speed / certainty / cut-off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transaction cost: USD 320–890 via local rails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20640" y="379476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Average delivery: 2–4 hours via SARIE / AANI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120640" y="429768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gpi + ISO 20022 status surfaced in real-time client portal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120640" y="4800600"/>
            <a:ext cx="3383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 query volume drops 65% — zero relationship degradation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6199632"/>
            <a:ext cx="8229600" cy="475488"/>
          </a:xfrm>
          <a:prstGeom prst="rect">
            <a:avLst>
              <a:gd name="adj" fmla="val 19231"/>
            </a:avLst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6217920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PayIQ costs J.P. Morgan nothing net — it runs on infrastructure that already exists. The value is the intelligence layer on top.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PayIQ Works: Two Moments, One Intelligent Layer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6576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Initiates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initiates payment in J.P. Morgan ACCESS portal. Amount, beneficiary, currency, urgency captured.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847088" y="3474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01168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10312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PayIQ Scores Rails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7-variable ML model evaluates available CEEMEA rails: amount tier, corridor, cut-off proximity, STP rate, FX spread, certainty, urgency flag.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84448" y="3474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4904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84048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Served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0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rail presented with one-click confirm. Comparison matrix available. Client sees cost savings vs SWIFT and ETA.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21808" y="3474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784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+ ISO 20022 Tracking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Post-submission: real-time SWIFT gpi tracker surfaces in ACCESS. Every corridor hop visible. Exceptions surfaced with self-serve resolution.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059168" y="3474720"/>
            <a:ext cx="164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223760" y="1417320"/>
            <a:ext cx="1554480" cy="4297680"/>
          </a:xfrm>
          <a:prstGeom prst="rect">
            <a:avLst>
              <a:gd name="adj" fmla="val 7059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15544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315200" y="19933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Dashboard Updated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542032"/>
            <a:ext cx="1371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PayIQ logs rail choice, delivery time, cost delta. RM sees client savings, exception rate, and rail utilisation across entire portfolio.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5907024"/>
            <a:ext cx="8229600" cy="713232"/>
          </a:xfrm>
          <a:prstGeom prst="rect">
            <a:avLst>
              <a:gd name="adj" fmla="val 12821"/>
            </a:avLst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943600"/>
            <a:ext cx="7863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proof:  At PhonePe (350M MAU), I built the exact same context-aware multi-variable trigger engine — cart value × user intent × time-of-day → personalised incentive. PayIQ is the same architecture: payment amount × corridor × urgency × cut-off → optimal rail. The model is proven. The domain is different.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Key Screens — Built &amp; Live as a Working Prototype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417320"/>
            <a:ext cx="2029968" cy="5120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417320"/>
            <a:ext cx="2029968" cy="411480"/>
          </a:xfrm>
          <a:prstGeom prst="rect">
            <a:avLst>
              <a:gd name="adj" fmla="val 26667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Initiation + Rail Rec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901952"/>
            <a:ext cx="18470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New Payment          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Beneficiary: Al Rajhi]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Amount: USD 2.4M     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Urgency: [Today] ▼   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⚡ PAYIQ: SARIE   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~2 hrs · −USD 4,800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vs SWIFT · 99.1% STP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 Confirm with SARIE →]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4315968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form with urgency toggle. PayIQ recommendation card shows optimal rail, ETA, cost vs SWIFT, and ML confidence score. One-click confirm.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87168" y="1417320"/>
            <a:ext cx="2029968" cy="5120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417320"/>
            <a:ext cx="2029968" cy="411480"/>
          </a:xfrm>
          <a:prstGeom prst="rect">
            <a:avLst>
              <a:gd name="adj" fmla="val 26667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Rail Comparison Matrix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8608" y="1901952"/>
            <a:ext cx="18470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   Speed  Fee    STP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SARIE⭐ 2hr   $320  99%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SWIFT   2d   $5120  97%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SA-RTGS  1d    $890  98%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AANI    N/A    —     —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 SARIE cut-off: 2h14m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[Confirm: SARIE −$4800→]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78608" y="4315968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rail matrix: speed, fee, STP rate, cut-off time per rail. SARIE highlighted as best. AANI/RTGS/SWIFT shown for comparison. Cut-off countdown.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00016" y="1417320"/>
            <a:ext cx="2029968" cy="5120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417320"/>
            <a:ext cx="2029968" cy="411480"/>
          </a:xfrm>
          <a:prstGeom prst="rect">
            <a:avLst>
              <a:gd name="adj" fmla="val 26667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73168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gpi Payment Delivered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91456" y="1901952"/>
            <a:ext cx="18470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Payment Delivered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 2,400,000 → Al Rajhi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Via SARIE · 2h 24min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Saved: USD 4,800 vs SWIFT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gpi Steps:         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Initiated (JPM Dubai)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SARIE Network    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Saudi Hub        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Al Rajhi — Credited  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791456" y="4315968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Post-payment: SWIFT gpi corridor tracker with 4 steps. ISO 20022 status. Amount confirmed. Rail savings displayed. UETR reference.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12864" y="1417320"/>
            <a:ext cx="2029968" cy="512064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0A1E3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12864" y="1417320"/>
            <a:ext cx="2029968" cy="411480"/>
          </a:xfrm>
          <a:prstGeom prst="rect">
            <a:avLst>
              <a:gd name="adj" fmla="val 26667"/>
            </a:avLst>
          </a:prstGeom>
          <a:solidFill>
            <a:srgbClr val="0A1E3D"/>
          </a:solidFill>
          <a:ln/>
        </p:spPr>
      </p:sp>
      <p:sp>
        <p:nvSpPr>
          <p:cNvPr id="21" name="Text 19"/>
          <p:cNvSpPr/>
          <p:nvPr/>
        </p:nvSpPr>
        <p:spPr>
          <a:xfrm>
            <a:off x="6986016" y="1417320"/>
            <a:ext cx="1883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RM / Ops Dashboard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004304" y="1901952"/>
            <a:ext cx="1847088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PayIQ · CEEMEA Ops 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847 queries resolved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USD 2.1M rail savings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1.2% exception rate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Rail Mix (May 2026)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SARIE    ████░ 34%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AANI     ███░░ 28%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SWIFT    ██░░░ 21%    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RTGS     █░░░░ 17%   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004304" y="4315968"/>
            <a:ext cx="1847088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Portfolio-level rail utilisation. Exception queue with self-serve flags. Client savings dashboard. SWIFT share drop from 68% to 21% tracked.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658368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live at: ajay-avaghade.github.io/Portfolio/jpmorgan-payiq-prototype.html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A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Built on PhonePe Proof Points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IMPACT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92024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653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−USD 4,800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34086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saving per cross-border payment vs SWIFT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3172968"/>
            <a:ext cx="192024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826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hrs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" y="375818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CEEMEA delivery time via optimised rail vs 1–2 days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0" y="1755648"/>
            <a:ext cx="192024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86537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−65%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51760" y="234086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payment status queries per client per month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0" y="3172968"/>
            <a:ext cx="192024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3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3282696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99.1%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651760" y="3758184"/>
            <a:ext cx="17373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STP rate via PayIQ-recommended rail vs 87% SWIFT average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417320"/>
            <a:ext cx="18288" cy="4572000"/>
          </a:xfrm>
          <a:prstGeom prst="rect">
            <a:avLst/>
          </a:prstGeom>
          <a:solidFill>
            <a:srgbClr val="2563EB">
              <a:alpha val="3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J.P. MORGAN P&amp;L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755648"/>
            <a:ext cx="182880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865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+USD 18M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937760" y="23408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fee revenue uplift from rail-optimised transaction mix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3172968"/>
            <a:ext cx="182880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826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+USD 2.1M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937760" y="375818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FX spread revenue via local rail conversions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58000" y="1755648"/>
            <a:ext cx="182880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186537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−68%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49440" y="234086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share of CEEMEA transactions (from 100% baseline)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0" y="3172968"/>
            <a:ext cx="1828800" cy="1261872"/>
          </a:xfrm>
          <a:prstGeom prst="rect">
            <a:avLst>
              <a:gd name="adj" fmla="val 72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328269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+34%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949440" y="3758184"/>
            <a:ext cx="16459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NPS improvement on payment experience (projected)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4754880"/>
            <a:ext cx="8229600" cy="914400"/>
          </a:xfrm>
          <a:prstGeom prst="rect">
            <a:avLst>
              <a:gd name="adj" fmla="val 12000"/>
            </a:avLst>
          </a:prstGeom>
          <a:solidFill>
            <a:srgbClr val="C9A227">
              <a:alpha val="12000"/>
            </a:srgbClr>
          </a:solidFill>
          <a:ln w="12700">
            <a:solidFill>
              <a:srgbClr val="C9A227">
                <a:alpha val="4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48006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PayIQ investment thesis:  Every transaction PayIQ re-routes from SWIFT to a local rail saves the client USD 2,000–5,000 AND generates an additional FX conversion for J.P. Morgan. The product simultaneously improves client outcomes and J.P. Morgan P&amp;L — the rare case where both vectors point the same direction.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Built This Architecture. Here is the Evidence.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4846320"/>
          </a:xfrm>
          <a:prstGeom prst="rect">
            <a:avLst>
              <a:gd name="adj" fmla="val 3256"/>
            </a:avLst>
          </a:prstGeom>
          <a:solidFill>
            <a:srgbClr val="0A1E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Propensity-to-Transact ML model: 7-variable scoring engine replacing static rule-based cohort targeting across 350M MAU — same multi-variable inference architecture as PayIQ rail scoring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Context-aware trigger engine: cart value × user intent × time signals → personalised incentive. Identical logic to PayIQ: payment × corridor × urgency × cut-off → optimal rail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Real-time offer eligibility surfacing: aggregated status from multiple data sources into a single clean user-facing layer — same pattern as gpi + ISO 20022 into PayIQ dashboard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Ops dashboard for campaign managers: portfolio-level analytics, exception queue, real-time signal monitoring — maps directly to PayIQ RM dashboard (Slide 5 Screen 4)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417320"/>
            <a:ext cx="4023360" cy="4846320"/>
          </a:xfrm>
          <a:prstGeom prst="rect">
            <a:avLst>
              <a:gd name="adj" fmla="val 318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55448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maps to this JD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"Extensive experience in designing and implementing solutions" → ML-driven incentive platform deployed at 350M MAU scale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2971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"Define and delivers product strategy ensuring market-leading capabilities" → PayIQ: first in market to productise CEEMEA rail intelligence into a client-facing layer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846320" y="397764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"Own P&amp;L including delivery against revenue and expense targets" → 32% marketing burn reduction at PhonePe demonstrates cost-side P&amp;L management alongside GMV growth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46320" y="498348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"Understand risks inherent in the product" → Built AML-adjacent compliance eligibility engine at PhonePe; ClearPath demonstrates risk product thinking for J.P. Morgan context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6400800"/>
            <a:ext cx="8229600" cy="256032"/>
          </a:xfrm>
          <a:prstGeom prst="rect">
            <a:avLst>
              <a:gd name="adj" fmla="val 28571"/>
            </a:avLst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0080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"PayIQ is not a concept — it is the same context-aware ML engine I deployed at PhonePe applied to CEEMEA payment rail selection."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-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Rollout — UAE/KSA Pilot to CEEMEA Scale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931920"/>
          </a:xfrm>
          <a:prstGeom prst="rect">
            <a:avLst>
              <a:gd name="adj" fmla="val 47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2697480" cy="384048"/>
          </a:xfrm>
          <a:prstGeom prst="rect">
            <a:avLst>
              <a:gd name="adj" fmla="val 33333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Months 1–3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90195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+ KSA Pilot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774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PayIQ for AANI (UAE) + SARIE (Saudi) corridors — highest-volume, highest-savings opportunity. Pilot with 5 corporate clients. Instrument rail utilisation, client savings, and RM query volume.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1417320"/>
            <a:ext cx="2697480" cy="3931920"/>
          </a:xfrm>
          <a:prstGeom prst="rect">
            <a:avLst>
              <a:gd name="adj" fmla="val 47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C9A227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64992" y="1417320"/>
            <a:ext cx="2697480" cy="384048"/>
          </a:xfrm>
          <a:prstGeom prst="rect">
            <a:avLst>
              <a:gd name="adj" fmla="val 33333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4173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Months 4–6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56432" y="190195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CEEMEA Rail Expansion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56432" y="23774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Egypt Instant Pay, KEPSS (Kenya), Nigeria NIP, and 10+ additional CEEMEA local rails to PayIQ model. Launch gpi + ISO 20022 status dashboard for all enrolled clients. Begin A/B on opt-in vs default routing.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72784" y="1417320"/>
            <a:ext cx="2697480" cy="3931920"/>
          </a:xfrm>
          <a:prstGeom prst="rect">
            <a:avLst>
              <a:gd name="adj" fmla="val 4746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D9488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1417320"/>
            <a:ext cx="2697480" cy="384048"/>
          </a:xfrm>
          <a:prstGeom prst="rect">
            <a:avLst>
              <a:gd name="adj" fmla="val 33333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364224" y="1417320"/>
            <a:ext cx="2514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Months 7–12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364224" y="1901952"/>
            <a:ext cx="2514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+ P&amp;L Dashboard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64224" y="2377440"/>
            <a:ext cx="2514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0AA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PayIQ to all CEEMEA corporate clients as default. Launch RM revenue dashboard showing rail optimisation savings per client. Integrate with J.P. Morgan treasury sales for LiquidSense expansion.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5504688"/>
            <a:ext cx="8229600" cy="804672"/>
          </a:xfrm>
          <a:prstGeom prst="rect">
            <a:avLst>
              <a:gd name="adj" fmla="val 13636"/>
            </a:avLst>
          </a:prstGeom>
          <a:solidFill>
            <a:srgbClr val="2563EB">
              <a:alpha val="15000"/>
            </a:srgbClr>
          </a:solidFill>
          <a:ln w="12700">
            <a:solidFill>
              <a:srgbClr val="2563EB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559552"/>
            <a:ext cx="7863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to build this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581558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CEEMEA rail connectivity data  ·  Alignment with ACCESS portal team  ·  1 data scientist for ML rail model  ·  SWIFT gpi + ISO 20022 data feed access  ·  5 pilot corporate client nominations from Sales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E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Avaghade  |  avaghadeajay009@gmail.com  |  +91 9561558439  |  ajay-avaghade.github.io/Portfolio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2026-05-23T11:56:14Z</dcterms:created>
  <dcterms:modified xsi:type="dcterms:W3CDTF">2026-05-23T11:56:14Z</dcterms:modified>
</cp:coreProperties>
</file>